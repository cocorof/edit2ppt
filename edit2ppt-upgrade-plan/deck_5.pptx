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04_생산성_격차의_실체</a:t>
            </a:r>
          </a:p>
          <a:p>
            <a:endParaRPr lang="ko-KR" dirty="0"/>
          </a:p>
          <a:p>
            <a:r>
              <a:rPr lang="ko-KR" dirty="0"/>
              <a:t>앞에서 변화의 흐름을 보셨다면, 이제 그 흐름이 만들어내는 결과를 숫자로 확인해 보겠습니다. GitHub Copilot의 2024년 연구에 따르면, AI를 활용하는 개발자의 평균 생산성은 그렇지 않은 동료 대비 4.2배에 달합니다. 같은 8시간을 일해도 누군가는 네 배 많은 결과물을 만들어낸다는 뜻입니다. 하루로 보면 그저 차이일 뿐이지만, 1년이 쌓이면 약 840시간의 격차가 되고, 4년이 지나면 더 이상 따라잡을 수 없는 거리가 됩니다. 핵심은 이 격차가 선형이 아니라 복리로 벌어진다는 점입니다. 우리가 지금 이 자리에 모인 이유가 바로 여기에 있습니다.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06_developer_quadrants</a:t>
            </a:r>
          </a:p>
          <a:p>
            <a:endParaRPr lang="ko-KR" dirty="0"/>
          </a:p>
          <a:p>
            <a:r>
              <a:rPr lang="ko-KR" dirty="0"/>
              <a:t>이 페이지는 진단의 핵심입니다. 두 개의 축을 그어 보세요. 가로축은 AI 활용도, 세로축은 도메인 전문성. 이 두 축이 만나는 네 칸 중에서, 지금 당신은 어디에 서 있습니까. 왼쪽 위, 깊은 전문성은 있지만 AI를 거의 쓰지 않는 장인형. 안전해 보이지만 사실은 정체된 자리입니다. 오른쪽 아래, AI는 잘 쓰지만 도메인 깊이가 얕은 프롬프트 의존형. 빠르지만 모델이 바뀌는 순간 함께 흔들립니다. 왼쪽 아래, 두 축 모두 부족한 위험군. 가장 솔직하게 말씀드리면, 6개월이 분기점입니다. 그리고 오른쪽 위, 별표가 붙은 자리. 증폭형. 전문성이 판단을 만들고 AI가 그 판단을 열 배로 실행해주는, 대체 불가능한 1인 시너지의 자리입니다. 우리가 가야 할 곳은 분명합니다. 다음 챕터에서는, 어떻게 그 자리로 옮겨갈 것인지를 이야기하겠습니다.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10" y="4852035"/>
            <a:ext cx="588502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Page 1 could not be generated.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10" y="4852035"/>
            <a:ext cx="5983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Page 2 could not be generated.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10" y="4852035"/>
            <a:ext cx="5983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Page 3 could not be generated.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69570" y="455295"/>
            <a:ext cx="16790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04 / 11 — 생산성 격차의 실체</a:t>
            </a:r>
          </a:p>
        </p:txBody>
      </p:sp>
      <p:sp>
        <p:nvSpPr>
          <p:cNvPr id="4" name="Line 4"/>
          <p:cNvSpPr/>
          <p:nvPr/>
        </p:nvSpPr>
        <p:spPr>
          <a:xfrm>
            <a:off x="381000" y="6858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346710" y="946785"/>
            <a:ext cx="582389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격차는 이미 벌어지고 있습니다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1524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161B2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1809750"/>
            <a:ext cx="3238500" cy="4286250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161B2E">
                  <a:alpha val="90000"/>
                </a:srgbClr>
              </a:gs>
              <a:gs pos="100000">
                <a:srgbClr val="0A0E1A">
                  <a:alpha val="6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81000" y="1809750"/>
            <a:ext cx="28575" cy="428625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3FE89C"/>
              </a:gs>
            </a:gsLst>
            <a:lin ang="540000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74370" y="4655820"/>
            <a:ext cx="11072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00D4FF"/>
                </a:solidFill>
                <a:latin typeface="Malgun Gothic"/>
                <a:ea typeface="Malgun Gothic"/>
                <a:cs typeface="Malgun Gothic"/>
              </a:rPr>
              <a:t>PRODUCTIVITY GAP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4350" y="2162175"/>
            <a:ext cx="3758827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0" b="1" dirty="0">
                <a:gradFill>
                  <a:gsLst>
                    <a:gs pos="0">
                      <a:srgbClr val="00D4FF"/>
                    </a:gs>
                    <a:gs pos="100000">
                      <a:srgbClr val="3FE89C"/>
                    </a:gs>
                  </a:gsLst>
                  <a:lin ang="5400000" scaled="1"/>
                </a:gradFill>
                <a:latin typeface="Malgun Gothic"/>
                <a:ea typeface="Malgun Gothic"/>
                <a:cs typeface="Malgun Gothic"/>
              </a:rPr>
              <a:t>4.2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09850" y="4276725"/>
            <a:ext cx="493847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3886200"/>
            <a:ext cx="762000" cy="28575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3FE89C"/>
              </a:gs>
            </a:gsLst>
            <a:lin ang="0" scaled="1"/>
          </a:gra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1512" y="4145756"/>
            <a:ext cx="22799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b="1" dirty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AI 활용 개발자의 평균 생산성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3418" y="4428649"/>
            <a:ext cx="2374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비활용 개발자 대비 동일 업무 처리량</a:t>
            </a:r>
          </a:p>
        </p:txBody>
      </p:sp>
      <p:sp>
        <p:nvSpPr>
          <p:cNvPr id="15" name="Line 15"/>
          <p:cNvSpPr/>
          <p:nvPr/>
        </p:nvSpPr>
        <p:spPr>
          <a:xfrm>
            <a:off x="685800" y="557212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8B95A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4370" y="5713095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Source: GitHub Copilot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370" y="5865495"/>
            <a:ext cx="1843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Productivity Research, 2024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75735" y="1980248"/>
            <a:ext cx="235211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같은 8시간 근무.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75735" y="2361248"/>
            <a:ext cx="552191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 xml:space="preserve">누군가는 </a:t>
            </a:r>
            <a:r>
              <a:rPr lang="ko-KR" sz="1950" b="1" dirty="0">
                <a:solidFill>
                  <a:srgbClr val="00D4FF"/>
                </a:solidFill>
                <a:latin typeface="Malgun Gothic"/>
                <a:ea typeface="Malgun Gothic"/>
                <a:cs typeface="Malgun Gothic"/>
              </a:rPr>
              <a:t>4배 많은 가치</a:t>
            </a:r>
            <a:r>
              <a:rPr lang="ko-KR" sz="1950" b="1" dirty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를 만들어냅니다.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81450" y="3124200"/>
            <a:ext cx="34775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500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그렇다면, 1년 뒤에는? 4년 뒤에는?</a:t>
            </a:r>
          </a:p>
        </p:txBody>
      </p:sp>
      <p:sp>
        <p:nvSpPr>
          <p:cNvPr id="21" name="Line 21"/>
          <p:cNvSpPr/>
          <p:nvPr/>
        </p:nvSpPr>
        <p:spPr>
          <a:xfrm>
            <a:off x="4000500" y="3571875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FFB02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988118" y="3942874"/>
            <a:ext cx="3611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1 DAY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762500" y="3924300"/>
            <a:ext cx="381000" cy="171450"/>
          </a:xfrm>
          <a:prstGeom prst="roundRect">
            <a:avLst>
              <a:gd name="adj" fmla="val 11111"/>
            </a:avLst>
          </a:prstGeom>
          <a:solidFill>
            <a:srgbClr val="3FE89C">
              <a:alpha val="40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181600" y="3924300"/>
            <a:ext cx="1600200" cy="171450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00D4FF"/>
              </a:gs>
              <a:gs pos="100000">
                <a:srgbClr val="3FE89C"/>
              </a:gs>
            </a:gsLst>
            <a:lin ang="0" scaled="1"/>
          </a:gra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891338" y="3945731"/>
            <a:ext cx="4081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4.2x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68540" y="3953828"/>
            <a:ext cx="6860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하루 격차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88118" y="4447699"/>
            <a:ext cx="4434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1 YEAR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62500" y="4429125"/>
            <a:ext cx="381000" cy="171450"/>
          </a:xfrm>
          <a:prstGeom prst="roundRect">
            <a:avLst>
              <a:gd name="adj" fmla="val 11111"/>
            </a:avLst>
          </a:prstGeom>
          <a:solidFill>
            <a:srgbClr val="3FE89C">
              <a:alpha val="4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181600" y="4429125"/>
            <a:ext cx="2667000" cy="171450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00D4FF"/>
              </a:gs>
              <a:gs pos="100000">
                <a:srgbClr val="3FE89C"/>
              </a:gs>
            </a:gsLst>
            <a:lin ang="0" scaled="1"/>
          </a:gra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67662" y="4450556"/>
            <a:ext cx="8049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b="1" dirty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~840 시간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44915" y="4458652"/>
            <a:ext cx="8394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추가 산출물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88118" y="4952524"/>
            <a:ext cx="5630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4 YEARS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762500" y="4933950"/>
            <a:ext cx="381000" cy="171450"/>
          </a:xfrm>
          <a:prstGeom prst="roundRect">
            <a:avLst>
              <a:gd name="adj" fmla="val 11111"/>
            </a:avLst>
          </a:prstGeom>
          <a:solidFill>
            <a:srgbClr val="3FE89C">
              <a:alpha val="40000"/>
            </a:srgb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181600" y="4933950"/>
            <a:ext cx="2667000" cy="171450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00D4FF"/>
              </a:gs>
              <a:gs pos="100000">
                <a:srgbClr val="3FE89C"/>
              </a:gs>
            </a:gsLst>
            <a:lin ang="0" scaled="1"/>
          </a:gra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886700" y="4933950"/>
            <a:ext cx="190500" cy="171450"/>
          </a:xfrm>
          <a:prstGeom prst="roundRect">
            <a:avLst>
              <a:gd name="adj" fmla="val 11111"/>
            </a:avLst>
          </a:prstGeom>
          <a:solidFill>
            <a:srgbClr val="FFB020">
              <a:alpha val="7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158162" y="4955381"/>
            <a:ext cx="17365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b="1" dirty="0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따라잡을 수 없는 격차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000500" y="5524500"/>
            <a:ext cx="7810500" cy="571500"/>
          </a:xfrm>
          <a:prstGeom prst="roundRect">
            <a:avLst>
              <a:gd name="adj" fmla="val 13333"/>
            </a:avLst>
          </a:prstGeom>
          <a:solidFill>
            <a:srgbClr val="161B2E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4000500" y="5524500"/>
            <a:ext cx="38100" cy="571500"/>
          </a:xfrm>
          <a:prstGeom prst="rect">
            <a:avLst/>
          </a:prstGeom>
          <a:solidFill>
            <a:srgbClr val="FFB02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652962" y="5669756"/>
            <a:ext cx="20815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b="1" dirty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이 격차는 매일 누적됩니다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53915" y="5868352"/>
            <a:ext cx="43512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선형이 아닌, 복리로 — 시간이 지날수록 따라잡기 어려워집니다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59543" y="6484620"/>
            <a:ext cx="11532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-KR" sz="1200" dirty="0">
                <a:solidFill>
                  <a:srgbClr val="8B95A8"/>
                </a:solidFill>
                <a:latin typeface="Malgun Gothic"/>
                <a:ea typeface="Malgun Gothic"/>
                <a:cs typeface="Malgun Gothic"/>
              </a:rPr>
              <a:t>생산성 격차의 실체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10" y="4852035"/>
            <a:ext cx="5983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Page 5 could not be generated.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10" y="4852035"/>
            <a:ext cx="5983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Page 6 could not be generated.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37210" y="533400"/>
            <a:ext cx="11094720" cy="2800350"/>
            <a:chOff x="537210" y="533400"/>
            <a:chExt cx="11094720" cy="2800350"/>
          </a:xfrm>
        </p:grpSpPr>
        <p:grpSp>
          <p:nvGrpSpPr>
            <p:cNvPr id="6" name="Group 6"/>
            <p:cNvGrpSpPr/>
            <p:nvPr/>
          </p:nvGrpSpPr>
          <p:grpSpPr>
            <a:xfrm>
              <a:off x="571500" y="533400"/>
              <a:ext cx="1379982" cy="254794"/>
              <a:chOff x="571500" y="533400"/>
              <a:chExt cx="1379982" cy="254794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71500" y="533400"/>
                <a:ext cx="57150" cy="209550"/>
              </a:xfrm>
              <a:prstGeom prst="rect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30568" y="590074"/>
                <a:ext cx="12209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8B95A8"/>
                    </a:solidFill>
                    <a:latin typeface="Malgun Gothic"/>
                    <a:ea typeface="Malgun Gothic"/>
                    <a:cs typeface="Malgun Gothic"/>
                  </a:rPr>
                  <a:t>CHAPTER 03 · 진단</a:t>
                </a: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537210" y="2785110"/>
              <a:ext cx="582389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700" b="1" dirty="0">
                  <a:solidFill>
                    <a:srgbClr val="F5F7FA"/>
                  </a:solidFill>
                  <a:latin typeface="Malgun Gothic"/>
                  <a:ea typeface="Malgun Gothic"/>
                  <a:cs typeface="Malgun Gothic"/>
                </a:rPr>
                <a:t>당신은 어느 사분면에 있습니까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5308" y="2757964"/>
              <a:ext cx="47342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75" dirty="0">
                  <a:solidFill>
                    <a:srgbClr val="8B95A8"/>
                  </a:solidFill>
                  <a:latin typeface="Malgun Gothic"/>
                  <a:ea typeface="Malgun Gothic"/>
                  <a:cs typeface="Malgun Gothic"/>
                </a:rPr>
                <a:t>도메인 전문성 × AI 활용도 — 두 축이 만드는 네 가지 미래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458926" y="950595"/>
              <a:ext cx="1173004" cy="594836"/>
              <a:chOff x="10458926" y="950595"/>
              <a:chExt cx="1173004" cy="594836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0458926" y="950595"/>
                <a:ext cx="117300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8B95A8"/>
                    </a:solidFill>
                    <a:latin typeface="Malgun Gothic"/>
                    <a:ea typeface="Malgun Gothic"/>
                    <a:cs typeface="Malgun Gothic"/>
                  </a:rPr>
                  <a:t>DIAGNOSTIC MATRIX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658142" y="1377791"/>
                <a:ext cx="97283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8B95A8">
                        <a:alphaMod val="70000"/>
                      </a:srgbClr>
                    </a:solidFill>
                    <a:latin typeface="Malgun Gothic"/>
                    <a:ea typeface="Malgun Gothic"/>
                    <a:cs typeface="Malgun Gothic"/>
                  </a:rPr>
                  <a:t>2 × 2 framework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956822" y="1571625"/>
            <a:ext cx="9730228" cy="5160169"/>
            <a:chOff x="956822" y="1571625"/>
            <a:chExt cx="9730228" cy="5160169"/>
          </a:xfrm>
        </p:grpSpPr>
        <p:grpSp>
          <p:nvGrpSpPr>
            <p:cNvPr id="15" name="Group 15"/>
            <p:cNvGrpSpPr/>
            <p:nvPr/>
          </p:nvGrpSpPr>
          <p:grpSpPr>
            <a:xfrm rot="-5400000">
              <a:off x="956822" y="4600099"/>
              <a:ext cx="1039106" cy="198120"/>
              <a:chOff x="956822" y="4600099"/>
              <a:chExt cx="1039106" cy="19812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93009" y="4600099"/>
                <a:ext cx="9667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200" b="1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도메인 전문성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56822" y="4616291"/>
                <a:ext cx="10391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8B95A8"/>
                    </a:solidFill>
                    <a:latin typeface="Malgun Gothic"/>
                    <a:ea typeface="Malgun Gothic"/>
                    <a:cs typeface="Malgun Gothic"/>
                  </a:rPr>
                  <a:t>DOMAIN EXPERTISE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952625" y="1885950"/>
              <a:ext cx="95250" cy="3924300"/>
              <a:chOff x="1952625" y="1885950"/>
              <a:chExt cx="95250" cy="3924300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2000250" y="1905000"/>
                <a:ext cx="9525" cy="390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05250">
                    <a:moveTo>
                      <a:pt x="0" y="390525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8B95A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952625" y="18859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47625" y="0"/>
                    </a:lnTo>
                    <a:lnTo>
                      <a:pt x="95250" y="95250"/>
                    </a:lnTo>
                  </a:path>
                </a:pathLst>
              </a:custGeom>
              <a:noFill/>
              <a:ln w="9525">
                <a:solidFill>
                  <a:srgbClr val="8B95A8"/>
                </a:solidFill>
                <a:round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653540" y="189214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200" dirty="0">
                  <a:solidFill>
                    <a:srgbClr val="8B95A8"/>
                  </a:solidFill>
                  <a:latin typeface="Malgun Gothic"/>
                  <a:ea typeface="Malgun Gothic"/>
                  <a:cs typeface="Malgun Gothic"/>
                </a:rPr>
                <a:t>높음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53540" y="570214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200" dirty="0">
                  <a:solidFill>
                    <a:srgbClr val="8B95A8"/>
                  </a:solidFill>
                  <a:latin typeface="Malgun Gothic"/>
                  <a:ea typeface="Malgun Gothic"/>
                  <a:cs typeface="Malgun Gothic"/>
                </a:rPr>
                <a:t>낮음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2095500" y="5953125"/>
              <a:ext cx="8496300" cy="95250"/>
              <a:chOff x="2095500" y="5953125"/>
              <a:chExt cx="8496300" cy="95250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2095500" y="6000750"/>
                <a:ext cx="847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477250" h="9525">
                    <a:moveTo>
                      <a:pt x="0" y="0"/>
                    </a:moveTo>
                    <a:lnTo>
                      <a:pt x="8477250" y="0"/>
                    </a:lnTo>
                  </a:path>
                </a:pathLst>
              </a:custGeom>
              <a:noFill/>
              <a:ln w="9525">
                <a:solidFill>
                  <a:srgbClr val="8B95A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496550" y="5953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</a:path>
                </a:pathLst>
              </a:custGeom>
              <a:noFill/>
              <a:ln w="9525">
                <a:solidFill>
                  <a:srgbClr val="8B95A8"/>
                </a:solidFill>
                <a:round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085022" y="612124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B95A8"/>
                  </a:solidFill>
                  <a:latin typeface="Malgun Gothic"/>
                  <a:ea typeface="Malgun Gothic"/>
                  <a:cs typeface="Malgun Gothic"/>
                </a:rPr>
                <a:t>낮음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21290" y="612124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200" dirty="0">
                  <a:solidFill>
                    <a:srgbClr val="8B95A8"/>
                  </a:solidFill>
                  <a:latin typeface="Malgun Gothic"/>
                  <a:ea typeface="Malgun Gothic"/>
                  <a:cs typeface="Malgun Gothic"/>
                </a:rPr>
                <a:t>높음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963866" y="6530816"/>
              <a:ext cx="2056755" cy="200978"/>
              <a:chOff x="5963866" y="6530816"/>
              <a:chExt cx="2056755" cy="200978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5963866" y="6533674"/>
                <a:ext cx="64526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200" b="1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AI 활용도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228522" y="6530816"/>
                <a:ext cx="79209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8B95A8"/>
                    </a:solidFill>
                    <a:latin typeface="Malgun Gothic"/>
                    <a:ea typeface="Malgun Gothic"/>
                    <a:cs typeface="Malgun Gothic"/>
                  </a:rPr>
                  <a:t>· AI LEVERAGE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190750" y="1905000"/>
              <a:ext cx="4143375" cy="2533650"/>
              <a:chOff x="2190750" y="1905000"/>
              <a:chExt cx="4143375" cy="25336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2190750" y="1905000"/>
                <a:ext cx="4143375" cy="2000250"/>
              </a:xfrm>
              <a:prstGeom prst="roundRect">
                <a:avLst>
                  <a:gd name="adj" fmla="val 952"/>
                </a:avLst>
              </a:prstGeom>
              <a:solidFill>
                <a:srgbClr val="161B2E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2190750" y="1905000"/>
                <a:ext cx="4143375" cy="2000250"/>
              </a:xfrm>
              <a:prstGeom prst="roundRect">
                <a:avLst>
                  <a:gd name="adj" fmla="val 952"/>
                </a:avLst>
              </a:prstGeom>
              <a:noFill/>
              <a:ln w="9525">
                <a:solidFill>
                  <a:srgbClr val="1A2348"/>
                </a:solidFill>
                <a:custDash>
                  <a:ds d="300000" sp="400000"/>
                </a:custDash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2389822" y="2596991"/>
                <a:ext cx="118490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8B95A8"/>
                    </a:solidFill>
                    <a:latin typeface="Malgun Gothic"/>
                    <a:ea typeface="Malgun Gothic"/>
                    <a:cs typeface="Malgun Gothic"/>
                  </a:rPr>
                  <a:t>Q1 · 고전문성 / 저AI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373630" y="4011930"/>
                <a:ext cx="101946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2100" b="1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장인형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386012" y="3879056"/>
                <a:ext cx="12280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안전하지만 정체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387918" y="3704749"/>
                <a:ext cx="28371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8B95A8"/>
                    </a:solidFill>
                    <a:latin typeface="Malgun Gothic"/>
                    <a:ea typeface="Malgun Gothic"/>
                    <a:cs typeface="Malgun Gothic"/>
                  </a:rPr>
                  <a:t>깊은 전문성으로 버티지만 속도에서 밀린다.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387918" y="3609499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8B95A8"/>
                    </a:solidFill>
                    <a:latin typeface="Malgun Gothic"/>
                    <a:ea typeface="Malgun Gothic"/>
                    <a:cs typeface="Malgun Gothic"/>
                  </a:rPr>
                  <a:t>2년 안에 추월당할 위험.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115050" y="1571625"/>
              <a:ext cx="4572000" cy="2769394"/>
              <a:chOff x="6115050" y="1571625"/>
              <a:chExt cx="4572000" cy="2769394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115050" y="1571625"/>
                <a:ext cx="4572000" cy="2667000"/>
              </a:xfrm>
              <a:prstGeom prst="ellipse">
                <a:avLst/>
              </a:prstGeom>
              <a:gradFill>
                <a:gsLst>
                  <a:gs pos="0">
                    <a:srgbClr val="00D4FF">
                      <a:alpha val="31500"/>
                    </a:srgbClr>
                  </a:gs>
                  <a:gs pos="100000">
                    <a:srgbClr val="00D4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334125" y="1905000"/>
                <a:ext cx="4143375" cy="2000250"/>
              </a:xfrm>
              <a:prstGeom prst="roundRect">
                <a:avLst>
                  <a:gd name="adj" fmla="val 952"/>
                </a:avLst>
              </a:prstGeom>
              <a:gradFill>
                <a:gsLst>
                  <a:gs pos="0">
                    <a:srgbClr val="00D4FF">
                      <a:alpha val="18000"/>
                    </a:srgbClr>
                  </a:gs>
                  <a:gs pos="100000">
                    <a:srgbClr val="3FE89C">
                      <a:alpha val="8000"/>
                    </a:srgbClr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334125" y="1905000"/>
                <a:ext cx="4143375" cy="2000250"/>
              </a:xfrm>
              <a:prstGeom prst="roundRect">
                <a:avLst>
                  <a:gd name="adj" fmla="val 952"/>
                </a:avLst>
              </a:prstGeom>
              <a:noFill/>
              <a:ln w="19050">
                <a:solidFill>
                  <a:srgbClr val="00D4FF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9925050" y="1943100"/>
                <a:ext cx="342900" cy="3429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533198" y="2596991"/>
                <a:ext cx="12165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00D4FF"/>
                    </a:solidFill>
                    <a:latin typeface="Malgun Gothic"/>
                    <a:ea typeface="Malgun Gothic"/>
                    <a:cs typeface="Malgun Gothic"/>
                  </a:rPr>
                  <a:t>Q2 · 고전문성 / 고AI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513195" y="3227070"/>
                <a:ext cx="1165098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2400" b="1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증폭형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529388" y="3212306"/>
                <a:ext cx="2676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00D4FF"/>
                    </a:solidFill>
                    <a:latin typeface="Malgun Gothic"/>
                    <a:ea typeface="Malgun Gothic"/>
                    <a:cs typeface="Malgun Gothic"/>
                  </a:rPr>
                  <a:t>최강의 포지션 — 당신이 가야 할 곳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531292" y="3476149"/>
                <a:ext cx="338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전문성이 판단을 만들고, AI가 실행을 10배로 늘린다.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31292" y="4142899"/>
                <a:ext cx="16979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대체 불가능한 1인 시너지.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190750" y="3905250"/>
              <a:ext cx="4143375" cy="2469356"/>
              <a:chOff x="2190750" y="3905250"/>
              <a:chExt cx="4143375" cy="2469356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2190750" y="3905250"/>
                <a:ext cx="4143375" cy="2000250"/>
              </a:xfrm>
              <a:prstGeom prst="roundRect">
                <a:avLst>
                  <a:gd name="adj" fmla="val 952"/>
                </a:avLst>
              </a:prstGeom>
              <a:gradFill>
                <a:gsLst>
                  <a:gs pos="0">
                    <a:srgbClr val="FF4D6D">
                      <a:alpha val="18000"/>
                    </a:srgbClr>
                  </a:gs>
                  <a:gs pos="100000">
                    <a:srgbClr val="FF4D6D">
                      <a:alpha val="4000"/>
                    </a:srgbClr>
                  </a:gs>
                </a:gsLst>
                <a:lin ang="18900000" scaled="1"/>
              </a:gra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2190750" y="3905250"/>
                <a:ext cx="4143375" cy="2000250"/>
              </a:xfrm>
              <a:prstGeom prst="roundRect">
                <a:avLst>
                  <a:gd name="adj" fmla="val 952"/>
                </a:avLst>
              </a:prstGeom>
              <a:noFill/>
              <a:ln w="19050">
                <a:solidFill>
                  <a:srgbClr val="FF4D6D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5781675" y="3943350"/>
                <a:ext cx="342900" cy="342900"/>
              </a:xfrm>
              <a:prstGeom prst="ellipse">
                <a:avLst/>
              </a:prstGeom>
              <a:solidFill>
                <a:srgbClr val="FF4D6D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2389822" y="4597241"/>
                <a:ext cx="12165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FF4D6D"/>
                    </a:solidFill>
                    <a:latin typeface="Malgun Gothic"/>
                    <a:ea typeface="Malgun Gothic"/>
                    <a:cs typeface="Malgun Gothic"/>
                  </a:rPr>
                  <a:t>Q3 · 저전문성 / 저AI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369820" y="5217795"/>
                <a:ext cx="1165098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2400" b="1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위험군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386012" y="6146006"/>
                <a:ext cx="11672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FF4D6D"/>
                    </a:solidFill>
                    <a:latin typeface="Malgun Gothic"/>
                    <a:ea typeface="Malgun Gothic"/>
                    <a:cs typeface="Malgun Gothic"/>
                  </a:rPr>
                  <a:t>즉시 행동 필요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2387918" y="5704999"/>
                <a:ext cx="24669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두 축 모두 부족하다. 6개월이 분기점.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387918" y="6143149"/>
                <a:ext cx="19400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한 축이라도 먼저 끌어올려라.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6334125" y="3905250"/>
              <a:ext cx="4143375" cy="2469356"/>
              <a:chOff x="6334125" y="3905250"/>
              <a:chExt cx="4143375" cy="2469356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334125" y="3905250"/>
                <a:ext cx="4143375" cy="2000250"/>
              </a:xfrm>
              <a:prstGeom prst="roundRect">
                <a:avLst>
                  <a:gd name="adj" fmla="val 952"/>
                </a:avLst>
              </a:prstGeom>
              <a:solidFill>
                <a:srgbClr val="161B2E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334125" y="3905250"/>
                <a:ext cx="4143375" cy="2000250"/>
              </a:xfrm>
              <a:prstGeom prst="roundRect">
                <a:avLst>
                  <a:gd name="adj" fmla="val 952"/>
                </a:avLst>
              </a:prstGeom>
              <a:noFill/>
              <a:ln w="9525">
                <a:solidFill>
                  <a:srgbClr val="1A2348"/>
                </a:solidFill>
                <a:custDash>
                  <a:ds d="300000" sp="400000"/>
                </a:custDash>
              </a:ln>
            </p:spPr>
          </p:sp>
          <p:sp>
            <p:nvSpPr>
              <p:cNvPr id="58" name="Ellipse 58"/>
              <p:cNvSpPr/>
              <p:nvPr/>
            </p:nvSpPr>
            <p:spPr>
              <a:xfrm>
                <a:off x="9925050" y="3943350"/>
                <a:ext cx="342900" cy="342900"/>
              </a:xfrm>
              <a:prstGeom prst="ellipse">
                <a:avLst/>
              </a:prstGeom>
              <a:solidFill>
                <a:srgbClr val="FFB020">
                  <a:alpha val="90000"/>
                </a:srgbClr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533198" y="4397216"/>
                <a:ext cx="12165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FFB020"/>
                    </a:solidFill>
                    <a:latin typeface="Malgun Gothic"/>
                    <a:ea typeface="Malgun Gothic"/>
                    <a:cs typeface="Malgun Gothic"/>
                  </a:rPr>
                  <a:t>Q4 · 저전문성 / 고AI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517005" y="4802505"/>
                <a:ext cx="240423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2100" b="1" dirty="0">
                    <a:solidFill>
                      <a:srgbClr val="F5F7FA"/>
                    </a:solidFill>
                    <a:latin typeface="Malgun Gothic"/>
                    <a:ea typeface="Malgun Gothic"/>
                    <a:cs typeface="Malgun Gothic"/>
                  </a:rPr>
                  <a:t>프롬프트 의존형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529388" y="6146006"/>
                <a:ext cx="14416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FFB020"/>
                    </a:solidFill>
                    <a:latin typeface="Malgun Gothic"/>
                    <a:ea typeface="Malgun Gothic"/>
                    <a:cs typeface="Malgun Gothic"/>
                  </a:rPr>
                  <a:t>깊이 없이 흔들린다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531292" y="5924074"/>
                <a:ext cx="2409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8B95A8"/>
                    </a:solidFill>
                    <a:latin typeface="Malgun Gothic"/>
                    <a:ea typeface="Malgun Gothic"/>
                    <a:cs typeface="Malgun Gothic"/>
                  </a:rPr>
                  <a:t>속도는 빠르지만 판단의 기반이 얕다.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531292" y="6143149"/>
                <a:ext cx="17762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8B95A8"/>
                    </a:solidFill>
                    <a:latin typeface="Malgun Gothic"/>
                    <a:ea typeface="Malgun Gothic"/>
                    <a:cs typeface="Malgun Gothic"/>
                  </a:rPr>
                  <a:t>AI가 바뀌면 함께 흔들린다.</a:t>
                </a:r>
              </a:p>
            </p:txBody>
          </p:sp>
        </p:grpSp>
        <p:sp>
          <p:nvSpPr>
            <p:cNvPr id="65" name="Line 65"/>
            <p:cNvSpPr/>
            <p:nvPr/>
          </p:nvSpPr>
          <p:spPr>
            <a:xfrm>
              <a:off x="6334125" y="19050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14288">
              <a:solidFill>
                <a:srgbClr val="1A2348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2190750" y="3905250"/>
              <a:ext cx="8286750" cy="9525"/>
            </a:xfrm>
            <a:custGeom>
              <a:avLst/>
              <a:gdLst/>
              <a:ahLst/>
              <a:cxnLst/>
              <a:rect l="l" t="t" r="r" b="b"/>
              <a:pathLst>
                <a:path w="8286750" h="9525">
                  <a:moveTo>
                    <a:pt x="0" y="0"/>
                  </a:moveTo>
                  <a:lnTo>
                    <a:pt x="8286750" y="0"/>
                  </a:lnTo>
                </a:path>
              </a:pathLst>
            </a:custGeom>
            <a:noFill/>
            <a:ln w="14288">
              <a:solidFill>
                <a:srgbClr val="1A2348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68" name="Line 68"/>
            <p:cNvSpPr/>
            <p:nvPr/>
          </p:nvSpPr>
          <p:spPr>
            <a:xfrm>
              <a:off x="571500" y="6667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61B2E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0070" y="6570345"/>
              <a:ext cx="14161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B95A8"/>
                  </a:solidFill>
                  <a:latin typeface="Malgun Gothic"/>
                  <a:ea typeface="Malgun Gothic"/>
                  <a:cs typeface="Malgun Gothic"/>
                </a:rPr>
                <a:t>AI 시대의 개발자 — 진단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34452" y="65703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B95A8"/>
                  </a:solidFill>
                  <a:latin typeface="Malgun Gothic"/>
                  <a:ea typeface="Malgun Gothic"/>
                  <a:cs typeface="Malgun Gothic"/>
                </a:rPr>
                <a:t>06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10" y="4852035"/>
            <a:ext cx="5983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Page 8 could not be generated.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10" y="4852035"/>
            <a:ext cx="5983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Page 9 could not be generated.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10" y="4852035"/>
            <a:ext cx="610190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Page 10 could not be generated.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10" y="4852035"/>
            <a:ext cx="60033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Page 11 could not be generated.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