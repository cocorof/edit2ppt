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03_막대그래프</a:t>
            </a:r>
          </a:p>
          <a:p>
            <a:endParaRPr lang="ko-KR" dirty="0"/>
          </a:p>
          <a:p>
            <a:r>
              <a:rPr lang="ko-KR" dirty="0"/>
              <a:t>세 번째로 살펴볼 차트는 막대그래프입니다. 가장 기본적이면서도 가장 자주 쓰이는 형태인데요, 두 가지 이상 항목의 수치를 직관적으로 비교하고 싶을 때 우선적으로 선택하시면 됩니다. 화면 왼쪽 예시를 보시면 가전, 모바일, 디스플레이, 반도체 네 부문의 매출이 한눈에 들어옵니다. 가전이 천팔백이십억 원으로 가장 크고, 반도체가 육백이십억 원으로 가장 작다는 것을 막대 길이만으로 바로 알 수 있죠. 다만 한 가지 주의하실 점은, 시간의 흐름에 따른 변화를 보여주고 싶다면 막대그래프보다는 꺾은선그래프가 더 적합하다는 것입니다.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04_핵심_성과_지표</a:t>
            </a:r>
          </a:p>
          <a:p>
            <a:endParaRPr lang="ko-KR" dirty="0"/>
          </a:p>
          <a:p>
            <a:r>
              <a:rPr lang="ko-KR" dirty="0"/>
              <a:t>앞서 시장 환경과 경쟁 구도를 살펴봤다면, 이제 가장 중요한 숫자 하나를 보여드리겠습니다. 바로 97.3퍼센트, 저희 솔루션의 인식 정확도입니다. 이 수치는 업계 평균 대비 15퍼센트포인트를 웃도는 결과이며, 지난 분기 누적된 1,200만 건의 실사용 데이터를 기반으로 검증되었습니다. 단순한 벤치마크 점수가 아니라, 실제 현장에서 검증된 신뢰의 근거라는 점을 강조드리고 싶습니다.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02_수평_타임라인_차트</a:t>
            </a:r>
          </a:p>
          <a:p>
            <a:endParaRPr lang="ko-KR" dirty="0"/>
          </a:p>
          <a:p>
            <a:r>
              <a:rPr lang="ko-KR" dirty="0"/>
              <a:t>이번에는 수평 타임라인 차트를 살펴보겠습니다. 이 차트는 시간 순서로 사건이나 발전 단계를 왼쪽에서 오른쪽으로 펼쳐 보여줄 때 가장 적합합니다. 예시로 보시는 제품 개발 로드맵에서는 1분기 기획부터 4분기 정식 출시까지의 흐름이 한눈에 들어오고, 현재 시점인 3분기 베타 출시 단계는 강조 색상으로 처리되어 진행 상황이 명확하게 전달됩니다. 미래 시점은 점선 원으로 표현해 아직 확정되지 않은 단계임을 자연스럽게 구분할 수 있습니다.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03_두_가지_대안_비교</a:t>
            </a:r>
          </a:p>
          <a:p>
            <a:endParaRPr lang="ko-KR" dirty="0"/>
          </a:p>
          <a:p>
            <a:r>
              <a:rPr lang="ko-KR" dirty="0"/>
              <a:t>이번 페이지에서는 우리가 검토한 두 가지 대안을 동등한 가중치로 나란히 놓고 비교해 보겠습니다. 왼쪽은 자체 개발, 오른쪽은 솔루션 도입입니다. 초기 비용과 개발 기간만 보면 솔루션 도입이 압도적으로 유리합니다. 약 3억 원에 6주에서 8주면 시작할 수 있으니까요. 다만 유연성 측면에서는 자체 개발이 더 강점이 있어서, 차별화가 핵심 경쟁력이라면 한 번 더 고민해 볼 여지가 있습니다. 결국 선택의 기준은 속도냐 차별화냐, 두 가지 가치 중 어느 쪽에 더 무게를 둘 것인가입니다.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08_지금 해야 할 것</a:t>
            </a:r>
          </a:p>
          <a:p>
            <a:endParaRPr lang="ko-KR" dirty="0"/>
          </a:p>
          <a:p>
            <a:r>
              <a:rPr lang="ko-KR" dirty="0"/>
              <a:t>자, 지금까지 현실을 직시했다면 이제 행동할 차례입니다. 막연히 "공부해야지" 하고 끝내면 내일도 똑같습니다. 오늘부터 이 네 단계를 순서대로 실행하세요.</a:t>
            </a:r>
          </a:p>
          <a:p>
            <a:endParaRPr lang="ko-KR" dirty="0"/>
          </a:p>
          <a:p>
            <a:r>
              <a:rPr lang="ko-KR" dirty="0"/>
              <a:t>첫째, AI 도구 하나를 오늘 설치합니다. 커서, 깃허브 코파일럿, 클로드 코드 중 무엇이든 좋습니다. 중요한 건 실제 작업 환경에 깔아두는 것입니다. 둘째, 작은 실제 업무로 검증합니다. 튜토리얼 말고 진짜 일의 한 조각을 맡겨보세요. 속도 차이를 몸으로 느끼는 것이 가장 빠른 학습입니다.</a:t>
            </a:r>
          </a:p>
          <a:p>
            <a:endParaRPr lang="ko-KR" dirty="0"/>
          </a:p>
          <a:p>
            <a:r>
              <a:rPr lang="ko-KR" dirty="0"/>
              <a:t>셋째, 프롬프트 작성 능력을 키웁니다. 맥락을 제공하고, 명세를 잘게 쪼개고, 결과를 검증하는 것 — 이것이 앞으로의 핵심 역량입니다. 코드를 직접 짜는 시간보다 지시문을 다듬는 시간이 더 중요해집니다.</a:t>
            </a:r>
          </a:p>
          <a:p>
            <a:endParaRPr lang="ko-KR" dirty="0"/>
          </a:p>
          <a:p>
            <a:r>
              <a:rPr lang="ko-KR" dirty="0"/>
              <a:t>그리고 마지막, 가장 중요한 네 번째. 동료에게 공유하세요. 혼자 알면 잠깐의 우위에 그치지만, 팀이 함께 익히면 지속 가능한 경쟁력이 됩니다. 가장 빠른 학습은 결국 가르치는 것이라는 말, 오늘부터 실천해 보시기 바랍니다.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01_표지</a:t>
            </a:r>
          </a:p>
          <a:p>
            <a:endParaRPr lang="ko-KR" dirty="0"/>
          </a:p>
          <a:p>
            <a:r>
              <a:rPr lang="ko-KR" dirty="0"/>
              <a:t>오늘 함께 이야기 나눌 주제는 다소 도발적입니다. 개발자의 종말. AI가 코드를 쓰기 시작한 시대에, 우리는 정말 끝을 향해 가고 있는 걸까요, 아니면 새로운 시작점에 서 있는 걸까요. 다음 한 시간 동안 데이터와 사례를 통해 이 질문의 답을 함께 찾아보겠습니다.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02_문제_제기</a:t>
            </a:r>
          </a:p>
          <a:p>
            <a:endParaRPr lang="ko-KR" dirty="0"/>
          </a:p>
          <a:p>
            <a:r>
              <a:rPr lang="ko-KR" dirty="0"/>
              <a:t>여러분, 잠시 이 화면을 함께 보시겠습니다. 제가 이 한 문장을 읽는 동안에도, 전 세계 수많은 AI는 지금 이 순간에도 코드를 쓰고 있습니다. 과장이 아니라 현실입니다. ChatGPT가 세상에 나온 지 이제 막 3년이 지났을 뿐인데, 그 짧은 시간 동안 개발 생산성의 지형은 완전히 다시 그려졌습니다. 오늘 저희가 이야기할 출발점은 바로 여기, 우리가 지금 어디에 서 있는가 하는 질문입니다.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07_ai는_얼마나_빨라졌나</a:t>
            </a:r>
          </a:p>
          <a:p>
            <a:endParaRPr lang="ko-KR" dirty="0"/>
          </a:p>
          <a:p>
            <a:r>
              <a:rPr lang="ko-KR" dirty="0"/>
              <a:t>그렇다면 AI는 실제로 얼마나 빨라졌을까요. GitHub Copilot 사용자 연구 결과를 보시면, 동일한 기능을 구현하는 데 걸린 평균 작업 시간이 기존 방식 백을 기준으로 AI 페어 코딩에서는 삼십팔까지 떨어졌습니다. 약 62퍼센트, 그러니까 절반도 안 되는 시간에 같은 일을 끝낸다는 뜻입니다. 이 정도 격차는 단순한 효율 개선이 아니라, 일하는 방식 자체가 바뀌었다는 신호로 봐야 합니다.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08_충격적_지표</a:t>
            </a:r>
          </a:p>
          <a:p>
            <a:endParaRPr lang="ko-KR" dirty="0"/>
          </a:p>
          <a:p>
            <a:r>
              <a:rPr lang="ko-KR" dirty="0"/>
              <a:t>이 숫자 하나만 기억해 주십시오. 76퍼센트. 현직 개발자 중 AI 코딩 도구를 일상적으로 사용하는 비율입니다. Stack Overflow의 2024년 개발자 서베이 결과이고, 표본은 6만 명이 넘습니다. 더 충격적인 건 속도입니다. 불과 1년 전, 같은 조사에서 이 수치는 44퍼센트였습니다. 12개월 만에 32퍼센트포인트가 올라간 겁니다. 어떤 신기술도 이런 속도로 개발 현장에 들어온 적이 없습니다. 클라우드도, 컨테이너도, 심지어 깃도 이렇지 않았습니다. 이미 표준이 바뀌었다는 뜻이고, 우리가 논의해야 할 것은 도입 여부가 아니라 도입 방식이라는 뜻입니다.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09_ai_coding_5year_history</a:t>
            </a:r>
          </a:p>
          <a:p>
            <a:endParaRPr lang="ko-KR" dirty="0"/>
          </a:p>
          <a:p>
            <a:r>
              <a:rPr lang="ko-KR" dirty="0"/>
              <a:t>지난 5년을 한 장으로 압축해 보겠습니다. 2020년 GPT-3가 "코드를 만들 수 있다"는 가능성을 처음 보여줬고, 2021년 깃허브 코파일럿이 페어 프로그래밍을 상용 영역으로 끌고 들어왔습니다. 2023년 챗지피티와 GPT-4로 자연어 설계가 가능해졌고, 2024년 커서와 클로드가 IDE 안에서 멀티파일 편집을 일상으로 만들었습니다. 그리고 2025년, 우리는 자율 실행 에이전트, 즉 에이전틱 코딩의 시대에 들어와 있습니다. 자동 완성에서 자율 실행까지 단 5년, 그 다음 단계가 지금 이 슬라이드 다음에 이어집니다.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10_ai가_할_수_있는_것</a:t>
            </a:r>
          </a:p>
          <a:p>
            <a:endParaRPr lang="ko-KR" dirty="0"/>
          </a:p>
          <a:p>
            <a:r>
              <a:rPr lang="ko-KR" dirty="0"/>
              <a:t>여기서 잠깐, AI가 지금 어디까지 와 있는지 짚고 넘어가겠습니다. 많은 분들이 아직도 AI를 "코드 자동완성 도구" 정도로 생각하시는데, 현실은 그 단계를 이미 한참 지났습니다. 지금의 AI는 여러 파일에 걸친 리팩토링을 스스로 수행하고, 테스트 작성부터 버그 수정, 배포까지 end-to-end로 처리합니다. 자연어로 시스템 아키텍처를 설계하고, 팀의 코드 리뷰에서 1차 라인을 담당하는 곳도 늘고 있습니다. 다시 말해 AI는 더 이상 "도구"가 아니라, 사실상 동료에 가깝습니다. 이 인식의 전환이 오늘 이야기의 출발점입니다.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11_두_부류의_개발자</a:t>
            </a:r>
          </a:p>
          <a:p>
            <a:endParaRPr lang="ko-KR" dirty="0"/>
          </a:p>
          <a:p>
            <a:r>
              <a:rPr lang="ko-KR" dirty="0"/>
              <a:t>같은 시대를 살아가는 개발자가 두 부류로 갈라지고 있습니다. 한쪽은 AI를 도구로 받아들여 문제 정의와 아키텍처에 집중하고, 1인이 5인 몫을 해내며, 매일 새로운 도구를 실험합니다. 시장은 이런 사람을 희소한 자원으로 평가합니다. 다른 한쪽은 변화를 외면하고 반복적인 구현 작업에 머무릅니다. 학습이 멈춘 자리에서 가치는 빠르게 평준화됩니다. 결국 차이를 만드는 것은 재능이 아니라 AI를 다루는 태도입니다. 여러분은 지금 어느 쪽에 서 계십니까.</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12_지금 해야 할 4가지</a:t>
            </a:r>
          </a:p>
          <a:p>
            <a:endParaRPr lang="ko-KR" dirty="0"/>
          </a:p>
          <a:p>
            <a:r>
              <a:rPr lang="ko-KR" dirty="0"/>
              <a:t>지금까지의 이야기를 끄덕이며 들으셨다면, 이제 행동으로 옮길 차례입니다. 변화는 읽는 것이 아니라 하는 것에서 시작됩니다. 오늘부터 해야 할 네 가지를 말씀드리겠습니다. 첫째, 도구를 손에 익히십시오. Cursor, Claude Code, Copilot 중 무엇이든 좋습니다. 하나를 골라 매일 사용하십시오. 손에 익지 않은 도구는 결코 무기가 되지 않습니다. 둘째, 프롬프트 엔지니어링을 배우십시오. 명확한 컨텍스트와 제약 조건을 설계하는 능력, 이것이 새로운 시대의 문해력입니다. 셋째, AI의 출력을 반드시 검증하십시오. 맹신은 사고로 이어집니다. 우리는 비판적 협업자가 되어야 합니다. AI는 동료이지 신탁이 아닙니다. 그리고 마지막 네 번째, 가장 중요합니다. 추상화 레벨을 한 단계 올리십시오. 더 이상 코드 한 줄 한 줄에 매달리지 말고, 시스템과 의사결정을 다루십시오. 이것이 AI 시대 개발자의 진짜 일입니다.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13_핵심_메시지</a:t>
            </a:r>
          </a:p>
          <a:p>
            <a:endParaRPr lang="ko-KR" dirty="0"/>
          </a:p>
          <a:p>
            <a:r>
              <a:rPr lang="ko-KR" dirty="0"/>
              <a:t>잠시 화면을 함께 보시죠. AI는 개발자를 대체하지 않습니다. 다만, AI를 쓰는 개발자가 쓰지 않는 개발자를 대체할 뿐입니다. 이 한 문장이 지금 우리가 서 있는 시대를 가장 정확하게 설명한다고 생각합니다. 두려워해야 할 대상은 기술 자체가 아니라, 그 기술을 먼저 받아들인 동료입니다. 그렇다면 우리는 어떻게 움직여야 할까요. 다음 페이지에서 그 답을 함께 찾아보겠습니다.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우리는 데이터와 시나리오를 함께 살펴보았습니다. 결론은 명확합니다. 종말은 운명이 아니라 선택입니다. 우리가 침묵하는 쪽을 택하면 첫 번째 길이 열리고, 오늘 행동하는 쪽을 택하면 두 번째 길이 열립니다. 여러분은 지금 이 순간 어느 쪽에 서 계십니까. 발표는 여기까지입니다. 진심으로 감사드리며, 이제 질문을 받겠습니다.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A7CE0"/>
          </a:solidFill>
          <a:ln>
            <a:noFill/>
          </a:ln>
        </p:spPr>
      </p:sp>
      <p:sp>
        <p:nvSpPr>
          <p:cNvPr id="4" name="TextBox 4"/>
          <p:cNvSpPr txBox="1"/>
          <p:nvPr/>
        </p:nvSpPr>
        <p:spPr>
          <a:xfrm>
            <a:off x="748665" y="743902"/>
            <a:ext cx="1234321" cy="213360"/>
          </a:xfrm>
          <a:prstGeom prst="rect">
            <a:avLst/>
          </a:prstGeom>
          <a:noFill/>
          <a:ln>
            <a:noFill/>
          </a:ln>
        </p:spPr>
        <p:txBody>
          <a:bodyPr wrap="none" lIns="0" tIns="0" rIns="0" bIns="0" anchor="t" anchorCtr="0">
            <a:spAutoFit/>
          </a:bodyPr>
          <a:lstStyle/>
          <a:p>
            <a:pPr algn="l"/>
            <a:r>
              <a:rPr lang="en-US" sz="1200" b="1" dirty="0">
                <a:solidFill>
                  <a:srgbClr val="1A7CE0"/>
                </a:solidFill>
                <a:latin typeface="Malgun Gothic"/>
                <a:ea typeface="Malgun Gothic"/>
                <a:cs typeface="Malgun Gothic"/>
              </a:rPr>
              <a:t>P03 · BAR CHART</a:t>
            </a:r>
          </a:p>
        </p:txBody>
      </p:sp>
      <p:sp>
        <p:nvSpPr>
          <p:cNvPr id="5" name="TextBox 5"/>
          <p:cNvSpPr txBox="1"/>
          <p:nvPr/>
        </p:nvSpPr>
        <p:spPr>
          <a:xfrm>
            <a:off x="727710" y="994410"/>
            <a:ext cx="5761792" cy="548640"/>
          </a:xfrm>
          <a:prstGeom prst="rect">
            <a:avLst/>
          </a:prstGeom>
          <a:noFill/>
          <a:ln>
            <a:noFill/>
          </a:ln>
        </p:spPr>
        <p:txBody>
          <a:bodyPr wrap="none" lIns="0" tIns="0" rIns="0" bIns="0" anchor="t" anchorCtr="0">
            <a:spAutoFit/>
          </a:bodyPr>
          <a:lstStyle/>
          <a:p>
            <a:pPr algn="l"/>
            <a:r>
              <a:rPr lang="ko-KR" sz="2700" b="1" dirty="0">
                <a:solidFill>
                  <a:srgbClr val="1A1A1A"/>
                </a:solidFill>
                <a:latin typeface="Malgun Gothic"/>
                <a:ea typeface="Malgun Gothic"/>
                <a:cs typeface="Malgun Gothic"/>
              </a:rPr>
              <a:t>막대그래프: 항목 간 수치 비교</a:t>
            </a:r>
          </a:p>
        </p:txBody>
      </p:sp>
      <p:sp>
        <p:nvSpPr>
          <p:cNvPr id="6" name="TextBox 6"/>
          <p:cNvSpPr txBox="1"/>
          <p:nvPr/>
        </p:nvSpPr>
        <p:spPr>
          <a:xfrm>
            <a:off x="744855" y="1492568"/>
            <a:ext cx="5298662" cy="274320"/>
          </a:xfrm>
          <a:prstGeom prst="rect">
            <a:avLst/>
          </a:prstGeom>
          <a:noFill/>
          <a:ln>
            <a:noFill/>
          </a:ln>
        </p:spPr>
        <p:txBody>
          <a:bodyPr wrap="none" lIns="0" tIns="0" rIns="0" bIns="0" anchor="t" anchorCtr="0">
            <a:spAutoFit/>
          </a:bodyPr>
          <a:lstStyle/>
          <a:p>
            <a:pPr algn="l"/>
            <a:r>
              <a:rPr lang="ko-KR" sz="1350" dirty="0">
                <a:solidFill>
                  <a:srgbClr val="666666"/>
                </a:solidFill>
                <a:latin typeface="Malgun Gothic"/>
                <a:ea typeface="Malgun Gothic"/>
                <a:cs typeface="Malgun Gothic"/>
              </a:rPr>
              <a:t>두 가지 이상 항목의 수치를 직관적으로 비교할 때 우선 선택</a:t>
            </a:r>
          </a:p>
        </p:txBody>
      </p:sp>
      <p:sp>
        <p:nvSpPr>
          <p:cNvPr id="7" name="Line 7"/>
          <p:cNvSpPr/>
          <p:nvPr/>
        </p:nvSpPr>
        <p:spPr>
          <a:xfrm>
            <a:off x="762000" y="1905000"/>
            <a:ext cx="10668000" cy="9525"/>
          </a:xfrm>
          <a:custGeom>
            <a:avLst/>
            <a:gdLst/>
            <a:ahLst/>
            <a:cxnLst/>
            <a:rect l="l" t="t" r="r" b="b"/>
            <a:pathLst>
              <a:path w="10668000" h="9525">
                <a:moveTo>
                  <a:pt x="0" y="0"/>
                </a:moveTo>
                <a:lnTo>
                  <a:pt x="10668000" y="0"/>
                </a:lnTo>
              </a:path>
            </a:pathLst>
          </a:custGeom>
          <a:noFill/>
          <a:ln w="9525">
            <a:solidFill>
              <a:srgbClr val="E5E5E5"/>
            </a:solidFill>
          </a:ln>
        </p:spPr>
      </p:sp>
      <p:grpSp>
        <p:nvGrpSpPr>
          <p:cNvPr id="34" name="Group 34"/>
          <p:cNvGrpSpPr/>
          <p:nvPr/>
        </p:nvGrpSpPr>
        <p:grpSpPr>
          <a:xfrm>
            <a:off x="746760" y="2156460"/>
            <a:ext cx="6111240" cy="3596640"/>
            <a:chOff x="746760" y="2156460"/>
            <a:chExt cx="6111240" cy="3596640"/>
          </a:xfrm>
        </p:grpSpPr>
        <p:sp>
          <p:nvSpPr>
            <p:cNvPr id="8" name="TextBox 8"/>
            <p:cNvSpPr txBox="1"/>
            <p:nvPr/>
          </p:nvSpPr>
          <p:spPr>
            <a:xfrm>
              <a:off x="746760" y="2156460"/>
              <a:ext cx="2855233" cy="243840"/>
            </a:xfrm>
            <a:prstGeom prst="rect">
              <a:avLst/>
            </a:prstGeom>
            <a:noFill/>
            <a:ln>
              <a:noFill/>
            </a:ln>
          </p:spPr>
          <p:txBody>
            <a:bodyPr wrap="none" lIns="0" tIns="0" rIns="0" bIns="0" anchor="t" anchorCtr="0">
              <a:spAutoFit/>
            </a:bodyPr>
            <a:lstStyle/>
            <a:p>
              <a:pPr algn="l"/>
              <a:r>
                <a:rPr lang="ko-KR" sz="1200" b="1" dirty="0">
                  <a:solidFill>
                    <a:srgbClr val="1A1A1A"/>
                  </a:solidFill>
                  <a:latin typeface="Malgun Gothic"/>
                  <a:ea typeface="Malgun Gothic"/>
                  <a:cs typeface="Malgun Gothic"/>
                </a:rPr>
                <a:t>2024년 부문별 매출 (단위: 억 원)</a:t>
              </a:r>
            </a:p>
          </p:txBody>
        </p:sp>
        <p:sp>
          <p:nvSpPr>
            <p:cNvPr id="9" name="Line 9"/>
            <p:cNvSpPr/>
            <p:nvPr/>
          </p:nvSpPr>
          <p:spPr>
            <a:xfrm>
              <a:off x="1524000" y="2762250"/>
              <a:ext cx="5334000" cy="9525"/>
            </a:xfrm>
            <a:custGeom>
              <a:avLst/>
              <a:gdLst/>
              <a:ahLst/>
              <a:cxnLst/>
              <a:rect l="l" t="t" r="r" b="b"/>
              <a:pathLst>
                <a:path w="5334000" h="9525">
                  <a:moveTo>
                    <a:pt x="0" y="0"/>
                  </a:moveTo>
                  <a:lnTo>
                    <a:pt x="5334000" y="0"/>
                  </a:lnTo>
                </a:path>
              </a:pathLst>
            </a:custGeom>
            <a:noFill/>
            <a:ln w="9525">
              <a:solidFill>
                <a:srgbClr val="F0F0F0"/>
              </a:solidFill>
            </a:ln>
          </p:spPr>
        </p:sp>
        <p:sp>
          <p:nvSpPr>
            <p:cNvPr id="10" name="Line 10"/>
            <p:cNvSpPr/>
            <p:nvPr/>
          </p:nvSpPr>
          <p:spPr>
            <a:xfrm>
              <a:off x="1524000" y="3333750"/>
              <a:ext cx="5334000" cy="9525"/>
            </a:xfrm>
            <a:custGeom>
              <a:avLst/>
              <a:gdLst/>
              <a:ahLst/>
              <a:cxnLst/>
              <a:rect l="l" t="t" r="r" b="b"/>
              <a:pathLst>
                <a:path w="5334000" h="9525">
                  <a:moveTo>
                    <a:pt x="0" y="0"/>
                  </a:moveTo>
                  <a:lnTo>
                    <a:pt x="5334000" y="0"/>
                  </a:lnTo>
                </a:path>
              </a:pathLst>
            </a:custGeom>
            <a:noFill/>
            <a:ln w="9525">
              <a:solidFill>
                <a:srgbClr val="F0F0F0"/>
              </a:solidFill>
            </a:ln>
          </p:spPr>
        </p:sp>
        <p:sp>
          <p:nvSpPr>
            <p:cNvPr id="11" name="Line 11"/>
            <p:cNvSpPr/>
            <p:nvPr/>
          </p:nvSpPr>
          <p:spPr>
            <a:xfrm>
              <a:off x="1524000" y="3905250"/>
              <a:ext cx="5334000" cy="9525"/>
            </a:xfrm>
            <a:custGeom>
              <a:avLst/>
              <a:gdLst/>
              <a:ahLst/>
              <a:cxnLst/>
              <a:rect l="l" t="t" r="r" b="b"/>
              <a:pathLst>
                <a:path w="5334000" h="9525">
                  <a:moveTo>
                    <a:pt x="0" y="0"/>
                  </a:moveTo>
                  <a:lnTo>
                    <a:pt x="5334000" y="0"/>
                  </a:lnTo>
                </a:path>
              </a:pathLst>
            </a:custGeom>
            <a:noFill/>
            <a:ln w="9525">
              <a:solidFill>
                <a:srgbClr val="F0F0F0"/>
              </a:solidFill>
            </a:ln>
          </p:spPr>
        </p:sp>
        <p:sp>
          <p:nvSpPr>
            <p:cNvPr id="12" name="Line 12"/>
            <p:cNvSpPr/>
            <p:nvPr/>
          </p:nvSpPr>
          <p:spPr>
            <a:xfrm>
              <a:off x="1524000" y="4476750"/>
              <a:ext cx="5334000" cy="9525"/>
            </a:xfrm>
            <a:custGeom>
              <a:avLst/>
              <a:gdLst/>
              <a:ahLst/>
              <a:cxnLst/>
              <a:rect l="l" t="t" r="r" b="b"/>
              <a:pathLst>
                <a:path w="5334000" h="9525">
                  <a:moveTo>
                    <a:pt x="0" y="0"/>
                  </a:moveTo>
                  <a:lnTo>
                    <a:pt x="5334000" y="0"/>
                  </a:lnTo>
                </a:path>
              </a:pathLst>
            </a:custGeom>
            <a:noFill/>
            <a:ln w="9525">
              <a:solidFill>
                <a:srgbClr val="F0F0F0"/>
              </a:solidFill>
            </a:ln>
          </p:spPr>
        </p:sp>
        <p:sp>
          <p:nvSpPr>
            <p:cNvPr id="13" name="Line 13"/>
            <p:cNvSpPr/>
            <p:nvPr/>
          </p:nvSpPr>
          <p:spPr>
            <a:xfrm>
              <a:off x="1524000" y="5048250"/>
              <a:ext cx="5334000" cy="9525"/>
            </a:xfrm>
            <a:custGeom>
              <a:avLst/>
              <a:gdLst/>
              <a:ahLst/>
              <a:cxnLst/>
              <a:rect l="l" t="t" r="r" b="b"/>
              <a:pathLst>
                <a:path w="5334000" h="9525">
                  <a:moveTo>
                    <a:pt x="0" y="0"/>
                  </a:moveTo>
                  <a:lnTo>
                    <a:pt x="5334000" y="0"/>
                  </a:lnTo>
                </a:path>
              </a:pathLst>
            </a:custGeom>
            <a:noFill/>
            <a:ln w="9525">
              <a:solidFill>
                <a:srgbClr val="F0F0F0"/>
              </a:solidFill>
            </a:ln>
          </p:spPr>
        </p:sp>
        <p:sp>
          <p:nvSpPr>
            <p:cNvPr id="14" name="TextBox 14"/>
            <p:cNvSpPr txBox="1"/>
            <p:nvPr/>
          </p:nvSpPr>
          <p:spPr>
            <a:xfrm>
              <a:off x="1086922" y="2711291"/>
              <a:ext cx="352306" cy="167640"/>
            </a:xfrm>
            <a:prstGeom prst="rect">
              <a:avLst/>
            </a:prstGeom>
            <a:noFill/>
            <a:ln>
              <a:noFill/>
            </a:ln>
          </p:spPr>
          <p:txBody>
            <a:bodyPr wrap="none" lIns="0" tIns="0" rIns="0" bIns="0" anchor="t" anchorCtr="0">
              <a:spAutoFit/>
            </a:bodyPr>
            <a:lstStyle/>
            <a:p>
              <a:pPr algn="r"/>
              <a:r>
                <a:rPr lang="en-US" sz="1200" dirty="0">
                  <a:solidFill>
                    <a:srgbClr val="999999"/>
                  </a:solidFill>
                  <a:latin typeface="Malgun Gothic"/>
                  <a:ea typeface="Malgun Gothic"/>
                  <a:cs typeface="Malgun Gothic"/>
                </a:rPr>
                <a:t>2,000</a:t>
              </a:r>
            </a:p>
          </p:txBody>
        </p:sp>
        <p:sp>
          <p:nvSpPr>
            <p:cNvPr id="15" name="TextBox 15"/>
            <p:cNvSpPr txBox="1"/>
            <p:nvPr/>
          </p:nvSpPr>
          <p:spPr>
            <a:xfrm>
              <a:off x="1117044" y="3282791"/>
              <a:ext cx="322183" cy="167640"/>
            </a:xfrm>
            <a:prstGeom prst="rect">
              <a:avLst/>
            </a:prstGeom>
            <a:noFill/>
            <a:ln>
              <a:noFill/>
            </a:ln>
          </p:spPr>
          <p:txBody>
            <a:bodyPr wrap="none" lIns="0" tIns="0" rIns="0" bIns="0" anchor="t" anchorCtr="0">
              <a:spAutoFit/>
            </a:bodyPr>
            <a:lstStyle/>
            <a:p>
              <a:pPr algn="r"/>
              <a:r>
                <a:rPr lang="en-US" sz="1200" dirty="0">
                  <a:solidFill>
                    <a:srgbClr val="999999"/>
                  </a:solidFill>
                  <a:latin typeface="Malgun Gothic"/>
                  <a:ea typeface="Malgun Gothic"/>
                  <a:cs typeface="Malgun Gothic"/>
                </a:rPr>
                <a:t>1,500</a:t>
              </a:r>
            </a:p>
          </p:txBody>
        </p:sp>
        <p:sp>
          <p:nvSpPr>
            <p:cNvPr id="16" name="TextBox 16"/>
            <p:cNvSpPr txBox="1"/>
            <p:nvPr/>
          </p:nvSpPr>
          <p:spPr>
            <a:xfrm>
              <a:off x="1117044" y="3854291"/>
              <a:ext cx="322183" cy="167640"/>
            </a:xfrm>
            <a:prstGeom prst="rect">
              <a:avLst/>
            </a:prstGeom>
            <a:noFill/>
            <a:ln>
              <a:noFill/>
            </a:ln>
          </p:spPr>
          <p:txBody>
            <a:bodyPr wrap="none" lIns="0" tIns="0" rIns="0" bIns="0" anchor="t" anchorCtr="0">
              <a:spAutoFit/>
            </a:bodyPr>
            <a:lstStyle/>
            <a:p>
              <a:pPr algn="r"/>
              <a:r>
                <a:rPr lang="en-US" sz="1200" dirty="0">
                  <a:solidFill>
                    <a:srgbClr val="999999"/>
                  </a:solidFill>
                  <a:latin typeface="Malgun Gothic"/>
                  <a:ea typeface="Malgun Gothic"/>
                  <a:cs typeface="Malgun Gothic"/>
                </a:rPr>
                <a:t>1,000</a:t>
              </a:r>
            </a:p>
          </p:txBody>
        </p:sp>
        <p:sp>
          <p:nvSpPr>
            <p:cNvPr id="17" name="TextBox 17"/>
            <p:cNvSpPr txBox="1"/>
            <p:nvPr/>
          </p:nvSpPr>
          <p:spPr>
            <a:xfrm>
              <a:off x="1219462" y="4425791"/>
              <a:ext cx="219766" cy="167640"/>
            </a:xfrm>
            <a:prstGeom prst="rect">
              <a:avLst/>
            </a:prstGeom>
            <a:noFill/>
            <a:ln>
              <a:noFill/>
            </a:ln>
          </p:spPr>
          <p:txBody>
            <a:bodyPr wrap="none" lIns="0" tIns="0" rIns="0" bIns="0" anchor="t" anchorCtr="0">
              <a:spAutoFit/>
            </a:bodyPr>
            <a:lstStyle/>
            <a:p>
              <a:pPr algn="r"/>
              <a:r>
                <a:rPr lang="en-US" sz="1200" dirty="0">
                  <a:solidFill>
                    <a:srgbClr val="999999"/>
                  </a:solidFill>
                  <a:latin typeface="Malgun Gothic"/>
                  <a:ea typeface="Malgun Gothic"/>
                  <a:cs typeface="Malgun Gothic"/>
                </a:rPr>
                <a:t>500</a:t>
              </a:r>
            </a:p>
          </p:txBody>
        </p:sp>
        <p:sp>
          <p:nvSpPr>
            <p:cNvPr id="18" name="TextBox 18"/>
            <p:cNvSpPr txBox="1"/>
            <p:nvPr/>
          </p:nvSpPr>
          <p:spPr>
            <a:xfrm>
              <a:off x="1352002" y="4997291"/>
              <a:ext cx="87225" cy="167640"/>
            </a:xfrm>
            <a:prstGeom prst="rect">
              <a:avLst/>
            </a:prstGeom>
            <a:noFill/>
            <a:ln>
              <a:noFill/>
            </a:ln>
          </p:spPr>
          <p:txBody>
            <a:bodyPr wrap="none" lIns="0" tIns="0" rIns="0" bIns="0" anchor="t" anchorCtr="0">
              <a:spAutoFit/>
            </a:bodyPr>
            <a:lstStyle/>
            <a:p>
              <a:pPr algn="r"/>
              <a:r>
                <a:rPr lang="en-US" sz="1200" dirty="0">
                  <a:solidFill>
                    <a:srgbClr val="999999"/>
                  </a:solidFill>
                  <a:latin typeface="Malgun Gothic"/>
                  <a:ea typeface="Malgun Gothic"/>
                  <a:cs typeface="Malgun Gothic"/>
                </a:rPr>
                <a:t>0</a:t>
              </a:r>
            </a:p>
          </p:txBody>
        </p:sp>
        <p:sp>
          <p:nvSpPr>
            <p:cNvPr id="19" name="Line 19"/>
            <p:cNvSpPr/>
            <p:nvPr/>
          </p:nvSpPr>
          <p:spPr>
            <a:xfrm>
              <a:off x="1524000" y="2667000"/>
              <a:ext cx="9525" cy="2381250"/>
            </a:xfrm>
            <a:custGeom>
              <a:avLst/>
              <a:gdLst/>
              <a:ahLst/>
              <a:cxnLst/>
              <a:rect l="l" t="t" r="r" b="b"/>
              <a:pathLst>
                <a:path w="9525" h="2381250">
                  <a:moveTo>
                    <a:pt x="0" y="0"/>
                  </a:moveTo>
                  <a:lnTo>
                    <a:pt x="0" y="2381250"/>
                  </a:lnTo>
                </a:path>
              </a:pathLst>
            </a:custGeom>
            <a:noFill/>
            <a:ln w="14288">
              <a:solidFill>
                <a:srgbClr val="CCCCCC"/>
              </a:solidFill>
            </a:ln>
          </p:spPr>
        </p:sp>
        <p:sp>
          <p:nvSpPr>
            <p:cNvPr id="20" name="Line 20"/>
            <p:cNvSpPr/>
            <p:nvPr/>
          </p:nvSpPr>
          <p:spPr>
            <a:xfrm>
              <a:off x="1524000" y="5048250"/>
              <a:ext cx="5334000" cy="9525"/>
            </a:xfrm>
            <a:custGeom>
              <a:avLst/>
              <a:gdLst/>
              <a:ahLst/>
              <a:cxnLst/>
              <a:rect l="l" t="t" r="r" b="b"/>
              <a:pathLst>
                <a:path w="5334000" h="9525">
                  <a:moveTo>
                    <a:pt x="0" y="0"/>
                  </a:moveTo>
                  <a:lnTo>
                    <a:pt x="5334000" y="0"/>
                  </a:lnTo>
                </a:path>
              </a:pathLst>
            </a:custGeom>
            <a:noFill/>
            <a:ln w="14288">
              <a:solidFill>
                <a:srgbClr val="CCCCCC"/>
              </a:solidFill>
            </a:ln>
          </p:spPr>
        </p:sp>
        <p:sp>
          <p:nvSpPr>
            <p:cNvPr id="21" name="Rectangle 21"/>
            <p:cNvSpPr/>
            <p:nvPr/>
          </p:nvSpPr>
          <p:spPr>
            <a:xfrm>
              <a:off x="1905000" y="2962275"/>
              <a:ext cx="762000" cy="2085975"/>
            </a:xfrm>
            <a:prstGeom prst="rect">
              <a:avLst/>
            </a:prstGeom>
            <a:solidFill>
              <a:srgbClr val="1A7CE0"/>
            </a:solidFill>
            <a:ln>
              <a:noFill/>
            </a:ln>
          </p:spPr>
        </p:sp>
        <p:sp>
          <p:nvSpPr>
            <p:cNvPr id="22" name="TextBox 22"/>
            <p:cNvSpPr txBox="1"/>
            <p:nvPr/>
          </p:nvSpPr>
          <p:spPr>
            <a:xfrm>
              <a:off x="2071390" y="2753678"/>
              <a:ext cx="429220" cy="213360"/>
            </a:xfrm>
            <a:prstGeom prst="rect">
              <a:avLst/>
            </a:prstGeom>
            <a:noFill/>
            <a:ln>
              <a:noFill/>
            </a:ln>
          </p:spPr>
          <p:txBody>
            <a:bodyPr wrap="none" lIns="0" tIns="0" rIns="0" bIns="0" anchor="t" anchorCtr="0">
              <a:spAutoFit/>
            </a:bodyPr>
            <a:lstStyle/>
            <a:p>
              <a:pPr algn="ctr"/>
              <a:r>
                <a:rPr lang="en-US" sz="1200" b="1" dirty="0">
                  <a:solidFill>
                    <a:srgbClr val="1A7CE0"/>
                  </a:solidFill>
                  <a:latin typeface="Malgun Gothic"/>
                  <a:ea typeface="Malgun Gothic"/>
                  <a:cs typeface="Malgun Gothic"/>
                </a:rPr>
                <a:t>1,820</a:t>
              </a:r>
            </a:p>
          </p:txBody>
        </p:sp>
        <p:sp>
          <p:nvSpPr>
            <p:cNvPr id="23" name="TextBox 23"/>
            <p:cNvSpPr txBox="1"/>
            <p:nvPr/>
          </p:nvSpPr>
          <p:spPr>
            <a:xfrm>
              <a:off x="2131219" y="5152549"/>
              <a:ext cx="309562" cy="198120"/>
            </a:xfrm>
            <a:prstGeom prst="rect">
              <a:avLst/>
            </a:prstGeom>
            <a:noFill/>
            <a:ln>
              <a:noFill/>
            </a:ln>
          </p:spPr>
          <p:txBody>
            <a:bodyPr wrap="none" lIns="0" tIns="0" rIns="0" bIns="0" anchor="t" anchorCtr="0">
              <a:spAutoFit/>
            </a:bodyPr>
            <a:lstStyle/>
            <a:p>
              <a:pPr algn="ctr"/>
              <a:r>
                <a:rPr lang="ko-KR" sz="1200" dirty="0">
                  <a:solidFill>
                    <a:srgbClr val="333333"/>
                  </a:solidFill>
                  <a:latin typeface="Malgun Gothic"/>
                  <a:ea typeface="Malgun Gothic"/>
                  <a:cs typeface="Malgun Gothic"/>
                </a:rPr>
                <a:t>가전</a:t>
              </a:r>
            </a:p>
          </p:txBody>
        </p:sp>
        <p:sp>
          <p:nvSpPr>
            <p:cNvPr id="24" name="Rectangle 24"/>
            <p:cNvSpPr/>
            <p:nvPr/>
          </p:nvSpPr>
          <p:spPr>
            <a:xfrm>
              <a:off x="3238500" y="3524250"/>
              <a:ext cx="762000" cy="1524000"/>
            </a:xfrm>
            <a:prstGeom prst="rect">
              <a:avLst/>
            </a:prstGeom>
            <a:solidFill>
              <a:srgbClr val="1A7CE0"/>
            </a:solidFill>
            <a:ln>
              <a:noFill/>
            </a:ln>
          </p:spPr>
        </p:sp>
        <p:sp>
          <p:nvSpPr>
            <p:cNvPr id="25" name="TextBox 25"/>
            <p:cNvSpPr txBox="1"/>
            <p:nvPr/>
          </p:nvSpPr>
          <p:spPr>
            <a:xfrm>
              <a:off x="3404890" y="3315652"/>
              <a:ext cx="429220" cy="213360"/>
            </a:xfrm>
            <a:prstGeom prst="rect">
              <a:avLst/>
            </a:prstGeom>
            <a:noFill/>
            <a:ln>
              <a:noFill/>
            </a:ln>
          </p:spPr>
          <p:txBody>
            <a:bodyPr wrap="none" lIns="0" tIns="0" rIns="0" bIns="0" anchor="t" anchorCtr="0">
              <a:spAutoFit/>
            </a:bodyPr>
            <a:lstStyle/>
            <a:p>
              <a:pPr algn="ctr"/>
              <a:r>
                <a:rPr lang="en-US" sz="1200" b="1" dirty="0">
                  <a:solidFill>
                    <a:srgbClr val="1A7CE0"/>
                  </a:solidFill>
                  <a:latin typeface="Malgun Gothic"/>
                  <a:ea typeface="Malgun Gothic"/>
                  <a:cs typeface="Malgun Gothic"/>
                </a:rPr>
                <a:t>1,340</a:t>
              </a:r>
            </a:p>
          </p:txBody>
        </p:sp>
        <p:sp>
          <p:nvSpPr>
            <p:cNvPr id="26" name="TextBox 26"/>
            <p:cNvSpPr txBox="1"/>
            <p:nvPr/>
          </p:nvSpPr>
          <p:spPr>
            <a:xfrm>
              <a:off x="3393519" y="5152549"/>
              <a:ext cx="451961" cy="198120"/>
            </a:xfrm>
            <a:prstGeom prst="rect">
              <a:avLst/>
            </a:prstGeom>
            <a:noFill/>
            <a:ln>
              <a:noFill/>
            </a:ln>
          </p:spPr>
          <p:txBody>
            <a:bodyPr wrap="none" lIns="0" tIns="0" rIns="0" bIns="0" anchor="t" anchorCtr="0">
              <a:spAutoFit/>
            </a:bodyPr>
            <a:lstStyle/>
            <a:p>
              <a:pPr algn="ctr"/>
              <a:r>
                <a:rPr lang="ko-KR" sz="1200" dirty="0">
                  <a:solidFill>
                    <a:srgbClr val="333333"/>
                  </a:solidFill>
                  <a:latin typeface="Malgun Gothic"/>
                  <a:ea typeface="Malgun Gothic"/>
                  <a:cs typeface="Malgun Gothic"/>
                </a:rPr>
                <a:t>모바일</a:t>
              </a:r>
            </a:p>
          </p:txBody>
        </p:sp>
        <p:sp>
          <p:nvSpPr>
            <p:cNvPr id="27" name="Rectangle 27"/>
            <p:cNvSpPr/>
            <p:nvPr/>
          </p:nvSpPr>
          <p:spPr>
            <a:xfrm>
              <a:off x="4572000" y="3924300"/>
              <a:ext cx="762000" cy="1123950"/>
            </a:xfrm>
            <a:prstGeom prst="rect">
              <a:avLst/>
            </a:prstGeom>
            <a:solidFill>
              <a:srgbClr val="1A7CE0"/>
            </a:solidFill>
            <a:ln>
              <a:noFill/>
            </a:ln>
          </p:spPr>
        </p:sp>
        <p:sp>
          <p:nvSpPr>
            <p:cNvPr id="28" name="TextBox 28"/>
            <p:cNvSpPr txBox="1"/>
            <p:nvPr/>
          </p:nvSpPr>
          <p:spPr>
            <a:xfrm>
              <a:off x="4806823" y="3715702"/>
              <a:ext cx="292353" cy="213360"/>
            </a:xfrm>
            <a:prstGeom prst="rect">
              <a:avLst/>
            </a:prstGeom>
            <a:noFill/>
            <a:ln>
              <a:noFill/>
            </a:ln>
          </p:spPr>
          <p:txBody>
            <a:bodyPr wrap="none" lIns="0" tIns="0" rIns="0" bIns="0" anchor="t" anchorCtr="0">
              <a:spAutoFit/>
            </a:bodyPr>
            <a:lstStyle/>
            <a:p>
              <a:pPr algn="ctr"/>
              <a:r>
                <a:rPr lang="en-US" sz="1200" b="1" dirty="0">
                  <a:solidFill>
                    <a:srgbClr val="1A7CE0"/>
                  </a:solidFill>
                  <a:latin typeface="Malgun Gothic"/>
                  <a:ea typeface="Malgun Gothic"/>
                  <a:cs typeface="Malgun Gothic"/>
                </a:rPr>
                <a:t>980</a:t>
              </a:r>
            </a:p>
          </p:txBody>
        </p:sp>
        <p:sp>
          <p:nvSpPr>
            <p:cNvPr id="29" name="TextBox 29"/>
            <p:cNvSpPr txBox="1"/>
            <p:nvPr/>
          </p:nvSpPr>
          <p:spPr>
            <a:xfrm>
              <a:off x="4584621" y="5152549"/>
              <a:ext cx="736759" cy="198120"/>
            </a:xfrm>
            <a:prstGeom prst="rect">
              <a:avLst/>
            </a:prstGeom>
            <a:noFill/>
            <a:ln>
              <a:noFill/>
            </a:ln>
          </p:spPr>
          <p:txBody>
            <a:bodyPr wrap="none" lIns="0" tIns="0" rIns="0" bIns="0" anchor="t" anchorCtr="0">
              <a:spAutoFit/>
            </a:bodyPr>
            <a:lstStyle/>
            <a:p>
              <a:pPr algn="ctr"/>
              <a:r>
                <a:rPr lang="ko-KR" sz="1200" dirty="0">
                  <a:solidFill>
                    <a:srgbClr val="333333"/>
                  </a:solidFill>
                  <a:latin typeface="Malgun Gothic"/>
                  <a:ea typeface="Malgun Gothic"/>
                  <a:cs typeface="Malgun Gothic"/>
                </a:rPr>
                <a:t>디스플레이</a:t>
              </a:r>
            </a:p>
          </p:txBody>
        </p:sp>
        <p:sp>
          <p:nvSpPr>
            <p:cNvPr id="30" name="Rectangle 30"/>
            <p:cNvSpPr/>
            <p:nvPr/>
          </p:nvSpPr>
          <p:spPr>
            <a:xfrm>
              <a:off x="5905500" y="4333875"/>
              <a:ext cx="762000" cy="714375"/>
            </a:xfrm>
            <a:prstGeom prst="rect">
              <a:avLst/>
            </a:prstGeom>
            <a:solidFill>
              <a:srgbClr val="A8C8E8"/>
            </a:solidFill>
            <a:ln>
              <a:noFill/>
            </a:ln>
          </p:spPr>
        </p:sp>
        <p:sp>
          <p:nvSpPr>
            <p:cNvPr id="31" name="TextBox 31"/>
            <p:cNvSpPr txBox="1"/>
            <p:nvPr/>
          </p:nvSpPr>
          <p:spPr>
            <a:xfrm>
              <a:off x="6140323" y="4125278"/>
              <a:ext cx="292353" cy="213360"/>
            </a:xfrm>
            <a:prstGeom prst="rect">
              <a:avLst/>
            </a:prstGeom>
            <a:noFill/>
            <a:ln>
              <a:noFill/>
            </a:ln>
          </p:spPr>
          <p:txBody>
            <a:bodyPr wrap="none" lIns="0" tIns="0" rIns="0" bIns="0" anchor="t" anchorCtr="0">
              <a:spAutoFit/>
            </a:bodyPr>
            <a:lstStyle/>
            <a:p>
              <a:pPr algn="ctr"/>
              <a:r>
                <a:rPr lang="en-US" sz="1200" b="1" dirty="0">
                  <a:solidFill>
                    <a:srgbClr val="666666"/>
                  </a:solidFill>
                  <a:latin typeface="Malgun Gothic"/>
                  <a:ea typeface="Malgun Gothic"/>
                  <a:cs typeface="Malgun Gothic"/>
                </a:rPr>
                <a:t>620</a:t>
              </a:r>
            </a:p>
          </p:txBody>
        </p:sp>
        <p:sp>
          <p:nvSpPr>
            <p:cNvPr id="32" name="TextBox 32"/>
            <p:cNvSpPr txBox="1"/>
            <p:nvPr/>
          </p:nvSpPr>
          <p:spPr>
            <a:xfrm>
              <a:off x="6060519" y="5152549"/>
              <a:ext cx="451961" cy="198120"/>
            </a:xfrm>
            <a:prstGeom prst="rect">
              <a:avLst/>
            </a:prstGeom>
            <a:noFill/>
            <a:ln>
              <a:noFill/>
            </a:ln>
          </p:spPr>
          <p:txBody>
            <a:bodyPr wrap="none" lIns="0" tIns="0" rIns="0" bIns="0" anchor="t" anchorCtr="0">
              <a:spAutoFit/>
            </a:bodyPr>
            <a:lstStyle/>
            <a:p>
              <a:pPr algn="ctr"/>
              <a:r>
                <a:rPr lang="ko-KR" sz="1200" dirty="0">
                  <a:solidFill>
                    <a:srgbClr val="333333"/>
                  </a:solidFill>
                  <a:latin typeface="Malgun Gothic"/>
                  <a:ea typeface="Malgun Gothic"/>
                  <a:cs typeface="Malgun Gothic"/>
                </a:rPr>
                <a:t>반도체</a:t>
              </a:r>
            </a:p>
          </p:txBody>
        </p:sp>
        <p:sp>
          <p:nvSpPr>
            <p:cNvPr id="33" name="TextBox 33"/>
            <p:cNvSpPr txBox="1"/>
            <p:nvPr/>
          </p:nvSpPr>
          <p:spPr>
            <a:xfrm>
              <a:off x="750570" y="5570220"/>
              <a:ext cx="4222528" cy="182880"/>
            </a:xfrm>
            <a:prstGeom prst="rect">
              <a:avLst/>
            </a:prstGeom>
            <a:noFill/>
            <a:ln>
              <a:noFill/>
            </a:ln>
          </p:spPr>
          <p:txBody>
            <a:bodyPr wrap="none" lIns="0" tIns="0" rIns="0" bIns="0" anchor="t" anchorCtr="0">
              <a:spAutoFit/>
            </a:bodyPr>
            <a:lstStyle/>
            <a:p>
              <a:pPr algn="l"/>
              <a:r>
                <a:rPr lang="ko-KR" sz="1200" dirty="0">
                  <a:solidFill>
                    <a:srgbClr val="999999"/>
                  </a:solidFill>
                  <a:latin typeface="Malgun Gothic"/>
                  <a:ea typeface="Malgun Gothic"/>
                  <a:cs typeface="Malgun Gothic"/>
                </a:rPr>
                <a:t>막대 길이만으로도 상위 항목과 하위 항목의 격차가 한눈에 들어옵니다.</a:t>
              </a:r>
            </a:p>
          </p:txBody>
        </p:sp>
      </p:grpSp>
      <p:grpSp>
        <p:nvGrpSpPr>
          <p:cNvPr id="54" name="Group 54"/>
          <p:cNvGrpSpPr/>
          <p:nvPr/>
        </p:nvGrpSpPr>
        <p:grpSpPr>
          <a:xfrm>
            <a:off x="7429500" y="2095500"/>
            <a:ext cx="4000500" cy="3619500"/>
            <a:chOff x="7429500" y="2095500"/>
            <a:chExt cx="4000500" cy="3619500"/>
          </a:xfrm>
        </p:grpSpPr>
        <p:sp>
          <p:nvSpPr>
            <p:cNvPr id="35" name="Rectangle 35"/>
            <p:cNvSpPr/>
            <p:nvPr/>
          </p:nvSpPr>
          <p:spPr>
            <a:xfrm>
              <a:off x="7429500" y="2095500"/>
              <a:ext cx="4000500" cy="3619500"/>
            </a:xfrm>
            <a:prstGeom prst="roundRect">
              <a:avLst>
                <a:gd name="adj" fmla="val 3158"/>
              </a:avLst>
            </a:prstGeom>
            <a:solidFill>
              <a:srgbClr val="F7FAFD"/>
            </a:solidFill>
            <a:ln>
              <a:noFill/>
            </a:ln>
          </p:spPr>
        </p:sp>
        <p:sp>
          <p:nvSpPr>
            <p:cNvPr id="36" name="TextBox 36"/>
            <p:cNvSpPr txBox="1"/>
            <p:nvPr/>
          </p:nvSpPr>
          <p:spPr>
            <a:xfrm>
              <a:off x="7702868" y="2352199"/>
              <a:ext cx="914401" cy="198120"/>
            </a:xfrm>
            <a:prstGeom prst="rect">
              <a:avLst/>
            </a:prstGeom>
            <a:noFill/>
            <a:ln>
              <a:noFill/>
            </a:ln>
          </p:spPr>
          <p:txBody>
            <a:bodyPr wrap="none" lIns="0" tIns="0" rIns="0" bIns="0" anchor="t" anchorCtr="0">
              <a:spAutoFit/>
            </a:bodyPr>
            <a:lstStyle/>
            <a:p>
              <a:pPr algn="l"/>
              <a:r>
                <a:rPr lang="en-US" sz="1200" b="1" dirty="0">
                  <a:solidFill>
                    <a:srgbClr val="1A7CE0"/>
                  </a:solidFill>
                  <a:latin typeface="Malgun Gothic"/>
                  <a:ea typeface="Malgun Gothic"/>
                  <a:cs typeface="Malgun Gothic"/>
                </a:rPr>
                <a:t>WHEN TO USE</a:t>
              </a:r>
            </a:p>
          </p:txBody>
        </p:sp>
        <p:sp>
          <p:nvSpPr>
            <p:cNvPr id="37" name="TextBox 37"/>
            <p:cNvSpPr txBox="1"/>
            <p:nvPr/>
          </p:nvSpPr>
          <p:spPr>
            <a:xfrm>
              <a:off x="7694295" y="2631758"/>
              <a:ext cx="2142072" cy="335280"/>
            </a:xfrm>
            <a:prstGeom prst="rect">
              <a:avLst/>
            </a:prstGeom>
            <a:noFill/>
            <a:ln>
              <a:noFill/>
            </a:ln>
          </p:spPr>
          <p:txBody>
            <a:bodyPr wrap="none" lIns="0" tIns="0" rIns="0" bIns="0" anchor="t" anchorCtr="0">
              <a:spAutoFit/>
            </a:bodyPr>
            <a:lstStyle/>
            <a:p>
              <a:pPr algn="l"/>
              <a:r>
                <a:rPr lang="ko-KR" sz="1650" b="1" dirty="0">
                  <a:solidFill>
                    <a:srgbClr val="1A1A1A"/>
                  </a:solidFill>
                  <a:latin typeface="Malgun Gothic"/>
                  <a:ea typeface="Malgun Gothic"/>
                  <a:cs typeface="Malgun Gothic"/>
                </a:rPr>
                <a:t>언제 막대그래프를</a:t>
              </a:r>
            </a:p>
          </p:txBody>
        </p:sp>
        <p:sp>
          <p:nvSpPr>
            <p:cNvPr id="38" name="TextBox 38"/>
            <p:cNvSpPr txBox="1"/>
            <p:nvPr/>
          </p:nvSpPr>
          <p:spPr>
            <a:xfrm>
              <a:off x="7694295" y="2907982"/>
              <a:ext cx="2028208" cy="335280"/>
            </a:xfrm>
            <a:prstGeom prst="rect">
              <a:avLst/>
            </a:prstGeom>
            <a:noFill/>
            <a:ln>
              <a:noFill/>
            </a:ln>
          </p:spPr>
          <p:txBody>
            <a:bodyPr wrap="none" lIns="0" tIns="0" rIns="0" bIns="0" anchor="t" anchorCtr="0">
              <a:spAutoFit/>
            </a:bodyPr>
            <a:lstStyle/>
            <a:p>
              <a:pPr algn="l"/>
              <a:r>
                <a:rPr lang="ko-KR" sz="1650" b="1" dirty="0">
                  <a:solidFill>
                    <a:srgbClr val="1A1A1A"/>
                  </a:solidFill>
                  <a:latin typeface="Malgun Gothic"/>
                  <a:ea typeface="Malgun Gothic"/>
                  <a:cs typeface="Malgun Gothic"/>
                </a:rPr>
                <a:t>선택해야 할까요?</a:t>
              </a:r>
            </a:p>
          </p:txBody>
        </p:sp>
        <p:sp>
          <p:nvSpPr>
            <p:cNvPr id="39" name="Ellipse 39"/>
            <p:cNvSpPr/>
            <p:nvPr/>
          </p:nvSpPr>
          <p:spPr>
            <a:xfrm>
              <a:off x="7734300" y="3429000"/>
              <a:ext cx="190500" cy="190500"/>
            </a:xfrm>
            <a:prstGeom prst="ellipse">
              <a:avLst/>
            </a:prstGeom>
            <a:solidFill>
              <a:srgbClr val="1A7CE0"/>
            </a:solidFill>
            <a:ln>
              <a:noFill/>
            </a:ln>
          </p:spPr>
        </p:sp>
        <p:sp>
          <p:nvSpPr>
            <p:cNvPr id="40" name="TextBox 40"/>
            <p:cNvSpPr txBox="1"/>
            <p:nvPr/>
          </p:nvSpPr>
          <p:spPr>
            <a:xfrm>
              <a:off x="7797417" y="3474720"/>
              <a:ext cx="64265" cy="182880"/>
            </a:xfrm>
            <a:prstGeom prst="rect">
              <a:avLst/>
            </a:prstGeom>
            <a:noFill/>
            <a:ln>
              <a:noFill/>
            </a:ln>
          </p:spPr>
          <p:txBody>
            <a:bodyPr wrap="none" lIns="0" tIns="0" rIns="0" bIns="0" anchor="t" anchorCtr="0">
              <a:spAutoFit/>
            </a:bodyPr>
            <a:lstStyle/>
            <a:p>
              <a:pPr algn="ctr"/>
              <a:r>
                <a:rPr lang="en-US" sz="1200" b="1" dirty="0">
                  <a:solidFill>
                    <a:srgbClr val="FFFFFF"/>
                  </a:solidFill>
                  <a:latin typeface="Malgun Gothic"/>
                  <a:ea typeface="Malgun Gothic"/>
                  <a:cs typeface="Malgun Gothic"/>
                </a:rPr>
                <a:t>1</a:t>
              </a:r>
            </a:p>
          </p:txBody>
        </p:sp>
        <p:sp>
          <p:nvSpPr>
            <p:cNvPr id="41" name="TextBox 41"/>
            <p:cNvSpPr txBox="1"/>
            <p:nvPr/>
          </p:nvSpPr>
          <p:spPr>
            <a:xfrm>
              <a:off x="8062912" y="3383756"/>
              <a:ext cx="1391495" cy="228600"/>
            </a:xfrm>
            <a:prstGeom prst="rect">
              <a:avLst/>
            </a:prstGeom>
            <a:noFill/>
            <a:ln>
              <a:noFill/>
            </a:ln>
          </p:spPr>
          <p:txBody>
            <a:bodyPr wrap="none" lIns="0" tIns="0" rIns="0" bIns="0" anchor="t" anchorCtr="0">
              <a:spAutoFit/>
            </a:bodyPr>
            <a:lstStyle/>
            <a:p>
              <a:pPr algn="l"/>
              <a:r>
                <a:rPr lang="ko-KR" sz="1200" b="1" dirty="0">
                  <a:solidFill>
                    <a:srgbClr val="1A1A1A"/>
                  </a:solidFill>
                  <a:latin typeface="Malgun Gothic"/>
                  <a:ea typeface="Malgun Gothic"/>
                  <a:cs typeface="Malgun Gothic"/>
                </a:rPr>
                <a:t>항목 간 수치 비교</a:t>
              </a:r>
            </a:p>
          </p:txBody>
        </p:sp>
        <p:sp>
          <p:nvSpPr>
            <p:cNvPr id="42" name="TextBox 42"/>
            <p:cNvSpPr txBox="1"/>
            <p:nvPr/>
          </p:nvSpPr>
          <p:spPr>
            <a:xfrm>
              <a:off x="8064818" y="3609499"/>
              <a:ext cx="1982748" cy="198120"/>
            </a:xfrm>
            <a:prstGeom prst="rect">
              <a:avLst/>
            </a:prstGeom>
            <a:noFill/>
            <a:ln>
              <a:noFill/>
            </a:ln>
          </p:spPr>
          <p:txBody>
            <a:bodyPr wrap="none" lIns="0" tIns="0" rIns="0" bIns="0" anchor="t" anchorCtr="0">
              <a:spAutoFit/>
            </a:bodyPr>
            <a:lstStyle/>
            <a:p>
              <a:pPr algn="l"/>
              <a:r>
                <a:rPr lang="ko-KR" sz="1200" dirty="0">
                  <a:solidFill>
                    <a:srgbClr val="666666"/>
                  </a:solidFill>
                  <a:latin typeface="Malgun Gothic"/>
                  <a:ea typeface="Malgun Gothic"/>
                  <a:cs typeface="Malgun Gothic"/>
                </a:rPr>
                <a:t>2개 이상 카테고리의 크기 차이</a:t>
              </a:r>
            </a:p>
          </p:txBody>
        </p:sp>
        <p:sp>
          <p:nvSpPr>
            <p:cNvPr id="43" name="Ellipse 43"/>
            <p:cNvSpPr/>
            <p:nvPr/>
          </p:nvSpPr>
          <p:spPr>
            <a:xfrm>
              <a:off x="7734300" y="4000500"/>
              <a:ext cx="190500" cy="190500"/>
            </a:xfrm>
            <a:prstGeom prst="ellipse">
              <a:avLst/>
            </a:prstGeom>
            <a:solidFill>
              <a:srgbClr val="1A7CE0"/>
            </a:solidFill>
            <a:ln>
              <a:noFill/>
            </a:ln>
          </p:spPr>
        </p:sp>
        <p:sp>
          <p:nvSpPr>
            <p:cNvPr id="44" name="TextBox 44"/>
            <p:cNvSpPr txBox="1"/>
            <p:nvPr/>
          </p:nvSpPr>
          <p:spPr>
            <a:xfrm>
              <a:off x="7780165" y="4046220"/>
              <a:ext cx="98769" cy="182880"/>
            </a:xfrm>
            <a:prstGeom prst="rect">
              <a:avLst/>
            </a:prstGeom>
            <a:noFill/>
            <a:ln>
              <a:noFill/>
            </a:ln>
          </p:spPr>
          <p:txBody>
            <a:bodyPr wrap="none" lIns="0" tIns="0" rIns="0" bIns="0" anchor="t" anchorCtr="0">
              <a:spAutoFit/>
            </a:bodyPr>
            <a:lstStyle/>
            <a:p>
              <a:pPr algn="ctr"/>
              <a:r>
                <a:rPr lang="en-US" sz="1200" b="1" dirty="0">
                  <a:solidFill>
                    <a:srgbClr val="FFFFFF"/>
                  </a:solidFill>
                  <a:latin typeface="Malgun Gothic"/>
                  <a:ea typeface="Malgun Gothic"/>
                  <a:cs typeface="Malgun Gothic"/>
                </a:rPr>
                <a:t>2</a:t>
              </a:r>
            </a:p>
          </p:txBody>
        </p:sp>
        <p:sp>
          <p:nvSpPr>
            <p:cNvPr id="45" name="TextBox 45"/>
            <p:cNvSpPr txBox="1"/>
            <p:nvPr/>
          </p:nvSpPr>
          <p:spPr>
            <a:xfrm>
              <a:off x="8062912" y="3955256"/>
              <a:ext cx="1512260" cy="228600"/>
            </a:xfrm>
            <a:prstGeom prst="rect">
              <a:avLst/>
            </a:prstGeom>
            <a:noFill/>
            <a:ln>
              <a:noFill/>
            </a:ln>
          </p:spPr>
          <p:txBody>
            <a:bodyPr wrap="none" lIns="0" tIns="0" rIns="0" bIns="0" anchor="t" anchorCtr="0">
              <a:spAutoFit/>
            </a:bodyPr>
            <a:lstStyle/>
            <a:p>
              <a:pPr algn="l"/>
              <a:r>
                <a:rPr lang="ko-KR" sz="1200" b="1" dirty="0">
                  <a:solidFill>
                    <a:srgbClr val="1A1A1A"/>
                  </a:solidFill>
                  <a:latin typeface="Malgun Gothic"/>
                  <a:ea typeface="Malgun Gothic"/>
                  <a:cs typeface="Malgun Gothic"/>
                </a:rPr>
                <a:t>순위와 격차 시각화</a:t>
              </a:r>
            </a:p>
          </p:txBody>
        </p:sp>
        <p:sp>
          <p:nvSpPr>
            <p:cNvPr id="46" name="TextBox 46"/>
            <p:cNvSpPr txBox="1"/>
            <p:nvPr/>
          </p:nvSpPr>
          <p:spPr>
            <a:xfrm>
              <a:off x="8064818" y="4180999"/>
              <a:ext cx="1762030" cy="198120"/>
            </a:xfrm>
            <a:prstGeom prst="rect">
              <a:avLst/>
            </a:prstGeom>
            <a:noFill/>
            <a:ln>
              <a:noFill/>
            </a:ln>
          </p:spPr>
          <p:txBody>
            <a:bodyPr wrap="none" lIns="0" tIns="0" rIns="0" bIns="0" anchor="t" anchorCtr="0">
              <a:spAutoFit/>
            </a:bodyPr>
            <a:lstStyle/>
            <a:p>
              <a:pPr algn="l"/>
              <a:r>
                <a:rPr lang="ko-KR" sz="1200" dirty="0">
                  <a:solidFill>
                    <a:srgbClr val="666666"/>
                  </a:solidFill>
                  <a:latin typeface="Malgun Gothic"/>
                  <a:ea typeface="Malgun Gothic"/>
                  <a:cs typeface="Malgun Gothic"/>
                </a:rPr>
                <a:t>1위와 꼴찌의 차이가 명확함</a:t>
              </a:r>
            </a:p>
          </p:txBody>
        </p:sp>
        <p:sp>
          <p:nvSpPr>
            <p:cNvPr id="47" name="Ellipse 47"/>
            <p:cNvSpPr/>
            <p:nvPr/>
          </p:nvSpPr>
          <p:spPr>
            <a:xfrm>
              <a:off x="7734300" y="4572000"/>
              <a:ext cx="190500" cy="190500"/>
            </a:xfrm>
            <a:prstGeom prst="ellipse">
              <a:avLst/>
            </a:prstGeom>
            <a:solidFill>
              <a:srgbClr val="1A7CE0"/>
            </a:solidFill>
            <a:ln>
              <a:noFill/>
            </a:ln>
          </p:spPr>
        </p:sp>
        <p:sp>
          <p:nvSpPr>
            <p:cNvPr id="48" name="TextBox 48"/>
            <p:cNvSpPr txBox="1"/>
            <p:nvPr/>
          </p:nvSpPr>
          <p:spPr>
            <a:xfrm>
              <a:off x="7780165" y="4617720"/>
              <a:ext cx="98769" cy="182880"/>
            </a:xfrm>
            <a:prstGeom prst="rect">
              <a:avLst/>
            </a:prstGeom>
            <a:noFill/>
            <a:ln>
              <a:noFill/>
            </a:ln>
          </p:spPr>
          <p:txBody>
            <a:bodyPr wrap="none" lIns="0" tIns="0" rIns="0" bIns="0" anchor="t" anchorCtr="0">
              <a:spAutoFit/>
            </a:bodyPr>
            <a:lstStyle/>
            <a:p>
              <a:pPr algn="ctr"/>
              <a:r>
                <a:rPr lang="en-US" sz="1200" b="1" dirty="0">
                  <a:solidFill>
                    <a:srgbClr val="FFFFFF"/>
                  </a:solidFill>
                  <a:latin typeface="Malgun Gothic"/>
                  <a:ea typeface="Malgun Gothic"/>
                  <a:cs typeface="Malgun Gothic"/>
                </a:rPr>
                <a:t>3</a:t>
              </a:r>
            </a:p>
          </p:txBody>
        </p:sp>
        <p:sp>
          <p:nvSpPr>
            <p:cNvPr id="49" name="TextBox 49"/>
            <p:cNvSpPr txBox="1"/>
            <p:nvPr/>
          </p:nvSpPr>
          <p:spPr>
            <a:xfrm>
              <a:off x="8062912" y="4526756"/>
              <a:ext cx="1512260" cy="228600"/>
            </a:xfrm>
            <a:prstGeom prst="rect">
              <a:avLst/>
            </a:prstGeom>
            <a:noFill/>
            <a:ln>
              <a:noFill/>
            </a:ln>
          </p:spPr>
          <p:txBody>
            <a:bodyPr wrap="none" lIns="0" tIns="0" rIns="0" bIns="0" anchor="t" anchorCtr="0">
              <a:spAutoFit/>
            </a:bodyPr>
            <a:lstStyle/>
            <a:p>
              <a:pPr algn="l"/>
              <a:r>
                <a:rPr lang="ko-KR" sz="1200" b="1" dirty="0">
                  <a:solidFill>
                    <a:srgbClr val="1A1A1A"/>
                  </a:solidFill>
                  <a:latin typeface="Malgun Gothic"/>
                  <a:ea typeface="Malgun Gothic"/>
                  <a:cs typeface="Malgun Gothic"/>
                </a:rPr>
                <a:t>이산형 데이터 표현</a:t>
              </a:r>
            </a:p>
          </p:txBody>
        </p:sp>
        <p:sp>
          <p:nvSpPr>
            <p:cNvPr id="50" name="TextBox 50"/>
            <p:cNvSpPr txBox="1"/>
            <p:nvPr/>
          </p:nvSpPr>
          <p:spPr>
            <a:xfrm>
              <a:off x="8064818" y="4752499"/>
              <a:ext cx="1762030" cy="198120"/>
            </a:xfrm>
            <a:prstGeom prst="rect">
              <a:avLst/>
            </a:prstGeom>
            <a:noFill/>
            <a:ln>
              <a:noFill/>
            </a:ln>
          </p:spPr>
          <p:txBody>
            <a:bodyPr wrap="none" lIns="0" tIns="0" rIns="0" bIns="0" anchor="t" anchorCtr="0">
              <a:spAutoFit/>
            </a:bodyPr>
            <a:lstStyle/>
            <a:p>
              <a:pPr algn="l"/>
              <a:r>
                <a:rPr lang="ko-KR" sz="1200" dirty="0">
                  <a:solidFill>
                    <a:srgbClr val="666666"/>
                  </a:solidFill>
                  <a:latin typeface="Malgun Gothic"/>
                  <a:ea typeface="Malgun Gothic"/>
                  <a:cs typeface="Malgun Gothic"/>
                </a:rPr>
                <a:t>연속이 아닌 별개 항목일 때</a:t>
              </a:r>
            </a:p>
          </p:txBody>
        </p:sp>
        <p:sp>
          <p:nvSpPr>
            <p:cNvPr id="51" name="Line 51"/>
            <p:cNvSpPr/>
            <p:nvPr/>
          </p:nvSpPr>
          <p:spPr>
            <a:xfrm>
              <a:off x="7715250" y="5143500"/>
              <a:ext cx="3429000" cy="9525"/>
            </a:xfrm>
            <a:custGeom>
              <a:avLst/>
              <a:gdLst/>
              <a:ahLst/>
              <a:cxnLst/>
              <a:rect l="l" t="t" r="r" b="b"/>
              <a:pathLst>
                <a:path w="3429000" h="9525">
                  <a:moveTo>
                    <a:pt x="0" y="0"/>
                  </a:moveTo>
                  <a:lnTo>
                    <a:pt x="3429000" y="0"/>
                  </a:lnTo>
                </a:path>
              </a:pathLst>
            </a:custGeom>
            <a:noFill/>
            <a:ln w="9525">
              <a:solidFill>
                <a:srgbClr val="E0E8F0"/>
              </a:solidFill>
            </a:ln>
          </p:spPr>
        </p:sp>
        <p:sp>
          <p:nvSpPr>
            <p:cNvPr id="52" name="TextBox 52"/>
            <p:cNvSpPr txBox="1"/>
            <p:nvPr/>
          </p:nvSpPr>
          <p:spPr>
            <a:xfrm>
              <a:off x="7703820" y="5284470"/>
              <a:ext cx="795757" cy="182880"/>
            </a:xfrm>
            <a:prstGeom prst="rect">
              <a:avLst/>
            </a:prstGeom>
            <a:noFill/>
            <a:ln>
              <a:noFill/>
            </a:ln>
          </p:spPr>
          <p:txBody>
            <a:bodyPr wrap="none" lIns="0" tIns="0" rIns="0" bIns="0" anchor="t" anchorCtr="0">
              <a:spAutoFit/>
            </a:bodyPr>
            <a:lstStyle/>
            <a:p>
              <a:pPr algn="l"/>
              <a:r>
                <a:rPr lang="ko-KR" sz="1200" b="1" dirty="0">
                  <a:solidFill>
                    <a:srgbClr val="999999"/>
                  </a:solidFill>
                  <a:latin typeface="Malgun Gothic"/>
                  <a:ea typeface="Malgun Gothic"/>
                  <a:cs typeface="Malgun Gothic"/>
                </a:rPr>
                <a:t>피해야 할 때</a:t>
              </a:r>
            </a:p>
          </p:txBody>
        </p:sp>
        <p:sp>
          <p:nvSpPr>
            <p:cNvPr id="53" name="TextBox 53"/>
            <p:cNvSpPr txBox="1"/>
            <p:nvPr/>
          </p:nvSpPr>
          <p:spPr>
            <a:xfrm>
              <a:off x="7702868" y="5466874"/>
              <a:ext cx="1982748" cy="198120"/>
            </a:xfrm>
            <a:prstGeom prst="rect">
              <a:avLst/>
            </a:prstGeom>
            <a:noFill/>
            <a:ln>
              <a:noFill/>
            </a:ln>
          </p:spPr>
          <p:txBody>
            <a:bodyPr wrap="none" lIns="0" tIns="0" rIns="0" bIns="0" anchor="t" anchorCtr="0">
              <a:spAutoFit/>
            </a:bodyPr>
            <a:lstStyle/>
            <a:p>
              <a:pPr algn="l"/>
              <a:r>
                <a:rPr lang="ko-KR" sz="1200" dirty="0">
                  <a:solidFill>
                    <a:srgbClr val="666666"/>
                  </a:solidFill>
                  <a:latin typeface="Malgun Gothic"/>
                  <a:ea typeface="Malgun Gothic"/>
                  <a:cs typeface="Malgun Gothic"/>
                </a:rPr>
                <a:t>시간 흐름 → 꺾은선그래프 권장</a:t>
              </a:r>
            </a:p>
          </p:txBody>
        </p:sp>
      </p:grpSp>
      <p:sp>
        <p:nvSpPr>
          <p:cNvPr id="55" name="TextBox 55"/>
          <p:cNvSpPr txBox="1"/>
          <p:nvPr/>
        </p:nvSpPr>
        <p:spPr>
          <a:xfrm>
            <a:off x="751522" y="6387941"/>
            <a:ext cx="894517" cy="167640"/>
          </a:xfrm>
          <a:prstGeom prst="rect">
            <a:avLst/>
          </a:prstGeom>
          <a:noFill/>
          <a:ln>
            <a:noFill/>
          </a:ln>
        </p:spPr>
        <p:txBody>
          <a:bodyPr wrap="none" lIns="0" tIns="0" rIns="0" bIns="0" anchor="t" anchorCtr="0">
            <a:spAutoFit/>
          </a:bodyPr>
          <a:lstStyle/>
          <a:p>
            <a:pPr algn="l"/>
            <a:r>
              <a:rPr lang="ko-KR" sz="1200" dirty="0">
                <a:solidFill>
                  <a:srgbClr val="BBBBBB"/>
                </a:solidFill>
                <a:latin typeface="Malgun Gothic"/>
                <a:ea typeface="Malgun Gothic"/>
                <a:cs typeface="Malgun Gothic"/>
              </a:rPr>
              <a:t>03 / 막대그래프</a:t>
            </a:r>
          </a:p>
        </p:txBody>
      </p:sp>
      <p:sp>
        <p:nvSpPr>
          <p:cNvPr id="56" name="TextBox 56"/>
          <p:cNvSpPr txBox="1"/>
          <p:nvPr/>
        </p:nvSpPr>
        <p:spPr>
          <a:xfrm>
            <a:off x="10015156" y="6397466"/>
            <a:ext cx="1177671" cy="167640"/>
          </a:xfrm>
          <a:prstGeom prst="rect">
            <a:avLst/>
          </a:prstGeom>
          <a:noFill/>
          <a:ln>
            <a:noFill/>
          </a:ln>
        </p:spPr>
        <p:txBody>
          <a:bodyPr wrap="none" lIns="0" tIns="0" rIns="0" bIns="0" anchor="t" anchorCtr="0">
            <a:spAutoFit/>
          </a:bodyPr>
          <a:lstStyle/>
          <a:p>
            <a:pPr algn="r"/>
            <a:r>
              <a:rPr lang="ko-KR" sz="1200" dirty="0">
                <a:solidFill>
                  <a:srgbClr val="BBBBBB"/>
                </a:solidFill>
                <a:latin typeface="Malgun Gothic"/>
                <a:ea typeface="Malgun Gothic"/>
                <a:cs typeface="Malgun Gothic"/>
              </a:rPr>
              <a:t>데이터 시각화 가이드</a:t>
            </a:r>
          </a:p>
        </p:txBody>
      </p:sp>
    </p:spTree>
  </p:cSld>
  <p:clrMapOvr>
    <a:masterClrMapping/>
  </p:clrMapOvr>
  <p:transition xmlns:p14="http://schemas.microsoft.com/office/powerpoint/2010/main" p14:dur="5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1A2F"/>
              </a:gs>
              <a:gs pos="100000">
                <a:srgbClr val="102B4E"/>
              </a:gs>
            </a:gsLst>
            <a:lin ang="2700000" scaled="1"/>
          </a:gradFill>
          <a:ln>
            <a:noFill/>
          </a:ln>
        </p:spPr>
      </p:sp>
      <p:sp>
        <p:nvSpPr>
          <p:cNvPr id="3" name="Ellipse 3"/>
          <p:cNvSpPr/>
          <p:nvPr/>
        </p:nvSpPr>
        <p:spPr>
          <a:xfrm>
            <a:off x="2095500" y="-571500"/>
            <a:ext cx="8001000" cy="8001000"/>
          </a:xfrm>
          <a:prstGeom prst="ellipse">
            <a:avLst/>
          </a:prstGeom>
          <a:gradFill>
            <a:gsLst>
              <a:gs pos="0">
                <a:srgbClr val="1A7CE0">
                  <a:alpha val="25000"/>
                </a:srgbClr>
              </a:gs>
              <a:gs pos="100000">
                <a:srgbClr val="1A7CE0">
                  <a:alpha val="0"/>
                </a:srgbClr>
              </a:gs>
            </a:gsLst>
            <a:path path="circle">
              <a:fillToRect l="50000" t="50000" r="50000" b="50000"/>
            </a:path>
          </a:gradFill>
          <a:ln>
            <a:noFill/>
          </a:ln>
        </p:spPr>
      </p:sp>
      <p:grpSp>
        <p:nvGrpSpPr>
          <p:cNvPr id="6" name="Group 6"/>
          <p:cNvGrpSpPr/>
          <p:nvPr/>
        </p:nvGrpSpPr>
        <p:grpSpPr>
          <a:xfrm>
            <a:off x="5428202" y="1238250"/>
            <a:ext cx="1335596" cy="833438"/>
            <a:chOff x="5428202" y="1238250"/>
            <a:chExt cx="1335596" cy="833438"/>
          </a:xfrm>
        </p:grpSpPr>
        <p:sp>
          <p:nvSpPr>
            <p:cNvPr id="4" name="Line 4"/>
            <p:cNvSpPr/>
            <p:nvPr/>
          </p:nvSpPr>
          <p:spPr>
            <a:xfrm>
              <a:off x="5715000" y="1238250"/>
              <a:ext cx="762000" cy="9525"/>
            </a:xfrm>
            <a:custGeom>
              <a:avLst/>
              <a:gdLst/>
              <a:ahLst/>
              <a:cxnLst/>
              <a:rect l="l" t="t" r="r" b="b"/>
              <a:pathLst>
                <a:path w="762000" h="9525">
                  <a:moveTo>
                    <a:pt x="0" y="0"/>
                  </a:moveTo>
                  <a:lnTo>
                    <a:pt x="762000" y="0"/>
                  </a:lnTo>
                </a:path>
              </a:pathLst>
            </a:custGeom>
            <a:noFill/>
            <a:ln w="19050">
              <a:solidFill>
                <a:srgbClr val="1A7CE0"/>
              </a:solidFill>
            </a:ln>
          </p:spPr>
        </p:sp>
        <p:sp>
          <p:nvSpPr>
            <p:cNvPr id="5" name="TextBox 5"/>
            <p:cNvSpPr txBox="1"/>
            <p:nvPr/>
          </p:nvSpPr>
          <p:spPr>
            <a:xfrm>
              <a:off x="5428202" y="1797368"/>
              <a:ext cx="1335596" cy="274320"/>
            </a:xfrm>
            <a:prstGeom prst="rect">
              <a:avLst/>
            </a:prstGeom>
            <a:noFill/>
            <a:ln>
              <a:noFill/>
            </a:ln>
          </p:spPr>
          <p:txBody>
            <a:bodyPr wrap="none" lIns="0" tIns="0" rIns="0" bIns="0" anchor="t" anchorCtr="0">
              <a:spAutoFit/>
            </a:bodyPr>
            <a:lstStyle/>
            <a:p>
              <a:pPr algn="ctr"/>
              <a:r>
                <a:rPr lang="ko-KR" sz="1350" dirty="0">
                  <a:solidFill>
                    <a:srgbClr val="A8C5E8"/>
                  </a:solidFill>
                  <a:latin typeface="Malgun Gothic"/>
                  <a:ea typeface="Malgun Gothic"/>
                  <a:cs typeface="Malgun Gothic"/>
                </a:rPr>
                <a:t>핵심 성과 지표</a:t>
              </a:r>
            </a:p>
          </p:txBody>
        </p:sp>
      </p:grpSp>
      <p:grpSp>
        <p:nvGrpSpPr>
          <p:cNvPr id="9" name="Group 9"/>
          <p:cNvGrpSpPr/>
          <p:nvPr/>
        </p:nvGrpSpPr>
        <p:grpSpPr>
          <a:xfrm>
            <a:off x="2286857" y="4238625"/>
            <a:ext cx="7618286" cy="4267200"/>
            <a:chOff x="2286857" y="4238625"/>
            <a:chExt cx="7618286" cy="4267200"/>
          </a:xfrm>
        </p:grpSpPr>
        <p:sp>
          <p:nvSpPr>
            <p:cNvPr id="7" name="TextBox 7"/>
            <p:cNvSpPr txBox="1"/>
            <p:nvPr/>
          </p:nvSpPr>
          <p:spPr>
            <a:xfrm>
              <a:off x="2286857" y="4238625"/>
              <a:ext cx="7618286" cy="4267200"/>
            </a:xfrm>
            <a:prstGeom prst="rect">
              <a:avLst/>
            </a:prstGeom>
            <a:noFill/>
            <a:ln>
              <a:noFill/>
            </a:ln>
          </p:spPr>
          <p:txBody>
            <a:bodyPr wrap="none" lIns="0" tIns="0" rIns="0" bIns="0" anchor="t" anchorCtr="0">
              <a:spAutoFit/>
            </a:bodyPr>
            <a:lstStyle/>
            <a:p>
              <a:pPr algn="ctr"/>
              <a:r>
                <a:rPr lang="en-US" sz="21000" b="1" dirty="0">
                  <a:gradFill>
                    <a:gsLst>
                      <a:gs pos="0">
                        <a:srgbClr val="FFFFFF"/>
                      </a:gs>
                      <a:gs pos="100000">
                        <a:srgbClr val="A8C5E8"/>
                      </a:gs>
                    </a:gsLst>
                    <a:lin ang="5400000" scaled="1"/>
                  </a:gradFill>
                  <a:latin typeface="Malgun Gothic"/>
                  <a:ea typeface="Malgun Gothic"/>
                  <a:cs typeface="Malgun Gothic"/>
                </a:rPr>
                <a:t>97.3</a:t>
              </a:r>
            </a:p>
          </p:txBody>
        </p:sp>
        <p:sp>
          <p:nvSpPr>
            <p:cNvPr id="8" name="TextBox 8"/>
            <p:cNvSpPr txBox="1"/>
            <p:nvPr/>
          </p:nvSpPr>
          <p:spPr>
            <a:xfrm>
              <a:off x="5519845" y="4800600"/>
              <a:ext cx="1152311" cy="2133600"/>
            </a:xfrm>
            <a:prstGeom prst="rect">
              <a:avLst/>
            </a:prstGeom>
            <a:noFill/>
            <a:ln>
              <a:noFill/>
            </a:ln>
          </p:spPr>
          <p:txBody>
            <a:bodyPr wrap="none" lIns="0" tIns="0" rIns="0" bIns="0" anchor="t" anchorCtr="0">
              <a:spAutoFit/>
            </a:bodyPr>
            <a:lstStyle/>
            <a:p>
              <a:pPr algn="ctr"/>
              <a:r>
                <a:rPr lang="en-US" sz="10500" b="1" dirty="0">
                  <a:solidFill>
                    <a:srgbClr val="1A7CE0"/>
                  </a:solidFill>
                  <a:latin typeface="Malgun Gothic"/>
                  <a:ea typeface="Malgun Gothic"/>
                  <a:cs typeface="Malgun Gothic"/>
                </a:rPr>
                <a:t>%</a:t>
              </a:r>
            </a:p>
          </p:txBody>
        </p:sp>
      </p:grpSp>
      <p:sp>
        <p:nvSpPr>
          <p:cNvPr id="10" name="Line 10"/>
          <p:cNvSpPr/>
          <p:nvPr/>
        </p:nvSpPr>
        <p:spPr>
          <a:xfrm>
            <a:off x="5619750" y="4714875"/>
            <a:ext cx="952500" cy="9525"/>
          </a:xfrm>
          <a:custGeom>
            <a:avLst/>
            <a:gdLst/>
            <a:ahLst/>
            <a:cxnLst/>
            <a:rect l="l" t="t" r="r" b="b"/>
            <a:pathLst>
              <a:path w="952500" h="9525">
                <a:moveTo>
                  <a:pt x="0" y="0"/>
                </a:moveTo>
                <a:lnTo>
                  <a:pt x="952500" y="0"/>
                </a:lnTo>
              </a:path>
            </a:pathLst>
          </a:custGeom>
          <a:noFill/>
          <a:ln w="28575">
            <a:solidFill>
              <a:srgbClr val="1A7CE0"/>
            </a:solidFill>
          </a:ln>
        </p:spPr>
      </p:sp>
      <p:grpSp>
        <p:nvGrpSpPr>
          <p:cNvPr id="13" name="Group 13"/>
          <p:cNvGrpSpPr/>
          <p:nvPr/>
        </p:nvGrpSpPr>
        <p:grpSpPr>
          <a:xfrm>
            <a:off x="3038342" y="5370195"/>
            <a:ext cx="6115317" cy="511493"/>
            <a:chOff x="3038342" y="5370195"/>
            <a:chExt cx="6115317" cy="511493"/>
          </a:xfrm>
        </p:grpSpPr>
        <p:sp>
          <p:nvSpPr>
            <p:cNvPr id="11" name="TextBox 11"/>
            <p:cNvSpPr txBox="1"/>
            <p:nvPr/>
          </p:nvSpPr>
          <p:spPr>
            <a:xfrm>
              <a:off x="3038342" y="5370195"/>
              <a:ext cx="6115317" cy="487680"/>
            </a:xfrm>
            <a:prstGeom prst="rect">
              <a:avLst/>
            </a:prstGeom>
            <a:noFill/>
            <a:ln>
              <a:noFill/>
            </a:ln>
          </p:spPr>
          <p:txBody>
            <a:bodyPr wrap="none" lIns="0" tIns="0" rIns="0" bIns="0" anchor="t" anchorCtr="0">
              <a:spAutoFit/>
            </a:bodyPr>
            <a:lstStyle/>
            <a:p>
              <a:pPr algn="ctr"/>
              <a:r>
                <a:rPr lang="ko-KR" sz="2400" b="1" dirty="0">
                  <a:solidFill>
                    <a:srgbClr val="FFFFFF"/>
                  </a:solidFill>
                  <a:latin typeface="Malgun Gothic"/>
                  <a:ea typeface="Malgun Gothic"/>
                  <a:cs typeface="Malgun Gothic"/>
                </a:rPr>
                <a:t>업계 평균을 15%p 상회한 인식 정확도</a:t>
              </a:r>
            </a:p>
          </p:txBody>
        </p:sp>
        <p:sp>
          <p:nvSpPr>
            <p:cNvPr id="12" name="TextBox 12"/>
            <p:cNvSpPr txBox="1"/>
            <p:nvPr/>
          </p:nvSpPr>
          <p:spPr>
            <a:xfrm>
              <a:off x="3722703" y="5607368"/>
              <a:ext cx="4746593" cy="274320"/>
            </a:xfrm>
            <a:prstGeom prst="rect">
              <a:avLst/>
            </a:prstGeom>
            <a:noFill/>
            <a:ln>
              <a:noFill/>
            </a:ln>
          </p:spPr>
          <p:txBody>
            <a:bodyPr wrap="none" lIns="0" tIns="0" rIns="0" bIns="0" anchor="t" anchorCtr="0">
              <a:spAutoFit/>
            </a:bodyPr>
            <a:lstStyle/>
            <a:p>
              <a:pPr algn="ctr"/>
              <a:r>
                <a:rPr lang="ko-KR" sz="1350" dirty="0">
                  <a:solidFill>
                    <a:srgbClr val="A8C5E8"/>
                  </a:solidFill>
                  <a:latin typeface="Malgun Gothic"/>
                  <a:ea typeface="Malgun Gothic"/>
                  <a:cs typeface="Malgun Gothic"/>
                </a:rPr>
                <a:t>지난 분기 1,200만 건의 실사용 데이터 기반 검증 결과</a:t>
              </a:r>
            </a:p>
          </p:txBody>
        </p:sp>
      </p:grpSp>
      <p:grpSp>
        <p:nvGrpSpPr>
          <p:cNvPr id="15" name="Group 15"/>
          <p:cNvGrpSpPr/>
          <p:nvPr/>
        </p:nvGrpSpPr>
        <p:grpSpPr>
          <a:xfrm>
            <a:off x="749618" y="6390799"/>
            <a:ext cx="1163955" cy="198120"/>
            <a:chOff x="749618" y="6390799"/>
            <a:chExt cx="1163955" cy="198120"/>
          </a:xfrm>
        </p:grpSpPr>
        <p:sp>
          <p:nvSpPr>
            <p:cNvPr id="14" name="TextBox 14"/>
            <p:cNvSpPr txBox="1"/>
            <p:nvPr/>
          </p:nvSpPr>
          <p:spPr>
            <a:xfrm>
              <a:off x="749618" y="6390799"/>
              <a:ext cx="1163955" cy="198120"/>
            </a:xfrm>
            <a:prstGeom prst="rect">
              <a:avLst/>
            </a:prstGeom>
            <a:noFill/>
            <a:ln>
              <a:noFill/>
            </a:ln>
          </p:spPr>
          <p:txBody>
            <a:bodyPr wrap="none" lIns="0" tIns="0" rIns="0" bIns="0" anchor="t" anchorCtr="0">
              <a:spAutoFit/>
            </a:bodyPr>
            <a:lstStyle/>
            <a:p>
              <a:pPr algn="l"/>
              <a:r>
                <a:rPr lang="en-US" sz="1200" dirty="0">
                  <a:solidFill>
                    <a:srgbClr val="6B7F95"/>
                  </a:solidFill>
                  <a:latin typeface="Malgun Gothic"/>
                  <a:ea typeface="Malgun Gothic"/>
                  <a:cs typeface="Malgun Gothic"/>
                </a:rPr>
                <a:t>P04 · KEY METRIC</a:t>
              </a:r>
            </a:p>
          </p:txBody>
        </p:sp>
      </p:grpSp>
      <p:grpSp>
        <p:nvGrpSpPr>
          <p:cNvPr id="17" name="Group 17"/>
          <p:cNvGrpSpPr/>
          <p:nvPr/>
        </p:nvGrpSpPr>
        <p:grpSpPr>
          <a:xfrm>
            <a:off x="11260979" y="6390799"/>
            <a:ext cx="181404" cy="198120"/>
            <a:chOff x="11260979" y="6390799"/>
            <a:chExt cx="181404" cy="198120"/>
          </a:xfrm>
        </p:grpSpPr>
        <p:sp>
          <p:nvSpPr>
            <p:cNvPr id="16" name="TextBox 16"/>
            <p:cNvSpPr txBox="1"/>
            <p:nvPr/>
          </p:nvSpPr>
          <p:spPr>
            <a:xfrm>
              <a:off x="11260979" y="6390799"/>
              <a:ext cx="181404" cy="198120"/>
            </a:xfrm>
            <a:prstGeom prst="rect">
              <a:avLst/>
            </a:prstGeom>
            <a:noFill/>
            <a:ln>
              <a:noFill/>
            </a:ln>
          </p:spPr>
          <p:txBody>
            <a:bodyPr wrap="none" lIns="0" tIns="0" rIns="0" bIns="0" anchor="t" anchorCtr="0">
              <a:spAutoFit/>
            </a:bodyPr>
            <a:lstStyle/>
            <a:p>
              <a:pPr algn="r"/>
              <a:r>
                <a:rPr lang="en-US" sz="1200" dirty="0">
                  <a:solidFill>
                    <a:srgbClr val="6B7F95"/>
                  </a:solidFill>
                  <a:latin typeface="Malgun Gothic"/>
                  <a:ea typeface="Malgun Gothic"/>
                  <a:cs typeface="Malgun Gothic"/>
                </a:rPr>
                <a:t>04</a:t>
              </a:r>
            </a:p>
          </p:txBody>
        </p:sp>
      </p:grpSp>
    </p:spTree>
  </p:cSld>
  <p:clrMapOvr>
    <a:masterClrMapping/>
  </p:clrMapOvr>
  <p:transition xmlns:p14="http://schemas.microsoft.com/office/powerpoint/2010/main" p14:dur="5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BFC"/>
          </a:solidFill>
          <a:ln>
            <a:noFill/>
          </a:ln>
        </p:spPr>
      </p:sp>
      <p:sp>
        <p:nvSpPr>
          <p:cNvPr id="3" name="Rectangle 3"/>
          <p:cNvSpPr/>
          <p:nvPr/>
        </p:nvSpPr>
        <p:spPr>
          <a:xfrm>
            <a:off x="0" y="3695700"/>
            <a:ext cx="12192000" cy="762000"/>
          </a:xfrm>
          <a:prstGeom prst="rect">
            <a:avLst/>
          </a:prstGeom>
          <a:solidFill>
            <a:srgbClr val="FFFFFF"/>
          </a:solidFill>
          <a:ln>
            <a:noFill/>
          </a:ln>
        </p:spPr>
      </p:sp>
      <p:sp>
        <p:nvSpPr>
          <p:cNvPr id="4" name="Line 4"/>
          <p:cNvSpPr/>
          <p:nvPr/>
        </p:nvSpPr>
        <p:spPr>
          <a:xfrm>
            <a:off x="0" y="762000"/>
            <a:ext cx="12192000" cy="9525"/>
          </a:xfrm>
          <a:custGeom>
            <a:avLst/>
            <a:gdLst/>
            <a:ahLst/>
            <a:cxnLst/>
            <a:rect l="l" t="t" r="r" b="b"/>
            <a:pathLst>
              <a:path w="12192000" h="9525">
                <a:moveTo>
                  <a:pt x="0" y="0"/>
                </a:moveTo>
                <a:lnTo>
                  <a:pt x="12192000" y="0"/>
                </a:lnTo>
              </a:path>
            </a:pathLst>
          </a:custGeom>
          <a:noFill/>
          <a:ln w="9525">
            <a:solidFill>
              <a:srgbClr val="E5E7EB"/>
            </a:solidFill>
          </a:ln>
        </p:spPr>
      </p:sp>
      <p:sp>
        <p:nvSpPr>
          <p:cNvPr id="5" name="TextBox 5"/>
          <p:cNvSpPr txBox="1"/>
          <p:nvPr/>
        </p:nvSpPr>
        <p:spPr>
          <a:xfrm>
            <a:off x="586740" y="653415"/>
            <a:ext cx="2419617" cy="365760"/>
          </a:xfrm>
          <a:prstGeom prst="rect">
            <a:avLst/>
          </a:prstGeom>
          <a:noFill/>
          <a:ln>
            <a:noFill/>
          </a:ln>
        </p:spPr>
        <p:txBody>
          <a:bodyPr wrap="none" lIns="0" tIns="0" rIns="0" bIns="0" anchor="t" anchorCtr="0">
            <a:spAutoFit/>
          </a:bodyPr>
          <a:lstStyle/>
          <a:p>
            <a:pPr algn="l"/>
            <a:r>
              <a:rPr lang="ko-KR" sz="1800" b="1" dirty="0">
                <a:solidFill>
                  <a:srgbClr val="111827"/>
                </a:solidFill>
                <a:latin typeface="Segoe UI"/>
                <a:ea typeface="Microsoft YaHei"/>
                <a:cs typeface="Segoe UI"/>
              </a:rPr>
              <a:t>수평 타임라인 차트</a:t>
            </a:r>
          </a:p>
        </p:txBody>
      </p:sp>
      <p:sp>
        <p:nvSpPr>
          <p:cNvPr id="6" name="TextBox 6"/>
          <p:cNvSpPr txBox="1"/>
          <p:nvPr/>
        </p:nvSpPr>
        <p:spPr>
          <a:xfrm>
            <a:off x="597218" y="580549"/>
            <a:ext cx="2573703" cy="198120"/>
          </a:xfrm>
          <a:prstGeom prst="rect">
            <a:avLst/>
          </a:prstGeom>
          <a:noFill/>
          <a:ln>
            <a:noFill/>
          </a:ln>
        </p:spPr>
        <p:txBody>
          <a:bodyPr wrap="none" lIns="0" tIns="0" rIns="0" bIns="0" anchor="t" anchorCtr="0">
            <a:spAutoFit/>
          </a:bodyPr>
          <a:lstStyle/>
          <a:p>
            <a:pPr algn="l"/>
            <a:r>
              <a:rPr lang="ko-KR" sz="1200" dirty="0">
                <a:solidFill>
                  <a:srgbClr val="6B7280"/>
                </a:solidFill>
                <a:latin typeface="Segoe UI"/>
                <a:ea typeface="Microsoft YaHei"/>
                <a:cs typeface="Segoe UI"/>
              </a:rPr>
              <a:t>Horizontal Timeline · 시간 순서 시각화</a:t>
            </a:r>
          </a:p>
        </p:txBody>
      </p:sp>
      <p:sp>
        <p:nvSpPr>
          <p:cNvPr id="7" name="TextBox 7"/>
          <p:cNvSpPr txBox="1"/>
          <p:nvPr/>
        </p:nvSpPr>
        <p:spPr>
          <a:xfrm>
            <a:off x="11092982" y="370999"/>
            <a:ext cx="501801" cy="198120"/>
          </a:xfrm>
          <a:prstGeom prst="rect">
            <a:avLst/>
          </a:prstGeom>
          <a:noFill/>
          <a:ln>
            <a:noFill/>
          </a:ln>
        </p:spPr>
        <p:txBody>
          <a:bodyPr wrap="none" lIns="0" tIns="0" rIns="0" bIns="0" anchor="t" anchorCtr="0">
            <a:spAutoFit/>
          </a:bodyPr>
          <a:lstStyle/>
          <a:p>
            <a:pPr algn="r"/>
            <a:r>
              <a:rPr lang="en-US" sz="1200" dirty="0">
                <a:solidFill>
                  <a:srgbClr val="9CA3AF"/>
                </a:solidFill>
                <a:latin typeface="Segoe UI"/>
                <a:ea typeface="Microsoft YaHei"/>
                <a:cs typeface="Segoe UI"/>
              </a:rPr>
              <a:t>02 / 02</a:t>
            </a:r>
          </a:p>
        </p:txBody>
      </p:sp>
      <p:grpSp>
        <p:nvGrpSpPr>
          <p:cNvPr id="11" name="Group 11"/>
          <p:cNvGrpSpPr/>
          <p:nvPr/>
        </p:nvGrpSpPr>
        <p:grpSpPr>
          <a:xfrm>
            <a:off x="609600" y="1143000"/>
            <a:ext cx="7597616" cy="638175"/>
            <a:chOff x="609600" y="1143000"/>
            <a:chExt cx="7597616" cy="638175"/>
          </a:xfrm>
        </p:grpSpPr>
        <p:sp>
          <p:nvSpPr>
            <p:cNvPr id="8" name="Rectangle 8"/>
            <p:cNvSpPr/>
            <p:nvPr/>
          </p:nvSpPr>
          <p:spPr>
            <a:xfrm>
              <a:off x="609600" y="1143000"/>
              <a:ext cx="57150" cy="609600"/>
            </a:xfrm>
            <a:prstGeom prst="roundRect">
              <a:avLst>
                <a:gd name="adj" fmla="val 50000"/>
              </a:avLst>
            </a:prstGeom>
            <a:solidFill>
              <a:srgbClr val="1A7CE0"/>
            </a:solidFill>
            <a:ln>
              <a:noFill/>
            </a:ln>
          </p:spPr>
        </p:sp>
        <p:sp>
          <p:nvSpPr>
            <p:cNvPr id="9" name="TextBox 9"/>
            <p:cNvSpPr txBox="1"/>
            <p:nvPr/>
          </p:nvSpPr>
          <p:spPr>
            <a:xfrm>
              <a:off x="824865" y="1239202"/>
              <a:ext cx="1290678" cy="213360"/>
            </a:xfrm>
            <a:prstGeom prst="rect">
              <a:avLst/>
            </a:prstGeom>
            <a:noFill/>
            <a:ln>
              <a:noFill/>
            </a:ln>
          </p:spPr>
          <p:txBody>
            <a:bodyPr wrap="none" lIns="0" tIns="0" rIns="0" bIns="0" anchor="t" anchorCtr="0">
              <a:spAutoFit/>
            </a:bodyPr>
            <a:lstStyle/>
            <a:p>
              <a:pPr algn="l"/>
              <a:r>
                <a:rPr lang="ko-KR" sz="1200" b="1" dirty="0">
                  <a:solidFill>
                    <a:srgbClr val="1A7CE0"/>
                  </a:solidFill>
                  <a:latin typeface="Segoe UI"/>
                  <a:ea typeface="Microsoft YaHei"/>
                  <a:cs typeface="Segoe UI"/>
                </a:rPr>
                <a:t>언제 사용하나요?</a:t>
              </a:r>
            </a:p>
          </p:txBody>
        </p:sp>
        <p:sp>
          <p:nvSpPr>
            <p:cNvPr id="10" name="TextBox 10"/>
            <p:cNvSpPr txBox="1"/>
            <p:nvPr/>
          </p:nvSpPr>
          <p:spPr>
            <a:xfrm>
              <a:off x="819150" y="1476375"/>
              <a:ext cx="7388066" cy="304800"/>
            </a:xfrm>
            <a:prstGeom prst="rect">
              <a:avLst/>
            </a:prstGeom>
            <a:noFill/>
            <a:ln>
              <a:noFill/>
            </a:ln>
          </p:spPr>
          <p:txBody>
            <a:bodyPr wrap="none" lIns="0" tIns="0" rIns="0" bIns="0" anchor="t" anchorCtr="0">
              <a:spAutoFit/>
            </a:bodyPr>
            <a:lstStyle/>
            <a:p>
              <a:pPr algn="l"/>
              <a:r>
                <a:rPr lang="ko-KR" sz="1500" dirty="0">
                  <a:solidFill>
                    <a:srgbClr val="111827"/>
                  </a:solidFill>
                  <a:latin typeface="Segoe UI"/>
                  <a:ea typeface="Microsoft YaHei"/>
                  <a:cs typeface="Segoe UI"/>
                </a:rPr>
                <a:t>시간 순서로 사건이나 발전 단계를 좌에서 우로 펼쳐 보여줄 때 적합합니다.</a:t>
              </a:r>
            </a:p>
          </p:txBody>
        </p:sp>
      </p:grpSp>
      <p:grpSp>
        <p:nvGrpSpPr>
          <p:cNvPr id="53" name="Group 53"/>
          <p:cNvGrpSpPr/>
          <p:nvPr/>
        </p:nvGrpSpPr>
        <p:grpSpPr>
          <a:xfrm>
            <a:off x="609600" y="2286000"/>
            <a:ext cx="10972800" cy="3619500"/>
            <a:chOff x="609600" y="2286000"/>
            <a:chExt cx="10972800" cy="3619500"/>
          </a:xfrm>
        </p:grpSpPr>
        <p:sp>
          <p:nvSpPr>
            <p:cNvPr id="12" name="Rectangle 12"/>
            <p:cNvSpPr/>
            <p:nvPr/>
          </p:nvSpPr>
          <p:spPr>
            <a:xfrm>
              <a:off x="609600" y="2286000"/>
              <a:ext cx="10972800" cy="3619500"/>
            </a:xfrm>
            <a:prstGeom prst="roundRect">
              <a:avLst>
                <a:gd name="adj" fmla="val 3158"/>
              </a:avLst>
            </a:prstGeom>
            <a:solidFill>
              <a:srgbClr val="FFFFFF"/>
            </a:solidFill>
            <a:ln w="9525">
              <a:solidFill>
                <a:srgbClr val="E5E7EB"/>
              </a:solidFill>
            </a:ln>
          </p:spPr>
        </p:sp>
        <p:sp>
          <p:nvSpPr>
            <p:cNvPr id="13" name="TextBox 13"/>
            <p:cNvSpPr txBox="1"/>
            <p:nvPr/>
          </p:nvSpPr>
          <p:spPr>
            <a:xfrm>
              <a:off x="899160" y="2927985"/>
              <a:ext cx="1429055" cy="243840"/>
            </a:xfrm>
            <a:prstGeom prst="rect">
              <a:avLst/>
            </a:prstGeom>
            <a:noFill/>
            <a:ln>
              <a:noFill/>
            </a:ln>
          </p:spPr>
          <p:txBody>
            <a:bodyPr wrap="none" lIns="0" tIns="0" rIns="0" bIns="0" anchor="t" anchorCtr="0">
              <a:spAutoFit/>
            </a:bodyPr>
            <a:lstStyle/>
            <a:p>
              <a:pPr algn="l"/>
              <a:r>
                <a:rPr lang="ko-KR" sz="1200" b="1" dirty="0">
                  <a:solidFill>
                    <a:srgbClr val="111827"/>
                  </a:solidFill>
                  <a:latin typeface="Segoe UI"/>
                  <a:ea typeface="Microsoft YaHei"/>
                  <a:cs typeface="Segoe UI"/>
                </a:rPr>
                <a:t>제품 개발 로드맵</a:t>
              </a:r>
            </a:p>
          </p:txBody>
        </p:sp>
        <p:sp>
          <p:nvSpPr>
            <p:cNvPr id="14" name="TextBox 14"/>
            <p:cNvSpPr txBox="1"/>
            <p:nvPr/>
          </p:nvSpPr>
          <p:spPr>
            <a:xfrm>
              <a:off x="902970" y="2922270"/>
              <a:ext cx="1311021" cy="182880"/>
            </a:xfrm>
            <a:prstGeom prst="rect">
              <a:avLst/>
            </a:prstGeom>
            <a:noFill/>
            <a:ln>
              <a:noFill/>
            </a:ln>
          </p:spPr>
          <p:txBody>
            <a:bodyPr wrap="none" lIns="0" tIns="0" rIns="0" bIns="0" anchor="t" anchorCtr="0">
              <a:spAutoFit/>
            </a:bodyPr>
            <a:lstStyle/>
            <a:p>
              <a:pPr algn="l"/>
              <a:r>
                <a:rPr lang="ko-KR" sz="1200" dirty="0">
                  <a:solidFill>
                    <a:srgbClr val="6B7280"/>
                  </a:solidFill>
                  <a:latin typeface="Segoe UI"/>
                  <a:ea typeface="Microsoft YaHei"/>
                  <a:cs typeface="Segoe UI"/>
                </a:rPr>
                <a:t>2024년 핵심 마일스톤</a:t>
              </a:r>
            </a:p>
          </p:txBody>
        </p:sp>
        <p:sp>
          <p:nvSpPr>
            <p:cNvPr id="15" name="Line 15"/>
            <p:cNvSpPr/>
            <p:nvPr/>
          </p:nvSpPr>
          <p:spPr>
            <a:xfrm>
              <a:off x="1371600" y="4000500"/>
              <a:ext cx="9525000" cy="9525"/>
            </a:xfrm>
            <a:custGeom>
              <a:avLst/>
              <a:gdLst/>
              <a:ahLst/>
              <a:cxnLst/>
              <a:rect l="l" t="t" r="r" b="b"/>
              <a:pathLst>
                <a:path w="9525000" h="9525">
                  <a:moveTo>
                    <a:pt x="0" y="0"/>
                  </a:moveTo>
                  <a:lnTo>
                    <a:pt x="9525000" y="0"/>
                  </a:lnTo>
                </a:path>
              </a:pathLst>
            </a:custGeom>
            <a:noFill/>
            <a:ln w="19050">
              <a:solidFill>
                <a:srgbClr val="D1D5DB"/>
              </a:solidFill>
            </a:ln>
          </p:spPr>
        </p:sp>
        <p:sp>
          <p:nvSpPr>
            <p:cNvPr id="16" name="Polygon 16"/>
            <p:cNvSpPr/>
            <p:nvPr/>
          </p:nvSpPr>
          <p:spPr>
            <a:xfrm>
              <a:off x="10801350" y="3952875"/>
              <a:ext cx="95250" cy="95250"/>
            </a:xfrm>
            <a:custGeom>
              <a:avLst/>
              <a:gdLst/>
              <a:ahLst/>
              <a:cxnLst/>
              <a:rect l="l" t="t" r="r" b="b"/>
              <a:pathLst>
                <a:path w="95250" h="95250">
                  <a:moveTo>
                    <a:pt x="95250" y="47625"/>
                  </a:moveTo>
                  <a:lnTo>
                    <a:pt x="0" y="0"/>
                  </a:lnTo>
                  <a:lnTo>
                    <a:pt x="0" y="95250"/>
                  </a:lnTo>
                  <a:close/>
                </a:path>
              </a:pathLst>
            </a:custGeom>
            <a:solidFill>
              <a:srgbClr val="D1D5DB"/>
            </a:solidFill>
            <a:ln>
              <a:noFill/>
            </a:ln>
          </p:spPr>
        </p:sp>
        <p:grpSp>
          <p:nvGrpSpPr>
            <p:cNvPr id="24" name="Group 24"/>
            <p:cNvGrpSpPr/>
            <p:nvPr/>
          </p:nvGrpSpPr>
          <p:grpSpPr>
            <a:xfrm>
              <a:off x="1708118" y="3619500"/>
              <a:ext cx="850963" cy="1457325"/>
              <a:chOff x="1708118" y="3619500"/>
              <a:chExt cx="850963" cy="1457325"/>
            </a:xfrm>
          </p:grpSpPr>
          <p:sp>
            <p:nvSpPr>
              <p:cNvPr id="17" name="Ellipse 17"/>
              <p:cNvSpPr/>
              <p:nvPr/>
            </p:nvSpPr>
            <p:spPr>
              <a:xfrm>
                <a:off x="2019300" y="3886200"/>
                <a:ext cx="228600" cy="228600"/>
              </a:xfrm>
              <a:prstGeom prst="ellipse">
                <a:avLst/>
              </a:prstGeom>
              <a:solidFill>
                <a:srgbClr val="1A7CE0"/>
              </a:solidFill>
              <a:ln>
                <a:noFill/>
              </a:ln>
            </p:spPr>
          </p:sp>
          <p:sp>
            <p:nvSpPr>
              <p:cNvPr id="18" name="Ellipse 18"/>
              <p:cNvSpPr/>
              <p:nvPr/>
            </p:nvSpPr>
            <p:spPr>
              <a:xfrm>
                <a:off x="2085975" y="3952875"/>
                <a:ext cx="95250" cy="95250"/>
              </a:xfrm>
              <a:prstGeom prst="ellipse">
                <a:avLst/>
              </a:prstGeom>
              <a:solidFill>
                <a:srgbClr val="FFFFFF"/>
              </a:solidFill>
              <a:ln>
                <a:noFill/>
              </a:ln>
            </p:spPr>
          </p:sp>
          <p:sp>
            <p:nvSpPr>
              <p:cNvPr id="19" name="Line 19"/>
              <p:cNvSpPr/>
              <p:nvPr/>
            </p:nvSpPr>
            <p:spPr>
              <a:xfrm>
                <a:off x="2133600" y="3619500"/>
                <a:ext cx="9525" cy="266700"/>
              </a:xfrm>
              <a:custGeom>
                <a:avLst/>
                <a:gdLst/>
                <a:ahLst/>
                <a:cxnLst/>
                <a:rect l="l" t="t" r="r" b="b"/>
                <a:pathLst>
                  <a:path w="9525" h="266700">
                    <a:moveTo>
                      <a:pt x="0" y="266700"/>
                    </a:moveTo>
                    <a:lnTo>
                      <a:pt x="0" y="0"/>
                    </a:lnTo>
                  </a:path>
                </a:pathLst>
              </a:custGeom>
              <a:noFill/>
              <a:ln w="9525">
                <a:solidFill>
                  <a:srgbClr val="D1D5DB"/>
                </a:solidFill>
                <a:custDash>
                  <a:ds d="300000" sp="300000"/>
                </a:custDash>
              </a:ln>
            </p:spPr>
          </p:sp>
          <p:sp>
            <p:nvSpPr>
              <p:cNvPr id="20" name="TextBox 20"/>
              <p:cNvSpPr txBox="1"/>
              <p:nvPr/>
            </p:nvSpPr>
            <p:spPr>
              <a:xfrm>
                <a:off x="1949271" y="4009549"/>
                <a:ext cx="368658" cy="198120"/>
              </a:xfrm>
              <a:prstGeom prst="rect">
                <a:avLst/>
              </a:prstGeom>
              <a:noFill/>
              <a:ln>
                <a:noFill/>
              </a:ln>
            </p:spPr>
            <p:txBody>
              <a:bodyPr wrap="none" lIns="0" tIns="0" rIns="0" bIns="0" anchor="t" anchorCtr="0">
                <a:spAutoFit/>
              </a:bodyPr>
              <a:lstStyle/>
              <a:p>
                <a:pPr algn="ctr"/>
                <a:r>
                  <a:rPr lang="ko-KR" sz="1200" b="1" dirty="0">
                    <a:solidFill>
                      <a:srgbClr val="1A7CE0"/>
                    </a:solidFill>
                    <a:latin typeface="Segoe UI"/>
                    <a:ea typeface="Microsoft YaHei"/>
                    <a:cs typeface="Segoe UI"/>
                  </a:rPr>
                  <a:t>1분기</a:t>
                </a:r>
              </a:p>
            </p:txBody>
          </p:sp>
          <p:sp>
            <p:nvSpPr>
              <p:cNvPr id="21" name="TextBox 21"/>
              <p:cNvSpPr txBox="1"/>
              <p:nvPr/>
            </p:nvSpPr>
            <p:spPr>
              <a:xfrm>
                <a:off x="1774072" y="4391978"/>
                <a:ext cx="719057" cy="213360"/>
              </a:xfrm>
              <a:prstGeom prst="rect">
                <a:avLst/>
              </a:prstGeom>
              <a:noFill/>
              <a:ln>
                <a:noFill/>
              </a:ln>
            </p:spPr>
            <p:txBody>
              <a:bodyPr wrap="none" lIns="0" tIns="0" rIns="0" bIns="0" anchor="t" anchorCtr="0">
                <a:spAutoFit/>
              </a:bodyPr>
              <a:lstStyle/>
              <a:p>
                <a:pPr algn="ctr"/>
                <a:r>
                  <a:rPr lang="ko-KR" sz="1200" b="1" dirty="0">
                    <a:solidFill>
                      <a:srgbClr val="111827"/>
                    </a:solidFill>
                    <a:latin typeface="Segoe UI"/>
                    <a:ea typeface="Microsoft YaHei"/>
                    <a:cs typeface="Segoe UI"/>
                  </a:rPr>
                  <a:t>기획 단계</a:t>
                </a:r>
              </a:p>
            </p:txBody>
          </p:sp>
          <p:sp>
            <p:nvSpPr>
              <p:cNvPr id="22" name="TextBox 22"/>
              <p:cNvSpPr txBox="1"/>
              <p:nvPr/>
            </p:nvSpPr>
            <p:spPr>
              <a:xfrm>
                <a:off x="1839563" y="4284345"/>
                <a:ext cx="588074" cy="182880"/>
              </a:xfrm>
              <a:prstGeom prst="rect">
                <a:avLst/>
              </a:prstGeom>
              <a:noFill/>
              <a:ln>
                <a:noFill/>
              </a:ln>
            </p:spPr>
            <p:txBody>
              <a:bodyPr wrap="none" lIns="0" tIns="0" rIns="0" bIns="0" anchor="t" anchorCtr="0">
                <a:spAutoFit/>
              </a:bodyPr>
              <a:lstStyle/>
              <a:p>
                <a:pPr algn="ctr"/>
                <a:r>
                  <a:rPr lang="ko-KR" sz="1200" dirty="0">
                    <a:solidFill>
                      <a:srgbClr val="374151"/>
                    </a:solidFill>
                    <a:latin typeface="Segoe UI"/>
                    <a:ea typeface="Microsoft YaHei"/>
                    <a:cs typeface="Segoe UI"/>
                  </a:rPr>
                  <a:t>시장 조사</a:t>
                </a:r>
              </a:p>
            </p:txBody>
          </p:sp>
          <p:sp>
            <p:nvSpPr>
              <p:cNvPr id="23" name="TextBox 23"/>
              <p:cNvSpPr txBox="1"/>
              <p:nvPr/>
            </p:nvSpPr>
            <p:spPr>
              <a:xfrm>
                <a:off x="1708118" y="4893945"/>
                <a:ext cx="850963" cy="182880"/>
              </a:xfrm>
              <a:prstGeom prst="rect">
                <a:avLst/>
              </a:prstGeom>
              <a:noFill/>
              <a:ln>
                <a:noFill/>
              </a:ln>
            </p:spPr>
            <p:txBody>
              <a:bodyPr wrap="none" lIns="0" tIns="0" rIns="0" bIns="0" anchor="t" anchorCtr="0">
                <a:spAutoFit/>
              </a:bodyPr>
              <a:lstStyle/>
              <a:p>
                <a:pPr algn="ctr"/>
                <a:r>
                  <a:rPr lang="ko-KR" sz="1200" dirty="0">
                    <a:solidFill>
                      <a:srgbClr val="6B7280"/>
                    </a:solidFill>
                    <a:latin typeface="Segoe UI"/>
                    <a:ea typeface="Microsoft YaHei"/>
                    <a:cs typeface="Segoe UI"/>
                  </a:rPr>
                  <a:t>요구사항 정의</a:t>
                </a:r>
              </a:p>
            </p:txBody>
          </p:sp>
        </p:grpSp>
        <p:grpSp>
          <p:nvGrpSpPr>
            <p:cNvPr id="32" name="Group 32"/>
            <p:cNvGrpSpPr/>
            <p:nvPr/>
          </p:nvGrpSpPr>
          <p:grpSpPr>
            <a:xfrm>
              <a:off x="3898868" y="3619500"/>
              <a:ext cx="850963" cy="1457325"/>
              <a:chOff x="3898868" y="3619500"/>
              <a:chExt cx="850963" cy="1457325"/>
            </a:xfrm>
          </p:grpSpPr>
          <p:sp>
            <p:nvSpPr>
              <p:cNvPr id="25" name="Ellipse 25"/>
              <p:cNvSpPr/>
              <p:nvPr/>
            </p:nvSpPr>
            <p:spPr>
              <a:xfrm>
                <a:off x="4210050" y="3886200"/>
                <a:ext cx="228600" cy="228600"/>
              </a:xfrm>
              <a:prstGeom prst="ellipse">
                <a:avLst/>
              </a:prstGeom>
              <a:solidFill>
                <a:srgbClr val="1A7CE0"/>
              </a:solidFill>
              <a:ln>
                <a:noFill/>
              </a:ln>
            </p:spPr>
          </p:sp>
          <p:sp>
            <p:nvSpPr>
              <p:cNvPr id="26" name="Ellipse 26"/>
              <p:cNvSpPr/>
              <p:nvPr/>
            </p:nvSpPr>
            <p:spPr>
              <a:xfrm>
                <a:off x="4276725" y="3952875"/>
                <a:ext cx="95250" cy="95250"/>
              </a:xfrm>
              <a:prstGeom prst="ellipse">
                <a:avLst/>
              </a:prstGeom>
              <a:solidFill>
                <a:srgbClr val="FFFFFF"/>
              </a:solidFill>
              <a:ln>
                <a:noFill/>
              </a:ln>
            </p:spPr>
          </p:sp>
          <p:sp>
            <p:nvSpPr>
              <p:cNvPr id="27" name="Line 27"/>
              <p:cNvSpPr/>
              <p:nvPr/>
            </p:nvSpPr>
            <p:spPr>
              <a:xfrm>
                <a:off x="4324350" y="3619500"/>
                <a:ext cx="9525" cy="266700"/>
              </a:xfrm>
              <a:custGeom>
                <a:avLst/>
                <a:gdLst/>
                <a:ahLst/>
                <a:cxnLst/>
                <a:rect l="l" t="t" r="r" b="b"/>
                <a:pathLst>
                  <a:path w="9525" h="266700">
                    <a:moveTo>
                      <a:pt x="0" y="266700"/>
                    </a:moveTo>
                    <a:lnTo>
                      <a:pt x="0" y="0"/>
                    </a:lnTo>
                  </a:path>
                </a:pathLst>
              </a:custGeom>
              <a:noFill/>
              <a:ln w="9525">
                <a:solidFill>
                  <a:srgbClr val="D1D5DB"/>
                </a:solidFill>
                <a:custDash>
                  <a:ds d="300000" sp="300000"/>
                </a:custDash>
              </a:ln>
            </p:spPr>
          </p:sp>
          <p:sp>
            <p:nvSpPr>
              <p:cNvPr id="28" name="TextBox 28"/>
              <p:cNvSpPr txBox="1"/>
              <p:nvPr/>
            </p:nvSpPr>
            <p:spPr>
              <a:xfrm>
                <a:off x="4121331" y="4009549"/>
                <a:ext cx="406038" cy="198120"/>
              </a:xfrm>
              <a:prstGeom prst="rect">
                <a:avLst/>
              </a:prstGeom>
              <a:noFill/>
              <a:ln>
                <a:noFill/>
              </a:ln>
            </p:spPr>
            <p:txBody>
              <a:bodyPr wrap="none" lIns="0" tIns="0" rIns="0" bIns="0" anchor="t" anchorCtr="0">
                <a:spAutoFit/>
              </a:bodyPr>
              <a:lstStyle/>
              <a:p>
                <a:pPr algn="ctr"/>
                <a:r>
                  <a:rPr lang="ko-KR" sz="1200" b="1" dirty="0">
                    <a:solidFill>
                      <a:srgbClr val="1A7CE0"/>
                    </a:solidFill>
                    <a:latin typeface="Segoe UI"/>
                    <a:ea typeface="Microsoft YaHei"/>
                    <a:cs typeface="Segoe UI"/>
                  </a:rPr>
                  <a:t>2분기</a:t>
                </a:r>
              </a:p>
            </p:txBody>
          </p:sp>
          <p:sp>
            <p:nvSpPr>
              <p:cNvPr id="29" name="TextBox 29"/>
              <p:cNvSpPr txBox="1"/>
              <p:nvPr/>
            </p:nvSpPr>
            <p:spPr>
              <a:xfrm>
                <a:off x="3964822" y="4391978"/>
                <a:ext cx="719057" cy="213360"/>
              </a:xfrm>
              <a:prstGeom prst="rect">
                <a:avLst/>
              </a:prstGeom>
              <a:noFill/>
              <a:ln>
                <a:noFill/>
              </a:ln>
            </p:spPr>
            <p:txBody>
              <a:bodyPr wrap="none" lIns="0" tIns="0" rIns="0" bIns="0" anchor="t" anchorCtr="0">
                <a:spAutoFit/>
              </a:bodyPr>
              <a:lstStyle/>
              <a:p>
                <a:pPr algn="ctr"/>
                <a:r>
                  <a:rPr lang="ko-KR" sz="1200" b="1" dirty="0">
                    <a:solidFill>
                      <a:srgbClr val="111827"/>
                    </a:solidFill>
                    <a:latin typeface="Segoe UI"/>
                    <a:ea typeface="Microsoft YaHei"/>
                    <a:cs typeface="Segoe UI"/>
                  </a:rPr>
                  <a:t>설계 완료</a:t>
                </a:r>
              </a:p>
            </p:txBody>
          </p:sp>
          <p:sp>
            <p:nvSpPr>
              <p:cNvPr id="30" name="TextBox 30"/>
              <p:cNvSpPr txBox="1"/>
              <p:nvPr/>
            </p:nvSpPr>
            <p:spPr>
              <a:xfrm>
                <a:off x="3931730" y="4284345"/>
                <a:ext cx="785241" cy="182880"/>
              </a:xfrm>
              <a:prstGeom prst="rect">
                <a:avLst/>
              </a:prstGeom>
              <a:noFill/>
              <a:ln>
                <a:noFill/>
              </a:ln>
            </p:spPr>
            <p:txBody>
              <a:bodyPr wrap="none" lIns="0" tIns="0" rIns="0" bIns="0" anchor="t" anchorCtr="0">
                <a:spAutoFit/>
              </a:bodyPr>
              <a:lstStyle/>
              <a:p>
                <a:pPr algn="ctr"/>
                <a:r>
                  <a:rPr lang="ko-KR" sz="1200" dirty="0">
                    <a:solidFill>
                      <a:srgbClr val="374151"/>
                    </a:solidFill>
                    <a:latin typeface="Segoe UI"/>
                    <a:ea typeface="Microsoft YaHei"/>
                    <a:cs typeface="Segoe UI"/>
                  </a:rPr>
                  <a:t>UI/UX 디자인</a:t>
                </a:r>
              </a:p>
            </p:txBody>
          </p:sp>
          <p:sp>
            <p:nvSpPr>
              <p:cNvPr id="31" name="TextBox 31"/>
              <p:cNvSpPr txBox="1"/>
              <p:nvPr/>
            </p:nvSpPr>
            <p:spPr>
              <a:xfrm>
                <a:off x="3898868" y="4893945"/>
                <a:ext cx="850963" cy="182880"/>
              </a:xfrm>
              <a:prstGeom prst="rect">
                <a:avLst/>
              </a:prstGeom>
              <a:noFill/>
              <a:ln>
                <a:noFill/>
              </a:ln>
            </p:spPr>
            <p:txBody>
              <a:bodyPr wrap="none" lIns="0" tIns="0" rIns="0" bIns="0" anchor="t" anchorCtr="0">
                <a:spAutoFit/>
              </a:bodyPr>
              <a:lstStyle/>
              <a:p>
                <a:pPr algn="ctr"/>
                <a:r>
                  <a:rPr lang="ko-KR" sz="1200" dirty="0">
                    <a:solidFill>
                      <a:srgbClr val="6B7280"/>
                    </a:solidFill>
                    <a:latin typeface="Segoe UI"/>
                    <a:ea typeface="Microsoft YaHei"/>
                    <a:cs typeface="Segoe UI"/>
                  </a:rPr>
                  <a:t>아키텍처 확정</a:t>
                </a:r>
              </a:p>
            </p:txBody>
          </p:sp>
        </p:grpSp>
        <p:grpSp>
          <p:nvGrpSpPr>
            <p:cNvPr id="40" name="Group 40"/>
            <p:cNvGrpSpPr/>
            <p:nvPr/>
          </p:nvGrpSpPr>
          <p:grpSpPr>
            <a:xfrm>
              <a:off x="5979204" y="3619500"/>
              <a:ext cx="1071791" cy="1457325"/>
              <a:chOff x="5979204" y="3619500"/>
              <a:chExt cx="1071791" cy="1457325"/>
            </a:xfrm>
          </p:grpSpPr>
          <p:sp>
            <p:nvSpPr>
              <p:cNvPr id="33" name="Ellipse 33"/>
              <p:cNvSpPr/>
              <p:nvPr/>
            </p:nvSpPr>
            <p:spPr>
              <a:xfrm>
                <a:off x="6362700" y="3848100"/>
                <a:ext cx="304800" cy="304800"/>
              </a:xfrm>
              <a:prstGeom prst="ellipse">
                <a:avLst/>
              </a:prstGeom>
              <a:solidFill>
                <a:srgbClr val="FF6F00"/>
              </a:solidFill>
              <a:ln>
                <a:noFill/>
              </a:ln>
            </p:spPr>
          </p:sp>
          <p:sp>
            <p:nvSpPr>
              <p:cNvPr id="34" name="Ellipse 34"/>
              <p:cNvSpPr/>
              <p:nvPr/>
            </p:nvSpPr>
            <p:spPr>
              <a:xfrm>
                <a:off x="6448425" y="3933825"/>
                <a:ext cx="133350" cy="133350"/>
              </a:xfrm>
              <a:prstGeom prst="ellipse">
                <a:avLst/>
              </a:prstGeom>
              <a:solidFill>
                <a:srgbClr val="FFFFFF"/>
              </a:solidFill>
              <a:ln>
                <a:noFill/>
              </a:ln>
            </p:spPr>
          </p:sp>
          <p:sp>
            <p:nvSpPr>
              <p:cNvPr id="35" name="Line 35"/>
              <p:cNvSpPr/>
              <p:nvPr/>
            </p:nvSpPr>
            <p:spPr>
              <a:xfrm>
                <a:off x="6515100" y="3619500"/>
                <a:ext cx="9525" cy="228600"/>
              </a:xfrm>
              <a:custGeom>
                <a:avLst/>
                <a:gdLst/>
                <a:ahLst/>
                <a:cxnLst/>
                <a:rect l="l" t="t" r="r" b="b"/>
                <a:pathLst>
                  <a:path w="9525" h="228600">
                    <a:moveTo>
                      <a:pt x="0" y="228600"/>
                    </a:moveTo>
                    <a:lnTo>
                      <a:pt x="0" y="0"/>
                    </a:lnTo>
                  </a:path>
                </a:pathLst>
              </a:custGeom>
              <a:noFill/>
              <a:ln w="14288">
                <a:solidFill>
                  <a:srgbClr val="FF6F00"/>
                </a:solidFill>
                <a:custDash>
                  <a:ds d="200000" sp="200000"/>
                </a:custDash>
              </a:ln>
            </p:spPr>
          </p:sp>
          <p:sp>
            <p:nvSpPr>
              <p:cNvPr id="36" name="TextBox 36"/>
              <p:cNvSpPr txBox="1"/>
              <p:nvPr/>
            </p:nvSpPr>
            <p:spPr>
              <a:xfrm>
                <a:off x="6076589" y="4009549"/>
                <a:ext cx="877022" cy="198120"/>
              </a:xfrm>
              <a:prstGeom prst="rect">
                <a:avLst/>
              </a:prstGeom>
              <a:noFill/>
              <a:ln>
                <a:noFill/>
              </a:ln>
            </p:spPr>
            <p:txBody>
              <a:bodyPr wrap="none" lIns="0" tIns="0" rIns="0" bIns="0" anchor="t" anchorCtr="0">
                <a:spAutoFit/>
              </a:bodyPr>
              <a:lstStyle/>
              <a:p>
                <a:pPr algn="ctr"/>
                <a:r>
                  <a:rPr lang="ko-KR" sz="1200" b="1" dirty="0">
                    <a:solidFill>
                      <a:srgbClr val="FF6F00"/>
                    </a:solidFill>
                    <a:latin typeface="Segoe UI"/>
                    <a:ea typeface="Microsoft YaHei"/>
                    <a:cs typeface="Segoe UI"/>
                  </a:rPr>
                  <a:t>3분기 · 현재</a:t>
                </a:r>
              </a:p>
            </p:txBody>
          </p:sp>
          <p:sp>
            <p:nvSpPr>
              <p:cNvPr id="37" name="TextBox 37"/>
              <p:cNvSpPr txBox="1"/>
              <p:nvPr/>
            </p:nvSpPr>
            <p:spPr>
              <a:xfrm>
                <a:off x="6155572" y="4010978"/>
                <a:ext cx="719057" cy="213360"/>
              </a:xfrm>
              <a:prstGeom prst="rect">
                <a:avLst/>
              </a:prstGeom>
              <a:noFill/>
              <a:ln>
                <a:noFill/>
              </a:ln>
            </p:spPr>
            <p:txBody>
              <a:bodyPr wrap="none" lIns="0" tIns="0" rIns="0" bIns="0" anchor="t" anchorCtr="0">
                <a:spAutoFit/>
              </a:bodyPr>
              <a:lstStyle/>
              <a:p>
                <a:pPr algn="ctr"/>
                <a:r>
                  <a:rPr lang="ko-KR" sz="1200" b="1" dirty="0">
                    <a:solidFill>
                      <a:srgbClr val="111827"/>
                    </a:solidFill>
                    <a:latin typeface="Segoe UI"/>
                    <a:ea typeface="Microsoft YaHei"/>
                    <a:cs typeface="Segoe UI"/>
                  </a:rPr>
                  <a:t>베타 출시</a:t>
                </a:r>
              </a:p>
            </p:txBody>
          </p:sp>
          <p:sp>
            <p:nvSpPr>
              <p:cNvPr id="38" name="TextBox 38"/>
              <p:cNvSpPr txBox="1"/>
              <p:nvPr/>
            </p:nvSpPr>
            <p:spPr>
              <a:xfrm>
                <a:off x="5979204" y="4893945"/>
                <a:ext cx="1071791" cy="182880"/>
              </a:xfrm>
              <a:prstGeom prst="rect">
                <a:avLst/>
              </a:prstGeom>
              <a:noFill/>
              <a:ln>
                <a:noFill/>
              </a:ln>
            </p:spPr>
            <p:txBody>
              <a:bodyPr wrap="none" lIns="0" tIns="0" rIns="0" bIns="0" anchor="t" anchorCtr="0">
                <a:spAutoFit/>
              </a:bodyPr>
              <a:lstStyle/>
              <a:p>
                <a:pPr algn="ctr"/>
                <a:r>
                  <a:rPr lang="ko-KR" sz="1200" b="1" dirty="0">
                    <a:solidFill>
                      <a:srgbClr val="FF6F00"/>
                    </a:solidFill>
                    <a:latin typeface="Segoe UI"/>
                    <a:ea typeface="Microsoft YaHei"/>
                    <a:cs typeface="Segoe UI"/>
                  </a:rPr>
                  <a:t>초기 사용자 확보</a:t>
                </a:r>
              </a:p>
            </p:txBody>
          </p:sp>
          <p:sp>
            <p:nvSpPr>
              <p:cNvPr id="39" name="TextBox 39"/>
              <p:cNvSpPr txBox="1"/>
              <p:nvPr/>
            </p:nvSpPr>
            <p:spPr>
              <a:xfrm>
                <a:off x="6155341" y="4493895"/>
                <a:ext cx="719519" cy="182880"/>
              </a:xfrm>
              <a:prstGeom prst="rect">
                <a:avLst/>
              </a:prstGeom>
              <a:noFill/>
              <a:ln>
                <a:noFill/>
              </a:ln>
            </p:spPr>
            <p:txBody>
              <a:bodyPr wrap="none" lIns="0" tIns="0" rIns="0" bIns="0" anchor="t" anchorCtr="0">
                <a:spAutoFit/>
              </a:bodyPr>
              <a:lstStyle/>
              <a:p>
                <a:pPr algn="ctr"/>
                <a:r>
                  <a:rPr lang="ko-KR" sz="1200" dirty="0">
                    <a:solidFill>
                      <a:srgbClr val="6B7280"/>
                    </a:solidFill>
                    <a:latin typeface="Segoe UI"/>
                    <a:ea typeface="Microsoft YaHei"/>
                    <a:cs typeface="Segoe UI"/>
                  </a:rPr>
                  <a:t>피드백 수집</a:t>
                </a:r>
              </a:p>
            </p:txBody>
          </p:sp>
        </p:grpSp>
        <p:grpSp>
          <p:nvGrpSpPr>
            <p:cNvPr id="48" name="Group 48"/>
            <p:cNvGrpSpPr/>
            <p:nvPr/>
          </p:nvGrpSpPr>
          <p:grpSpPr>
            <a:xfrm>
              <a:off x="8260652" y="3619500"/>
              <a:ext cx="890397" cy="1457325"/>
              <a:chOff x="8260652" y="3619500"/>
              <a:chExt cx="890397" cy="1457325"/>
            </a:xfrm>
          </p:grpSpPr>
          <p:sp>
            <p:nvSpPr>
              <p:cNvPr id="41" name="Ellipse 41"/>
              <p:cNvSpPr/>
              <p:nvPr/>
            </p:nvSpPr>
            <p:spPr>
              <a:xfrm>
                <a:off x="8591550" y="3886200"/>
                <a:ext cx="228600" cy="228600"/>
              </a:xfrm>
              <a:prstGeom prst="ellipse">
                <a:avLst/>
              </a:prstGeom>
              <a:solidFill>
                <a:srgbClr val="9CA3AF"/>
              </a:solidFill>
              <a:ln>
                <a:noFill/>
              </a:ln>
            </p:spPr>
          </p:sp>
          <p:sp>
            <p:nvSpPr>
              <p:cNvPr id="42" name="Ellipse 42"/>
              <p:cNvSpPr/>
              <p:nvPr/>
            </p:nvSpPr>
            <p:spPr>
              <a:xfrm>
                <a:off x="8658225" y="3952875"/>
                <a:ext cx="95250" cy="95250"/>
              </a:xfrm>
              <a:prstGeom prst="ellipse">
                <a:avLst/>
              </a:prstGeom>
              <a:solidFill>
                <a:srgbClr val="FFFFFF"/>
              </a:solidFill>
              <a:ln>
                <a:noFill/>
              </a:ln>
            </p:spPr>
          </p:sp>
          <p:sp>
            <p:nvSpPr>
              <p:cNvPr id="43" name="Line 43"/>
              <p:cNvSpPr/>
              <p:nvPr/>
            </p:nvSpPr>
            <p:spPr>
              <a:xfrm>
                <a:off x="8705850" y="3619500"/>
                <a:ext cx="9525" cy="266700"/>
              </a:xfrm>
              <a:custGeom>
                <a:avLst/>
                <a:gdLst/>
                <a:ahLst/>
                <a:cxnLst/>
                <a:rect l="l" t="t" r="r" b="b"/>
                <a:pathLst>
                  <a:path w="9525" h="266700">
                    <a:moveTo>
                      <a:pt x="0" y="266700"/>
                    </a:moveTo>
                    <a:lnTo>
                      <a:pt x="0" y="0"/>
                    </a:lnTo>
                  </a:path>
                </a:pathLst>
              </a:custGeom>
              <a:noFill/>
              <a:ln w="9525">
                <a:solidFill>
                  <a:srgbClr val="D1D5DB"/>
                </a:solidFill>
                <a:custDash>
                  <a:ds d="300000" sp="300000"/>
                </a:custDash>
              </a:ln>
            </p:spPr>
          </p:sp>
          <p:sp>
            <p:nvSpPr>
              <p:cNvPr id="44" name="TextBox 44"/>
              <p:cNvSpPr txBox="1"/>
              <p:nvPr/>
            </p:nvSpPr>
            <p:spPr>
              <a:xfrm>
                <a:off x="8502831" y="4009549"/>
                <a:ext cx="406038" cy="198120"/>
              </a:xfrm>
              <a:prstGeom prst="rect">
                <a:avLst/>
              </a:prstGeom>
              <a:noFill/>
              <a:ln>
                <a:noFill/>
              </a:ln>
            </p:spPr>
            <p:txBody>
              <a:bodyPr wrap="none" lIns="0" tIns="0" rIns="0" bIns="0" anchor="t" anchorCtr="0">
                <a:spAutoFit/>
              </a:bodyPr>
              <a:lstStyle/>
              <a:p>
                <a:pPr algn="ctr"/>
                <a:r>
                  <a:rPr lang="ko-KR" sz="1200" b="1" dirty="0">
                    <a:solidFill>
                      <a:srgbClr val="6B7280"/>
                    </a:solidFill>
                    <a:latin typeface="Segoe UI"/>
                    <a:ea typeface="Microsoft YaHei"/>
                    <a:cs typeface="Segoe UI"/>
                  </a:rPr>
                  <a:t>4분기</a:t>
                </a:r>
              </a:p>
            </p:txBody>
          </p:sp>
          <p:sp>
            <p:nvSpPr>
              <p:cNvPr id="45" name="TextBox 45"/>
              <p:cNvSpPr txBox="1"/>
              <p:nvPr/>
            </p:nvSpPr>
            <p:spPr>
              <a:xfrm>
                <a:off x="8346322" y="4010978"/>
                <a:ext cx="719057" cy="213360"/>
              </a:xfrm>
              <a:prstGeom prst="rect">
                <a:avLst/>
              </a:prstGeom>
              <a:noFill/>
              <a:ln>
                <a:noFill/>
              </a:ln>
            </p:spPr>
            <p:txBody>
              <a:bodyPr wrap="none" lIns="0" tIns="0" rIns="0" bIns="0" anchor="t" anchorCtr="0">
                <a:spAutoFit/>
              </a:bodyPr>
              <a:lstStyle/>
              <a:p>
                <a:pPr algn="ctr"/>
                <a:r>
                  <a:rPr lang="ko-KR" sz="1200" b="1" dirty="0">
                    <a:solidFill>
                      <a:srgbClr val="111827"/>
                    </a:solidFill>
                    <a:latin typeface="Segoe UI"/>
                    <a:ea typeface="Microsoft YaHei"/>
                    <a:cs typeface="Segoe UI"/>
                  </a:rPr>
                  <a:t>정식 출시</a:t>
                </a:r>
              </a:p>
            </p:txBody>
          </p:sp>
          <p:sp>
            <p:nvSpPr>
              <p:cNvPr id="46" name="TextBox 46"/>
              <p:cNvSpPr txBox="1"/>
              <p:nvPr/>
            </p:nvSpPr>
            <p:spPr>
              <a:xfrm>
                <a:off x="8280368" y="4893945"/>
                <a:ext cx="850963" cy="182880"/>
              </a:xfrm>
              <a:prstGeom prst="rect">
                <a:avLst/>
              </a:prstGeom>
              <a:noFill/>
              <a:ln>
                <a:noFill/>
              </a:ln>
            </p:spPr>
            <p:txBody>
              <a:bodyPr wrap="none" lIns="0" tIns="0" rIns="0" bIns="0" anchor="t" anchorCtr="0">
                <a:spAutoFit/>
              </a:bodyPr>
              <a:lstStyle/>
              <a:p>
                <a:pPr algn="ctr"/>
                <a:r>
                  <a:rPr lang="ko-KR" sz="1200" dirty="0">
                    <a:solidFill>
                      <a:srgbClr val="374151"/>
                    </a:solidFill>
                    <a:latin typeface="Segoe UI"/>
                    <a:ea typeface="Microsoft YaHei"/>
                    <a:cs typeface="Segoe UI"/>
                  </a:rPr>
                  <a:t>마케팅 캠페인</a:t>
                </a:r>
              </a:p>
            </p:txBody>
          </p:sp>
          <p:sp>
            <p:nvSpPr>
              <p:cNvPr id="47" name="TextBox 47"/>
              <p:cNvSpPr txBox="1"/>
              <p:nvPr/>
            </p:nvSpPr>
            <p:spPr>
              <a:xfrm>
                <a:off x="8260652" y="4893945"/>
                <a:ext cx="890397" cy="182880"/>
              </a:xfrm>
              <a:prstGeom prst="rect">
                <a:avLst/>
              </a:prstGeom>
              <a:noFill/>
              <a:ln>
                <a:noFill/>
              </a:ln>
            </p:spPr>
            <p:txBody>
              <a:bodyPr wrap="none" lIns="0" tIns="0" rIns="0" bIns="0" anchor="t" anchorCtr="0">
                <a:spAutoFit/>
              </a:bodyPr>
              <a:lstStyle/>
              <a:p>
                <a:pPr algn="ctr"/>
                <a:r>
                  <a:rPr lang="ko-KR" sz="1200" dirty="0">
                    <a:solidFill>
                      <a:srgbClr val="6B7280"/>
                    </a:solidFill>
                    <a:latin typeface="Segoe UI"/>
                    <a:ea typeface="Microsoft YaHei"/>
                    <a:cs typeface="Segoe UI"/>
                  </a:rPr>
                  <a:t>고객 지원 체계</a:t>
                </a:r>
              </a:p>
            </p:txBody>
          </p:sp>
        </p:grpSp>
        <p:grpSp>
          <p:nvGrpSpPr>
            <p:cNvPr id="52" name="Group 52"/>
            <p:cNvGrpSpPr/>
            <p:nvPr/>
          </p:nvGrpSpPr>
          <p:grpSpPr>
            <a:xfrm>
              <a:off x="10148247" y="3905250"/>
              <a:ext cx="353706" cy="302419"/>
              <a:chOff x="10148247" y="3905250"/>
              <a:chExt cx="353706" cy="302419"/>
            </a:xfrm>
          </p:grpSpPr>
          <p:sp>
            <p:nvSpPr>
              <p:cNvPr id="49" name="Ellipse 49"/>
              <p:cNvSpPr/>
              <p:nvPr/>
            </p:nvSpPr>
            <p:spPr>
              <a:xfrm>
                <a:off x="10229850" y="3905250"/>
                <a:ext cx="190500" cy="190500"/>
              </a:xfrm>
              <a:prstGeom prst="ellipse">
                <a:avLst/>
              </a:prstGeom>
              <a:solidFill>
                <a:srgbClr val="FFFFFF"/>
              </a:solidFill>
              <a:ln w="19050">
                <a:solidFill>
                  <a:srgbClr val="9CA3AF"/>
                </a:solidFill>
                <a:prstDash val="sysDot"/>
              </a:ln>
            </p:spPr>
          </p:sp>
          <p:sp>
            <p:nvSpPr>
              <p:cNvPr id="50" name="TextBox 50"/>
              <p:cNvSpPr txBox="1"/>
              <p:nvPr/>
            </p:nvSpPr>
            <p:spPr>
              <a:xfrm>
                <a:off x="10148247" y="4009549"/>
                <a:ext cx="353706" cy="198120"/>
              </a:xfrm>
              <a:prstGeom prst="rect">
                <a:avLst/>
              </a:prstGeom>
              <a:noFill/>
              <a:ln>
                <a:noFill/>
              </a:ln>
            </p:spPr>
            <p:txBody>
              <a:bodyPr wrap="none" lIns="0" tIns="0" rIns="0" bIns="0" anchor="t" anchorCtr="0">
                <a:spAutoFit/>
              </a:bodyPr>
              <a:lstStyle/>
              <a:p>
                <a:pPr algn="ctr"/>
                <a:r>
                  <a:rPr lang="en-US" sz="1200" b="1" dirty="0">
                    <a:solidFill>
                      <a:srgbClr val="9CA3AF"/>
                    </a:solidFill>
                    <a:latin typeface="Segoe UI"/>
                    <a:ea typeface="Microsoft YaHei"/>
                    <a:cs typeface="Segoe UI"/>
                  </a:rPr>
                  <a:t>2025</a:t>
                </a:r>
              </a:p>
            </p:txBody>
          </p:sp>
          <p:sp>
            <p:nvSpPr>
              <p:cNvPr id="51" name="TextBox 51"/>
              <p:cNvSpPr txBox="1"/>
              <p:nvPr/>
            </p:nvSpPr>
            <p:spPr>
              <a:xfrm>
                <a:off x="10182225" y="4008120"/>
                <a:ext cx="285750" cy="182880"/>
              </a:xfrm>
              <a:prstGeom prst="rect">
                <a:avLst/>
              </a:prstGeom>
              <a:noFill/>
              <a:ln>
                <a:noFill/>
              </a:ln>
            </p:spPr>
            <p:txBody>
              <a:bodyPr wrap="none" lIns="0" tIns="0" rIns="0" bIns="0" anchor="t" anchorCtr="0">
                <a:spAutoFit/>
              </a:bodyPr>
              <a:lstStyle/>
              <a:p>
                <a:pPr algn="ctr"/>
                <a:r>
                  <a:rPr lang="ko-KR" sz="1200" dirty="0">
                    <a:solidFill>
                      <a:srgbClr val="9CA3AF"/>
                    </a:solidFill>
                    <a:latin typeface="Segoe UI"/>
                    <a:ea typeface="Microsoft YaHei"/>
                    <a:cs typeface="Segoe UI"/>
                  </a:rPr>
                  <a:t>확장</a:t>
                </a:r>
              </a:p>
            </p:txBody>
          </p:sp>
        </p:grpSp>
      </p:grpSp>
      <p:sp>
        <p:nvSpPr>
          <p:cNvPr id="54" name="TextBox 54"/>
          <p:cNvSpPr txBox="1"/>
          <p:nvPr/>
        </p:nvSpPr>
        <p:spPr>
          <a:xfrm>
            <a:off x="599122" y="6464141"/>
            <a:ext cx="2075331" cy="167640"/>
          </a:xfrm>
          <a:prstGeom prst="rect">
            <a:avLst/>
          </a:prstGeom>
          <a:noFill/>
          <a:ln>
            <a:noFill/>
          </a:ln>
        </p:spPr>
        <p:txBody>
          <a:bodyPr wrap="none" lIns="0" tIns="0" rIns="0" bIns="0" anchor="t" anchorCtr="0">
            <a:spAutoFit/>
          </a:bodyPr>
          <a:lstStyle/>
          <a:p>
            <a:pPr algn="l"/>
            <a:r>
              <a:rPr lang="ko-KR" sz="1200" dirty="0">
                <a:solidFill>
                  <a:srgbClr val="9CA3AF"/>
                </a:solidFill>
                <a:latin typeface="Segoe UI"/>
                <a:ea typeface="Microsoft YaHei"/>
                <a:cs typeface="Segoe UI"/>
              </a:rPr>
              <a:t>데이터 시각화 가이드 · 차트 카탈로그</a:t>
            </a:r>
          </a:p>
        </p:txBody>
      </p:sp>
      <p:sp>
        <p:nvSpPr>
          <p:cNvPr id="55" name="TextBox 55"/>
          <p:cNvSpPr txBox="1"/>
          <p:nvPr/>
        </p:nvSpPr>
        <p:spPr>
          <a:xfrm>
            <a:off x="10058305" y="6473666"/>
            <a:ext cx="1153573" cy="167640"/>
          </a:xfrm>
          <a:prstGeom prst="rect">
            <a:avLst/>
          </a:prstGeom>
          <a:noFill/>
          <a:ln>
            <a:noFill/>
          </a:ln>
        </p:spPr>
        <p:txBody>
          <a:bodyPr wrap="none" lIns="0" tIns="0" rIns="0" bIns="0" anchor="t" anchorCtr="0">
            <a:spAutoFit/>
          </a:bodyPr>
          <a:lstStyle/>
          <a:p>
            <a:pPr algn="r"/>
            <a:r>
              <a:rPr lang="en-US" sz="1200" dirty="0">
                <a:solidFill>
                  <a:srgbClr val="9CA3AF"/>
                </a:solidFill>
                <a:latin typeface="Segoe UI"/>
                <a:ea typeface="Microsoft YaHei"/>
                <a:cs typeface="Segoe UI"/>
              </a:rPr>
              <a:t>timeline_horizontal</a:t>
            </a:r>
          </a:p>
        </p:txBody>
      </p:sp>
    </p:spTree>
  </p:cSld>
  <p:clrMapOvr>
    <a:masterClrMapping/>
  </p:clrMapOvr>
  <p:transition xmlns:p14="http://schemas.microsoft.com/office/powerpoint/2010/main" p14:dur="5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7"/>
          </a:solidFill>
          <a:ln>
            <a:noFill/>
          </a:ln>
        </p:spPr>
      </p:sp>
      <p:sp>
        <p:nvSpPr>
          <p:cNvPr id="3" name="Rectangle 3"/>
          <p:cNvSpPr/>
          <p:nvPr/>
        </p:nvSpPr>
        <p:spPr>
          <a:xfrm>
            <a:off x="0" y="0"/>
            <a:ext cx="12192000" cy="685800"/>
          </a:xfrm>
          <a:prstGeom prst="rect">
            <a:avLst/>
          </a:prstGeom>
          <a:solidFill>
            <a:srgbClr val="FFFFFF"/>
          </a:solidFill>
          <a:ln>
            <a:noFill/>
          </a:ln>
        </p:spPr>
      </p:sp>
      <p:sp>
        <p:nvSpPr>
          <p:cNvPr id="4" name="Line 4"/>
          <p:cNvSpPr/>
          <p:nvPr/>
        </p:nvSpPr>
        <p:spPr>
          <a:xfrm>
            <a:off x="0" y="685800"/>
            <a:ext cx="12192000" cy="9525"/>
          </a:xfrm>
          <a:custGeom>
            <a:avLst/>
            <a:gdLst/>
            <a:ahLst/>
            <a:cxnLst/>
            <a:rect l="l" t="t" r="r" b="b"/>
            <a:pathLst>
              <a:path w="12192000" h="9525">
                <a:moveTo>
                  <a:pt x="0" y="0"/>
                </a:moveTo>
                <a:lnTo>
                  <a:pt x="12192000" y="0"/>
                </a:lnTo>
              </a:path>
            </a:pathLst>
          </a:custGeom>
          <a:noFill/>
          <a:ln w="9525">
            <a:solidFill>
              <a:srgbClr val="E5E5E0"/>
            </a:solidFill>
          </a:ln>
        </p:spPr>
      </p:sp>
      <p:sp>
        <p:nvSpPr>
          <p:cNvPr id="5" name="TextBox 5"/>
          <p:cNvSpPr txBox="1"/>
          <p:nvPr/>
        </p:nvSpPr>
        <p:spPr>
          <a:xfrm>
            <a:off x="558165" y="324802"/>
            <a:ext cx="1031129" cy="213360"/>
          </a:xfrm>
          <a:prstGeom prst="rect">
            <a:avLst/>
          </a:prstGeom>
          <a:noFill/>
          <a:ln>
            <a:noFill/>
          </a:ln>
        </p:spPr>
        <p:txBody>
          <a:bodyPr wrap="none" lIns="0" tIns="0" rIns="0" bIns="0" anchor="t" anchorCtr="0">
            <a:spAutoFit/>
          </a:bodyPr>
          <a:lstStyle/>
          <a:p>
            <a:pPr algn="l"/>
            <a:r>
              <a:rPr lang="ko-KR" sz="1200" dirty="0">
                <a:solidFill>
                  <a:srgbClr val="888880"/>
                </a:solidFill>
                <a:latin typeface="Malgun Gothic"/>
                <a:ea typeface="Malgun Gothic"/>
                <a:cs typeface="Malgun Gothic"/>
              </a:rPr>
              <a:t>03 / 비교 분석</a:t>
            </a:r>
          </a:p>
        </p:txBody>
      </p:sp>
      <p:sp>
        <p:nvSpPr>
          <p:cNvPr id="6" name="TextBox 6"/>
          <p:cNvSpPr txBox="1"/>
          <p:nvPr/>
        </p:nvSpPr>
        <p:spPr>
          <a:xfrm>
            <a:off x="11354133" y="324802"/>
            <a:ext cx="279702" cy="213360"/>
          </a:xfrm>
          <a:prstGeom prst="rect">
            <a:avLst/>
          </a:prstGeom>
          <a:noFill/>
          <a:ln>
            <a:noFill/>
          </a:ln>
        </p:spPr>
        <p:txBody>
          <a:bodyPr wrap="none" lIns="0" tIns="0" rIns="0" bIns="0" anchor="t" anchorCtr="0">
            <a:spAutoFit/>
          </a:bodyPr>
          <a:lstStyle/>
          <a:p>
            <a:pPr algn="r"/>
            <a:r>
              <a:rPr lang="en-US" sz="1200" dirty="0">
                <a:solidFill>
                  <a:srgbClr val="888880"/>
                </a:solidFill>
                <a:latin typeface="Malgun Gothic"/>
                <a:ea typeface="Malgun Gothic"/>
                <a:cs typeface="Malgun Gothic"/>
              </a:rPr>
              <a:t>P07</a:t>
            </a:r>
          </a:p>
        </p:txBody>
      </p:sp>
      <p:sp>
        <p:nvSpPr>
          <p:cNvPr id="7" name="TextBox 7"/>
          <p:cNvSpPr txBox="1"/>
          <p:nvPr/>
        </p:nvSpPr>
        <p:spPr>
          <a:xfrm>
            <a:off x="535305" y="1006792"/>
            <a:ext cx="7218233" cy="579120"/>
          </a:xfrm>
          <a:prstGeom prst="rect">
            <a:avLst/>
          </a:prstGeom>
          <a:noFill/>
          <a:ln>
            <a:noFill/>
          </a:ln>
        </p:spPr>
        <p:txBody>
          <a:bodyPr wrap="none" lIns="0" tIns="0" rIns="0" bIns="0" anchor="t" anchorCtr="0">
            <a:spAutoFit/>
          </a:bodyPr>
          <a:lstStyle/>
          <a:p>
            <a:pPr algn="l"/>
            <a:r>
              <a:rPr lang="ko-KR" sz="2850" b="1" dirty="0">
                <a:solidFill>
                  <a:srgbClr val="1A1A1A"/>
                </a:solidFill>
                <a:latin typeface="Malgun Gothic"/>
                <a:ea typeface="Malgun Gothic"/>
                <a:cs typeface="Malgun Gothic"/>
              </a:rPr>
              <a:t>두 가지 대안, 어느 쪽을 택할 것인가</a:t>
            </a:r>
          </a:p>
        </p:txBody>
      </p:sp>
      <p:sp>
        <p:nvSpPr>
          <p:cNvPr id="8" name="TextBox 8"/>
          <p:cNvSpPr txBox="1"/>
          <p:nvPr/>
        </p:nvSpPr>
        <p:spPr>
          <a:xfrm>
            <a:off x="555308" y="1481614"/>
            <a:ext cx="5451205" cy="259080"/>
          </a:xfrm>
          <a:prstGeom prst="rect">
            <a:avLst/>
          </a:prstGeom>
          <a:noFill/>
          <a:ln>
            <a:noFill/>
          </a:ln>
        </p:spPr>
        <p:txBody>
          <a:bodyPr wrap="none" lIns="0" tIns="0" rIns="0" bIns="0" anchor="t" anchorCtr="0">
            <a:spAutoFit/>
          </a:bodyPr>
          <a:lstStyle/>
          <a:p>
            <a:pPr algn="l"/>
            <a:r>
              <a:rPr lang="ko-KR" sz="1275" dirty="0">
                <a:solidFill>
                  <a:srgbClr val="666660"/>
                </a:solidFill>
                <a:latin typeface="Malgun Gothic"/>
                <a:ea typeface="Malgun Gothic"/>
                <a:cs typeface="Malgun Gothic"/>
              </a:rPr>
              <a:t>동등한 가중치로 좌우 비교하여 의사결정의 기준을 명확히 합니다</a:t>
            </a:r>
          </a:p>
        </p:txBody>
      </p:sp>
      <p:sp>
        <p:nvSpPr>
          <p:cNvPr id="9" name="Line 9"/>
          <p:cNvSpPr/>
          <p:nvPr/>
        </p:nvSpPr>
        <p:spPr>
          <a:xfrm>
            <a:off x="6096000" y="2000250"/>
            <a:ext cx="9525" cy="4095750"/>
          </a:xfrm>
          <a:custGeom>
            <a:avLst/>
            <a:gdLst/>
            <a:ahLst/>
            <a:cxnLst/>
            <a:rect l="l" t="t" r="r" b="b"/>
            <a:pathLst>
              <a:path w="9525" h="4095750">
                <a:moveTo>
                  <a:pt x="0" y="0"/>
                </a:moveTo>
                <a:lnTo>
                  <a:pt x="0" y="4095750"/>
                </a:lnTo>
              </a:path>
            </a:pathLst>
          </a:custGeom>
          <a:noFill/>
          <a:ln w="9525">
            <a:solidFill>
              <a:srgbClr val="E5E5E0"/>
            </a:solidFill>
            <a:prstDash val="dash"/>
          </a:ln>
        </p:spPr>
      </p:sp>
      <p:sp>
        <p:nvSpPr>
          <p:cNvPr id="10" name="Ellipse 10"/>
          <p:cNvSpPr/>
          <p:nvPr/>
        </p:nvSpPr>
        <p:spPr>
          <a:xfrm>
            <a:off x="5829300" y="3781425"/>
            <a:ext cx="533400" cy="533400"/>
          </a:xfrm>
          <a:prstGeom prst="ellipse">
            <a:avLst/>
          </a:prstGeom>
          <a:solidFill>
            <a:srgbClr val="FFFFFF"/>
          </a:solidFill>
          <a:ln w="9525">
            <a:solidFill>
              <a:srgbClr val="E5E5E0"/>
            </a:solidFill>
          </a:ln>
        </p:spPr>
      </p:sp>
      <p:sp>
        <p:nvSpPr>
          <p:cNvPr id="11" name="TextBox 11"/>
          <p:cNvSpPr txBox="1"/>
          <p:nvPr/>
        </p:nvSpPr>
        <p:spPr>
          <a:xfrm>
            <a:off x="6001382" y="4000024"/>
            <a:ext cx="189236" cy="198120"/>
          </a:xfrm>
          <a:prstGeom prst="rect">
            <a:avLst/>
          </a:prstGeom>
          <a:noFill/>
          <a:ln>
            <a:noFill/>
          </a:ln>
        </p:spPr>
        <p:txBody>
          <a:bodyPr wrap="none" lIns="0" tIns="0" rIns="0" bIns="0" anchor="t" anchorCtr="0">
            <a:spAutoFit/>
          </a:bodyPr>
          <a:lstStyle/>
          <a:p>
            <a:pPr algn="ctr"/>
            <a:r>
              <a:rPr lang="en-US" sz="1200" b="1" dirty="0">
                <a:solidFill>
                  <a:srgbClr val="888880"/>
                </a:solidFill>
                <a:latin typeface="Malgun Gothic"/>
                <a:ea typeface="Malgun Gothic"/>
                <a:cs typeface="Malgun Gothic"/>
              </a:rPr>
              <a:t>VS</a:t>
            </a:r>
          </a:p>
        </p:txBody>
      </p:sp>
      <p:grpSp>
        <p:nvGrpSpPr>
          <p:cNvPr id="33" name="Group 33"/>
          <p:cNvGrpSpPr/>
          <p:nvPr/>
        </p:nvGrpSpPr>
        <p:grpSpPr>
          <a:xfrm>
            <a:off x="546735" y="2095500"/>
            <a:ext cx="5180648" cy="4114800"/>
            <a:chOff x="546735" y="2095500"/>
            <a:chExt cx="5180648" cy="4114800"/>
          </a:xfrm>
        </p:grpSpPr>
        <p:sp>
          <p:nvSpPr>
            <p:cNvPr id="12" name="Rectangle 12"/>
            <p:cNvSpPr/>
            <p:nvPr/>
          </p:nvSpPr>
          <p:spPr>
            <a:xfrm>
              <a:off x="571500" y="2095500"/>
              <a:ext cx="609600" cy="247650"/>
            </a:xfrm>
            <a:prstGeom prst="roundRect">
              <a:avLst>
                <a:gd name="adj" fmla="val 50000"/>
              </a:avLst>
            </a:prstGeom>
            <a:solidFill>
              <a:srgbClr val="1A1A1A"/>
            </a:solidFill>
            <a:ln>
              <a:noFill/>
            </a:ln>
          </p:spPr>
        </p:sp>
        <p:sp>
          <p:nvSpPr>
            <p:cNvPr id="13" name="TextBox 13"/>
            <p:cNvSpPr txBox="1"/>
            <p:nvPr/>
          </p:nvSpPr>
          <p:spPr>
            <a:xfrm>
              <a:off x="668195" y="2169795"/>
              <a:ext cx="416209" cy="182880"/>
            </a:xfrm>
            <a:prstGeom prst="rect">
              <a:avLst/>
            </a:prstGeom>
            <a:noFill/>
            <a:ln>
              <a:noFill/>
            </a:ln>
          </p:spPr>
          <p:txBody>
            <a:bodyPr wrap="none" lIns="0" tIns="0" rIns="0" bIns="0" anchor="t" anchorCtr="0">
              <a:spAutoFit/>
            </a:bodyPr>
            <a:lstStyle/>
            <a:p>
              <a:pPr algn="ctr"/>
              <a:r>
                <a:rPr lang="ko-KR" sz="1200" b="1" dirty="0">
                  <a:solidFill>
                    <a:srgbClr val="FFFFFF"/>
                  </a:solidFill>
                  <a:latin typeface="Malgun Gothic"/>
                  <a:ea typeface="Malgun Gothic"/>
                  <a:cs typeface="Malgun Gothic"/>
                </a:rPr>
                <a:t>대안 A</a:t>
              </a:r>
            </a:p>
          </p:txBody>
        </p:sp>
        <p:sp>
          <p:nvSpPr>
            <p:cNvPr id="14" name="TextBox 14"/>
            <p:cNvSpPr txBox="1"/>
            <p:nvPr/>
          </p:nvSpPr>
          <p:spPr>
            <a:xfrm>
              <a:off x="546735" y="2475548"/>
              <a:ext cx="1335391" cy="396240"/>
            </a:xfrm>
            <a:prstGeom prst="rect">
              <a:avLst/>
            </a:prstGeom>
            <a:noFill/>
            <a:ln>
              <a:noFill/>
            </a:ln>
          </p:spPr>
          <p:txBody>
            <a:bodyPr wrap="none" lIns="0" tIns="0" rIns="0" bIns="0" anchor="t" anchorCtr="0">
              <a:spAutoFit/>
            </a:bodyPr>
            <a:lstStyle/>
            <a:p>
              <a:pPr algn="l"/>
              <a:r>
                <a:rPr lang="ko-KR" sz="1950" b="1" dirty="0">
                  <a:solidFill>
                    <a:srgbClr val="1A1A1A"/>
                  </a:solidFill>
                  <a:latin typeface="Malgun Gothic"/>
                  <a:ea typeface="Malgun Gothic"/>
                  <a:cs typeface="Malgun Gothic"/>
                </a:rPr>
                <a:t>자체 개발</a:t>
              </a:r>
            </a:p>
          </p:txBody>
        </p:sp>
        <p:sp>
          <p:nvSpPr>
            <p:cNvPr id="15" name="TextBox 15"/>
            <p:cNvSpPr txBox="1"/>
            <p:nvPr/>
          </p:nvSpPr>
          <p:spPr>
            <a:xfrm>
              <a:off x="557212" y="2812256"/>
              <a:ext cx="2148126" cy="228600"/>
            </a:xfrm>
            <a:prstGeom prst="rect">
              <a:avLst/>
            </a:prstGeom>
            <a:noFill/>
            <a:ln>
              <a:noFill/>
            </a:ln>
          </p:spPr>
          <p:txBody>
            <a:bodyPr wrap="none" lIns="0" tIns="0" rIns="0" bIns="0" anchor="t" anchorCtr="0">
              <a:spAutoFit/>
            </a:bodyPr>
            <a:lstStyle/>
            <a:p>
              <a:pPr algn="l"/>
              <a:r>
                <a:rPr lang="ko-KR" sz="1200" dirty="0">
                  <a:solidFill>
                    <a:srgbClr val="666660"/>
                  </a:solidFill>
                  <a:latin typeface="Malgun Gothic"/>
                  <a:ea typeface="Malgun Gothic"/>
                  <a:cs typeface="Malgun Gothic"/>
                </a:rPr>
                <a:t>내부 역량으로 처음부터 구축</a:t>
              </a:r>
            </a:p>
          </p:txBody>
        </p:sp>
        <p:sp>
          <p:nvSpPr>
            <p:cNvPr id="16" name="Line 16"/>
            <p:cNvSpPr/>
            <p:nvPr/>
          </p:nvSpPr>
          <p:spPr>
            <a:xfrm>
              <a:off x="571500" y="3162300"/>
              <a:ext cx="5143500" cy="9525"/>
            </a:xfrm>
            <a:custGeom>
              <a:avLst/>
              <a:gdLst/>
              <a:ahLst/>
              <a:cxnLst/>
              <a:rect l="l" t="t" r="r" b="b"/>
              <a:pathLst>
                <a:path w="5143500" h="9525">
                  <a:moveTo>
                    <a:pt x="0" y="0"/>
                  </a:moveTo>
                  <a:lnTo>
                    <a:pt x="5143500" y="0"/>
                  </a:lnTo>
                </a:path>
              </a:pathLst>
            </a:custGeom>
            <a:noFill/>
            <a:ln w="9525">
              <a:solidFill>
                <a:srgbClr val="E5E5E0"/>
              </a:solidFill>
            </a:ln>
          </p:spPr>
        </p:sp>
        <p:grpSp>
          <p:nvGrpSpPr>
            <p:cNvPr id="29" name="Group 29"/>
            <p:cNvGrpSpPr/>
            <p:nvPr/>
          </p:nvGrpSpPr>
          <p:grpSpPr>
            <a:xfrm>
              <a:off x="552450" y="3350895"/>
              <a:ext cx="5174933" cy="2183130"/>
              <a:chOff x="552450" y="3350895"/>
              <a:chExt cx="5174933" cy="2183130"/>
            </a:xfrm>
          </p:grpSpPr>
          <p:sp>
            <p:nvSpPr>
              <p:cNvPr id="17" name="TextBox 17"/>
              <p:cNvSpPr txBox="1"/>
              <p:nvPr/>
            </p:nvSpPr>
            <p:spPr>
              <a:xfrm>
                <a:off x="560070" y="3350895"/>
                <a:ext cx="588074" cy="182880"/>
              </a:xfrm>
              <a:prstGeom prst="rect">
                <a:avLst/>
              </a:prstGeom>
              <a:noFill/>
              <a:ln>
                <a:noFill/>
              </a:ln>
            </p:spPr>
            <p:txBody>
              <a:bodyPr wrap="none" lIns="0" tIns="0" rIns="0" bIns="0" anchor="t" anchorCtr="0">
                <a:spAutoFit/>
              </a:bodyPr>
              <a:lstStyle/>
              <a:p>
                <a:pPr algn="l"/>
                <a:r>
                  <a:rPr lang="ko-KR" sz="1200" dirty="0">
                    <a:solidFill>
                      <a:srgbClr val="888880"/>
                    </a:solidFill>
                    <a:latin typeface="Malgun Gothic"/>
                    <a:ea typeface="Malgun Gothic"/>
                    <a:cs typeface="Malgun Gothic"/>
                  </a:rPr>
                  <a:t>초기 비용</a:t>
                </a:r>
              </a:p>
            </p:txBody>
          </p:sp>
          <p:sp>
            <p:nvSpPr>
              <p:cNvPr id="18" name="TextBox 18"/>
              <p:cNvSpPr txBox="1"/>
              <p:nvPr/>
            </p:nvSpPr>
            <p:spPr>
              <a:xfrm>
                <a:off x="552450" y="3514725"/>
                <a:ext cx="1061728" cy="304800"/>
              </a:xfrm>
              <a:prstGeom prst="rect">
                <a:avLst/>
              </a:prstGeom>
              <a:noFill/>
              <a:ln>
                <a:noFill/>
              </a:ln>
            </p:spPr>
            <p:txBody>
              <a:bodyPr wrap="none" lIns="0" tIns="0" rIns="0" bIns="0" anchor="t" anchorCtr="0">
                <a:spAutoFit/>
              </a:bodyPr>
              <a:lstStyle/>
              <a:p>
                <a:pPr algn="l"/>
                <a:r>
                  <a:rPr lang="ko-KR" sz="1500" b="1" dirty="0">
                    <a:solidFill>
                      <a:srgbClr val="1A1A1A"/>
                    </a:solidFill>
                    <a:latin typeface="Malgun Gothic"/>
                    <a:ea typeface="Malgun Gothic"/>
                    <a:cs typeface="Malgun Gothic"/>
                  </a:rPr>
                  <a:t>약 12억 원</a:t>
                </a:r>
              </a:p>
            </p:txBody>
          </p:sp>
          <p:sp>
            <p:nvSpPr>
              <p:cNvPr id="19" name="TextBox 19"/>
              <p:cNvSpPr txBox="1"/>
              <p:nvPr/>
            </p:nvSpPr>
            <p:spPr>
              <a:xfrm>
                <a:off x="5296781" y="3571399"/>
                <a:ext cx="430601" cy="198120"/>
              </a:xfrm>
              <a:prstGeom prst="rect">
                <a:avLst/>
              </a:prstGeom>
              <a:noFill/>
              <a:ln>
                <a:noFill/>
              </a:ln>
            </p:spPr>
            <p:txBody>
              <a:bodyPr wrap="none" lIns="0" tIns="0" rIns="0" bIns="0" anchor="t" anchorCtr="0">
                <a:spAutoFit/>
              </a:bodyPr>
              <a:lstStyle/>
              <a:p>
                <a:pPr algn="r"/>
                <a:r>
                  <a:rPr lang="ko-KR" sz="1200" dirty="0">
                    <a:solidFill>
                      <a:srgbClr val="C44536"/>
                    </a:solidFill>
                    <a:latin typeface="Malgun Gothic"/>
                    <a:ea typeface="Malgun Gothic"/>
                    <a:cs typeface="Malgun Gothic"/>
                  </a:rPr>
                  <a:t>▲ 높음</a:t>
                </a:r>
              </a:p>
            </p:txBody>
          </p:sp>
          <p:sp>
            <p:nvSpPr>
              <p:cNvPr id="20" name="TextBox 20"/>
              <p:cNvSpPr txBox="1"/>
              <p:nvPr/>
            </p:nvSpPr>
            <p:spPr>
              <a:xfrm>
                <a:off x="560070" y="3922395"/>
                <a:ext cx="588074" cy="182880"/>
              </a:xfrm>
              <a:prstGeom prst="rect">
                <a:avLst/>
              </a:prstGeom>
              <a:noFill/>
              <a:ln>
                <a:noFill/>
              </a:ln>
            </p:spPr>
            <p:txBody>
              <a:bodyPr wrap="none" lIns="0" tIns="0" rIns="0" bIns="0" anchor="t" anchorCtr="0">
                <a:spAutoFit/>
              </a:bodyPr>
              <a:lstStyle/>
              <a:p>
                <a:pPr algn="l"/>
                <a:r>
                  <a:rPr lang="ko-KR" sz="1200" dirty="0">
                    <a:solidFill>
                      <a:srgbClr val="888880"/>
                    </a:solidFill>
                    <a:latin typeface="Malgun Gothic"/>
                    <a:ea typeface="Malgun Gothic"/>
                    <a:cs typeface="Malgun Gothic"/>
                  </a:rPr>
                  <a:t>개발 기간</a:t>
                </a:r>
              </a:p>
            </p:txBody>
          </p:sp>
          <p:sp>
            <p:nvSpPr>
              <p:cNvPr id="21" name="TextBox 21"/>
              <p:cNvSpPr txBox="1"/>
              <p:nvPr/>
            </p:nvSpPr>
            <p:spPr>
              <a:xfrm>
                <a:off x="552450" y="4086225"/>
                <a:ext cx="1084731" cy="304800"/>
              </a:xfrm>
              <a:prstGeom prst="rect">
                <a:avLst/>
              </a:prstGeom>
              <a:noFill/>
              <a:ln>
                <a:noFill/>
              </a:ln>
            </p:spPr>
            <p:txBody>
              <a:bodyPr wrap="none" lIns="0" tIns="0" rIns="0" bIns="0" anchor="t" anchorCtr="0">
                <a:spAutoFit/>
              </a:bodyPr>
              <a:lstStyle/>
              <a:p>
                <a:pPr algn="l"/>
                <a:r>
                  <a:rPr lang="ko-KR" sz="1500" b="1" dirty="0">
                    <a:solidFill>
                      <a:srgbClr val="1A1A1A"/>
                    </a:solidFill>
                    <a:latin typeface="Malgun Gothic"/>
                    <a:ea typeface="Malgun Gothic"/>
                    <a:cs typeface="Malgun Gothic"/>
                  </a:rPr>
                  <a:t>9 – 12개월</a:t>
                </a:r>
              </a:p>
            </p:txBody>
          </p:sp>
          <p:sp>
            <p:nvSpPr>
              <p:cNvPr id="22" name="TextBox 22"/>
              <p:cNvSpPr txBox="1"/>
              <p:nvPr/>
            </p:nvSpPr>
            <p:spPr>
              <a:xfrm>
                <a:off x="5439180" y="4142899"/>
                <a:ext cx="288203" cy="198120"/>
              </a:xfrm>
              <a:prstGeom prst="rect">
                <a:avLst/>
              </a:prstGeom>
              <a:noFill/>
              <a:ln>
                <a:noFill/>
              </a:ln>
            </p:spPr>
            <p:txBody>
              <a:bodyPr wrap="none" lIns="0" tIns="0" rIns="0" bIns="0" anchor="t" anchorCtr="0">
                <a:spAutoFit/>
              </a:bodyPr>
              <a:lstStyle/>
              <a:p>
                <a:pPr algn="r"/>
                <a:r>
                  <a:rPr lang="ko-KR" sz="1200" dirty="0">
                    <a:solidFill>
                      <a:srgbClr val="C44536"/>
                    </a:solidFill>
                    <a:latin typeface="Malgun Gothic"/>
                    <a:ea typeface="Malgun Gothic"/>
                    <a:cs typeface="Malgun Gothic"/>
                  </a:rPr>
                  <a:t>▲ 긺</a:t>
                </a:r>
              </a:p>
            </p:txBody>
          </p:sp>
          <p:sp>
            <p:nvSpPr>
              <p:cNvPr id="23" name="TextBox 23"/>
              <p:cNvSpPr txBox="1"/>
              <p:nvPr/>
            </p:nvSpPr>
            <p:spPr>
              <a:xfrm>
                <a:off x="560070" y="4493895"/>
                <a:ext cx="417195" cy="182880"/>
              </a:xfrm>
              <a:prstGeom prst="rect">
                <a:avLst/>
              </a:prstGeom>
              <a:noFill/>
              <a:ln>
                <a:noFill/>
              </a:ln>
            </p:spPr>
            <p:txBody>
              <a:bodyPr wrap="none" lIns="0" tIns="0" rIns="0" bIns="0" anchor="t" anchorCtr="0">
                <a:spAutoFit/>
              </a:bodyPr>
              <a:lstStyle/>
              <a:p>
                <a:pPr algn="l"/>
                <a:r>
                  <a:rPr lang="ko-KR" sz="1200" dirty="0">
                    <a:solidFill>
                      <a:srgbClr val="888880"/>
                    </a:solidFill>
                    <a:latin typeface="Malgun Gothic"/>
                    <a:ea typeface="Malgun Gothic"/>
                    <a:cs typeface="Malgun Gothic"/>
                  </a:rPr>
                  <a:t>유연성</a:t>
                </a:r>
              </a:p>
            </p:txBody>
          </p:sp>
          <p:sp>
            <p:nvSpPr>
              <p:cNvPr id="24" name="TextBox 24"/>
              <p:cNvSpPr txBox="1"/>
              <p:nvPr/>
            </p:nvSpPr>
            <p:spPr>
              <a:xfrm>
                <a:off x="552450" y="4657725"/>
                <a:ext cx="2177367" cy="304800"/>
              </a:xfrm>
              <a:prstGeom prst="rect">
                <a:avLst/>
              </a:prstGeom>
              <a:noFill/>
              <a:ln>
                <a:noFill/>
              </a:ln>
            </p:spPr>
            <p:txBody>
              <a:bodyPr wrap="none" lIns="0" tIns="0" rIns="0" bIns="0" anchor="t" anchorCtr="0">
                <a:spAutoFit/>
              </a:bodyPr>
              <a:lstStyle/>
              <a:p>
                <a:pPr algn="l"/>
                <a:r>
                  <a:rPr lang="ko-KR" sz="1500" b="1" dirty="0">
                    <a:solidFill>
                      <a:srgbClr val="1A1A1A"/>
                    </a:solidFill>
                    <a:latin typeface="Malgun Gothic"/>
                    <a:ea typeface="Malgun Gothic"/>
                    <a:cs typeface="Malgun Gothic"/>
                  </a:rPr>
                  <a:t>완전한 커스터마이징</a:t>
                </a:r>
              </a:p>
            </p:txBody>
          </p:sp>
          <p:sp>
            <p:nvSpPr>
              <p:cNvPr id="25" name="TextBox 25"/>
              <p:cNvSpPr txBox="1"/>
              <p:nvPr/>
            </p:nvSpPr>
            <p:spPr>
              <a:xfrm>
                <a:off x="5296781" y="4714399"/>
                <a:ext cx="430601" cy="198120"/>
              </a:xfrm>
              <a:prstGeom prst="rect">
                <a:avLst/>
              </a:prstGeom>
              <a:noFill/>
              <a:ln>
                <a:noFill/>
              </a:ln>
            </p:spPr>
            <p:txBody>
              <a:bodyPr wrap="none" lIns="0" tIns="0" rIns="0" bIns="0" anchor="t" anchorCtr="0">
                <a:spAutoFit/>
              </a:bodyPr>
              <a:lstStyle/>
              <a:p>
                <a:pPr algn="r"/>
                <a:r>
                  <a:rPr lang="ko-KR" sz="1200" dirty="0">
                    <a:solidFill>
                      <a:srgbClr val="2E7D5B"/>
                    </a:solidFill>
                    <a:latin typeface="Malgun Gothic"/>
                    <a:ea typeface="Malgun Gothic"/>
                    <a:cs typeface="Malgun Gothic"/>
                  </a:rPr>
                  <a:t>● 우수</a:t>
                </a:r>
              </a:p>
            </p:txBody>
          </p:sp>
          <p:sp>
            <p:nvSpPr>
              <p:cNvPr id="26" name="TextBox 26"/>
              <p:cNvSpPr txBox="1"/>
              <p:nvPr/>
            </p:nvSpPr>
            <p:spPr>
              <a:xfrm>
                <a:off x="560070" y="5065395"/>
                <a:ext cx="588074" cy="182880"/>
              </a:xfrm>
              <a:prstGeom prst="rect">
                <a:avLst/>
              </a:prstGeom>
              <a:noFill/>
              <a:ln>
                <a:noFill/>
              </a:ln>
            </p:spPr>
            <p:txBody>
              <a:bodyPr wrap="none" lIns="0" tIns="0" rIns="0" bIns="0" anchor="t" anchorCtr="0">
                <a:spAutoFit/>
              </a:bodyPr>
              <a:lstStyle/>
              <a:p>
                <a:pPr algn="l"/>
                <a:r>
                  <a:rPr lang="ko-KR" sz="1200" dirty="0">
                    <a:solidFill>
                      <a:srgbClr val="888880"/>
                    </a:solidFill>
                    <a:latin typeface="Malgun Gothic"/>
                    <a:ea typeface="Malgun Gothic"/>
                    <a:cs typeface="Malgun Gothic"/>
                  </a:rPr>
                  <a:t>운영 부담</a:t>
                </a:r>
              </a:p>
            </p:txBody>
          </p:sp>
          <p:sp>
            <p:nvSpPr>
              <p:cNvPr id="27" name="TextBox 27"/>
              <p:cNvSpPr txBox="1"/>
              <p:nvPr/>
            </p:nvSpPr>
            <p:spPr>
              <a:xfrm>
                <a:off x="552450" y="5229225"/>
                <a:ext cx="1556290" cy="304800"/>
              </a:xfrm>
              <a:prstGeom prst="rect">
                <a:avLst/>
              </a:prstGeom>
              <a:noFill/>
              <a:ln>
                <a:noFill/>
              </a:ln>
            </p:spPr>
            <p:txBody>
              <a:bodyPr wrap="none" lIns="0" tIns="0" rIns="0" bIns="0" anchor="t" anchorCtr="0">
                <a:spAutoFit/>
              </a:bodyPr>
              <a:lstStyle/>
              <a:p>
                <a:pPr algn="l"/>
                <a:r>
                  <a:rPr lang="ko-KR" sz="1500" b="1" dirty="0">
                    <a:solidFill>
                      <a:srgbClr val="1A1A1A"/>
                    </a:solidFill>
                    <a:latin typeface="Malgun Gothic"/>
                    <a:ea typeface="Malgun Gothic"/>
                    <a:cs typeface="Malgun Gothic"/>
                  </a:rPr>
                  <a:t>자체 인력 필요</a:t>
                </a:r>
              </a:p>
            </p:txBody>
          </p:sp>
          <p:sp>
            <p:nvSpPr>
              <p:cNvPr id="28" name="TextBox 28"/>
              <p:cNvSpPr txBox="1"/>
              <p:nvPr/>
            </p:nvSpPr>
            <p:spPr>
              <a:xfrm>
                <a:off x="5439180" y="5285899"/>
                <a:ext cx="288203" cy="198120"/>
              </a:xfrm>
              <a:prstGeom prst="rect">
                <a:avLst/>
              </a:prstGeom>
              <a:noFill/>
              <a:ln>
                <a:noFill/>
              </a:ln>
            </p:spPr>
            <p:txBody>
              <a:bodyPr wrap="none" lIns="0" tIns="0" rIns="0" bIns="0" anchor="t" anchorCtr="0">
                <a:spAutoFit/>
              </a:bodyPr>
              <a:lstStyle/>
              <a:p>
                <a:pPr algn="r"/>
                <a:r>
                  <a:rPr lang="ko-KR" sz="1200" dirty="0">
                    <a:solidFill>
                      <a:srgbClr val="C44536"/>
                    </a:solidFill>
                    <a:latin typeface="Malgun Gothic"/>
                    <a:ea typeface="Malgun Gothic"/>
                    <a:cs typeface="Malgun Gothic"/>
                  </a:rPr>
                  <a:t>▲ 큼</a:t>
                </a:r>
              </a:p>
            </p:txBody>
          </p:sp>
        </p:grpSp>
        <p:sp>
          <p:nvSpPr>
            <p:cNvPr id="30" name="Rectangle 30"/>
            <p:cNvSpPr/>
            <p:nvPr/>
          </p:nvSpPr>
          <p:spPr>
            <a:xfrm>
              <a:off x="571500" y="5676900"/>
              <a:ext cx="5143500" cy="533400"/>
            </a:xfrm>
            <a:prstGeom prst="roundRect">
              <a:avLst>
                <a:gd name="adj" fmla="val 10714"/>
              </a:avLst>
            </a:prstGeom>
            <a:solidFill>
              <a:srgbClr val="F2F2EC"/>
            </a:solidFill>
            <a:ln>
              <a:noFill/>
            </a:ln>
          </p:spPr>
        </p:sp>
        <p:sp>
          <p:nvSpPr>
            <p:cNvPr id="31" name="TextBox 31"/>
            <p:cNvSpPr txBox="1"/>
            <p:nvPr/>
          </p:nvSpPr>
          <p:spPr>
            <a:xfrm>
              <a:off x="712470" y="5808345"/>
              <a:ext cx="657739" cy="182880"/>
            </a:xfrm>
            <a:prstGeom prst="rect">
              <a:avLst/>
            </a:prstGeom>
            <a:noFill/>
            <a:ln>
              <a:noFill/>
            </a:ln>
          </p:spPr>
          <p:txBody>
            <a:bodyPr wrap="none" lIns="0" tIns="0" rIns="0" bIns="0" anchor="t" anchorCtr="0">
              <a:spAutoFit/>
            </a:bodyPr>
            <a:lstStyle/>
            <a:p>
              <a:pPr algn="l"/>
              <a:r>
                <a:rPr lang="ko-KR" sz="1200" b="1" dirty="0">
                  <a:solidFill>
                    <a:srgbClr val="888880"/>
                  </a:solidFill>
                  <a:latin typeface="Malgun Gothic"/>
                  <a:ea typeface="Malgun Gothic"/>
                  <a:cs typeface="Malgun Gothic"/>
                </a:rPr>
                <a:t>한 줄 요약</a:t>
              </a:r>
            </a:p>
          </p:txBody>
        </p:sp>
        <p:sp>
          <p:nvSpPr>
            <p:cNvPr id="32" name="TextBox 32"/>
            <p:cNvSpPr txBox="1"/>
            <p:nvPr/>
          </p:nvSpPr>
          <p:spPr>
            <a:xfrm>
              <a:off x="710565" y="5982652"/>
              <a:ext cx="3216402" cy="213360"/>
            </a:xfrm>
            <a:prstGeom prst="rect">
              <a:avLst/>
            </a:prstGeom>
            <a:noFill/>
            <a:ln>
              <a:noFill/>
            </a:ln>
          </p:spPr>
          <p:txBody>
            <a:bodyPr wrap="none" lIns="0" tIns="0" rIns="0" bIns="0" anchor="t" anchorCtr="0">
              <a:spAutoFit/>
            </a:bodyPr>
            <a:lstStyle/>
            <a:p>
              <a:pPr algn="l"/>
              <a:r>
                <a:rPr lang="ko-KR" sz="1200" dirty="0">
                  <a:solidFill>
                    <a:srgbClr val="1A1A1A"/>
                  </a:solidFill>
                  <a:latin typeface="Malgun Gothic"/>
                  <a:ea typeface="Malgun Gothic"/>
                  <a:cs typeface="Malgun Gothic"/>
                </a:rPr>
                <a:t>차별화는 강하지만 시간과 비용 부담이 큰 선택</a:t>
              </a:r>
            </a:p>
          </p:txBody>
        </p:sp>
      </p:grpSp>
      <p:grpSp>
        <p:nvGrpSpPr>
          <p:cNvPr id="55" name="Group 55"/>
          <p:cNvGrpSpPr/>
          <p:nvPr/>
        </p:nvGrpSpPr>
        <p:grpSpPr>
          <a:xfrm>
            <a:off x="6452235" y="2095500"/>
            <a:ext cx="5180647" cy="4114800"/>
            <a:chOff x="6452235" y="2095500"/>
            <a:chExt cx="5180647" cy="4114800"/>
          </a:xfrm>
        </p:grpSpPr>
        <p:sp>
          <p:nvSpPr>
            <p:cNvPr id="34" name="Rectangle 34"/>
            <p:cNvSpPr/>
            <p:nvPr/>
          </p:nvSpPr>
          <p:spPr>
            <a:xfrm>
              <a:off x="6477000" y="2095500"/>
              <a:ext cx="609600" cy="247650"/>
            </a:xfrm>
            <a:prstGeom prst="roundRect">
              <a:avLst>
                <a:gd name="adj" fmla="val 50000"/>
              </a:avLst>
            </a:prstGeom>
            <a:solidFill>
              <a:srgbClr val="1A7CE0"/>
            </a:solidFill>
            <a:ln>
              <a:noFill/>
            </a:ln>
          </p:spPr>
        </p:sp>
        <p:sp>
          <p:nvSpPr>
            <p:cNvPr id="35" name="TextBox 35"/>
            <p:cNvSpPr txBox="1"/>
            <p:nvPr/>
          </p:nvSpPr>
          <p:spPr>
            <a:xfrm>
              <a:off x="6573695" y="2169795"/>
              <a:ext cx="416209" cy="182880"/>
            </a:xfrm>
            <a:prstGeom prst="rect">
              <a:avLst/>
            </a:prstGeom>
            <a:noFill/>
            <a:ln>
              <a:noFill/>
            </a:ln>
          </p:spPr>
          <p:txBody>
            <a:bodyPr wrap="none" lIns="0" tIns="0" rIns="0" bIns="0" anchor="t" anchorCtr="0">
              <a:spAutoFit/>
            </a:bodyPr>
            <a:lstStyle/>
            <a:p>
              <a:pPr algn="ctr"/>
              <a:r>
                <a:rPr lang="ko-KR" sz="1200" b="1" dirty="0">
                  <a:solidFill>
                    <a:srgbClr val="FFFFFF"/>
                  </a:solidFill>
                  <a:latin typeface="Malgun Gothic"/>
                  <a:ea typeface="Malgun Gothic"/>
                  <a:cs typeface="Malgun Gothic"/>
                </a:rPr>
                <a:t>대안 B</a:t>
              </a:r>
            </a:p>
          </p:txBody>
        </p:sp>
        <p:sp>
          <p:nvSpPr>
            <p:cNvPr id="36" name="TextBox 36"/>
            <p:cNvSpPr txBox="1"/>
            <p:nvPr/>
          </p:nvSpPr>
          <p:spPr>
            <a:xfrm>
              <a:off x="6452235" y="2475548"/>
              <a:ext cx="1634428" cy="396240"/>
            </a:xfrm>
            <a:prstGeom prst="rect">
              <a:avLst/>
            </a:prstGeom>
            <a:noFill/>
            <a:ln>
              <a:noFill/>
            </a:ln>
          </p:spPr>
          <p:txBody>
            <a:bodyPr wrap="none" lIns="0" tIns="0" rIns="0" bIns="0" anchor="t" anchorCtr="0">
              <a:spAutoFit/>
            </a:bodyPr>
            <a:lstStyle/>
            <a:p>
              <a:pPr algn="l"/>
              <a:r>
                <a:rPr lang="ko-KR" sz="1950" b="1" dirty="0">
                  <a:solidFill>
                    <a:srgbClr val="1A1A1A"/>
                  </a:solidFill>
                  <a:latin typeface="Malgun Gothic"/>
                  <a:ea typeface="Malgun Gothic"/>
                  <a:cs typeface="Malgun Gothic"/>
                </a:rPr>
                <a:t>솔루션 도입</a:t>
              </a:r>
            </a:p>
          </p:txBody>
        </p:sp>
        <p:sp>
          <p:nvSpPr>
            <p:cNvPr id="37" name="TextBox 37"/>
            <p:cNvSpPr txBox="1"/>
            <p:nvPr/>
          </p:nvSpPr>
          <p:spPr>
            <a:xfrm>
              <a:off x="6462712" y="2812256"/>
              <a:ext cx="2690336" cy="228600"/>
            </a:xfrm>
            <a:prstGeom prst="rect">
              <a:avLst/>
            </a:prstGeom>
            <a:noFill/>
            <a:ln>
              <a:noFill/>
            </a:ln>
          </p:spPr>
          <p:txBody>
            <a:bodyPr wrap="none" lIns="0" tIns="0" rIns="0" bIns="0" anchor="t" anchorCtr="0">
              <a:spAutoFit/>
            </a:bodyPr>
            <a:lstStyle/>
            <a:p>
              <a:pPr algn="l"/>
              <a:r>
                <a:rPr lang="ko-KR" sz="1200" dirty="0">
                  <a:solidFill>
                    <a:srgbClr val="666660"/>
                  </a:solidFill>
                  <a:latin typeface="Malgun Gothic"/>
                  <a:ea typeface="Malgun Gothic"/>
                  <a:cs typeface="Malgun Gothic"/>
                </a:rPr>
                <a:t>검증된 외부 플랫폼을 도입하여 활용</a:t>
              </a:r>
            </a:p>
          </p:txBody>
        </p:sp>
        <p:sp>
          <p:nvSpPr>
            <p:cNvPr id="38" name="Line 38"/>
            <p:cNvSpPr/>
            <p:nvPr/>
          </p:nvSpPr>
          <p:spPr>
            <a:xfrm>
              <a:off x="6477000" y="3162300"/>
              <a:ext cx="5143500" cy="9525"/>
            </a:xfrm>
            <a:custGeom>
              <a:avLst/>
              <a:gdLst/>
              <a:ahLst/>
              <a:cxnLst/>
              <a:rect l="l" t="t" r="r" b="b"/>
              <a:pathLst>
                <a:path w="5143500" h="9525">
                  <a:moveTo>
                    <a:pt x="0" y="0"/>
                  </a:moveTo>
                  <a:lnTo>
                    <a:pt x="5143500" y="0"/>
                  </a:lnTo>
                </a:path>
              </a:pathLst>
            </a:custGeom>
            <a:noFill/>
            <a:ln w="9525">
              <a:solidFill>
                <a:srgbClr val="E5E5E0"/>
              </a:solidFill>
            </a:ln>
          </p:spPr>
        </p:sp>
        <p:grpSp>
          <p:nvGrpSpPr>
            <p:cNvPr id="51" name="Group 51"/>
            <p:cNvGrpSpPr/>
            <p:nvPr/>
          </p:nvGrpSpPr>
          <p:grpSpPr>
            <a:xfrm>
              <a:off x="6457950" y="3350895"/>
              <a:ext cx="5174932" cy="2183130"/>
              <a:chOff x="6457950" y="3350895"/>
              <a:chExt cx="5174932" cy="2183130"/>
            </a:xfrm>
          </p:grpSpPr>
          <p:sp>
            <p:nvSpPr>
              <p:cNvPr id="39" name="TextBox 39"/>
              <p:cNvSpPr txBox="1"/>
              <p:nvPr/>
            </p:nvSpPr>
            <p:spPr>
              <a:xfrm>
                <a:off x="6465570" y="3350895"/>
                <a:ext cx="588074" cy="182880"/>
              </a:xfrm>
              <a:prstGeom prst="rect">
                <a:avLst/>
              </a:prstGeom>
              <a:noFill/>
              <a:ln>
                <a:noFill/>
              </a:ln>
            </p:spPr>
            <p:txBody>
              <a:bodyPr wrap="none" lIns="0" tIns="0" rIns="0" bIns="0" anchor="t" anchorCtr="0">
                <a:spAutoFit/>
              </a:bodyPr>
              <a:lstStyle/>
              <a:p>
                <a:pPr algn="l"/>
                <a:r>
                  <a:rPr lang="ko-KR" sz="1200" dirty="0">
                    <a:solidFill>
                      <a:srgbClr val="888880"/>
                    </a:solidFill>
                    <a:latin typeface="Malgun Gothic"/>
                    <a:ea typeface="Malgun Gothic"/>
                    <a:cs typeface="Malgun Gothic"/>
                  </a:rPr>
                  <a:t>초기 비용</a:t>
                </a:r>
              </a:p>
            </p:txBody>
          </p:sp>
          <p:sp>
            <p:nvSpPr>
              <p:cNvPr id="40" name="TextBox 40"/>
              <p:cNvSpPr txBox="1"/>
              <p:nvPr/>
            </p:nvSpPr>
            <p:spPr>
              <a:xfrm>
                <a:off x="6457950" y="3514725"/>
                <a:ext cx="992719" cy="304800"/>
              </a:xfrm>
              <a:prstGeom prst="rect">
                <a:avLst/>
              </a:prstGeom>
              <a:noFill/>
              <a:ln>
                <a:noFill/>
              </a:ln>
            </p:spPr>
            <p:txBody>
              <a:bodyPr wrap="none" lIns="0" tIns="0" rIns="0" bIns="0" anchor="t" anchorCtr="0">
                <a:spAutoFit/>
              </a:bodyPr>
              <a:lstStyle/>
              <a:p>
                <a:pPr algn="l"/>
                <a:r>
                  <a:rPr lang="ko-KR" sz="1500" b="1" dirty="0">
                    <a:solidFill>
                      <a:srgbClr val="1A1A1A"/>
                    </a:solidFill>
                    <a:latin typeface="Malgun Gothic"/>
                    <a:ea typeface="Malgun Gothic"/>
                    <a:cs typeface="Malgun Gothic"/>
                  </a:rPr>
                  <a:t>약 3억 원</a:t>
                </a:r>
              </a:p>
            </p:txBody>
          </p:sp>
          <p:sp>
            <p:nvSpPr>
              <p:cNvPr id="41" name="TextBox 41"/>
              <p:cNvSpPr txBox="1"/>
              <p:nvPr/>
            </p:nvSpPr>
            <p:spPr>
              <a:xfrm>
                <a:off x="11202281" y="3571399"/>
                <a:ext cx="430601" cy="198120"/>
              </a:xfrm>
              <a:prstGeom prst="rect">
                <a:avLst/>
              </a:prstGeom>
              <a:noFill/>
              <a:ln>
                <a:noFill/>
              </a:ln>
            </p:spPr>
            <p:txBody>
              <a:bodyPr wrap="none" lIns="0" tIns="0" rIns="0" bIns="0" anchor="t" anchorCtr="0">
                <a:spAutoFit/>
              </a:bodyPr>
              <a:lstStyle/>
              <a:p>
                <a:pPr algn="r"/>
                <a:r>
                  <a:rPr lang="ko-KR" sz="1200" dirty="0">
                    <a:solidFill>
                      <a:srgbClr val="2E7D5B"/>
                    </a:solidFill>
                    <a:latin typeface="Malgun Gothic"/>
                    <a:ea typeface="Malgun Gothic"/>
                    <a:cs typeface="Malgun Gothic"/>
                  </a:rPr>
                  <a:t>● 낮음</a:t>
                </a:r>
              </a:p>
            </p:txBody>
          </p:sp>
          <p:sp>
            <p:nvSpPr>
              <p:cNvPr id="42" name="TextBox 42"/>
              <p:cNvSpPr txBox="1"/>
              <p:nvPr/>
            </p:nvSpPr>
            <p:spPr>
              <a:xfrm>
                <a:off x="6465570" y="3922395"/>
                <a:ext cx="588074" cy="182880"/>
              </a:xfrm>
              <a:prstGeom prst="rect">
                <a:avLst/>
              </a:prstGeom>
              <a:noFill/>
              <a:ln>
                <a:noFill/>
              </a:ln>
            </p:spPr>
            <p:txBody>
              <a:bodyPr wrap="none" lIns="0" tIns="0" rIns="0" bIns="0" anchor="t" anchorCtr="0">
                <a:spAutoFit/>
              </a:bodyPr>
              <a:lstStyle/>
              <a:p>
                <a:pPr algn="l"/>
                <a:r>
                  <a:rPr lang="ko-KR" sz="1200" dirty="0">
                    <a:solidFill>
                      <a:srgbClr val="888880"/>
                    </a:solidFill>
                    <a:latin typeface="Malgun Gothic"/>
                    <a:ea typeface="Malgun Gothic"/>
                    <a:cs typeface="Malgun Gothic"/>
                  </a:rPr>
                  <a:t>개발 기간</a:t>
                </a:r>
              </a:p>
            </p:txBody>
          </p:sp>
          <p:sp>
            <p:nvSpPr>
              <p:cNvPr id="43" name="TextBox 43"/>
              <p:cNvSpPr txBox="1"/>
              <p:nvPr/>
            </p:nvSpPr>
            <p:spPr>
              <a:xfrm>
                <a:off x="6457950" y="4086225"/>
                <a:ext cx="785693" cy="304800"/>
              </a:xfrm>
              <a:prstGeom prst="rect">
                <a:avLst/>
              </a:prstGeom>
              <a:noFill/>
              <a:ln>
                <a:noFill/>
              </a:ln>
            </p:spPr>
            <p:txBody>
              <a:bodyPr wrap="none" lIns="0" tIns="0" rIns="0" bIns="0" anchor="t" anchorCtr="0">
                <a:spAutoFit/>
              </a:bodyPr>
              <a:lstStyle/>
              <a:p>
                <a:pPr algn="l"/>
                <a:r>
                  <a:rPr lang="ko-KR" sz="1500" b="1" dirty="0">
                    <a:solidFill>
                      <a:srgbClr val="1A1A1A"/>
                    </a:solidFill>
                    <a:latin typeface="Malgun Gothic"/>
                    <a:ea typeface="Malgun Gothic"/>
                    <a:cs typeface="Malgun Gothic"/>
                  </a:rPr>
                  <a:t>6 – 8주</a:t>
                </a:r>
              </a:p>
            </p:txBody>
          </p:sp>
          <p:sp>
            <p:nvSpPr>
              <p:cNvPr id="44" name="TextBox 44"/>
              <p:cNvSpPr txBox="1"/>
              <p:nvPr/>
            </p:nvSpPr>
            <p:spPr>
              <a:xfrm>
                <a:off x="11202281" y="4142899"/>
                <a:ext cx="430601" cy="198120"/>
              </a:xfrm>
              <a:prstGeom prst="rect">
                <a:avLst/>
              </a:prstGeom>
              <a:noFill/>
              <a:ln>
                <a:noFill/>
              </a:ln>
            </p:spPr>
            <p:txBody>
              <a:bodyPr wrap="none" lIns="0" tIns="0" rIns="0" bIns="0" anchor="t" anchorCtr="0">
                <a:spAutoFit/>
              </a:bodyPr>
              <a:lstStyle/>
              <a:p>
                <a:pPr algn="r"/>
                <a:r>
                  <a:rPr lang="ko-KR" sz="1200" dirty="0">
                    <a:solidFill>
                      <a:srgbClr val="2E7D5B"/>
                    </a:solidFill>
                    <a:latin typeface="Malgun Gothic"/>
                    <a:ea typeface="Malgun Gothic"/>
                    <a:cs typeface="Malgun Gothic"/>
                  </a:rPr>
                  <a:t>● 짧음</a:t>
                </a:r>
              </a:p>
            </p:txBody>
          </p:sp>
          <p:sp>
            <p:nvSpPr>
              <p:cNvPr id="45" name="TextBox 45"/>
              <p:cNvSpPr txBox="1"/>
              <p:nvPr/>
            </p:nvSpPr>
            <p:spPr>
              <a:xfrm>
                <a:off x="6465570" y="4493895"/>
                <a:ext cx="417195" cy="182880"/>
              </a:xfrm>
              <a:prstGeom prst="rect">
                <a:avLst/>
              </a:prstGeom>
              <a:noFill/>
              <a:ln>
                <a:noFill/>
              </a:ln>
            </p:spPr>
            <p:txBody>
              <a:bodyPr wrap="none" lIns="0" tIns="0" rIns="0" bIns="0" anchor="t" anchorCtr="0">
                <a:spAutoFit/>
              </a:bodyPr>
              <a:lstStyle/>
              <a:p>
                <a:pPr algn="l"/>
                <a:r>
                  <a:rPr lang="ko-KR" sz="1200" dirty="0">
                    <a:solidFill>
                      <a:srgbClr val="888880"/>
                    </a:solidFill>
                    <a:latin typeface="Malgun Gothic"/>
                    <a:ea typeface="Malgun Gothic"/>
                    <a:cs typeface="Malgun Gothic"/>
                  </a:rPr>
                  <a:t>유연성</a:t>
                </a:r>
              </a:p>
            </p:txBody>
          </p:sp>
          <p:sp>
            <p:nvSpPr>
              <p:cNvPr id="46" name="TextBox 46"/>
              <p:cNvSpPr txBox="1"/>
              <p:nvPr/>
            </p:nvSpPr>
            <p:spPr>
              <a:xfrm>
                <a:off x="6457950" y="4657725"/>
                <a:ext cx="1855327" cy="304800"/>
              </a:xfrm>
              <a:prstGeom prst="rect">
                <a:avLst/>
              </a:prstGeom>
              <a:noFill/>
              <a:ln>
                <a:noFill/>
              </a:ln>
            </p:spPr>
            <p:txBody>
              <a:bodyPr wrap="none" lIns="0" tIns="0" rIns="0" bIns="0" anchor="t" anchorCtr="0">
                <a:spAutoFit/>
              </a:bodyPr>
              <a:lstStyle/>
              <a:p>
                <a:pPr algn="l"/>
                <a:r>
                  <a:rPr lang="ko-KR" sz="1500" b="1" dirty="0">
                    <a:solidFill>
                      <a:srgbClr val="1A1A1A"/>
                    </a:solidFill>
                    <a:latin typeface="Malgun Gothic"/>
                    <a:ea typeface="Malgun Gothic"/>
                    <a:cs typeface="Malgun Gothic"/>
                  </a:rPr>
                  <a:t>설정 범위 내 조정</a:t>
                </a:r>
              </a:p>
            </p:txBody>
          </p:sp>
          <p:sp>
            <p:nvSpPr>
              <p:cNvPr id="47" name="TextBox 47"/>
              <p:cNvSpPr txBox="1"/>
              <p:nvPr/>
            </p:nvSpPr>
            <p:spPr>
              <a:xfrm>
                <a:off x="11202281" y="4714399"/>
                <a:ext cx="430601" cy="198120"/>
              </a:xfrm>
              <a:prstGeom prst="rect">
                <a:avLst/>
              </a:prstGeom>
              <a:noFill/>
              <a:ln>
                <a:noFill/>
              </a:ln>
            </p:spPr>
            <p:txBody>
              <a:bodyPr wrap="none" lIns="0" tIns="0" rIns="0" bIns="0" anchor="t" anchorCtr="0">
                <a:spAutoFit/>
              </a:bodyPr>
              <a:lstStyle/>
              <a:p>
                <a:pPr algn="r"/>
                <a:r>
                  <a:rPr lang="ko-KR" sz="1200" dirty="0">
                    <a:solidFill>
                      <a:srgbClr val="D89A2E"/>
                    </a:solidFill>
                    <a:latin typeface="Malgun Gothic"/>
                    <a:ea typeface="Malgun Gothic"/>
                    <a:cs typeface="Malgun Gothic"/>
                  </a:rPr>
                  <a:t>◆ 보통</a:t>
                </a:r>
              </a:p>
            </p:txBody>
          </p:sp>
          <p:sp>
            <p:nvSpPr>
              <p:cNvPr id="48" name="TextBox 48"/>
              <p:cNvSpPr txBox="1"/>
              <p:nvPr/>
            </p:nvSpPr>
            <p:spPr>
              <a:xfrm>
                <a:off x="6465570" y="5065395"/>
                <a:ext cx="588074" cy="182880"/>
              </a:xfrm>
              <a:prstGeom prst="rect">
                <a:avLst/>
              </a:prstGeom>
              <a:noFill/>
              <a:ln>
                <a:noFill/>
              </a:ln>
            </p:spPr>
            <p:txBody>
              <a:bodyPr wrap="none" lIns="0" tIns="0" rIns="0" bIns="0" anchor="t" anchorCtr="0">
                <a:spAutoFit/>
              </a:bodyPr>
              <a:lstStyle/>
              <a:p>
                <a:pPr algn="l"/>
                <a:r>
                  <a:rPr lang="ko-KR" sz="1200" dirty="0">
                    <a:solidFill>
                      <a:srgbClr val="888880"/>
                    </a:solidFill>
                    <a:latin typeface="Malgun Gothic"/>
                    <a:ea typeface="Malgun Gothic"/>
                    <a:cs typeface="Malgun Gothic"/>
                  </a:rPr>
                  <a:t>운영 부담</a:t>
                </a:r>
              </a:p>
            </p:txBody>
          </p:sp>
          <p:sp>
            <p:nvSpPr>
              <p:cNvPr id="49" name="TextBox 49"/>
              <p:cNvSpPr txBox="1"/>
              <p:nvPr/>
            </p:nvSpPr>
            <p:spPr>
              <a:xfrm>
                <a:off x="6457950" y="5229225"/>
                <a:ext cx="1556290" cy="304800"/>
              </a:xfrm>
              <a:prstGeom prst="rect">
                <a:avLst/>
              </a:prstGeom>
              <a:noFill/>
              <a:ln>
                <a:noFill/>
              </a:ln>
            </p:spPr>
            <p:txBody>
              <a:bodyPr wrap="none" lIns="0" tIns="0" rIns="0" bIns="0" anchor="t" anchorCtr="0">
                <a:spAutoFit/>
              </a:bodyPr>
              <a:lstStyle/>
              <a:p>
                <a:pPr algn="l"/>
                <a:r>
                  <a:rPr lang="ko-KR" sz="1500" b="1" dirty="0">
                    <a:solidFill>
                      <a:srgbClr val="1A1A1A"/>
                    </a:solidFill>
                    <a:latin typeface="Malgun Gothic"/>
                    <a:ea typeface="Malgun Gothic"/>
                    <a:cs typeface="Malgun Gothic"/>
                  </a:rPr>
                  <a:t>벤더 지원 포함</a:t>
                </a:r>
              </a:p>
            </p:txBody>
          </p:sp>
          <p:sp>
            <p:nvSpPr>
              <p:cNvPr id="50" name="TextBox 50"/>
              <p:cNvSpPr txBox="1"/>
              <p:nvPr/>
            </p:nvSpPr>
            <p:spPr>
              <a:xfrm>
                <a:off x="11202281" y="5285899"/>
                <a:ext cx="430601" cy="198120"/>
              </a:xfrm>
              <a:prstGeom prst="rect">
                <a:avLst/>
              </a:prstGeom>
              <a:noFill/>
              <a:ln>
                <a:noFill/>
              </a:ln>
            </p:spPr>
            <p:txBody>
              <a:bodyPr wrap="none" lIns="0" tIns="0" rIns="0" bIns="0" anchor="t" anchorCtr="0">
                <a:spAutoFit/>
              </a:bodyPr>
              <a:lstStyle/>
              <a:p>
                <a:pPr algn="r"/>
                <a:r>
                  <a:rPr lang="ko-KR" sz="1200" dirty="0">
                    <a:solidFill>
                      <a:srgbClr val="2E7D5B"/>
                    </a:solidFill>
                    <a:latin typeface="Malgun Gothic"/>
                    <a:ea typeface="Malgun Gothic"/>
                    <a:cs typeface="Malgun Gothic"/>
                  </a:rPr>
                  <a:t>● 작음</a:t>
                </a:r>
              </a:p>
            </p:txBody>
          </p:sp>
        </p:grpSp>
        <p:sp>
          <p:nvSpPr>
            <p:cNvPr id="52" name="Rectangle 52"/>
            <p:cNvSpPr/>
            <p:nvPr/>
          </p:nvSpPr>
          <p:spPr>
            <a:xfrm>
              <a:off x="6477000" y="5676900"/>
              <a:ext cx="5143500" cy="533400"/>
            </a:xfrm>
            <a:prstGeom prst="roundRect">
              <a:avLst>
                <a:gd name="adj" fmla="val 10714"/>
              </a:avLst>
            </a:prstGeom>
            <a:solidFill>
              <a:srgbClr val="1A7CE0"/>
            </a:solidFill>
            <a:ln>
              <a:noFill/>
            </a:ln>
          </p:spPr>
        </p:sp>
        <p:sp>
          <p:nvSpPr>
            <p:cNvPr id="53" name="TextBox 53"/>
            <p:cNvSpPr txBox="1"/>
            <p:nvPr/>
          </p:nvSpPr>
          <p:spPr>
            <a:xfrm>
              <a:off x="6617970" y="5808345"/>
              <a:ext cx="657739" cy="182880"/>
            </a:xfrm>
            <a:prstGeom prst="rect">
              <a:avLst/>
            </a:prstGeom>
            <a:noFill/>
            <a:ln>
              <a:noFill/>
            </a:ln>
          </p:spPr>
          <p:txBody>
            <a:bodyPr wrap="none" lIns="0" tIns="0" rIns="0" bIns="0" anchor="t" anchorCtr="0">
              <a:spAutoFit/>
            </a:bodyPr>
            <a:lstStyle/>
            <a:p>
              <a:pPr algn="l"/>
              <a:r>
                <a:rPr lang="ko-KR" sz="1200" b="1" dirty="0">
                  <a:solidFill>
                    <a:srgbClr val="A8CCF0"/>
                  </a:solidFill>
                  <a:latin typeface="Malgun Gothic"/>
                  <a:ea typeface="Malgun Gothic"/>
                  <a:cs typeface="Malgun Gothic"/>
                </a:rPr>
                <a:t>한 줄 요약</a:t>
              </a:r>
            </a:p>
          </p:txBody>
        </p:sp>
        <p:sp>
          <p:nvSpPr>
            <p:cNvPr id="54" name="TextBox 54"/>
            <p:cNvSpPr txBox="1"/>
            <p:nvPr/>
          </p:nvSpPr>
          <p:spPr>
            <a:xfrm>
              <a:off x="6616065" y="5982652"/>
              <a:ext cx="3607451" cy="213360"/>
            </a:xfrm>
            <a:prstGeom prst="rect">
              <a:avLst/>
            </a:prstGeom>
            <a:noFill/>
            <a:ln>
              <a:noFill/>
            </a:ln>
          </p:spPr>
          <p:txBody>
            <a:bodyPr wrap="none" lIns="0" tIns="0" rIns="0" bIns="0" anchor="t" anchorCtr="0">
              <a:spAutoFit/>
            </a:bodyPr>
            <a:lstStyle/>
            <a:p>
              <a:pPr algn="l"/>
              <a:r>
                <a:rPr lang="ko-KR" sz="1200" dirty="0">
                  <a:solidFill>
                    <a:srgbClr val="FFFFFF"/>
                  </a:solidFill>
                  <a:latin typeface="Malgun Gothic"/>
                  <a:ea typeface="Malgun Gothic"/>
                  <a:cs typeface="Malgun Gothic"/>
                </a:rPr>
                <a:t>속도와 비용에서 유리하며, 빠른 검증에 적합한 선택</a:t>
              </a:r>
            </a:p>
          </p:txBody>
        </p:sp>
      </p:grpSp>
      <p:sp>
        <p:nvSpPr>
          <p:cNvPr id="56" name="TextBox 56"/>
          <p:cNvSpPr txBox="1"/>
          <p:nvPr/>
        </p:nvSpPr>
        <p:spPr>
          <a:xfrm>
            <a:off x="560070" y="6475095"/>
            <a:ext cx="2908078" cy="182880"/>
          </a:xfrm>
          <a:prstGeom prst="rect">
            <a:avLst/>
          </a:prstGeom>
          <a:noFill/>
          <a:ln>
            <a:noFill/>
          </a:ln>
        </p:spPr>
        <p:txBody>
          <a:bodyPr wrap="none" lIns="0" tIns="0" rIns="0" bIns="0" anchor="t" anchorCtr="0">
            <a:spAutoFit/>
          </a:bodyPr>
          <a:lstStyle/>
          <a:p>
            <a:pPr algn="l"/>
            <a:r>
              <a:rPr lang="ko-KR" sz="1200" dirty="0">
                <a:solidFill>
                  <a:srgbClr val="AAAAA0"/>
                </a:solidFill>
                <a:latin typeface="Malgun Gothic"/>
                <a:ea typeface="Malgun Gothic"/>
                <a:cs typeface="Malgun Gothic"/>
              </a:rPr>
              <a:t>동등 가중치 비교 · 자세한 평가 기준은 부록 참조</a:t>
            </a:r>
          </a:p>
        </p:txBody>
      </p:sp>
      <p:sp>
        <p:nvSpPr>
          <p:cNvPr id="57" name="TextBox 57"/>
          <p:cNvSpPr txBox="1"/>
          <p:nvPr/>
        </p:nvSpPr>
        <p:spPr>
          <a:xfrm>
            <a:off x="11464480" y="6475095"/>
            <a:ext cx="167449" cy="182880"/>
          </a:xfrm>
          <a:prstGeom prst="rect">
            <a:avLst/>
          </a:prstGeom>
          <a:noFill/>
          <a:ln>
            <a:noFill/>
          </a:ln>
        </p:spPr>
        <p:txBody>
          <a:bodyPr wrap="none" lIns="0" tIns="0" rIns="0" bIns="0" anchor="t" anchorCtr="0">
            <a:spAutoFit/>
          </a:bodyPr>
          <a:lstStyle/>
          <a:p>
            <a:pPr algn="r"/>
            <a:r>
              <a:rPr lang="en-US" sz="1200" dirty="0">
                <a:solidFill>
                  <a:srgbClr val="AAAAA0"/>
                </a:solidFill>
                <a:latin typeface="Malgun Gothic"/>
                <a:ea typeface="Malgun Gothic"/>
                <a:cs typeface="Malgun Gothic"/>
              </a:rPr>
              <a:t>03</a:t>
            </a:r>
          </a:p>
        </p:txBody>
      </p:sp>
    </p:spTree>
  </p:cSld>
  <p:clrMapOvr>
    <a:masterClrMapping/>
  </p:clrMapOvr>
  <p:transition xmlns:p14="http://schemas.microsoft.com/office/powerpoint/2010/main" p14:dur="5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6858000"/>
          </a:xfrm>
          <a:prstGeom prst="rect">
            <a:avLst/>
          </a:prstGeom>
          <a:solidFill>
            <a:srgbClr val="0F1424">
              <a:alpha val="40000"/>
            </a:srgbClr>
          </a:solidFill>
          <a:ln>
            <a:noFill/>
          </a:ln>
        </p:spPr>
      </p:sp>
      <p:sp>
        <p:nvSpPr>
          <p:cNvPr id="4" name="Rectangle 4"/>
          <p:cNvSpPr/>
          <p:nvPr/>
        </p:nvSpPr>
        <p:spPr>
          <a:xfrm>
            <a:off x="762000" y="762000"/>
            <a:ext cx="571500" cy="38100"/>
          </a:xfrm>
          <a:prstGeom prst="rect">
            <a:avLst/>
          </a:prstGeom>
          <a:solidFill>
            <a:srgbClr val="00E5FF"/>
          </a:solidFill>
          <a:ln>
            <a:noFill/>
          </a:ln>
        </p:spPr>
      </p:sp>
      <p:sp>
        <p:nvSpPr>
          <p:cNvPr id="5" name="TextBox 5"/>
          <p:cNvSpPr txBox="1"/>
          <p:nvPr/>
        </p:nvSpPr>
        <p:spPr>
          <a:xfrm>
            <a:off x="748665" y="1029652"/>
            <a:ext cx="1506522" cy="213360"/>
          </a:xfrm>
          <a:prstGeom prst="rect">
            <a:avLst/>
          </a:prstGeom>
          <a:noFill/>
          <a:ln>
            <a:noFill/>
          </a:ln>
        </p:spPr>
        <p:txBody>
          <a:bodyPr wrap="none" lIns="0" tIns="0" rIns="0" bIns="0" anchor="t" anchorCtr="0">
            <a:spAutoFit/>
          </a:bodyPr>
          <a:lstStyle/>
          <a:p>
            <a:pPr algn="l"/>
            <a:r>
              <a:rPr lang="en-US" sz="1200" dirty="0">
                <a:solidFill>
                  <a:srgbClr val="8A92A8"/>
                </a:solidFill>
                <a:latin typeface="Malgun Gothic"/>
                <a:ea typeface="Malgun Gothic"/>
                <a:cs typeface="Malgun Gothic"/>
              </a:rPr>
              <a:t>CHAPTER 04 · ACTION</a:t>
            </a:r>
          </a:p>
        </p:txBody>
      </p:sp>
      <p:sp>
        <p:nvSpPr>
          <p:cNvPr id="6" name="TextBox 6"/>
          <p:cNvSpPr txBox="1"/>
          <p:nvPr/>
        </p:nvSpPr>
        <p:spPr>
          <a:xfrm>
            <a:off x="720090" y="1358265"/>
            <a:ext cx="3575656" cy="670560"/>
          </a:xfrm>
          <a:prstGeom prst="rect">
            <a:avLst/>
          </a:prstGeom>
          <a:noFill/>
          <a:ln>
            <a:noFill/>
          </a:ln>
        </p:spPr>
        <p:txBody>
          <a:bodyPr wrap="none" lIns="0" tIns="0" rIns="0" bIns="0" anchor="t" anchorCtr="0">
            <a:spAutoFit/>
          </a:bodyPr>
          <a:lstStyle/>
          <a:p>
            <a:pPr algn="l"/>
            <a:r>
              <a:rPr lang="ko-KR" sz="3300" b="1" dirty="0">
                <a:solidFill>
                  <a:srgbClr val="FFFFFF"/>
                </a:solidFill>
                <a:latin typeface="Malgun Gothic"/>
                <a:ea typeface="Malgun Gothic"/>
                <a:cs typeface="Malgun Gothic"/>
              </a:rPr>
              <a:t>지금 해야 할 것</a:t>
            </a:r>
          </a:p>
        </p:txBody>
      </p:sp>
      <p:sp>
        <p:nvSpPr>
          <p:cNvPr id="7" name="TextBox 7"/>
          <p:cNvSpPr txBox="1"/>
          <p:nvPr/>
        </p:nvSpPr>
        <p:spPr>
          <a:xfrm>
            <a:off x="744855" y="1949768"/>
            <a:ext cx="4746593" cy="274320"/>
          </a:xfrm>
          <a:prstGeom prst="rect">
            <a:avLst/>
          </a:prstGeom>
          <a:noFill/>
          <a:ln>
            <a:noFill/>
          </a:ln>
        </p:spPr>
        <p:txBody>
          <a:bodyPr wrap="none" lIns="0" tIns="0" rIns="0" bIns="0" anchor="t" anchorCtr="0">
            <a:spAutoFit/>
          </a:bodyPr>
          <a:lstStyle/>
          <a:p>
            <a:pPr algn="l"/>
            <a:r>
              <a:rPr lang="ko-KR" sz="1350" dirty="0">
                <a:solidFill>
                  <a:srgbClr val="8A92A8"/>
                </a:solidFill>
                <a:latin typeface="Malgun Gothic"/>
                <a:ea typeface="Malgun Gothic"/>
                <a:cs typeface="Malgun Gothic"/>
              </a:rPr>
              <a:t>생각만 하지 말고, 오늘부터 이 순서대로 실행하세요.</a:t>
            </a:r>
          </a:p>
        </p:txBody>
      </p:sp>
      <p:sp>
        <p:nvSpPr>
          <p:cNvPr id="8" name="Line 8"/>
          <p:cNvSpPr/>
          <p:nvPr/>
        </p:nvSpPr>
        <p:spPr>
          <a:xfrm>
            <a:off x="762000" y="2476500"/>
            <a:ext cx="10668000" cy="9525"/>
          </a:xfrm>
          <a:custGeom>
            <a:avLst/>
            <a:gdLst/>
            <a:ahLst/>
            <a:cxnLst/>
            <a:rect l="l" t="t" r="r" b="b"/>
            <a:pathLst>
              <a:path w="10668000" h="9525">
                <a:moveTo>
                  <a:pt x="0" y="0"/>
                </a:moveTo>
                <a:lnTo>
                  <a:pt x="10668000" y="0"/>
                </a:lnTo>
              </a:path>
            </a:pathLst>
          </a:custGeom>
          <a:noFill/>
          <a:ln w="9525">
            <a:solidFill>
              <a:srgbClr val="1E2538"/>
            </a:solidFill>
          </a:ln>
        </p:spPr>
      </p:sp>
      <p:grpSp>
        <p:nvGrpSpPr>
          <p:cNvPr id="14" name="Group 14"/>
          <p:cNvGrpSpPr/>
          <p:nvPr/>
        </p:nvGrpSpPr>
        <p:grpSpPr>
          <a:xfrm>
            <a:off x="923925" y="2924175"/>
            <a:ext cx="5222914" cy="850106"/>
            <a:chOff x="923925" y="2924175"/>
            <a:chExt cx="5222914" cy="850106"/>
          </a:xfrm>
        </p:grpSpPr>
        <p:sp>
          <p:nvSpPr>
            <p:cNvPr id="9" name="Ellipse 9"/>
            <p:cNvSpPr/>
            <p:nvPr/>
          </p:nvSpPr>
          <p:spPr>
            <a:xfrm>
              <a:off x="923925" y="2924175"/>
              <a:ext cx="723900" cy="723900"/>
            </a:xfrm>
            <a:prstGeom prst="ellipse">
              <a:avLst/>
            </a:prstGeom>
            <a:noFill/>
            <a:ln w="19050">
              <a:solidFill>
                <a:srgbClr val="00E5FF"/>
              </a:solidFill>
            </a:ln>
          </p:spPr>
        </p:sp>
        <p:sp>
          <p:nvSpPr>
            <p:cNvPr id="10" name="TextBox 10"/>
            <p:cNvSpPr txBox="1"/>
            <p:nvPr/>
          </p:nvSpPr>
          <p:spPr>
            <a:xfrm>
              <a:off x="1098975" y="3150870"/>
              <a:ext cx="373799" cy="487680"/>
            </a:xfrm>
            <a:prstGeom prst="rect">
              <a:avLst/>
            </a:prstGeom>
            <a:noFill/>
            <a:ln>
              <a:noFill/>
            </a:ln>
          </p:spPr>
          <p:txBody>
            <a:bodyPr wrap="none" lIns="0" tIns="0" rIns="0" bIns="0" anchor="t" anchorCtr="0">
              <a:spAutoFit/>
            </a:bodyPr>
            <a:lstStyle/>
            <a:p>
              <a:pPr algn="ctr"/>
              <a:r>
                <a:rPr lang="en-US" sz="2400" b="1" dirty="0">
                  <a:solidFill>
                    <a:srgbClr val="00E5FF"/>
                  </a:solidFill>
                  <a:latin typeface="Malgun Gothic"/>
                  <a:ea typeface="Malgun Gothic"/>
                  <a:cs typeface="Malgun Gothic"/>
                </a:rPr>
                <a:t>01</a:t>
              </a:r>
            </a:p>
          </p:txBody>
        </p:sp>
        <p:sp>
          <p:nvSpPr>
            <p:cNvPr id="11" name="TextBox 11"/>
            <p:cNvSpPr txBox="1"/>
            <p:nvPr/>
          </p:nvSpPr>
          <p:spPr>
            <a:xfrm>
              <a:off x="1979295" y="3012758"/>
              <a:ext cx="3597004" cy="335280"/>
            </a:xfrm>
            <a:prstGeom prst="rect">
              <a:avLst/>
            </a:prstGeom>
            <a:noFill/>
            <a:ln>
              <a:noFill/>
            </a:ln>
          </p:spPr>
          <p:txBody>
            <a:bodyPr wrap="none" lIns="0" tIns="0" rIns="0" bIns="0" anchor="t" anchorCtr="0">
              <a:spAutoFit/>
            </a:bodyPr>
            <a:lstStyle/>
            <a:p>
              <a:pPr algn="l"/>
              <a:r>
                <a:rPr lang="ko-KR" sz="1650" b="1" dirty="0">
                  <a:solidFill>
                    <a:srgbClr val="FFFFFF"/>
                  </a:solidFill>
                  <a:latin typeface="Malgun Gothic"/>
                  <a:ea typeface="Malgun Gothic"/>
                  <a:cs typeface="Malgun Gothic"/>
                </a:rPr>
                <a:t>AI 도구 하나를 오늘 설치하세요</a:t>
              </a:r>
            </a:p>
          </p:txBody>
        </p:sp>
        <p:sp>
          <p:nvSpPr>
            <p:cNvPr id="12" name="TextBox 12"/>
            <p:cNvSpPr txBox="1"/>
            <p:nvPr/>
          </p:nvSpPr>
          <p:spPr>
            <a:xfrm>
              <a:off x="1985962" y="3355181"/>
              <a:ext cx="4160877" cy="228600"/>
            </a:xfrm>
            <a:prstGeom prst="rect">
              <a:avLst/>
            </a:prstGeom>
            <a:noFill/>
            <a:ln>
              <a:noFill/>
            </a:ln>
          </p:spPr>
          <p:txBody>
            <a:bodyPr wrap="none" lIns="0" tIns="0" rIns="0" bIns="0" anchor="t" anchorCtr="0">
              <a:spAutoFit/>
            </a:bodyPr>
            <a:lstStyle/>
            <a:p>
              <a:pPr algn="l"/>
              <a:r>
                <a:rPr lang="ko-KR" sz="1200" dirty="0">
                  <a:solidFill>
                    <a:srgbClr val="B8BFD1"/>
                  </a:solidFill>
                  <a:latin typeface="Malgun Gothic"/>
                  <a:ea typeface="Malgun Gothic"/>
                  <a:cs typeface="Malgun Gothic"/>
                </a:rPr>
                <a:t>Cursor, GitHub Copilot, Claude Code 중 하나를 선택해</a:t>
              </a:r>
            </a:p>
          </p:txBody>
        </p:sp>
        <p:sp>
          <p:nvSpPr>
            <p:cNvPr id="13" name="TextBox 13"/>
            <p:cNvSpPr txBox="1"/>
            <p:nvPr/>
          </p:nvSpPr>
          <p:spPr>
            <a:xfrm>
              <a:off x="1985962" y="3545681"/>
              <a:ext cx="3487222" cy="228600"/>
            </a:xfrm>
            <a:prstGeom prst="rect">
              <a:avLst/>
            </a:prstGeom>
            <a:noFill/>
            <a:ln>
              <a:noFill/>
            </a:ln>
          </p:spPr>
          <p:txBody>
            <a:bodyPr wrap="none" lIns="0" tIns="0" rIns="0" bIns="0" anchor="t" anchorCtr="0">
              <a:spAutoFit/>
            </a:bodyPr>
            <a:lstStyle/>
            <a:p>
              <a:pPr algn="l"/>
              <a:r>
                <a:rPr lang="ko-KR" sz="1200" dirty="0">
                  <a:solidFill>
                    <a:srgbClr val="B8BFD1"/>
                  </a:solidFill>
                  <a:latin typeface="Malgun Gothic"/>
                  <a:ea typeface="Malgun Gothic"/>
                  <a:cs typeface="Malgun Gothic"/>
                </a:rPr>
                <a:t>실제 작업 환경에 통합하는 것부터 시작합니다.</a:t>
              </a:r>
            </a:p>
          </p:txBody>
        </p:sp>
      </p:grpSp>
      <p:sp>
        <p:nvSpPr>
          <p:cNvPr id="15" name="Line 15"/>
          <p:cNvSpPr/>
          <p:nvPr/>
        </p:nvSpPr>
        <p:spPr>
          <a:xfrm>
            <a:off x="1285875" y="3667125"/>
            <a:ext cx="9525" cy="333375"/>
          </a:xfrm>
          <a:custGeom>
            <a:avLst/>
            <a:gdLst/>
            <a:ahLst/>
            <a:cxnLst/>
            <a:rect l="l" t="t" r="r" b="b"/>
            <a:pathLst>
              <a:path w="9525" h="333375">
                <a:moveTo>
                  <a:pt x="0" y="0"/>
                </a:moveTo>
                <a:lnTo>
                  <a:pt x="0" y="333375"/>
                </a:lnTo>
              </a:path>
            </a:pathLst>
          </a:custGeom>
          <a:noFill/>
          <a:ln w="9525">
            <a:solidFill>
              <a:srgbClr val="1E2538"/>
            </a:solidFill>
            <a:custDash>
              <a:ds d="200000" sp="300000"/>
            </a:custDash>
          </a:ln>
        </p:spPr>
      </p:sp>
      <p:grpSp>
        <p:nvGrpSpPr>
          <p:cNvPr id="21" name="Group 21"/>
          <p:cNvGrpSpPr/>
          <p:nvPr/>
        </p:nvGrpSpPr>
        <p:grpSpPr>
          <a:xfrm>
            <a:off x="923925" y="4019550"/>
            <a:ext cx="5140761" cy="850106"/>
            <a:chOff x="923925" y="4019550"/>
            <a:chExt cx="5140761" cy="850106"/>
          </a:xfrm>
        </p:grpSpPr>
        <p:sp>
          <p:nvSpPr>
            <p:cNvPr id="16" name="Ellipse 16"/>
            <p:cNvSpPr/>
            <p:nvPr/>
          </p:nvSpPr>
          <p:spPr>
            <a:xfrm>
              <a:off x="923925" y="4019550"/>
              <a:ext cx="723900" cy="723900"/>
            </a:xfrm>
            <a:prstGeom prst="ellipse">
              <a:avLst/>
            </a:prstGeom>
            <a:noFill/>
            <a:ln w="19050">
              <a:solidFill>
                <a:srgbClr val="00E5FF"/>
              </a:solidFill>
            </a:ln>
          </p:spPr>
        </p:sp>
        <p:sp>
          <p:nvSpPr>
            <p:cNvPr id="17" name="TextBox 17"/>
            <p:cNvSpPr txBox="1"/>
            <p:nvPr/>
          </p:nvSpPr>
          <p:spPr>
            <a:xfrm>
              <a:off x="1052970" y="4246245"/>
              <a:ext cx="465811" cy="487680"/>
            </a:xfrm>
            <a:prstGeom prst="rect">
              <a:avLst/>
            </a:prstGeom>
            <a:noFill/>
            <a:ln>
              <a:noFill/>
            </a:ln>
          </p:spPr>
          <p:txBody>
            <a:bodyPr wrap="none" lIns="0" tIns="0" rIns="0" bIns="0" anchor="t" anchorCtr="0">
              <a:spAutoFit/>
            </a:bodyPr>
            <a:lstStyle/>
            <a:p>
              <a:pPr algn="ctr"/>
              <a:r>
                <a:rPr lang="en-US" sz="2400" b="1" dirty="0">
                  <a:solidFill>
                    <a:srgbClr val="00E5FF"/>
                  </a:solidFill>
                  <a:latin typeface="Malgun Gothic"/>
                  <a:ea typeface="Malgun Gothic"/>
                  <a:cs typeface="Malgun Gothic"/>
                </a:rPr>
                <a:t>02</a:t>
              </a:r>
            </a:p>
          </p:txBody>
        </p:sp>
        <p:sp>
          <p:nvSpPr>
            <p:cNvPr id="18" name="TextBox 18"/>
            <p:cNvSpPr txBox="1"/>
            <p:nvPr/>
          </p:nvSpPr>
          <p:spPr>
            <a:xfrm>
              <a:off x="1979295" y="4108132"/>
              <a:ext cx="3559050" cy="335280"/>
            </a:xfrm>
            <a:prstGeom prst="rect">
              <a:avLst/>
            </a:prstGeom>
            <a:noFill/>
            <a:ln>
              <a:noFill/>
            </a:ln>
          </p:spPr>
          <p:txBody>
            <a:bodyPr wrap="none" lIns="0" tIns="0" rIns="0" bIns="0" anchor="t" anchorCtr="0">
              <a:spAutoFit/>
            </a:bodyPr>
            <a:lstStyle/>
            <a:p>
              <a:pPr algn="l"/>
              <a:r>
                <a:rPr lang="ko-KR" sz="1650" b="1" dirty="0">
                  <a:solidFill>
                    <a:srgbClr val="FFFFFF"/>
                  </a:solidFill>
                  <a:latin typeface="Malgun Gothic"/>
                  <a:ea typeface="Malgun Gothic"/>
                  <a:cs typeface="Malgun Gothic"/>
                </a:rPr>
                <a:t>작은 실제 작업으로 검증하세요</a:t>
              </a:r>
            </a:p>
          </p:txBody>
        </p:sp>
        <p:sp>
          <p:nvSpPr>
            <p:cNvPr id="19" name="TextBox 19"/>
            <p:cNvSpPr txBox="1"/>
            <p:nvPr/>
          </p:nvSpPr>
          <p:spPr>
            <a:xfrm>
              <a:off x="1985962" y="4450556"/>
              <a:ext cx="3791188" cy="228600"/>
            </a:xfrm>
            <a:prstGeom prst="rect">
              <a:avLst/>
            </a:prstGeom>
            <a:noFill/>
            <a:ln>
              <a:noFill/>
            </a:ln>
          </p:spPr>
          <p:txBody>
            <a:bodyPr wrap="none" lIns="0" tIns="0" rIns="0" bIns="0" anchor="t" anchorCtr="0">
              <a:spAutoFit/>
            </a:bodyPr>
            <a:lstStyle/>
            <a:p>
              <a:pPr algn="l"/>
              <a:r>
                <a:rPr lang="ko-KR" sz="1200" dirty="0">
                  <a:solidFill>
                    <a:srgbClr val="B8BFD1"/>
                  </a:solidFill>
                  <a:latin typeface="Malgun Gothic"/>
                  <a:ea typeface="Malgun Gothic"/>
                  <a:cs typeface="Malgun Gothic"/>
                </a:rPr>
                <a:t>튜토리얼 말고, 진짜 업무의 한 조각을 맡겨보세요.</a:t>
              </a:r>
            </a:p>
          </p:txBody>
        </p:sp>
        <p:sp>
          <p:nvSpPr>
            <p:cNvPr id="20" name="TextBox 20"/>
            <p:cNvSpPr txBox="1"/>
            <p:nvPr/>
          </p:nvSpPr>
          <p:spPr>
            <a:xfrm>
              <a:off x="1985962" y="4641056"/>
              <a:ext cx="4078724" cy="228600"/>
            </a:xfrm>
            <a:prstGeom prst="rect">
              <a:avLst/>
            </a:prstGeom>
            <a:noFill/>
            <a:ln>
              <a:noFill/>
            </a:ln>
          </p:spPr>
          <p:txBody>
            <a:bodyPr wrap="none" lIns="0" tIns="0" rIns="0" bIns="0" anchor="t" anchorCtr="0">
              <a:spAutoFit/>
            </a:bodyPr>
            <a:lstStyle/>
            <a:p>
              <a:pPr algn="l"/>
              <a:r>
                <a:rPr lang="ko-KR" sz="1200" dirty="0">
                  <a:solidFill>
                    <a:srgbClr val="B8BFD1"/>
                  </a:solidFill>
                  <a:latin typeface="Malgun Gothic"/>
                  <a:ea typeface="Malgun Gothic"/>
                  <a:cs typeface="Malgun Gothic"/>
                </a:rPr>
                <a:t>속도 차이를 직접 체감하는 것이 가장 빠른 학습입니다.</a:t>
              </a:r>
            </a:p>
          </p:txBody>
        </p:sp>
      </p:grpSp>
      <p:sp>
        <p:nvSpPr>
          <p:cNvPr id="22" name="Line 22"/>
          <p:cNvSpPr/>
          <p:nvPr/>
        </p:nvSpPr>
        <p:spPr>
          <a:xfrm>
            <a:off x="1285875" y="4762500"/>
            <a:ext cx="9525" cy="333375"/>
          </a:xfrm>
          <a:custGeom>
            <a:avLst/>
            <a:gdLst/>
            <a:ahLst/>
            <a:cxnLst/>
            <a:rect l="l" t="t" r="r" b="b"/>
            <a:pathLst>
              <a:path w="9525" h="333375">
                <a:moveTo>
                  <a:pt x="0" y="0"/>
                </a:moveTo>
                <a:lnTo>
                  <a:pt x="0" y="333375"/>
                </a:lnTo>
              </a:path>
            </a:pathLst>
          </a:custGeom>
          <a:noFill/>
          <a:ln w="9525">
            <a:solidFill>
              <a:srgbClr val="1E2538"/>
            </a:solidFill>
            <a:custDash>
              <a:ds d="200000" sp="300000"/>
            </a:custDash>
          </a:ln>
        </p:spPr>
      </p:sp>
      <p:grpSp>
        <p:nvGrpSpPr>
          <p:cNvPr id="28" name="Group 28"/>
          <p:cNvGrpSpPr/>
          <p:nvPr/>
        </p:nvGrpSpPr>
        <p:grpSpPr>
          <a:xfrm>
            <a:off x="923925" y="5114925"/>
            <a:ext cx="5797986" cy="850106"/>
            <a:chOff x="923925" y="5114925"/>
            <a:chExt cx="5797986" cy="850106"/>
          </a:xfrm>
        </p:grpSpPr>
        <p:sp>
          <p:nvSpPr>
            <p:cNvPr id="23" name="Ellipse 23"/>
            <p:cNvSpPr/>
            <p:nvPr/>
          </p:nvSpPr>
          <p:spPr>
            <a:xfrm>
              <a:off x="923925" y="5114925"/>
              <a:ext cx="723900" cy="723900"/>
            </a:xfrm>
            <a:prstGeom prst="ellipse">
              <a:avLst/>
            </a:prstGeom>
            <a:noFill/>
            <a:ln w="19050">
              <a:solidFill>
                <a:srgbClr val="FF2E63"/>
              </a:solidFill>
            </a:ln>
          </p:spPr>
        </p:sp>
        <p:sp>
          <p:nvSpPr>
            <p:cNvPr id="24" name="TextBox 24"/>
            <p:cNvSpPr txBox="1"/>
            <p:nvPr/>
          </p:nvSpPr>
          <p:spPr>
            <a:xfrm>
              <a:off x="1052970" y="5341620"/>
              <a:ext cx="465811" cy="487680"/>
            </a:xfrm>
            <a:prstGeom prst="rect">
              <a:avLst/>
            </a:prstGeom>
            <a:noFill/>
            <a:ln>
              <a:noFill/>
            </a:ln>
          </p:spPr>
          <p:txBody>
            <a:bodyPr wrap="none" lIns="0" tIns="0" rIns="0" bIns="0" anchor="t" anchorCtr="0">
              <a:spAutoFit/>
            </a:bodyPr>
            <a:lstStyle/>
            <a:p>
              <a:pPr algn="ctr"/>
              <a:r>
                <a:rPr lang="en-US" sz="2400" b="1" dirty="0">
                  <a:solidFill>
                    <a:srgbClr val="FF2E63"/>
                  </a:solidFill>
                  <a:latin typeface="Malgun Gothic"/>
                  <a:ea typeface="Malgun Gothic"/>
                  <a:cs typeface="Malgun Gothic"/>
                </a:rPr>
                <a:t>03</a:t>
              </a:r>
            </a:p>
          </p:txBody>
        </p:sp>
        <p:sp>
          <p:nvSpPr>
            <p:cNvPr id="25" name="TextBox 25"/>
            <p:cNvSpPr txBox="1"/>
            <p:nvPr/>
          </p:nvSpPr>
          <p:spPr>
            <a:xfrm>
              <a:off x="1979295" y="5203508"/>
              <a:ext cx="3559050" cy="335280"/>
            </a:xfrm>
            <a:prstGeom prst="rect">
              <a:avLst/>
            </a:prstGeom>
            <a:noFill/>
            <a:ln>
              <a:noFill/>
            </a:ln>
          </p:spPr>
          <p:txBody>
            <a:bodyPr wrap="none" lIns="0" tIns="0" rIns="0" bIns="0" anchor="t" anchorCtr="0">
              <a:spAutoFit/>
            </a:bodyPr>
            <a:lstStyle/>
            <a:p>
              <a:pPr algn="l"/>
              <a:r>
                <a:rPr lang="ko-KR" sz="1650" b="1" dirty="0">
                  <a:solidFill>
                    <a:srgbClr val="FFFFFF"/>
                  </a:solidFill>
                  <a:latin typeface="Malgun Gothic"/>
                  <a:ea typeface="Malgun Gothic"/>
                  <a:cs typeface="Malgun Gothic"/>
                </a:rPr>
                <a:t>프롬프트 작성 능력을 키우세요</a:t>
              </a:r>
            </a:p>
          </p:txBody>
        </p:sp>
        <p:sp>
          <p:nvSpPr>
            <p:cNvPr id="26" name="TextBox 26"/>
            <p:cNvSpPr txBox="1"/>
            <p:nvPr/>
          </p:nvSpPr>
          <p:spPr>
            <a:xfrm>
              <a:off x="1985962" y="5545931"/>
              <a:ext cx="4612719" cy="228600"/>
            </a:xfrm>
            <a:prstGeom prst="rect">
              <a:avLst/>
            </a:prstGeom>
            <a:noFill/>
            <a:ln>
              <a:noFill/>
            </a:ln>
          </p:spPr>
          <p:txBody>
            <a:bodyPr wrap="none" lIns="0" tIns="0" rIns="0" bIns="0" anchor="t" anchorCtr="0">
              <a:spAutoFit/>
            </a:bodyPr>
            <a:lstStyle/>
            <a:p>
              <a:pPr algn="l"/>
              <a:r>
                <a:rPr lang="ko-KR" sz="1200" dirty="0">
                  <a:solidFill>
                    <a:srgbClr val="B8BFD1"/>
                  </a:solidFill>
                  <a:latin typeface="Malgun Gothic"/>
                  <a:ea typeface="Malgun Gothic"/>
                  <a:cs typeface="Malgun Gothic"/>
                </a:rPr>
                <a:t>맥락 제공, 명세 분해, 검증 — 이것이 새로운 핵심 역량입니다.</a:t>
              </a:r>
            </a:p>
          </p:txBody>
        </p:sp>
        <p:sp>
          <p:nvSpPr>
            <p:cNvPr id="27" name="TextBox 27"/>
            <p:cNvSpPr txBox="1"/>
            <p:nvPr/>
          </p:nvSpPr>
          <p:spPr>
            <a:xfrm>
              <a:off x="1985962" y="5736431"/>
              <a:ext cx="4735949" cy="228600"/>
            </a:xfrm>
            <a:prstGeom prst="rect">
              <a:avLst/>
            </a:prstGeom>
            <a:noFill/>
            <a:ln>
              <a:noFill/>
            </a:ln>
          </p:spPr>
          <p:txBody>
            <a:bodyPr wrap="none" lIns="0" tIns="0" rIns="0" bIns="0" anchor="t" anchorCtr="0">
              <a:spAutoFit/>
            </a:bodyPr>
            <a:lstStyle/>
            <a:p>
              <a:pPr algn="l"/>
              <a:r>
                <a:rPr lang="ko-KR" sz="1200" dirty="0">
                  <a:solidFill>
                    <a:srgbClr val="B8BFD1"/>
                  </a:solidFill>
                  <a:latin typeface="Malgun Gothic"/>
                  <a:ea typeface="Malgun Gothic"/>
                  <a:cs typeface="Malgun Gothic"/>
                </a:rPr>
                <a:t>코드를 짜는 시간보다 지시문을 다듬는 시간이 더 중요해집니다.</a:t>
              </a:r>
            </a:p>
          </p:txBody>
        </p:sp>
      </p:grpSp>
      <p:grpSp>
        <p:nvGrpSpPr>
          <p:cNvPr id="38" name="Group 38"/>
          <p:cNvGrpSpPr/>
          <p:nvPr/>
        </p:nvGrpSpPr>
        <p:grpSpPr>
          <a:xfrm>
            <a:off x="6667500" y="2809875"/>
            <a:ext cx="4762500" cy="3286125"/>
            <a:chOff x="6667500" y="2809875"/>
            <a:chExt cx="4762500" cy="3286125"/>
          </a:xfrm>
        </p:grpSpPr>
        <p:sp>
          <p:nvSpPr>
            <p:cNvPr id="29" name="Rectangle 29"/>
            <p:cNvSpPr/>
            <p:nvPr/>
          </p:nvSpPr>
          <p:spPr>
            <a:xfrm>
              <a:off x="6667500" y="2809875"/>
              <a:ext cx="4762500" cy="3286125"/>
            </a:xfrm>
            <a:prstGeom prst="roundRect">
              <a:avLst>
                <a:gd name="adj" fmla="val 580"/>
              </a:avLst>
            </a:prstGeom>
            <a:solidFill>
              <a:srgbClr val="0F1424"/>
            </a:solidFill>
            <a:ln w="9525">
              <a:solidFill>
                <a:srgbClr val="FF2E63"/>
              </a:solidFill>
            </a:ln>
          </p:spPr>
        </p:sp>
        <p:sp>
          <p:nvSpPr>
            <p:cNvPr id="30" name="Rectangle 30"/>
            <p:cNvSpPr/>
            <p:nvPr/>
          </p:nvSpPr>
          <p:spPr>
            <a:xfrm>
              <a:off x="6667500" y="2809875"/>
              <a:ext cx="571500" cy="28575"/>
            </a:xfrm>
            <a:prstGeom prst="rect">
              <a:avLst/>
            </a:prstGeom>
            <a:solidFill>
              <a:srgbClr val="FF2E63"/>
            </a:solidFill>
            <a:ln>
              <a:noFill/>
            </a:ln>
          </p:spPr>
        </p:sp>
        <p:sp>
          <p:nvSpPr>
            <p:cNvPr id="31" name="TextBox 31"/>
            <p:cNvSpPr txBox="1"/>
            <p:nvPr/>
          </p:nvSpPr>
          <p:spPr>
            <a:xfrm>
              <a:off x="6941820" y="3093720"/>
              <a:ext cx="712946" cy="182880"/>
            </a:xfrm>
            <a:prstGeom prst="rect">
              <a:avLst/>
            </a:prstGeom>
            <a:noFill/>
            <a:ln>
              <a:noFill/>
            </a:ln>
          </p:spPr>
          <p:txBody>
            <a:bodyPr wrap="none" lIns="0" tIns="0" rIns="0" bIns="0" anchor="t" anchorCtr="0">
              <a:spAutoFit/>
            </a:bodyPr>
            <a:lstStyle/>
            <a:p>
              <a:pPr algn="l"/>
              <a:r>
                <a:rPr lang="en-US" sz="1200" b="1" dirty="0">
                  <a:solidFill>
                    <a:srgbClr val="FF2E63"/>
                  </a:solidFill>
                  <a:latin typeface="Malgun Gothic"/>
                  <a:ea typeface="Malgun Gothic"/>
                  <a:cs typeface="Malgun Gothic"/>
                </a:rPr>
                <a:t>FINAL STEP</a:t>
              </a:r>
            </a:p>
          </p:txBody>
        </p:sp>
        <p:sp>
          <p:nvSpPr>
            <p:cNvPr id="32" name="TextBox 32"/>
            <p:cNvSpPr txBox="1"/>
            <p:nvPr/>
          </p:nvSpPr>
          <p:spPr>
            <a:xfrm>
              <a:off x="6838950" y="3124200"/>
              <a:ext cx="1746790" cy="1828800"/>
            </a:xfrm>
            <a:prstGeom prst="rect">
              <a:avLst/>
            </a:prstGeom>
            <a:noFill/>
            <a:ln>
              <a:noFill/>
            </a:ln>
          </p:spPr>
          <p:txBody>
            <a:bodyPr wrap="none" lIns="0" tIns="0" rIns="0" bIns="0" anchor="t" anchorCtr="0">
              <a:spAutoFit/>
            </a:bodyPr>
            <a:lstStyle/>
            <a:p>
              <a:pPr algn="l"/>
              <a:r>
                <a:rPr lang="en-US" sz="9000" b="1" dirty="0">
                  <a:solidFill>
                    <a:srgbClr val="FFFFFF"/>
                  </a:solidFill>
                  <a:latin typeface="Malgun Gothic"/>
                  <a:ea typeface="Malgun Gothic"/>
                  <a:cs typeface="Malgun Gothic"/>
                </a:rPr>
                <a:t>04</a:t>
              </a:r>
            </a:p>
          </p:txBody>
        </p:sp>
        <p:sp>
          <p:nvSpPr>
            <p:cNvPr id="33" name="TextBox 33"/>
            <p:cNvSpPr txBox="1"/>
            <p:nvPr/>
          </p:nvSpPr>
          <p:spPr>
            <a:xfrm>
              <a:off x="6928485" y="4409122"/>
              <a:ext cx="2830578" cy="396240"/>
            </a:xfrm>
            <a:prstGeom prst="rect">
              <a:avLst/>
            </a:prstGeom>
            <a:noFill/>
            <a:ln>
              <a:noFill/>
            </a:ln>
          </p:spPr>
          <p:txBody>
            <a:bodyPr wrap="none" lIns="0" tIns="0" rIns="0" bIns="0" anchor="t" anchorCtr="0">
              <a:spAutoFit/>
            </a:bodyPr>
            <a:lstStyle/>
            <a:p>
              <a:pPr algn="l"/>
              <a:r>
                <a:rPr lang="ko-KR" sz="1950" b="1" dirty="0">
                  <a:solidFill>
                    <a:srgbClr val="FFFFFF"/>
                  </a:solidFill>
                  <a:latin typeface="Malgun Gothic"/>
                  <a:ea typeface="Malgun Gothic"/>
                  <a:cs typeface="Malgun Gothic"/>
                </a:rPr>
                <a:t>동료에게 공유하세요</a:t>
              </a:r>
            </a:p>
          </p:txBody>
        </p:sp>
        <p:sp>
          <p:nvSpPr>
            <p:cNvPr id="34" name="TextBox 34"/>
            <p:cNvSpPr txBox="1"/>
            <p:nvPr/>
          </p:nvSpPr>
          <p:spPr>
            <a:xfrm>
              <a:off x="6938962" y="4879181"/>
              <a:ext cx="2238494" cy="228600"/>
            </a:xfrm>
            <a:prstGeom prst="rect">
              <a:avLst/>
            </a:prstGeom>
            <a:noFill/>
            <a:ln>
              <a:noFill/>
            </a:ln>
          </p:spPr>
          <p:txBody>
            <a:bodyPr wrap="none" lIns="0" tIns="0" rIns="0" bIns="0" anchor="t" anchorCtr="0">
              <a:spAutoFit/>
            </a:bodyPr>
            <a:lstStyle/>
            <a:p>
              <a:pPr algn="l"/>
              <a:r>
                <a:rPr lang="ko-KR" sz="1200" dirty="0">
                  <a:solidFill>
                    <a:srgbClr val="B8BFD1"/>
                  </a:solidFill>
                  <a:latin typeface="Malgun Gothic"/>
                  <a:ea typeface="Malgun Gothic"/>
                  <a:cs typeface="Malgun Gothic"/>
                </a:rPr>
                <a:t>혼자 알면 일시적인 우위지만,</a:t>
              </a:r>
            </a:p>
          </p:txBody>
        </p:sp>
        <p:sp>
          <p:nvSpPr>
            <p:cNvPr id="35" name="TextBox 35"/>
            <p:cNvSpPr txBox="1"/>
            <p:nvPr/>
          </p:nvSpPr>
          <p:spPr>
            <a:xfrm>
              <a:off x="6938962" y="5098256"/>
              <a:ext cx="3322915" cy="228600"/>
            </a:xfrm>
            <a:prstGeom prst="rect">
              <a:avLst/>
            </a:prstGeom>
            <a:noFill/>
            <a:ln>
              <a:noFill/>
            </a:ln>
          </p:spPr>
          <p:txBody>
            <a:bodyPr wrap="none" lIns="0" tIns="0" rIns="0" bIns="0" anchor="t" anchorCtr="0">
              <a:spAutoFit/>
            </a:bodyPr>
            <a:lstStyle/>
            <a:p>
              <a:pPr algn="l"/>
              <a:r>
                <a:rPr lang="ko-KR" sz="1200" dirty="0">
                  <a:solidFill>
                    <a:srgbClr val="B8BFD1"/>
                  </a:solidFill>
                  <a:latin typeface="Malgun Gothic"/>
                  <a:ea typeface="Malgun Gothic"/>
                  <a:cs typeface="Malgun Gothic"/>
                </a:rPr>
                <a:t>팀이 함께 익히면 지속적인 경쟁력이 됩니다.</a:t>
              </a:r>
            </a:p>
          </p:txBody>
        </p:sp>
        <p:sp>
          <p:nvSpPr>
            <p:cNvPr id="36" name="Line 36"/>
            <p:cNvSpPr/>
            <p:nvPr/>
          </p:nvSpPr>
          <p:spPr>
            <a:xfrm>
              <a:off x="6953250" y="5572125"/>
              <a:ext cx="381000" cy="9525"/>
            </a:xfrm>
            <a:custGeom>
              <a:avLst/>
              <a:gdLst/>
              <a:ahLst/>
              <a:cxnLst/>
              <a:rect l="l" t="t" r="r" b="b"/>
              <a:pathLst>
                <a:path w="381000" h="9525">
                  <a:moveTo>
                    <a:pt x="0" y="0"/>
                  </a:moveTo>
                  <a:lnTo>
                    <a:pt x="381000" y="0"/>
                  </a:lnTo>
                </a:path>
              </a:pathLst>
            </a:custGeom>
            <a:noFill/>
            <a:ln w="19050">
              <a:solidFill>
                <a:srgbClr val="00E5FF"/>
              </a:solidFill>
            </a:ln>
          </p:spPr>
        </p:sp>
        <p:sp>
          <p:nvSpPr>
            <p:cNvPr id="37" name="TextBox 37"/>
            <p:cNvSpPr txBox="1"/>
            <p:nvPr/>
          </p:nvSpPr>
          <p:spPr>
            <a:xfrm>
              <a:off x="6940868" y="5704999"/>
              <a:ext cx="2424184" cy="198120"/>
            </a:xfrm>
            <a:prstGeom prst="rect">
              <a:avLst/>
            </a:prstGeom>
            <a:noFill/>
            <a:ln>
              <a:noFill/>
            </a:ln>
          </p:spPr>
          <p:txBody>
            <a:bodyPr wrap="none" lIns="0" tIns="0" rIns="0" bIns="0" anchor="t" anchorCtr="0">
              <a:spAutoFit/>
            </a:bodyPr>
            <a:lstStyle/>
            <a:p>
              <a:pPr algn="l"/>
              <a:r>
                <a:rPr lang="ko-KR" sz="1200" dirty="0">
                  <a:solidFill>
                    <a:srgbClr val="8A92A8"/>
                  </a:solidFill>
                  <a:latin typeface="Malgun Gothic"/>
                  <a:ea typeface="Malgun Gothic"/>
                  <a:cs typeface="Malgun Gothic"/>
                </a:rPr>
                <a:t>"가장 빠른 학습은 가르치는 것이다."</a:t>
              </a:r>
            </a:p>
          </p:txBody>
        </p:sp>
      </p:grpSp>
      <p:sp>
        <p:nvSpPr>
          <p:cNvPr id="39" name="TextBox 39"/>
          <p:cNvSpPr txBox="1"/>
          <p:nvPr/>
        </p:nvSpPr>
        <p:spPr>
          <a:xfrm>
            <a:off x="751522" y="6435566"/>
            <a:ext cx="1593366" cy="167640"/>
          </a:xfrm>
          <a:prstGeom prst="rect">
            <a:avLst/>
          </a:prstGeom>
          <a:noFill/>
          <a:ln>
            <a:noFill/>
          </a:ln>
        </p:spPr>
        <p:txBody>
          <a:bodyPr wrap="none" lIns="0" tIns="0" rIns="0" bIns="0" anchor="t" anchorCtr="0">
            <a:spAutoFit/>
          </a:bodyPr>
          <a:lstStyle/>
          <a:p>
            <a:pPr algn="l"/>
            <a:r>
              <a:rPr lang="ko-KR" sz="1200" dirty="0">
                <a:solidFill>
                  <a:srgbClr val="4A5168"/>
                </a:solidFill>
                <a:latin typeface="Malgun Gothic"/>
                <a:ea typeface="Malgun Gothic"/>
                <a:cs typeface="Malgun Gothic"/>
              </a:rPr>
              <a:t>AI 시대의 개발자 생존 가이드</a:t>
            </a:r>
          </a:p>
        </p:txBody>
      </p:sp>
      <p:sp>
        <p:nvSpPr>
          <p:cNvPr id="40" name="TextBox 40"/>
          <p:cNvSpPr txBox="1"/>
          <p:nvPr/>
        </p:nvSpPr>
        <p:spPr>
          <a:xfrm>
            <a:off x="11046000" y="6435566"/>
            <a:ext cx="394478" cy="167640"/>
          </a:xfrm>
          <a:prstGeom prst="rect">
            <a:avLst/>
          </a:prstGeom>
          <a:noFill/>
          <a:ln>
            <a:noFill/>
          </a:ln>
        </p:spPr>
        <p:txBody>
          <a:bodyPr wrap="none" lIns="0" tIns="0" rIns="0" bIns="0" anchor="t" anchorCtr="0">
            <a:spAutoFit/>
          </a:bodyPr>
          <a:lstStyle/>
          <a:p>
            <a:pPr algn="r"/>
            <a:r>
              <a:rPr lang="en-US" sz="1200" dirty="0">
                <a:solidFill>
                  <a:srgbClr val="4A5168"/>
                </a:solidFill>
                <a:latin typeface="Malgun Gothic"/>
                <a:ea typeface="Malgun Gothic"/>
                <a:cs typeface="Malgun Gothic"/>
              </a:rPr>
              <a:t>08 / 10</a:t>
            </a:r>
          </a:p>
        </p:txBody>
      </p:sp>
    </p:spTree>
  </p:cSld>
  <p:clrMapOvr>
    <a:masterClrMapping/>
  </p:clrMapOvr>
  <p:transition xmlns:p14="http://schemas.microsoft.com/office/powerpoint/2010/main" p14:dur="5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Ellipse 3"/>
          <p:cNvSpPr/>
          <p:nvPr/>
        </p:nvSpPr>
        <p:spPr>
          <a:xfrm>
            <a:off x="9982200" y="1695450"/>
            <a:ext cx="38100" cy="38100"/>
          </a:xfrm>
          <a:prstGeom prst="ellipse">
            <a:avLst/>
          </a:prstGeom>
          <a:solidFill>
            <a:srgbClr val="E63946">
              <a:alpha val="80000"/>
            </a:srgbClr>
          </a:solidFill>
          <a:ln>
            <a:noFill/>
          </a:ln>
        </p:spPr>
      </p:sp>
      <p:sp>
        <p:nvSpPr>
          <p:cNvPr id="4" name="Ellipse 4"/>
          <p:cNvSpPr/>
          <p:nvPr/>
        </p:nvSpPr>
        <p:spPr>
          <a:xfrm>
            <a:off x="10744200" y="2266950"/>
            <a:ext cx="38100" cy="38100"/>
          </a:xfrm>
          <a:prstGeom prst="ellipse">
            <a:avLst/>
          </a:prstGeom>
          <a:solidFill>
            <a:srgbClr val="4A9EFF">
              <a:alpha val="60000"/>
            </a:srgbClr>
          </a:solidFill>
          <a:ln>
            <a:noFill/>
          </a:ln>
        </p:spPr>
      </p:sp>
      <p:sp>
        <p:nvSpPr>
          <p:cNvPr id="5" name="Ellipse 5"/>
          <p:cNvSpPr/>
          <p:nvPr/>
        </p:nvSpPr>
        <p:spPr>
          <a:xfrm>
            <a:off x="10272712" y="3033712"/>
            <a:ext cx="28575" cy="28575"/>
          </a:xfrm>
          <a:prstGeom prst="ellipse">
            <a:avLst/>
          </a:prstGeom>
          <a:solidFill>
            <a:srgbClr val="FFFFFF">
              <a:alpha val="50000"/>
            </a:srgbClr>
          </a:solidFill>
          <a:ln>
            <a:noFill/>
          </a:ln>
        </p:spPr>
      </p:sp>
      <p:sp>
        <p:nvSpPr>
          <p:cNvPr id="6" name="Ellipse 6"/>
          <p:cNvSpPr/>
          <p:nvPr/>
        </p:nvSpPr>
        <p:spPr>
          <a:xfrm>
            <a:off x="11125200" y="3600450"/>
            <a:ext cx="38100" cy="38100"/>
          </a:xfrm>
          <a:prstGeom prst="ellipse">
            <a:avLst/>
          </a:prstGeom>
          <a:solidFill>
            <a:srgbClr val="E63946">
              <a:alpha val="40000"/>
            </a:srgbClr>
          </a:solidFill>
          <a:ln>
            <a:noFill/>
          </a:ln>
        </p:spPr>
      </p:sp>
      <p:sp>
        <p:nvSpPr>
          <p:cNvPr id="7" name="Ellipse 7"/>
          <p:cNvSpPr/>
          <p:nvPr/>
        </p:nvSpPr>
        <p:spPr>
          <a:xfrm>
            <a:off x="9701212" y="3986212"/>
            <a:ext cx="28575" cy="28575"/>
          </a:xfrm>
          <a:prstGeom prst="ellipse">
            <a:avLst/>
          </a:prstGeom>
          <a:solidFill>
            <a:srgbClr val="FFFFFF">
              <a:alpha val="60000"/>
            </a:srgbClr>
          </a:solidFill>
          <a:ln>
            <a:noFill/>
          </a:ln>
        </p:spPr>
      </p:sp>
      <p:sp>
        <p:nvSpPr>
          <p:cNvPr id="8" name="Ellipse 8"/>
          <p:cNvSpPr/>
          <p:nvPr/>
        </p:nvSpPr>
        <p:spPr>
          <a:xfrm>
            <a:off x="10839450" y="4648200"/>
            <a:ext cx="38100" cy="38100"/>
          </a:xfrm>
          <a:prstGeom prst="ellipse">
            <a:avLst/>
          </a:prstGeom>
          <a:solidFill>
            <a:srgbClr val="4A9EFF">
              <a:alpha val="50000"/>
            </a:srgbClr>
          </a:solidFill>
          <a:ln>
            <a:noFill/>
          </a:ln>
        </p:spPr>
      </p:sp>
      <p:sp>
        <p:nvSpPr>
          <p:cNvPr id="9" name="Line 9"/>
          <p:cNvSpPr/>
          <p:nvPr/>
        </p:nvSpPr>
        <p:spPr>
          <a:xfrm>
            <a:off x="10001250" y="1714500"/>
            <a:ext cx="762000" cy="571500"/>
          </a:xfrm>
          <a:custGeom>
            <a:avLst/>
            <a:gdLst/>
            <a:ahLst/>
            <a:cxnLst/>
            <a:rect l="l" t="t" r="r" b="b"/>
            <a:pathLst>
              <a:path w="762000" h="571500">
                <a:moveTo>
                  <a:pt x="0" y="0"/>
                </a:moveTo>
                <a:lnTo>
                  <a:pt x="762000" y="571500"/>
                </a:lnTo>
              </a:path>
            </a:pathLst>
          </a:custGeom>
          <a:noFill/>
          <a:ln w="4762">
            <a:solidFill>
              <a:srgbClr val="4A9EFF">
                <a:alpha val="30000"/>
              </a:srgbClr>
            </a:solidFill>
          </a:ln>
        </p:spPr>
      </p:sp>
      <p:sp>
        <p:nvSpPr>
          <p:cNvPr id="10" name="Line 10"/>
          <p:cNvSpPr/>
          <p:nvPr/>
        </p:nvSpPr>
        <p:spPr>
          <a:xfrm>
            <a:off x="10287000" y="2286000"/>
            <a:ext cx="476250" cy="762000"/>
          </a:xfrm>
          <a:custGeom>
            <a:avLst/>
            <a:gdLst/>
            <a:ahLst/>
            <a:cxnLst/>
            <a:rect l="l" t="t" r="r" b="b"/>
            <a:pathLst>
              <a:path w="476250" h="762000">
                <a:moveTo>
                  <a:pt x="476250" y="0"/>
                </a:moveTo>
                <a:lnTo>
                  <a:pt x="0" y="762000"/>
                </a:lnTo>
              </a:path>
            </a:pathLst>
          </a:custGeom>
          <a:noFill/>
          <a:ln w="4762">
            <a:solidFill>
              <a:srgbClr val="4A9EFF">
                <a:alpha val="30000"/>
              </a:srgbClr>
            </a:solidFill>
          </a:ln>
        </p:spPr>
      </p:sp>
      <p:sp>
        <p:nvSpPr>
          <p:cNvPr id="11" name="Line 11"/>
          <p:cNvSpPr/>
          <p:nvPr/>
        </p:nvSpPr>
        <p:spPr>
          <a:xfrm>
            <a:off x="10287000" y="3048000"/>
            <a:ext cx="857250" cy="571500"/>
          </a:xfrm>
          <a:custGeom>
            <a:avLst/>
            <a:gdLst/>
            <a:ahLst/>
            <a:cxnLst/>
            <a:rect l="l" t="t" r="r" b="b"/>
            <a:pathLst>
              <a:path w="857250" h="571500">
                <a:moveTo>
                  <a:pt x="0" y="0"/>
                </a:moveTo>
                <a:lnTo>
                  <a:pt x="857250" y="571500"/>
                </a:lnTo>
              </a:path>
            </a:pathLst>
          </a:custGeom>
          <a:noFill/>
          <a:ln w="4762">
            <a:solidFill>
              <a:srgbClr val="E63946">
                <a:alpha val="30000"/>
              </a:srgbClr>
            </a:solidFill>
          </a:ln>
        </p:spPr>
      </p:sp>
      <p:sp>
        <p:nvSpPr>
          <p:cNvPr id="12" name="Line 12"/>
          <p:cNvSpPr/>
          <p:nvPr/>
        </p:nvSpPr>
        <p:spPr>
          <a:xfrm>
            <a:off x="9715500" y="3619500"/>
            <a:ext cx="1428750" cy="381000"/>
          </a:xfrm>
          <a:custGeom>
            <a:avLst/>
            <a:gdLst/>
            <a:ahLst/>
            <a:cxnLst/>
            <a:rect l="l" t="t" r="r" b="b"/>
            <a:pathLst>
              <a:path w="1428750" h="381000">
                <a:moveTo>
                  <a:pt x="1428750" y="0"/>
                </a:moveTo>
                <a:lnTo>
                  <a:pt x="0" y="381000"/>
                </a:lnTo>
              </a:path>
            </a:pathLst>
          </a:custGeom>
          <a:noFill/>
          <a:ln w="4762">
            <a:solidFill>
              <a:srgbClr val="FFFFFF">
                <a:alpha val="20000"/>
              </a:srgbClr>
            </a:solidFill>
          </a:ln>
        </p:spPr>
      </p:sp>
      <p:sp>
        <p:nvSpPr>
          <p:cNvPr id="13" name="Line 13"/>
          <p:cNvSpPr/>
          <p:nvPr/>
        </p:nvSpPr>
        <p:spPr>
          <a:xfrm>
            <a:off x="9715500" y="4000500"/>
            <a:ext cx="1143000" cy="666750"/>
          </a:xfrm>
          <a:custGeom>
            <a:avLst/>
            <a:gdLst/>
            <a:ahLst/>
            <a:cxnLst/>
            <a:rect l="l" t="t" r="r" b="b"/>
            <a:pathLst>
              <a:path w="1143000" h="666750">
                <a:moveTo>
                  <a:pt x="0" y="0"/>
                </a:moveTo>
                <a:lnTo>
                  <a:pt x="1143000" y="666750"/>
                </a:lnTo>
              </a:path>
            </a:pathLst>
          </a:custGeom>
          <a:noFill/>
          <a:ln w="4762">
            <a:solidFill>
              <a:srgbClr val="4A9EFF">
                <a:alpha val="30000"/>
              </a:srgbClr>
            </a:solidFill>
          </a:ln>
        </p:spPr>
      </p:sp>
      <p:sp>
        <p:nvSpPr>
          <p:cNvPr id="14" name="Rectangle 14"/>
          <p:cNvSpPr/>
          <p:nvPr/>
        </p:nvSpPr>
        <p:spPr>
          <a:xfrm>
            <a:off x="762000" y="2286000"/>
            <a:ext cx="19050" cy="1143000"/>
          </a:xfrm>
          <a:prstGeom prst="rect">
            <a:avLst/>
          </a:prstGeom>
          <a:solidFill>
            <a:srgbClr val="E63946">
              <a:alpha val="90000"/>
            </a:srgbClr>
          </a:solidFill>
          <a:ln>
            <a:noFill/>
          </a:ln>
        </p:spPr>
      </p:sp>
      <p:sp>
        <p:nvSpPr>
          <p:cNvPr id="15" name="TextBox 15"/>
          <p:cNvSpPr txBox="1"/>
          <p:nvPr/>
        </p:nvSpPr>
        <p:spPr>
          <a:xfrm>
            <a:off x="939165" y="2458402"/>
            <a:ext cx="1161478" cy="213360"/>
          </a:xfrm>
          <a:prstGeom prst="rect">
            <a:avLst/>
          </a:prstGeom>
          <a:noFill/>
          <a:ln>
            <a:noFill/>
          </a:ln>
        </p:spPr>
        <p:txBody>
          <a:bodyPr wrap="none" lIns="0" tIns="0" rIns="0" bIns="0" anchor="t" anchorCtr="0">
            <a:spAutoFit/>
          </a:bodyPr>
          <a:lstStyle/>
          <a:p>
            <a:pPr algn="l"/>
            <a:r>
              <a:rPr lang="en-US" sz="1200" dirty="0">
                <a:solidFill>
                  <a:srgbClr val="E63946"/>
                </a:solidFill>
                <a:latin typeface="맑은 고딕"/>
                <a:ea typeface="Malgun Gothic"/>
                <a:cs typeface="맑은 고딕"/>
              </a:rPr>
              <a:t>KEYNOTE · 2025</a:t>
            </a:r>
          </a:p>
        </p:txBody>
      </p:sp>
      <p:sp>
        <p:nvSpPr>
          <p:cNvPr id="16" name="TextBox 16"/>
          <p:cNvSpPr txBox="1"/>
          <p:nvPr/>
        </p:nvSpPr>
        <p:spPr>
          <a:xfrm>
            <a:off x="872490" y="2844165"/>
            <a:ext cx="6246581" cy="1280160"/>
          </a:xfrm>
          <a:prstGeom prst="rect">
            <a:avLst/>
          </a:prstGeom>
          <a:noFill/>
          <a:ln>
            <a:noFill/>
          </a:ln>
        </p:spPr>
        <p:txBody>
          <a:bodyPr wrap="none" lIns="0" tIns="0" rIns="0" bIns="0" anchor="t" anchorCtr="0">
            <a:spAutoFit/>
          </a:bodyPr>
          <a:lstStyle/>
          <a:p>
            <a:pPr algn="l"/>
            <a:r>
              <a:rPr lang="ko-KR" sz="6300" b="1" dirty="0">
                <a:solidFill>
                  <a:srgbClr val="FFFFFF"/>
                </a:solidFill>
                <a:latin typeface="맑은 고딕"/>
                <a:ea typeface="Malgun Gothic"/>
                <a:cs typeface="맑은 고딕"/>
              </a:rPr>
              <a:t>개발자의 종말</a:t>
            </a:r>
          </a:p>
        </p:txBody>
      </p:sp>
      <p:sp>
        <p:nvSpPr>
          <p:cNvPr id="17" name="TextBox 17"/>
          <p:cNvSpPr txBox="1"/>
          <p:nvPr/>
        </p:nvSpPr>
        <p:spPr>
          <a:xfrm>
            <a:off x="927735" y="3885248"/>
            <a:ext cx="4948047" cy="396240"/>
          </a:xfrm>
          <a:prstGeom prst="rect">
            <a:avLst/>
          </a:prstGeom>
          <a:noFill/>
          <a:ln>
            <a:noFill/>
          </a:ln>
        </p:spPr>
        <p:txBody>
          <a:bodyPr wrap="none" lIns="0" tIns="0" rIns="0" bIns="0" anchor="t" anchorCtr="0">
            <a:spAutoFit/>
          </a:bodyPr>
          <a:lstStyle/>
          <a:p>
            <a:pPr algn="l"/>
            <a:r>
              <a:rPr lang="ko-KR" sz="1950" dirty="0">
                <a:solidFill>
                  <a:srgbClr val="B8C2D9"/>
                </a:solidFill>
                <a:latin typeface="맑은 고딕"/>
                <a:ea typeface="Malgun Gothic"/>
                <a:cs typeface="맑은 고딕"/>
              </a:rPr>
              <a:t>AI의 시대, 당신은 어느 쪽에 서 있는가</a:t>
            </a:r>
          </a:p>
        </p:txBody>
      </p:sp>
      <p:sp>
        <p:nvSpPr>
          <p:cNvPr id="18" name="Rectangle 18"/>
          <p:cNvSpPr/>
          <p:nvPr/>
        </p:nvSpPr>
        <p:spPr>
          <a:xfrm>
            <a:off x="952500" y="4429125"/>
            <a:ext cx="1714500" cy="9525"/>
          </a:xfrm>
          <a:prstGeom prst="rect">
            <a:avLst/>
          </a:prstGeom>
          <a:gradFill>
            <a:gsLst>
              <a:gs pos="0">
                <a:srgbClr val="E63946"/>
              </a:gs>
              <a:gs pos="100000">
                <a:srgbClr val="E63946">
                  <a:alpha val="0"/>
                </a:srgbClr>
              </a:gs>
            </a:gsLst>
            <a:lin ang="0" scaled="1"/>
          </a:gradFill>
          <a:ln>
            <a:noFill/>
          </a:ln>
        </p:spPr>
      </p:sp>
      <p:sp>
        <p:nvSpPr>
          <p:cNvPr id="19" name="TextBox 19"/>
          <p:cNvSpPr txBox="1"/>
          <p:nvPr/>
        </p:nvSpPr>
        <p:spPr>
          <a:xfrm>
            <a:off x="939165" y="6077902"/>
            <a:ext cx="1123140" cy="213360"/>
          </a:xfrm>
          <a:prstGeom prst="rect">
            <a:avLst/>
          </a:prstGeom>
          <a:noFill/>
          <a:ln>
            <a:noFill/>
          </a:ln>
        </p:spPr>
        <p:txBody>
          <a:bodyPr wrap="none" lIns="0" tIns="0" rIns="0" bIns="0" anchor="t" anchorCtr="0">
            <a:spAutoFit/>
          </a:bodyPr>
          <a:lstStyle/>
          <a:p>
            <a:pPr algn="l"/>
            <a:r>
              <a:rPr lang="ko-KR" sz="1200" dirty="0">
                <a:solidFill>
                  <a:srgbClr val="FFFFFF"/>
                </a:solidFill>
                <a:latin typeface="맑은 고딕"/>
                <a:ea typeface="Malgun Gothic"/>
                <a:cs typeface="맑은 고딕"/>
              </a:rPr>
              <a:t>발표자 · 김도현</a:t>
            </a:r>
          </a:p>
        </p:txBody>
      </p:sp>
      <p:sp>
        <p:nvSpPr>
          <p:cNvPr id="20" name="TextBox 20"/>
          <p:cNvSpPr txBox="1"/>
          <p:nvPr/>
        </p:nvSpPr>
        <p:spPr>
          <a:xfrm>
            <a:off x="940118" y="6295549"/>
            <a:ext cx="1804749" cy="198120"/>
          </a:xfrm>
          <a:prstGeom prst="rect">
            <a:avLst/>
          </a:prstGeom>
          <a:noFill/>
          <a:ln>
            <a:noFill/>
          </a:ln>
        </p:spPr>
        <p:txBody>
          <a:bodyPr wrap="none" lIns="0" tIns="0" rIns="0" bIns="0" anchor="t" anchorCtr="0">
            <a:spAutoFit/>
          </a:bodyPr>
          <a:lstStyle/>
          <a:p>
            <a:pPr algn="l"/>
            <a:r>
              <a:rPr lang="ko-KR" sz="1200" dirty="0">
                <a:solidFill>
                  <a:srgbClr val="6B7689"/>
                </a:solidFill>
                <a:latin typeface="맑은 고딕"/>
                <a:ea typeface="Malgun Gothic"/>
                <a:cs typeface="맑은 고딕"/>
              </a:rPr>
              <a:t>2025년 3월 · 기술 컨퍼런스</a:t>
            </a:r>
          </a:p>
        </p:txBody>
      </p:sp>
      <p:sp>
        <p:nvSpPr>
          <p:cNvPr id="21" name="TextBox 21"/>
          <p:cNvSpPr txBox="1"/>
          <p:nvPr/>
        </p:nvSpPr>
        <p:spPr>
          <a:xfrm>
            <a:off x="10853452" y="6303645"/>
            <a:ext cx="397478" cy="182880"/>
          </a:xfrm>
          <a:prstGeom prst="rect">
            <a:avLst/>
          </a:prstGeom>
          <a:noFill/>
          <a:ln>
            <a:noFill/>
          </a:ln>
        </p:spPr>
        <p:txBody>
          <a:bodyPr wrap="none" lIns="0" tIns="0" rIns="0" bIns="0" anchor="t" anchorCtr="0">
            <a:spAutoFit/>
          </a:bodyPr>
          <a:lstStyle/>
          <a:p>
            <a:pPr algn="r"/>
            <a:r>
              <a:rPr lang="en-US" sz="1200" dirty="0">
                <a:solidFill>
                  <a:srgbClr val="6B7689"/>
                </a:solidFill>
                <a:latin typeface="맑은 고딕"/>
                <a:ea typeface="Malgun Gothic"/>
                <a:cs typeface="맑은 고딕"/>
              </a:rPr>
              <a:t>01 / 12</a:t>
            </a:r>
          </a:p>
        </p:txBody>
      </p:sp>
    </p:spTree>
  </p:cSld>
  <p:clrMapOvr>
    <a:masterClrMapping/>
  </p:clrMapOvr>
  <p:transition xmlns:p14="http://schemas.microsoft.com/office/powerpoint/2010/main" p14:dur="5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762000" y="762000"/>
            <a:ext cx="571500" cy="28575"/>
          </a:xfrm>
          <a:prstGeom prst="rect">
            <a:avLst/>
          </a:prstGeom>
          <a:solidFill>
            <a:srgbClr val="FF6B35"/>
          </a:solidFill>
          <a:ln>
            <a:noFill/>
          </a:ln>
        </p:spPr>
      </p:sp>
      <p:sp>
        <p:nvSpPr>
          <p:cNvPr id="4" name="TextBox 4"/>
          <p:cNvSpPr txBox="1"/>
          <p:nvPr/>
        </p:nvSpPr>
        <p:spPr>
          <a:xfrm>
            <a:off x="749618" y="942499"/>
            <a:ext cx="1035796" cy="198120"/>
          </a:xfrm>
          <a:prstGeom prst="rect">
            <a:avLst/>
          </a:prstGeom>
          <a:noFill/>
          <a:ln>
            <a:noFill/>
          </a:ln>
        </p:spPr>
        <p:txBody>
          <a:bodyPr wrap="none" lIns="0" tIns="0" rIns="0" bIns="0" anchor="t" anchorCtr="0">
            <a:spAutoFit/>
          </a:bodyPr>
          <a:lstStyle/>
          <a:p>
            <a:pPr algn="l"/>
            <a:r>
              <a:rPr lang="ko-KR" sz="1200" dirty="0">
                <a:solidFill>
                  <a:srgbClr val="6B7280"/>
                </a:solidFill>
                <a:latin typeface="Malgun Gothic"/>
                <a:ea typeface="Malgun Gothic"/>
                <a:cs typeface="Malgun Gothic"/>
              </a:rPr>
              <a:t>P02 / 문제 제기</a:t>
            </a:r>
          </a:p>
        </p:txBody>
      </p:sp>
      <p:sp>
        <p:nvSpPr>
          <p:cNvPr id="5" name="TextBox 5"/>
          <p:cNvSpPr txBox="1"/>
          <p:nvPr/>
        </p:nvSpPr>
        <p:spPr>
          <a:xfrm>
            <a:off x="741045" y="1345882"/>
            <a:ext cx="3052986" cy="335280"/>
          </a:xfrm>
          <a:prstGeom prst="rect">
            <a:avLst/>
          </a:prstGeom>
          <a:noFill/>
          <a:ln>
            <a:noFill/>
          </a:ln>
        </p:spPr>
        <p:txBody>
          <a:bodyPr wrap="none" lIns="0" tIns="0" rIns="0" bIns="0" anchor="t" anchorCtr="0">
            <a:spAutoFit/>
          </a:bodyPr>
          <a:lstStyle/>
          <a:p>
            <a:pPr algn="l"/>
            <a:r>
              <a:rPr lang="ko-KR" sz="1650" b="1" dirty="0">
                <a:solidFill>
                  <a:srgbClr val="9CA3AF"/>
                </a:solidFill>
                <a:latin typeface="Malgun Gothic"/>
                <a:ea typeface="Malgun Gothic"/>
                <a:cs typeface="Malgun Gothic"/>
              </a:rPr>
              <a:t>우리는 지금 어디에 있는가</a:t>
            </a:r>
          </a:p>
        </p:txBody>
      </p:sp>
      <p:sp>
        <p:nvSpPr>
          <p:cNvPr id="6" name="TextBox 6"/>
          <p:cNvSpPr txBox="1"/>
          <p:nvPr/>
        </p:nvSpPr>
        <p:spPr>
          <a:xfrm>
            <a:off x="1162050" y="1781175"/>
            <a:ext cx="1481542" cy="2743200"/>
          </a:xfrm>
          <a:prstGeom prst="rect">
            <a:avLst/>
          </a:prstGeom>
          <a:noFill/>
          <a:ln>
            <a:noFill/>
          </a:ln>
        </p:spPr>
        <p:txBody>
          <a:bodyPr wrap="none" lIns="0" tIns="0" rIns="0" bIns="0" anchor="t" anchorCtr="0">
            <a:spAutoFit/>
          </a:bodyPr>
          <a:lstStyle/>
          <a:p>
            <a:pPr algn="l"/>
            <a:r>
              <a:rPr lang="en-US" sz="13500" b="1" dirty="0">
                <a:solidFill>
                  <a:srgbClr val="FF6B35">
                    <a:alphaMod val="25000"/>
                  </a:srgbClr>
                </a:solidFill>
                <a:latin typeface="Georgia"/>
                <a:ea typeface="SimSun"/>
                <a:cs typeface="Georgia"/>
              </a:rPr>
              <a:t>"</a:t>
            </a:r>
          </a:p>
        </p:txBody>
      </p:sp>
      <p:sp>
        <p:nvSpPr>
          <p:cNvPr id="7" name="TextBox 7"/>
          <p:cNvSpPr txBox="1"/>
          <p:nvPr/>
        </p:nvSpPr>
        <p:spPr>
          <a:xfrm>
            <a:off x="1283970" y="3198495"/>
            <a:ext cx="10116812" cy="792480"/>
          </a:xfrm>
          <a:prstGeom prst="rect">
            <a:avLst/>
          </a:prstGeom>
          <a:noFill/>
          <a:ln>
            <a:noFill/>
          </a:ln>
        </p:spPr>
        <p:txBody>
          <a:bodyPr wrap="none" lIns="0" tIns="0" rIns="0" bIns="0" anchor="t" anchorCtr="0">
            <a:spAutoFit/>
          </a:bodyPr>
          <a:lstStyle/>
          <a:p>
            <a:pPr algn="l"/>
            <a:r>
              <a:rPr lang="ko-KR" sz="3900" b="1" dirty="0">
                <a:solidFill>
                  <a:srgbClr val="FFFFFF"/>
                </a:solidFill>
                <a:latin typeface="Malgun Gothic"/>
                <a:ea typeface="Malgun Gothic"/>
                <a:cs typeface="Malgun Gothic"/>
              </a:rPr>
              <a:t>당신이 이 슬라이드를 보는 동안에도,</a:t>
            </a:r>
          </a:p>
        </p:txBody>
      </p:sp>
      <p:sp>
        <p:nvSpPr>
          <p:cNvPr id="8" name="TextBox 8"/>
          <p:cNvSpPr txBox="1"/>
          <p:nvPr/>
        </p:nvSpPr>
        <p:spPr>
          <a:xfrm>
            <a:off x="1283970" y="3865245"/>
            <a:ext cx="6259230" cy="792480"/>
          </a:xfrm>
          <a:prstGeom prst="rect">
            <a:avLst/>
          </a:prstGeom>
          <a:noFill/>
          <a:ln>
            <a:noFill/>
          </a:ln>
        </p:spPr>
        <p:txBody>
          <a:bodyPr wrap="none" lIns="0" tIns="0" rIns="0" bIns="0" anchor="t" anchorCtr="0">
            <a:spAutoFit/>
          </a:bodyPr>
          <a:lstStyle/>
          <a:p>
            <a:pPr algn="l"/>
            <a:r>
              <a:rPr lang="ko-KR" sz="3900" b="1" dirty="0">
                <a:solidFill>
                  <a:srgbClr val="FF6B35"/>
                </a:solidFill>
                <a:latin typeface="Malgun Gothic"/>
                <a:ea typeface="Malgun Gothic"/>
                <a:cs typeface="Malgun Gothic"/>
              </a:rPr>
              <a:t>AI는 코드를 쓰고 있다.</a:t>
            </a:r>
          </a:p>
        </p:txBody>
      </p:sp>
      <p:sp>
        <p:nvSpPr>
          <p:cNvPr id="9" name="Rectangle 9"/>
          <p:cNvSpPr/>
          <p:nvPr/>
        </p:nvSpPr>
        <p:spPr>
          <a:xfrm>
            <a:off x="1333500" y="4857750"/>
            <a:ext cx="381000" cy="19050"/>
          </a:xfrm>
          <a:prstGeom prst="rect">
            <a:avLst/>
          </a:prstGeom>
          <a:solidFill>
            <a:srgbClr val="4B5563"/>
          </a:solidFill>
          <a:ln>
            <a:noFill/>
          </a:ln>
        </p:spPr>
      </p:sp>
      <p:sp>
        <p:nvSpPr>
          <p:cNvPr id="10" name="TextBox 10"/>
          <p:cNvSpPr txBox="1"/>
          <p:nvPr/>
        </p:nvSpPr>
        <p:spPr>
          <a:xfrm>
            <a:off x="1316355" y="5140642"/>
            <a:ext cx="5623989" cy="274320"/>
          </a:xfrm>
          <a:prstGeom prst="rect">
            <a:avLst/>
          </a:prstGeom>
          <a:noFill/>
          <a:ln>
            <a:noFill/>
          </a:ln>
        </p:spPr>
        <p:txBody>
          <a:bodyPr wrap="none" lIns="0" tIns="0" rIns="0" bIns="0" anchor="t" anchorCtr="0">
            <a:spAutoFit/>
          </a:bodyPr>
          <a:lstStyle/>
          <a:p>
            <a:pPr algn="l"/>
            <a:r>
              <a:rPr lang="ko-KR" sz="1350" dirty="0">
                <a:solidFill>
                  <a:srgbClr val="9CA3AF"/>
                </a:solidFill>
                <a:latin typeface="Malgun Gothic"/>
                <a:ea typeface="Malgun Gothic"/>
                <a:cs typeface="Malgun Gothic"/>
              </a:rPr>
              <a:t>ChatGPT 출시 이후 3년, 개발 생산성 지형은 완전히 재편되었다</a:t>
            </a:r>
          </a:p>
        </p:txBody>
      </p:sp>
      <p:sp>
        <p:nvSpPr>
          <p:cNvPr id="11" name="TextBox 11"/>
          <p:cNvSpPr txBox="1"/>
          <p:nvPr/>
        </p:nvSpPr>
        <p:spPr>
          <a:xfrm>
            <a:off x="10901410" y="6387941"/>
            <a:ext cx="539067" cy="167640"/>
          </a:xfrm>
          <a:prstGeom prst="rect">
            <a:avLst/>
          </a:prstGeom>
          <a:noFill/>
          <a:ln>
            <a:noFill/>
          </a:ln>
        </p:spPr>
        <p:txBody>
          <a:bodyPr wrap="none" lIns="0" tIns="0" rIns="0" bIns="0" anchor="t" anchorCtr="0">
            <a:spAutoFit/>
          </a:bodyPr>
          <a:lstStyle/>
          <a:p>
            <a:pPr algn="r"/>
            <a:r>
              <a:rPr lang="ko-KR" sz="1200" dirty="0">
                <a:solidFill>
                  <a:srgbClr val="4B5563"/>
                </a:solidFill>
                <a:latin typeface="Malgun Gothic"/>
                <a:ea typeface="Malgun Gothic"/>
                <a:cs typeface="Malgun Gothic"/>
              </a:rPr>
              <a:t>현실 직시</a:t>
            </a:r>
          </a:p>
        </p:txBody>
      </p:sp>
      <p:sp>
        <p:nvSpPr>
          <p:cNvPr id="12" name="Rectangle 12"/>
          <p:cNvSpPr/>
          <p:nvPr/>
        </p:nvSpPr>
        <p:spPr>
          <a:xfrm>
            <a:off x="11049000" y="2667000"/>
            <a:ext cx="19050" cy="1524000"/>
          </a:xfrm>
          <a:prstGeom prst="rect">
            <a:avLst/>
          </a:prstGeom>
          <a:solidFill>
            <a:srgbClr val="FF6B35">
              <a:alpha val="40000"/>
            </a:srgbClr>
          </a:solidFill>
          <a:ln>
            <a:noFill/>
          </a:ln>
        </p:spPr>
      </p:sp>
      <p:sp>
        <p:nvSpPr>
          <p:cNvPr id="13" name="TextBox 13"/>
          <p:cNvSpPr txBox="1"/>
          <p:nvPr/>
        </p:nvSpPr>
        <p:spPr>
          <a:xfrm>
            <a:off x="11228070" y="2950845"/>
            <a:ext cx="292322" cy="182880"/>
          </a:xfrm>
          <a:prstGeom prst="rect">
            <a:avLst/>
          </a:prstGeom>
          <a:noFill/>
          <a:ln>
            <a:noFill/>
          </a:ln>
        </p:spPr>
        <p:txBody>
          <a:bodyPr wrap="none" lIns="0" tIns="0" rIns="0" bIns="0" anchor="t" anchorCtr="0">
            <a:spAutoFit/>
          </a:bodyPr>
          <a:lstStyle/>
          <a:p>
            <a:pPr algn="l"/>
            <a:r>
              <a:rPr lang="en-US" sz="1200" dirty="0">
                <a:solidFill>
                  <a:srgbClr val="6B7280"/>
                </a:solidFill>
                <a:latin typeface="Malgun Gothic"/>
                <a:ea typeface="Malgun Gothic"/>
                <a:cs typeface="Malgun Gothic"/>
              </a:rPr>
              <a:t>NOW</a:t>
            </a:r>
          </a:p>
        </p:txBody>
      </p:sp>
      <p:sp>
        <p:nvSpPr>
          <p:cNvPr id="14" name="TextBox 14"/>
          <p:cNvSpPr txBox="1"/>
          <p:nvPr/>
        </p:nvSpPr>
        <p:spPr>
          <a:xfrm>
            <a:off x="11228070" y="3188970"/>
            <a:ext cx="312039" cy="182880"/>
          </a:xfrm>
          <a:prstGeom prst="rect">
            <a:avLst/>
          </a:prstGeom>
          <a:noFill/>
          <a:ln>
            <a:noFill/>
          </a:ln>
        </p:spPr>
        <p:txBody>
          <a:bodyPr wrap="none" lIns="0" tIns="0" rIns="0" bIns="0" anchor="t" anchorCtr="0">
            <a:spAutoFit/>
          </a:bodyPr>
          <a:lstStyle/>
          <a:p>
            <a:pPr algn="l"/>
            <a:r>
              <a:rPr lang="en-US" sz="1200" dirty="0">
                <a:solidFill>
                  <a:srgbClr val="6B7280"/>
                </a:solidFill>
                <a:latin typeface="Malgun Gothic"/>
                <a:ea typeface="Malgun Gothic"/>
                <a:cs typeface="Malgun Gothic"/>
              </a:rPr>
              <a:t>2025</a:t>
            </a:r>
          </a:p>
        </p:txBody>
      </p:sp>
    </p:spTree>
  </p:cSld>
  <p:clrMapOvr>
    <a:masterClrMapping/>
  </p:clrMapOvr>
  <p:transition xmlns:p14="http://schemas.microsoft.com/office/powerpoint/2010/main" p14:dur="5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7"/>
          </a:solidFill>
          <a:ln>
            <a:noFill/>
          </a:ln>
        </p:spPr>
      </p:sp>
      <p:grpSp>
        <p:nvGrpSpPr>
          <p:cNvPr id="6" name="Group 6"/>
          <p:cNvGrpSpPr/>
          <p:nvPr/>
        </p:nvGrpSpPr>
        <p:grpSpPr>
          <a:xfrm>
            <a:off x="559118" y="370999"/>
            <a:ext cx="11073765" cy="645795"/>
            <a:chOff x="559118" y="370999"/>
            <a:chExt cx="11073765" cy="645795"/>
          </a:xfrm>
        </p:grpSpPr>
        <p:sp>
          <p:nvSpPr>
            <p:cNvPr id="3" name="TextBox 3"/>
            <p:cNvSpPr txBox="1"/>
            <p:nvPr/>
          </p:nvSpPr>
          <p:spPr>
            <a:xfrm>
              <a:off x="559118" y="818674"/>
              <a:ext cx="936117" cy="198120"/>
            </a:xfrm>
            <a:prstGeom prst="rect">
              <a:avLst/>
            </a:prstGeom>
            <a:noFill/>
            <a:ln>
              <a:noFill/>
            </a:ln>
          </p:spPr>
          <p:txBody>
            <a:bodyPr wrap="none" lIns="0" tIns="0" rIns="0" bIns="0" anchor="t" anchorCtr="0">
              <a:spAutoFit/>
            </a:bodyPr>
            <a:lstStyle/>
            <a:p>
              <a:pPr algn="l"/>
              <a:r>
                <a:rPr lang="ko-KR" sz="1200" dirty="0">
                  <a:solidFill>
                    <a:srgbClr val="9A9A93"/>
                  </a:solidFill>
                  <a:latin typeface="Malgun Gothic"/>
                  <a:ea typeface="Malgun Gothic"/>
                  <a:cs typeface="Malgun Gothic"/>
                </a:rPr>
                <a:t>03 / AI 생산성</a:t>
              </a:r>
            </a:p>
          </p:txBody>
        </p:sp>
        <p:sp>
          <p:nvSpPr>
            <p:cNvPr id="4" name="TextBox 4"/>
            <p:cNvSpPr txBox="1"/>
            <p:nvPr/>
          </p:nvSpPr>
          <p:spPr>
            <a:xfrm>
              <a:off x="11451479" y="370999"/>
              <a:ext cx="181404" cy="198120"/>
            </a:xfrm>
            <a:prstGeom prst="rect">
              <a:avLst/>
            </a:prstGeom>
            <a:noFill/>
            <a:ln>
              <a:noFill/>
            </a:ln>
          </p:spPr>
          <p:txBody>
            <a:bodyPr wrap="none" lIns="0" tIns="0" rIns="0" bIns="0" anchor="t" anchorCtr="0">
              <a:spAutoFit/>
            </a:bodyPr>
            <a:lstStyle/>
            <a:p>
              <a:pPr algn="r"/>
              <a:r>
                <a:rPr lang="en-US" sz="1200" dirty="0">
                  <a:solidFill>
                    <a:srgbClr val="9A9A93"/>
                  </a:solidFill>
                  <a:latin typeface="Malgun Gothic"/>
                  <a:ea typeface="Malgun Gothic"/>
                  <a:cs typeface="Malgun Gothic"/>
                </a:rPr>
                <a:t>07</a:t>
              </a:r>
            </a:p>
          </p:txBody>
        </p:sp>
        <p:sp>
          <p:nvSpPr>
            <p:cNvPr id="5" name="Line 5"/>
            <p:cNvSpPr/>
            <p:nvPr/>
          </p:nvSpPr>
          <p:spPr>
            <a:xfrm>
              <a:off x="571500" y="619125"/>
              <a:ext cx="11049000" cy="9525"/>
            </a:xfrm>
            <a:custGeom>
              <a:avLst/>
              <a:gdLst/>
              <a:ahLst/>
              <a:cxnLst/>
              <a:rect l="l" t="t" r="r" b="b"/>
              <a:pathLst>
                <a:path w="11049000" h="9525">
                  <a:moveTo>
                    <a:pt x="0" y="0"/>
                  </a:moveTo>
                  <a:lnTo>
                    <a:pt x="11049000" y="0"/>
                  </a:lnTo>
                </a:path>
              </a:pathLst>
            </a:custGeom>
            <a:noFill/>
            <a:ln w="9525">
              <a:solidFill>
                <a:srgbClr val="E5E3DC"/>
              </a:solidFill>
            </a:ln>
          </p:spPr>
        </p:sp>
      </p:grpSp>
      <p:grpSp>
        <p:nvGrpSpPr>
          <p:cNvPr id="20" name="Group 20"/>
          <p:cNvGrpSpPr/>
          <p:nvPr/>
        </p:nvGrpSpPr>
        <p:grpSpPr>
          <a:xfrm>
            <a:off x="510540" y="1143000"/>
            <a:ext cx="2544661" cy="5126831"/>
            <a:chOff x="510540" y="1143000"/>
            <a:chExt cx="2544661" cy="5126831"/>
          </a:xfrm>
        </p:grpSpPr>
        <p:sp>
          <p:nvSpPr>
            <p:cNvPr id="7" name="Rectangle 7"/>
            <p:cNvSpPr/>
            <p:nvPr/>
          </p:nvSpPr>
          <p:spPr>
            <a:xfrm>
              <a:off x="571500" y="1143000"/>
              <a:ext cx="457200" cy="38100"/>
            </a:xfrm>
            <a:prstGeom prst="rect">
              <a:avLst/>
            </a:prstGeom>
            <a:solidFill>
              <a:srgbClr val="FF6B35"/>
            </a:solidFill>
            <a:ln>
              <a:noFill/>
            </a:ln>
          </p:spPr>
        </p:sp>
        <p:sp>
          <p:nvSpPr>
            <p:cNvPr id="8" name="TextBox 8"/>
            <p:cNvSpPr txBox="1"/>
            <p:nvPr/>
          </p:nvSpPr>
          <p:spPr>
            <a:xfrm>
              <a:off x="558165" y="1410652"/>
              <a:ext cx="1347035" cy="213360"/>
            </a:xfrm>
            <a:prstGeom prst="rect">
              <a:avLst/>
            </a:prstGeom>
            <a:noFill/>
            <a:ln>
              <a:noFill/>
            </a:ln>
          </p:spPr>
          <p:txBody>
            <a:bodyPr wrap="none" lIns="0" tIns="0" rIns="0" bIns="0" anchor="t" anchorCtr="0">
              <a:spAutoFit/>
            </a:bodyPr>
            <a:lstStyle/>
            <a:p>
              <a:pPr algn="l"/>
              <a:r>
                <a:rPr lang="en-US" sz="1200" b="1" dirty="0">
                  <a:solidFill>
                    <a:srgbClr val="FF6B35"/>
                  </a:solidFill>
                  <a:latin typeface="Segoe UI"/>
                  <a:ea typeface="Microsoft YaHei"/>
                  <a:cs typeface="Segoe UI"/>
                </a:rPr>
                <a:t>SPEED BENCHMARK</a:t>
              </a:r>
            </a:p>
          </p:txBody>
        </p:sp>
        <p:sp>
          <p:nvSpPr>
            <p:cNvPr id="9" name="TextBox 9"/>
            <p:cNvSpPr txBox="1"/>
            <p:nvPr/>
          </p:nvSpPr>
          <p:spPr>
            <a:xfrm>
              <a:off x="535305" y="1787842"/>
              <a:ext cx="2192105" cy="579120"/>
            </a:xfrm>
            <a:prstGeom prst="rect">
              <a:avLst/>
            </a:prstGeom>
            <a:noFill/>
            <a:ln>
              <a:noFill/>
            </a:ln>
          </p:spPr>
          <p:txBody>
            <a:bodyPr wrap="none" lIns="0" tIns="0" rIns="0" bIns="0" anchor="t" anchorCtr="0">
              <a:spAutoFit/>
            </a:bodyPr>
            <a:lstStyle/>
            <a:p>
              <a:pPr algn="l"/>
              <a:r>
                <a:rPr lang="ko-KR" sz="2850" b="1" dirty="0">
                  <a:solidFill>
                    <a:srgbClr val="1A1A1A"/>
                  </a:solidFill>
                  <a:latin typeface="Segoe UI"/>
                  <a:ea typeface="Microsoft YaHei"/>
                  <a:cs typeface="Segoe UI"/>
                </a:rPr>
                <a:t>코딩 속도,</a:t>
              </a:r>
            </a:p>
          </p:txBody>
        </p:sp>
        <p:sp>
          <p:nvSpPr>
            <p:cNvPr id="10" name="TextBox 10"/>
            <p:cNvSpPr txBox="1"/>
            <p:nvPr/>
          </p:nvSpPr>
          <p:spPr>
            <a:xfrm>
              <a:off x="535305" y="2225992"/>
              <a:ext cx="2519896" cy="579120"/>
            </a:xfrm>
            <a:prstGeom prst="rect">
              <a:avLst/>
            </a:prstGeom>
            <a:noFill/>
            <a:ln>
              <a:noFill/>
            </a:ln>
          </p:spPr>
          <p:txBody>
            <a:bodyPr wrap="none" lIns="0" tIns="0" rIns="0" bIns="0" anchor="t" anchorCtr="0">
              <a:spAutoFit/>
            </a:bodyPr>
            <a:lstStyle/>
            <a:p>
              <a:pPr algn="l"/>
              <a:r>
                <a:rPr lang="ko-KR" sz="2850" b="1" dirty="0">
                  <a:solidFill>
                    <a:srgbClr val="1A1A1A"/>
                  </a:solidFill>
                  <a:latin typeface="Segoe UI"/>
                  <a:ea typeface="Microsoft YaHei"/>
                  <a:cs typeface="Segoe UI"/>
                </a:rPr>
                <a:t>이미 두 배가</a:t>
              </a:r>
            </a:p>
          </p:txBody>
        </p:sp>
        <p:sp>
          <p:nvSpPr>
            <p:cNvPr id="11" name="TextBox 11"/>
            <p:cNvSpPr txBox="1"/>
            <p:nvPr/>
          </p:nvSpPr>
          <p:spPr>
            <a:xfrm>
              <a:off x="535305" y="2664142"/>
              <a:ext cx="2257663" cy="579120"/>
            </a:xfrm>
            <a:prstGeom prst="rect">
              <a:avLst/>
            </a:prstGeom>
            <a:noFill/>
            <a:ln>
              <a:noFill/>
            </a:ln>
          </p:spPr>
          <p:txBody>
            <a:bodyPr wrap="none" lIns="0" tIns="0" rIns="0" bIns="0" anchor="t" anchorCtr="0">
              <a:spAutoFit/>
            </a:bodyPr>
            <a:lstStyle/>
            <a:p>
              <a:pPr algn="l"/>
              <a:r>
                <a:rPr lang="ko-KR" sz="2850" b="1" dirty="0">
                  <a:solidFill>
                    <a:srgbClr val="FF6B35"/>
                  </a:solidFill>
                  <a:latin typeface="Segoe UI"/>
                  <a:ea typeface="Microsoft YaHei"/>
                  <a:cs typeface="Segoe UI"/>
                </a:rPr>
                <a:t>넘었습니다</a:t>
              </a:r>
            </a:p>
          </p:txBody>
        </p:sp>
        <p:sp>
          <p:nvSpPr>
            <p:cNvPr id="12" name="TextBox 12"/>
            <p:cNvSpPr txBox="1"/>
            <p:nvPr/>
          </p:nvSpPr>
          <p:spPr>
            <a:xfrm>
              <a:off x="557212" y="3421856"/>
              <a:ext cx="1819513" cy="228600"/>
            </a:xfrm>
            <a:prstGeom prst="rect">
              <a:avLst/>
            </a:prstGeom>
            <a:noFill/>
            <a:ln>
              <a:noFill/>
            </a:ln>
          </p:spPr>
          <p:txBody>
            <a:bodyPr wrap="none" lIns="0" tIns="0" rIns="0" bIns="0" anchor="t" anchorCtr="0">
              <a:spAutoFit/>
            </a:bodyPr>
            <a:lstStyle/>
            <a:p>
              <a:pPr algn="l"/>
              <a:r>
                <a:rPr lang="ko-KR" sz="1200" dirty="0">
                  <a:solidFill>
                    <a:srgbClr val="5A5A52"/>
                  </a:solidFill>
                  <a:latin typeface="Segoe UI"/>
                  <a:ea typeface="Microsoft YaHei"/>
                  <a:cs typeface="Segoe UI"/>
                </a:rPr>
                <a:t>동일한 기능 구현에 걸린</a:t>
              </a:r>
            </a:p>
          </p:txBody>
        </p:sp>
        <p:sp>
          <p:nvSpPr>
            <p:cNvPr id="13" name="TextBox 13"/>
            <p:cNvSpPr txBox="1"/>
            <p:nvPr/>
          </p:nvSpPr>
          <p:spPr>
            <a:xfrm>
              <a:off x="557212" y="3631406"/>
              <a:ext cx="1819513" cy="228600"/>
            </a:xfrm>
            <a:prstGeom prst="rect">
              <a:avLst/>
            </a:prstGeom>
            <a:noFill/>
            <a:ln>
              <a:noFill/>
            </a:ln>
          </p:spPr>
          <p:txBody>
            <a:bodyPr wrap="none" lIns="0" tIns="0" rIns="0" bIns="0" anchor="t" anchorCtr="0">
              <a:spAutoFit/>
            </a:bodyPr>
            <a:lstStyle/>
            <a:p>
              <a:pPr algn="l"/>
              <a:r>
                <a:rPr lang="ko-KR" sz="1200" dirty="0">
                  <a:solidFill>
                    <a:srgbClr val="5A5A52"/>
                  </a:solidFill>
                  <a:latin typeface="Segoe UI"/>
                  <a:ea typeface="Microsoft YaHei"/>
                  <a:cs typeface="Segoe UI"/>
                </a:rPr>
                <a:t>평균 작업 시간을 비교한</a:t>
              </a:r>
            </a:p>
          </p:txBody>
        </p:sp>
        <p:sp>
          <p:nvSpPr>
            <p:cNvPr id="14" name="TextBox 14"/>
            <p:cNvSpPr txBox="1"/>
            <p:nvPr/>
          </p:nvSpPr>
          <p:spPr>
            <a:xfrm>
              <a:off x="557212" y="3840956"/>
              <a:ext cx="940475" cy="228600"/>
            </a:xfrm>
            <a:prstGeom prst="rect">
              <a:avLst/>
            </a:prstGeom>
            <a:noFill/>
            <a:ln>
              <a:noFill/>
            </a:ln>
          </p:spPr>
          <p:txBody>
            <a:bodyPr wrap="none" lIns="0" tIns="0" rIns="0" bIns="0" anchor="t" anchorCtr="0">
              <a:spAutoFit/>
            </a:bodyPr>
            <a:lstStyle/>
            <a:p>
              <a:pPr algn="l"/>
              <a:r>
                <a:rPr lang="ko-KR" sz="1200" dirty="0">
                  <a:solidFill>
                    <a:srgbClr val="5A5A52"/>
                  </a:solidFill>
                  <a:latin typeface="Segoe UI"/>
                  <a:ea typeface="Microsoft YaHei"/>
                  <a:cs typeface="Segoe UI"/>
                </a:rPr>
                <a:t>결과입니다.</a:t>
              </a:r>
            </a:p>
          </p:txBody>
        </p:sp>
        <p:grpSp>
          <p:nvGrpSpPr>
            <p:cNvPr id="18" name="Group 18"/>
            <p:cNvGrpSpPr/>
            <p:nvPr/>
          </p:nvGrpSpPr>
          <p:grpSpPr>
            <a:xfrm>
              <a:off x="510540" y="4487228"/>
              <a:ext cx="1336472" cy="999172"/>
              <a:chOff x="510540" y="4487228"/>
              <a:chExt cx="1336472" cy="999172"/>
            </a:xfrm>
          </p:grpSpPr>
          <p:sp>
            <p:nvSpPr>
              <p:cNvPr id="15" name="TextBox 15"/>
              <p:cNvSpPr txBox="1"/>
              <p:nvPr/>
            </p:nvSpPr>
            <p:spPr>
              <a:xfrm>
                <a:off x="558165" y="4487228"/>
                <a:ext cx="486727" cy="213360"/>
              </a:xfrm>
              <a:prstGeom prst="rect">
                <a:avLst/>
              </a:prstGeom>
              <a:noFill/>
              <a:ln>
                <a:noFill/>
              </a:ln>
            </p:spPr>
            <p:txBody>
              <a:bodyPr wrap="none" lIns="0" tIns="0" rIns="0" bIns="0" anchor="t" anchorCtr="0">
                <a:spAutoFit/>
              </a:bodyPr>
              <a:lstStyle/>
              <a:p>
                <a:pPr algn="l"/>
                <a:r>
                  <a:rPr lang="ko-KR" sz="1200" dirty="0">
                    <a:solidFill>
                      <a:srgbClr val="9A9A93"/>
                    </a:solidFill>
                    <a:latin typeface="Segoe UI"/>
                    <a:ea typeface="Microsoft YaHei"/>
                    <a:cs typeface="Segoe UI"/>
                  </a:rPr>
                  <a:t>감소율</a:t>
                </a:r>
              </a:p>
            </p:txBody>
          </p:sp>
          <p:sp>
            <p:nvSpPr>
              <p:cNvPr id="16" name="TextBox 16"/>
              <p:cNvSpPr txBox="1"/>
              <p:nvPr/>
            </p:nvSpPr>
            <p:spPr>
              <a:xfrm>
                <a:off x="510540" y="4511040"/>
                <a:ext cx="1336472" cy="975360"/>
              </a:xfrm>
              <a:prstGeom prst="rect">
                <a:avLst/>
              </a:prstGeom>
              <a:noFill/>
              <a:ln>
                <a:noFill/>
              </a:ln>
            </p:spPr>
            <p:txBody>
              <a:bodyPr wrap="none" lIns="0" tIns="0" rIns="0" bIns="0" anchor="t" anchorCtr="0">
                <a:spAutoFit/>
              </a:bodyPr>
              <a:lstStyle/>
              <a:p>
                <a:pPr algn="l"/>
                <a:r>
                  <a:rPr lang="en-US" sz="4800" b="1" dirty="0">
                    <a:solidFill>
                      <a:srgbClr val="1A1A1A"/>
                    </a:solidFill>
                    <a:latin typeface="Segoe UI"/>
                    <a:ea typeface="Microsoft YaHei"/>
                    <a:cs typeface="Segoe UI"/>
                  </a:rPr>
                  <a:t>62</a:t>
                </a:r>
                <a:r>
                  <a:rPr lang="en-US" sz="2700" b="1" dirty="0">
                    <a:solidFill>
                      <a:srgbClr val="FF6B35"/>
                    </a:solidFill>
                    <a:latin typeface="Segoe UI"/>
                    <a:ea typeface="Microsoft YaHei"/>
                    <a:cs typeface="Segoe UI"/>
                  </a:rPr>
                  <a:t>%</a:t>
                </a:r>
              </a:p>
            </p:txBody>
          </p:sp>
          <p:sp>
            <p:nvSpPr>
              <p:cNvPr id="17" name="TextBox 17"/>
              <p:cNvSpPr txBox="1"/>
              <p:nvPr/>
            </p:nvSpPr>
            <p:spPr>
              <a:xfrm>
                <a:off x="559118" y="5190649"/>
                <a:ext cx="964597" cy="198120"/>
              </a:xfrm>
              <a:prstGeom prst="rect">
                <a:avLst/>
              </a:prstGeom>
              <a:noFill/>
              <a:ln>
                <a:noFill/>
              </a:ln>
            </p:spPr>
            <p:txBody>
              <a:bodyPr wrap="none" lIns="0" tIns="0" rIns="0" bIns="0" anchor="t" anchorCtr="0">
                <a:spAutoFit/>
              </a:bodyPr>
              <a:lstStyle/>
              <a:p>
                <a:pPr algn="l"/>
                <a:r>
                  <a:rPr lang="ko-KR" sz="1200" dirty="0">
                    <a:solidFill>
                      <a:srgbClr val="5A5A52"/>
                    </a:solidFill>
                    <a:latin typeface="Segoe UI"/>
                    <a:ea typeface="Microsoft YaHei"/>
                    <a:cs typeface="Segoe UI"/>
                  </a:rPr>
                  <a:t>작업 시간 단축</a:t>
                </a:r>
              </a:p>
            </p:txBody>
          </p:sp>
        </p:grpSp>
        <p:sp>
          <p:nvSpPr>
            <p:cNvPr id="19" name="TextBox 19"/>
            <p:cNvSpPr txBox="1"/>
            <p:nvPr/>
          </p:nvSpPr>
          <p:spPr>
            <a:xfrm>
              <a:off x="561022" y="6102191"/>
              <a:ext cx="2280166" cy="167640"/>
            </a:xfrm>
            <a:prstGeom prst="rect">
              <a:avLst/>
            </a:prstGeom>
            <a:noFill/>
            <a:ln>
              <a:noFill/>
            </a:ln>
          </p:spPr>
          <p:txBody>
            <a:bodyPr wrap="none" lIns="0" tIns="0" rIns="0" bIns="0" anchor="t" anchorCtr="0">
              <a:spAutoFit/>
            </a:bodyPr>
            <a:lstStyle/>
            <a:p>
              <a:pPr algn="l"/>
              <a:r>
                <a:rPr lang="ko-KR" sz="1200" dirty="0">
                  <a:solidFill>
                    <a:srgbClr val="9A9A93"/>
                  </a:solidFill>
                  <a:latin typeface="Segoe UI"/>
                  <a:ea typeface="Microsoft YaHei"/>
                  <a:cs typeface="Segoe UI"/>
                </a:rPr>
                <a:t>출처: GitHub Copilot 사용자 연구 (2024)</a:t>
              </a:r>
            </a:p>
          </p:txBody>
        </p:sp>
      </p:grpSp>
      <p:sp>
        <p:nvSpPr>
          <p:cNvPr id="21" name="Line 21"/>
          <p:cNvSpPr/>
          <p:nvPr/>
        </p:nvSpPr>
        <p:spPr>
          <a:xfrm>
            <a:off x="4000500" y="1143000"/>
            <a:ext cx="9525" cy="5143500"/>
          </a:xfrm>
          <a:custGeom>
            <a:avLst/>
            <a:gdLst/>
            <a:ahLst/>
            <a:cxnLst/>
            <a:rect l="l" t="t" r="r" b="b"/>
            <a:pathLst>
              <a:path w="9525" h="5143500">
                <a:moveTo>
                  <a:pt x="0" y="0"/>
                </a:moveTo>
                <a:lnTo>
                  <a:pt x="0" y="5143500"/>
                </a:lnTo>
              </a:path>
            </a:pathLst>
          </a:custGeom>
          <a:noFill/>
          <a:ln w="9525">
            <a:solidFill>
              <a:srgbClr val="E5E3DC"/>
            </a:solidFill>
          </a:ln>
        </p:spPr>
      </p:sp>
      <p:grpSp>
        <p:nvGrpSpPr>
          <p:cNvPr id="64" name="Group 64"/>
          <p:cNvGrpSpPr/>
          <p:nvPr/>
        </p:nvGrpSpPr>
        <p:grpSpPr>
          <a:xfrm>
            <a:off x="4461510" y="1203960"/>
            <a:ext cx="7063740" cy="5985034"/>
            <a:chOff x="4461510" y="1203960"/>
            <a:chExt cx="7063740" cy="5985034"/>
          </a:xfrm>
        </p:grpSpPr>
        <p:sp>
          <p:nvSpPr>
            <p:cNvPr id="22" name="TextBox 22"/>
            <p:cNvSpPr txBox="1"/>
            <p:nvPr/>
          </p:nvSpPr>
          <p:spPr>
            <a:xfrm>
              <a:off x="4461510" y="1203960"/>
              <a:ext cx="3122066" cy="243840"/>
            </a:xfrm>
            <a:prstGeom prst="rect">
              <a:avLst/>
            </a:prstGeom>
            <a:noFill/>
            <a:ln>
              <a:noFill/>
            </a:ln>
          </p:spPr>
          <p:txBody>
            <a:bodyPr wrap="none" lIns="0" tIns="0" rIns="0" bIns="0" anchor="t" anchorCtr="0">
              <a:spAutoFit/>
            </a:bodyPr>
            <a:lstStyle/>
            <a:p>
              <a:pPr algn="l"/>
              <a:r>
                <a:rPr lang="ko-KR" sz="1200" b="1" dirty="0">
                  <a:solidFill>
                    <a:srgbClr val="1A1A1A"/>
                  </a:solidFill>
                  <a:latin typeface="Segoe UI"/>
                  <a:ea typeface="Microsoft YaHei"/>
                  <a:cs typeface="Segoe UI"/>
                </a:rPr>
                <a:t>동일 기능 구현에 걸린 평균 작업 시간</a:t>
              </a:r>
            </a:p>
          </p:txBody>
        </p:sp>
        <p:sp>
          <p:nvSpPr>
            <p:cNvPr id="23" name="TextBox 23"/>
            <p:cNvSpPr txBox="1"/>
            <p:nvPr/>
          </p:nvSpPr>
          <p:spPr>
            <a:xfrm>
              <a:off x="4464368" y="1961674"/>
              <a:ext cx="1676590" cy="198120"/>
            </a:xfrm>
            <a:prstGeom prst="rect">
              <a:avLst/>
            </a:prstGeom>
            <a:noFill/>
            <a:ln>
              <a:noFill/>
            </a:ln>
          </p:spPr>
          <p:txBody>
            <a:bodyPr wrap="none" lIns="0" tIns="0" rIns="0" bIns="0" anchor="t" anchorCtr="0">
              <a:spAutoFit/>
            </a:bodyPr>
            <a:lstStyle/>
            <a:p>
              <a:pPr algn="l"/>
              <a:r>
                <a:rPr lang="ko-KR" sz="1200" dirty="0">
                  <a:solidFill>
                    <a:srgbClr val="9A9A93"/>
                  </a:solidFill>
                  <a:latin typeface="Segoe UI"/>
                  <a:ea typeface="Microsoft YaHei"/>
                  <a:cs typeface="Segoe UI"/>
                </a:rPr>
                <a:t>기준값 100 대비 상대 비교</a:t>
              </a:r>
            </a:p>
          </p:txBody>
        </p:sp>
        <p:grpSp>
          <p:nvGrpSpPr>
            <p:cNvPr id="57" name="Group 57"/>
            <p:cNvGrpSpPr/>
            <p:nvPr/>
          </p:nvGrpSpPr>
          <p:grpSpPr>
            <a:xfrm>
              <a:off x="4466272" y="1949291"/>
              <a:ext cx="7058978" cy="4415790"/>
              <a:chOff x="4466272" y="1949291"/>
              <a:chExt cx="7058978" cy="4415790"/>
            </a:xfrm>
          </p:grpSpPr>
          <p:sp>
            <p:nvSpPr>
              <p:cNvPr id="24" name="TextBox 24"/>
              <p:cNvSpPr txBox="1"/>
              <p:nvPr/>
            </p:nvSpPr>
            <p:spPr>
              <a:xfrm>
                <a:off x="4466272" y="2006441"/>
                <a:ext cx="382429" cy="167640"/>
              </a:xfrm>
              <a:prstGeom prst="rect">
                <a:avLst/>
              </a:prstGeom>
              <a:noFill/>
              <a:ln>
                <a:noFill/>
              </a:ln>
            </p:spPr>
            <p:txBody>
              <a:bodyPr wrap="none" lIns="0" tIns="0" rIns="0" bIns="0" anchor="t" anchorCtr="0">
                <a:spAutoFit/>
              </a:bodyPr>
              <a:lstStyle/>
              <a:p>
                <a:pPr algn="l"/>
                <a:r>
                  <a:rPr lang="ko-KR" sz="1200" dirty="0">
                    <a:solidFill>
                      <a:srgbClr val="9A9A93"/>
                    </a:solidFill>
                    <a:latin typeface="Segoe UI"/>
                    <a:ea typeface="Microsoft YaHei"/>
                    <a:cs typeface="Segoe UI"/>
                  </a:rPr>
                  <a:t>상대값</a:t>
                </a:r>
              </a:p>
            </p:txBody>
          </p:sp>
          <p:grpSp>
            <p:nvGrpSpPr>
              <p:cNvPr id="31" name="Group 31"/>
              <p:cNvGrpSpPr/>
              <p:nvPr/>
            </p:nvGrpSpPr>
            <p:grpSpPr>
              <a:xfrm>
                <a:off x="5619750" y="2000250"/>
                <a:ext cx="5905500" cy="3819525"/>
                <a:chOff x="5619750" y="2000250"/>
                <a:chExt cx="5905500" cy="3819525"/>
              </a:xfrm>
            </p:grpSpPr>
            <p:sp>
              <p:nvSpPr>
                <p:cNvPr id="25" name="Line 25"/>
                <p:cNvSpPr/>
                <p:nvPr/>
              </p:nvSpPr>
              <p:spPr>
                <a:xfrm>
                  <a:off x="5619750" y="2000250"/>
                  <a:ext cx="5905500" cy="9525"/>
                </a:xfrm>
                <a:custGeom>
                  <a:avLst/>
                  <a:gdLst/>
                  <a:ahLst/>
                  <a:cxnLst/>
                  <a:rect l="l" t="t" r="r" b="b"/>
                  <a:pathLst>
                    <a:path w="5905500" h="9525">
                      <a:moveTo>
                        <a:pt x="0" y="0"/>
                      </a:moveTo>
                      <a:lnTo>
                        <a:pt x="5905500" y="0"/>
                      </a:lnTo>
                    </a:path>
                  </a:pathLst>
                </a:custGeom>
                <a:noFill/>
                <a:ln w="9525">
                  <a:solidFill>
                    <a:srgbClr val="EDEBE3"/>
                  </a:solidFill>
                </a:ln>
              </p:spPr>
            </p:sp>
            <p:sp>
              <p:nvSpPr>
                <p:cNvPr id="26" name="Line 26"/>
                <p:cNvSpPr/>
                <p:nvPr/>
              </p:nvSpPr>
              <p:spPr>
                <a:xfrm>
                  <a:off x="5619750" y="2762250"/>
                  <a:ext cx="5905500" cy="9525"/>
                </a:xfrm>
                <a:custGeom>
                  <a:avLst/>
                  <a:gdLst/>
                  <a:ahLst/>
                  <a:cxnLst/>
                  <a:rect l="l" t="t" r="r" b="b"/>
                  <a:pathLst>
                    <a:path w="5905500" h="9525">
                      <a:moveTo>
                        <a:pt x="0" y="0"/>
                      </a:moveTo>
                      <a:lnTo>
                        <a:pt x="5905500" y="0"/>
                      </a:lnTo>
                    </a:path>
                  </a:pathLst>
                </a:custGeom>
                <a:noFill/>
                <a:ln w="9525">
                  <a:solidFill>
                    <a:srgbClr val="EDEBE3"/>
                  </a:solidFill>
                </a:ln>
              </p:spPr>
            </p:sp>
            <p:sp>
              <p:nvSpPr>
                <p:cNvPr id="27" name="Line 27"/>
                <p:cNvSpPr/>
                <p:nvPr/>
              </p:nvSpPr>
              <p:spPr>
                <a:xfrm>
                  <a:off x="5619750" y="3524250"/>
                  <a:ext cx="5905500" cy="9525"/>
                </a:xfrm>
                <a:custGeom>
                  <a:avLst/>
                  <a:gdLst/>
                  <a:ahLst/>
                  <a:cxnLst/>
                  <a:rect l="l" t="t" r="r" b="b"/>
                  <a:pathLst>
                    <a:path w="5905500" h="9525">
                      <a:moveTo>
                        <a:pt x="0" y="0"/>
                      </a:moveTo>
                      <a:lnTo>
                        <a:pt x="5905500" y="0"/>
                      </a:lnTo>
                    </a:path>
                  </a:pathLst>
                </a:custGeom>
                <a:noFill/>
                <a:ln w="9525">
                  <a:solidFill>
                    <a:srgbClr val="EDEBE3"/>
                  </a:solidFill>
                </a:ln>
              </p:spPr>
            </p:sp>
            <p:sp>
              <p:nvSpPr>
                <p:cNvPr id="28" name="Line 28"/>
                <p:cNvSpPr/>
                <p:nvPr/>
              </p:nvSpPr>
              <p:spPr>
                <a:xfrm>
                  <a:off x="5619750" y="4286250"/>
                  <a:ext cx="5905500" cy="9525"/>
                </a:xfrm>
                <a:custGeom>
                  <a:avLst/>
                  <a:gdLst/>
                  <a:ahLst/>
                  <a:cxnLst/>
                  <a:rect l="l" t="t" r="r" b="b"/>
                  <a:pathLst>
                    <a:path w="5905500" h="9525">
                      <a:moveTo>
                        <a:pt x="0" y="0"/>
                      </a:moveTo>
                      <a:lnTo>
                        <a:pt x="5905500" y="0"/>
                      </a:lnTo>
                    </a:path>
                  </a:pathLst>
                </a:custGeom>
                <a:noFill/>
                <a:ln w="9525">
                  <a:solidFill>
                    <a:srgbClr val="EDEBE3"/>
                  </a:solidFill>
                </a:ln>
              </p:spPr>
            </p:sp>
            <p:sp>
              <p:nvSpPr>
                <p:cNvPr id="29" name="Line 29"/>
                <p:cNvSpPr/>
                <p:nvPr/>
              </p:nvSpPr>
              <p:spPr>
                <a:xfrm>
                  <a:off x="5619750" y="5048250"/>
                  <a:ext cx="5905500" cy="9525"/>
                </a:xfrm>
                <a:custGeom>
                  <a:avLst/>
                  <a:gdLst/>
                  <a:ahLst/>
                  <a:cxnLst/>
                  <a:rect l="l" t="t" r="r" b="b"/>
                  <a:pathLst>
                    <a:path w="5905500" h="9525">
                      <a:moveTo>
                        <a:pt x="0" y="0"/>
                      </a:moveTo>
                      <a:lnTo>
                        <a:pt x="5905500" y="0"/>
                      </a:lnTo>
                    </a:path>
                  </a:pathLst>
                </a:custGeom>
                <a:noFill/>
                <a:ln w="9525">
                  <a:solidFill>
                    <a:srgbClr val="EDEBE3"/>
                  </a:solidFill>
                </a:ln>
              </p:spPr>
            </p:sp>
            <p:sp>
              <p:nvSpPr>
                <p:cNvPr id="30" name="Line 30"/>
                <p:cNvSpPr/>
                <p:nvPr/>
              </p:nvSpPr>
              <p:spPr>
                <a:xfrm>
                  <a:off x="5619750" y="5810250"/>
                  <a:ext cx="5905500" cy="9525"/>
                </a:xfrm>
                <a:custGeom>
                  <a:avLst/>
                  <a:gdLst/>
                  <a:ahLst/>
                  <a:cxnLst/>
                  <a:rect l="l" t="t" r="r" b="b"/>
                  <a:pathLst>
                    <a:path w="5905500" h="9525">
                      <a:moveTo>
                        <a:pt x="0" y="0"/>
                      </a:moveTo>
                      <a:lnTo>
                        <a:pt x="5905500" y="0"/>
                      </a:lnTo>
                    </a:path>
                  </a:pathLst>
                </a:custGeom>
                <a:noFill/>
                <a:ln w="9525">
                  <a:solidFill>
                    <a:srgbClr val="EDEBE3"/>
                  </a:solidFill>
                </a:ln>
              </p:spPr>
            </p:sp>
          </p:grpSp>
          <p:grpSp>
            <p:nvGrpSpPr>
              <p:cNvPr id="38" name="Group 38"/>
              <p:cNvGrpSpPr/>
              <p:nvPr/>
            </p:nvGrpSpPr>
            <p:grpSpPr>
              <a:xfrm>
                <a:off x="5345335" y="1949291"/>
                <a:ext cx="189643" cy="3977640"/>
                <a:chOff x="5345335" y="1949291"/>
                <a:chExt cx="189643" cy="3977640"/>
              </a:xfrm>
            </p:grpSpPr>
            <p:sp>
              <p:nvSpPr>
                <p:cNvPr id="32" name="TextBox 32"/>
                <p:cNvSpPr txBox="1"/>
                <p:nvPr/>
              </p:nvSpPr>
              <p:spPr>
                <a:xfrm>
                  <a:off x="5345335" y="1949291"/>
                  <a:ext cx="189643" cy="167640"/>
                </a:xfrm>
                <a:prstGeom prst="rect">
                  <a:avLst/>
                </a:prstGeom>
                <a:noFill/>
                <a:ln>
                  <a:noFill/>
                </a:ln>
              </p:spPr>
              <p:txBody>
                <a:bodyPr wrap="none" lIns="0" tIns="0" rIns="0" bIns="0" anchor="t" anchorCtr="0">
                  <a:spAutoFit/>
                </a:bodyPr>
                <a:lstStyle/>
                <a:p>
                  <a:pPr algn="r"/>
                  <a:r>
                    <a:rPr lang="en-US" sz="1200" dirty="0">
                      <a:solidFill>
                        <a:srgbClr val="9A9A93"/>
                      </a:solidFill>
                      <a:latin typeface="Segoe UI"/>
                      <a:ea typeface="Microsoft YaHei"/>
                      <a:cs typeface="Segoe UI"/>
                    </a:rPr>
                    <a:t>100</a:t>
                  </a:r>
                </a:p>
              </p:txBody>
            </p:sp>
            <p:sp>
              <p:nvSpPr>
                <p:cNvPr id="33" name="TextBox 33"/>
                <p:cNvSpPr txBox="1"/>
                <p:nvPr/>
              </p:nvSpPr>
              <p:spPr>
                <a:xfrm>
                  <a:off x="5381482" y="2711291"/>
                  <a:ext cx="153495" cy="167640"/>
                </a:xfrm>
                <a:prstGeom prst="rect">
                  <a:avLst/>
                </a:prstGeom>
                <a:noFill/>
                <a:ln>
                  <a:noFill/>
                </a:ln>
              </p:spPr>
              <p:txBody>
                <a:bodyPr wrap="none" lIns="0" tIns="0" rIns="0" bIns="0" anchor="t" anchorCtr="0">
                  <a:spAutoFit/>
                </a:bodyPr>
                <a:lstStyle/>
                <a:p>
                  <a:pPr algn="r"/>
                  <a:r>
                    <a:rPr lang="en-US" sz="1200" dirty="0">
                      <a:solidFill>
                        <a:srgbClr val="9A9A93"/>
                      </a:solidFill>
                      <a:latin typeface="Segoe UI"/>
                      <a:ea typeface="Microsoft YaHei"/>
                      <a:cs typeface="Segoe UI"/>
                    </a:rPr>
                    <a:t>80</a:t>
                  </a:r>
                </a:p>
              </p:txBody>
            </p:sp>
            <p:sp>
              <p:nvSpPr>
                <p:cNvPr id="34" name="TextBox 34"/>
                <p:cNvSpPr txBox="1"/>
                <p:nvPr/>
              </p:nvSpPr>
              <p:spPr>
                <a:xfrm>
                  <a:off x="5381482" y="3473291"/>
                  <a:ext cx="153495" cy="167640"/>
                </a:xfrm>
                <a:prstGeom prst="rect">
                  <a:avLst/>
                </a:prstGeom>
                <a:noFill/>
                <a:ln>
                  <a:noFill/>
                </a:ln>
              </p:spPr>
              <p:txBody>
                <a:bodyPr wrap="none" lIns="0" tIns="0" rIns="0" bIns="0" anchor="t" anchorCtr="0">
                  <a:spAutoFit/>
                </a:bodyPr>
                <a:lstStyle/>
                <a:p>
                  <a:pPr algn="r"/>
                  <a:r>
                    <a:rPr lang="en-US" sz="1200" dirty="0">
                      <a:solidFill>
                        <a:srgbClr val="9A9A93"/>
                      </a:solidFill>
                      <a:latin typeface="Segoe UI"/>
                      <a:ea typeface="Microsoft YaHei"/>
                      <a:cs typeface="Segoe UI"/>
                    </a:rPr>
                    <a:t>60</a:t>
                  </a:r>
                </a:p>
              </p:txBody>
            </p:sp>
            <p:sp>
              <p:nvSpPr>
                <p:cNvPr id="35" name="TextBox 35"/>
                <p:cNvSpPr txBox="1"/>
                <p:nvPr/>
              </p:nvSpPr>
              <p:spPr>
                <a:xfrm>
                  <a:off x="5381482" y="4235291"/>
                  <a:ext cx="153495" cy="167640"/>
                </a:xfrm>
                <a:prstGeom prst="rect">
                  <a:avLst/>
                </a:prstGeom>
                <a:noFill/>
                <a:ln>
                  <a:noFill/>
                </a:ln>
              </p:spPr>
              <p:txBody>
                <a:bodyPr wrap="none" lIns="0" tIns="0" rIns="0" bIns="0" anchor="t" anchorCtr="0">
                  <a:spAutoFit/>
                </a:bodyPr>
                <a:lstStyle/>
                <a:p>
                  <a:pPr algn="r"/>
                  <a:r>
                    <a:rPr lang="en-US" sz="1200" dirty="0">
                      <a:solidFill>
                        <a:srgbClr val="9A9A93"/>
                      </a:solidFill>
                      <a:latin typeface="Segoe UI"/>
                      <a:ea typeface="Microsoft YaHei"/>
                      <a:cs typeface="Segoe UI"/>
                    </a:rPr>
                    <a:t>40</a:t>
                  </a:r>
                </a:p>
              </p:txBody>
            </p:sp>
            <p:sp>
              <p:nvSpPr>
                <p:cNvPr id="36" name="TextBox 36"/>
                <p:cNvSpPr txBox="1"/>
                <p:nvPr/>
              </p:nvSpPr>
              <p:spPr>
                <a:xfrm>
                  <a:off x="5381482" y="4997291"/>
                  <a:ext cx="153495" cy="167640"/>
                </a:xfrm>
                <a:prstGeom prst="rect">
                  <a:avLst/>
                </a:prstGeom>
                <a:noFill/>
                <a:ln>
                  <a:noFill/>
                </a:ln>
              </p:spPr>
              <p:txBody>
                <a:bodyPr wrap="none" lIns="0" tIns="0" rIns="0" bIns="0" anchor="t" anchorCtr="0">
                  <a:spAutoFit/>
                </a:bodyPr>
                <a:lstStyle/>
                <a:p>
                  <a:pPr algn="r"/>
                  <a:r>
                    <a:rPr lang="en-US" sz="1200" dirty="0">
                      <a:solidFill>
                        <a:srgbClr val="9A9A93"/>
                      </a:solidFill>
                      <a:latin typeface="Segoe UI"/>
                      <a:ea typeface="Microsoft YaHei"/>
                      <a:cs typeface="Segoe UI"/>
                    </a:rPr>
                    <a:t>20</a:t>
                  </a:r>
                </a:p>
              </p:txBody>
            </p:sp>
            <p:sp>
              <p:nvSpPr>
                <p:cNvPr id="37" name="TextBox 37"/>
                <p:cNvSpPr txBox="1"/>
                <p:nvPr/>
              </p:nvSpPr>
              <p:spPr>
                <a:xfrm>
                  <a:off x="5447752" y="5759291"/>
                  <a:ext cx="87225" cy="167640"/>
                </a:xfrm>
                <a:prstGeom prst="rect">
                  <a:avLst/>
                </a:prstGeom>
                <a:noFill/>
                <a:ln>
                  <a:noFill/>
                </a:ln>
              </p:spPr>
              <p:txBody>
                <a:bodyPr wrap="none" lIns="0" tIns="0" rIns="0" bIns="0" anchor="t" anchorCtr="0">
                  <a:spAutoFit/>
                </a:bodyPr>
                <a:lstStyle/>
                <a:p>
                  <a:pPr algn="r"/>
                  <a:r>
                    <a:rPr lang="en-US" sz="1200" dirty="0">
                      <a:solidFill>
                        <a:srgbClr val="9A9A93"/>
                      </a:solidFill>
                      <a:latin typeface="Segoe UI"/>
                      <a:ea typeface="Microsoft YaHei"/>
                      <a:cs typeface="Segoe UI"/>
                    </a:rPr>
                    <a:t>0</a:t>
                  </a:r>
                </a:p>
              </p:txBody>
            </p:sp>
          </p:grpSp>
          <p:sp>
            <p:nvSpPr>
              <p:cNvPr id="39" name="Line 39"/>
              <p:cNvSpPr/>
              <p:nvPr/>
            </p:nvSpPr>
            <p:spPr>
              <a:xfrm>
                <a:off x="5619750" y="2000250"/>
                <a:ext cx="9525" cy="3810000"/>
              </a:xfrm>
              <a:custGeom>
                <a:avLst/>
                <a:gdLst/>
                <a:ahLst/>
                <a:cxnLst/>
                <a:rect l="l" t="t" r="r" b="b"/>
                <a:pathLst>
                  <a:path w="9525" h="3810000">
                    <a:moveTo>
                      <a:pt x="0" y="0"/>
                    </a:moveTo>
                    <a:lnTo>
                      <a:pt x="0" y="3810000"/>
                    </a:lnTo>
                  </a:path>
                </a:pathLst>
              </a:custGeom>
              <a:noFill/>
              <a:ln w="14288">
                <a:solidFill>
                  <a:srgbClr val="1A1A1A"/>
                </a:solidFill>
              </a:ln>
            </p:spPr>
          </p:sp>
          <p:sp>
            <p:nvSpPr>
              <p:cNvPr id="40" name="Line 40"/>
              <p:cNvSpPr/>
              <p:nvPr/>
            </p:nvSpPr>
            <p:spPr>
              <a:xfrm>
                <a:off x="5619750" y="5810250"/>
                <a:ext cx="5905500" cy="9525"/>
              </a:xfrm>
              <a:custGeom>
                <a:avLst/>
                <a:gdLst/>
                <a:ahLst/>
                <a:cxnLst/>
                <a:rect l="l" t="t" r="r" b="b"/>
                <a:pathLst>
                  <a:path w="5905500" h="9525">
                    <a:moveTo>
                      <a:pt x="0" y="0"/>
                    </a:moveTo>
                    <a:lnTo>
                      <a:pt x="5905500" y="0"/>
                    </a:lnTo>
                  </a:path>
                </a:pathLst>
              </a:custGeom>
              <a:noFill/>
              <a:ln w="14288">
                <a:solidFill>
                  <a:srgbClr val="1A1A1A"/>
                </a:solidFill>
              </a:ln>
            </p:spPr>
          </p:sp>
          <p:grpSp>
            <p:nvGrpSpPr>
              <p:cNvPr id="44" name="Group 44"/>
              <p:cNvGrpSpPr/>
              <p:nvPr/>
            </p:nvGrpSpPr>
            <p:grpSpPr>
              <a:xfrm>
                <a:off x="6572250" y="2000250"/>
                <a:ext cx="1524000" cy="3810000"/>
                <a:chOff x="6572250" y="2000250"/>
                <a:chExt cx="1524000" cy="3810000"/>
              </a:xfrm>
            </p:grpSpPr>
            <p:sp>
              <p:nvSpPr>
                <p:cNvPr id="41" name="Rectangle 41"/>
                <p:cNvSpPr/>
                <p:nvPr/>
              </p:nvSpPr>
              <p:spPr>
                <a:xfrm>
                  <a:off x="6572250" y="2000250"/>
                  <a:ext cx="1524000" cy="3810000"/>
                </a:xfrm>
                <a:prstGeom prst="rect">
                  <a:avLst/>
                </a:prstGeom>
                <a:solidFill>
                  <a:srgbClr val="3A3A35"/>
                </a:solidFill>
                <a:ln>
                  <a:noFill/>
                </a:ln>
              </p:spPr>
            </p:sp>
            <p:sp>
              <p:nvSpPr>
                <p:cNvPr id="42" name="TextBox 42"/>
                <p:cNvSpPr txBox="1"/>
                <p:nvPr/>
              </p:nvSpPr>
              <p:spPr>
                <a:xfrm>
                  <a:off x="7082152" y="2030730"/>
                  <a:ext cx="504196" cy="426720"/>
                </a:xfrm>
                <a:prstGeom prst="rect">
                  <a:avLst/>
                </a:prstGeom>
                <a:noFill/>
                <a:ln>
                  <a:noFill/>
                </a:ln>
              </p:spPr>
              <p:txBody>
                <a:bodyPr wrap="none" lIns="0" tIns="0" rIns="0" bIns="0" anchor="t" anchorCtr="0">
                  <a:spAutoFit/>
                </a:bodyPr>
                <a:lstStyle/>
                <a:p>
                  <a:pPr algn="ctr"/>
                  <a:r>
                    <a:rPr lang="en-US" sz="2100" b="1" dirty="0">
                      <a:solidFill>
                        <a:srgbClr val="1A1A1A"/>
                      </a:solidFill>
                      <a:latin typeface="Segoe UI"/>
                      <a:ea typeface="Microsoft YaHei"/>
                      <a:cs typeface="Segoe UI"/>
                    </a:rPr>
                    <a:t>100</a:t>
                  </a:r>
                </a:p>
              </p:txBody>
            </p:sp>
            <p:sp>
              <p:nvSpPr>
                <p:cNvPr id="43" name="TextBox 43"/>
                <p:cNvSpPr txBox="1"/>
                <p:nvPr/>
              </p:nvSpPr>
              <p:spPr>
                <a:xfrm>
                  <a:off x="7172349" y="3990499"/>
                  <a:ext cx="323802" cy="198120"/>
                </a:xfrm>
                <a:prstGeom prst="rect">
                  <a:avLst/>
                </a:prstGeom>
                <a:noFill/>
                <a:ln>
                  <a:noFill/>
                </a:ln>
              </p:spPr>
              <p:txBody>
                <a:bodyPr wrap="none" lIns="0" tIns="0" rIns="0" bIns="0" anchor="t" anchorCtr="0">
                  <a:spAutoFit/>
                </a:bodyPr>
                <a:lstStyle/>
                <a:p>
                  <a:pPr algn="ctr"/>
                  <a:r>
                    <a:rPr lang="ko-KR" sz="1200" b="1" dirty="0">
                      <a:solidFill>
                        <a:srgbClr val="FAFAF7"/>
                      </a:solidFill>
                      <a:latin typeface="Segoe UI"/>
                      <a:ea typeface="Microsoft YaHei"/>
                      <a:cs typeface="Segoe UI"/>
                    </a:rPr>
                    <a:t>기준</a:t>
                  </a:r>
                </a:p>
              </p:txBody>
            </p:sp>
          </p:grpSp>
          <p:grpSp>
            <p:nvGrpSpPr>
              <p:cNvPr id="48" name="Group 48"/>
              <p:cNvGrpSpPr/>
              <p:nvPr/>
            </p:nvGrpSpPr>
            <p:grpSpPr>
              <a:xfrm>
                <a:off x="9048750" y="4002405"/>
                <a:ext cx="1524000" cy="1807845"/>
                <a:chOff x="9048750" y="4002405"/>
                <a:chExt cx="1524000" cy="1807845"/>
              </a:xfrm>
            </p:grpSpPr>
            <p:sp>
              <p:nvSpPr>
                <p:cNvPr id="45" name="Rectangle 45"/>
                <p:cNvSpPr/>
                <p:nvPr/>
              </p:nvSpPr>
              <p:spPr>
                <a:xfrm>
                  <a:off x="9048750" y="4362450"/>
                  <a:ext cx="1524000" cy="1447800"/>
                </a:xfrm>
                <a:prstGeom prst="rect">
                  <a:avLst/>
                </a:prstGeom>
                <a:solidFill>
                  <a:srgbClr val="FF6B35"/>
                </a:solidFill>
                <a:ln>
                  <a:noFill/>
                </a:ln>
              </p:spPr>
            </p:sp>
            <p:sp>
              <p:nvSpPr>
                <p:cNvPr id="46" name="TextBox 46"/>
                <p:cNvSpPr txBox="1"/>
                <p:nvPr/>
              </p:nvSpPr>
              <p:spPr>
                <a:xfrm>
                  <a:off x="9606958" y="4002405"/>
                  <a:ext cx="407584" cy="426720"/>
                </a:xfrm>
                <a:prstGeom prst="rect">
                  <a:avLst/>
                </a:prstGeom>
                <a:noFill/>
                <a:ln>
                  <a:noFill/>
                </a:ln>
              </p:spPr>
              <p:txBody>
                <a:bodyPr wrap="none" lIns="0" tIns="0" rIns="0" bIns="0" anchor="t" anchorCtr="0">
                  <a:spAutoFit/>
                </a:bodyPr>
                <a:lstStyle/>
                <a:p>
                  <a:pPr algn="ctr"/>
                  <a:r>
                    <a:rPr lang="en-US" sz="2100" b="1" dirty="0">
                      <a:solidFill>
                        <a:srgbClr val="FF6B35"/>
                      </a:solidFill>
                      <a:latin typeface="Segoe UI"/>
                      <a:ea typeface="Microsoft YaHei"/>
                      <a:cs typeface="Segoe UI"/>
                    </a:rPr>
                    <a:t>38</a:t>
                  </a:r>
                </a:p>
              </p:txBody>
            </p:sp>
            <p:sp>
              <p:nvSpPr>
                <p:cNvPr id="47" name="TextBox 47"/>
                <p:cNvSpPr txBox="1"/>
                <p:nvPr/>
              </p:nvSpPr>
              <p:spPr>
                <a:xfrm>
                  <a:off x="9633897" y="5019199"/>
                  <a:ext cx="353706" cy="198120"/>
                </a:xfrm>
                <a:prstGeom prst="rect">
                  <a:avLst/>
                </a:prstGeom>
                <a:noFill/>
                <a:ln>
                  <a:noFill/>
                </a:ln>
              </p:spPr>
              <p:txBody>
                <a:bodyPr wrap="none" lIns="0" tIns="0" rIns="0" bIns="0" anchor="t" anchorCtr="0">
                  <a:spAutoFit/>
                </a:bodyPr>
                <a:lstStyle/>
                <a:p>
                  <a:pPr algn="ctr"/>
                  <a:r>
                    <a:rPr lang="en-US" sz="1200" b="1" dirty="0">
                      <a:solidFill>
                        <a:srgbClr val="FAFAF7"/>
                      </a:solidFill>
                      <a:latin typeface="Segoe UI"/>
                      <a:ea typeface="Microsoft YaHei"/>
                      <a:cs typeface="Segoe UI"/>
                    </a:rPr>
                    <a:t>−62%</a:t>
                  </a:r>
                </a:p>
              </p:txBody>
            </p:sp>
          </p:grpSp>
          <p:grpSp>
            <p:nvGrpSpPr>
              <p:cNvPr id="51" name="Group 51"/>
              <p:cNvGrpSpPr/>
              <p:nvPr/>
            </p:nvGrpSpPr>
            <p:grpSpPr>
              <a:xfrm>
                <a:off x="8096250" y="2000250"/>
                <a:ext cx="990600" cy="2400300"/>
                <a:chOff x="8096250" y="2000250"/>
                <a:chExt cx="990600" cy="2400300"/>
              </a:xfrm>
            </p:grpSpPr>
            <p:sp>
              <p:nvSpPr>
                <p:cNvPr id="49" name="Line 49"/>
                <p:cNvSpPr/>
                <p:nvPr/>
              </p:nvSpPr>
              <p:spPr>
                <a:xfrm>
                  <a:off x="8096250" y="2000250"/>
                  <a:ext cx="952500" cy="2362200"/>
                </a:xfrm>
                <a:custGeom>
                  <a:avLst/>
                  <a:gdLst/>
                  <a:ahLst/>
                  <a:cxnLst/>
                  <a:rect l="l" t="t" r="r" b="b"/>
                  <a:pathLst>
                    <a:path w="952500" h="2362200">
                      <a:moveTo>
                        <a:pt x="0" y="0"/>
                      </a:moveTo>
                      <a:lnTo>
                        <a:pt x="952500" y="2362200"/>
                      </a:lnTo>
                    </a:path>
                  </a:pathLst>
                </a:custGeom>
                <a:noFill/>
                <a:ln w="14288">
                  <a:solidFill>
                    <a:srgbClr val="FF6B35"/>
                  </a:solidFill>
                  <a:prstDash val="dash"/>
                </a:ln>
              </p:spPr>
            </p:sp>
            <p:sp>
              <p:nvSpPr>
                <p:cNvPr id="50" name="Ellipse 50"/>
                <p:cNvSpPr/>
                <p:nvPr/>
              </p:nvSpPr>
              <p:spPr>
                <a:xfrm>
                  <a:off x="9010650" y="4324350"/>
                  <a:ext cx="76200" cy="76200"/>
                </a:xfrm>
                <a:prstGeom prst="ellipse">
                  <a:avLst/>
                </a:prstGeom>
                <a:solidFill>
                  <a:srgbClr val="FF6B35"/>
                </a:solidFill>
                <a:ln>
                  <a:noFill/>
                </a:ln>
              </p:spPr>
            </p:sp>
          </p:grpSp>
          <p:grpSp>
            <p:nvGrpSpPr>
              <p:cNvPr id="56" name="Group 56"/>
              <p:cNvGrpSpPr/>
              <p:nvPr/>
            </p:nvGrpSpPr>
            <p:grpSpPr>
              <a:xfrm>
                <a:off x="6828456" y="5990749"/>
                <a:ext cx="3402115" cy="374332"/>
                <a:chOff x="6828456" y="5990749"/>
                <a:chExt cx="3402115" cy="374332"/>
              </a:xfrm>
            </p:grpSpPr>
            <p:sp>
              <p:nvSpPr>
                <p:cNvPr id="52" name="TextBox 52"/>
                <p:cNvSpPr txBox="1"/>
                <p:nvPr/>
              </p:nvSpPr>
              <p:spPr>
                <a:xfrm>
                  <a:off x="6828456" y="5990749"/>
                  <a:ext cx="1011588" cy="198120"/>
                </a:xfrm>
                <a:prstGeom prst="rect">
                  <a:avLst/>
                </a:prstGeom>
                <a:noFill/>
                <a:ln>
                  <a:noFill/>
                </a:ln>
              </p:spPr>
              <p:txBody>
                <a:bodyPr wrap="none" lIns="0" tIns="0" rIns="0" bIns="0" anchor="t" anchorCtr="0">
                  <a:spAutoFit/>
                </a:bodyPr>
                <a:lstStyle/>
                <a:p>
                  <a:pPr algn="ctr"/>
                  <a:r>
                    <a:rPr lang="ko-KR" sz="1200" b="1" dirty="0">
                      <a:solidFill>
                        <a:srgbClr val="1A1A1A"/>
                      </a:solidFill>
                      <a:latin typeface="Segoe UI"/>
                      <a:ea typeface="Microsoft YaHei"/>
                      <a:cs typeface="Segoe UI"/>
                    </a:rPr>
                    <a:t>기존 개발 방식</a:t>
                  </a:r>
                </a:p>
              </p:txBody>
            </p:sp>
            <p:sp>
              <p:nvSpPr>
                <p:cNvPr id="53" name="TextBox 53"/>
                <p:cNvSpPr txBox="1"/>
                <p:nvPr/>
              </p:nvSpPr>
              <p:spPr>
                <a:xfrm>
                  <a:off x="6926151" y="6197441"/>
                  <a:ext cx="816197" cy="167640"/>
                </a:xfrm>
                <a:prstGeom prst="rect">
                  <a:avLst/>
                </a:prstGeom>
                <a:noFill/>
                <a:ln>
                  <a:noFill/>
                </a:ln>
              </p:spPr>
              <p:txBody>
                <a:bodyPr wrap="none" lIns="0" tIns="0" rIns="0" bIns="0" anchor="t" anchorCtr="0">
                  <a:spAutoFit/>
                </a:bodyPr>
                <a:lstStyle/>
                <a:p>
                  <a:pPr algn="ctr"/>
                  <a:r>
                    <a:rPr lang="ko-KR" sz="1200" dirty="0">
                      <a:solidFill>
                        <a:srgbClr val="9A9A93"/>
                      </a:solidFill>
                      <a:latin typeface="Segoe UI"/>
                      <a:ea typeface="Microsoft YaHei"/>
                      <a:cs typeface="Segoe UI"/>
                    </a:rPr>
                    <a:t>평균 작업 시간</a:t>
                  </a:r>
                </a:p>
              </p:txBody>
            </p:sp>
            <p:sp>
              <p:nvSpPr>
                <p:cNvPr id="54" name="TextBox 54"/>
                <p:cNvSpPr txBox="1"/>
                <p:nvPr/>
              </p:nvSpPr>
              <p:spPr>
                <a:xfrm>
                  <a:off x="9390929" y="5990749"/>
                  <a:ext cx="839642" cy="198120"/>
                </a:xfrm>
                <a:prstGeom prst="rect">
                  <a:avLst/>
                </a:prstGeom>
                <a:noFill/>
                <a:ln>
                  <a:noFill/>
                </a:ln>
              </p:spPr>
              <p:txBody>
                <a:bodyPr wrap="none" lIns="0" tIns="0" rIns="0" bIns="0" anchor="t" anchorCtr="0">
                  <a:spAutoFit/>
                </a:bodyPr>
                <a:lstStyle/>
                <a:p>
                  <a:pPr algn="ctr"/>
                  <a:r>
                    <a:rPr lang="ko-KR" sz="1200" b="1" dirty="0">
                      <a:solidFill>
                        <a:srgbClr val="1A1A1A"/>
                      </a:solidFill>
                      <a:latin typeface="Segoe UI"/>
                      <a:ea typeface="Microsoft YaHei"/>
                      <a:cs typeface="Segoe UI"/>
                    </a:rPr>
                    <a:t>AI 페어 코딩</a:t>
                  </a:r>
                </a:p>
              </p:txBody>
            </p:sp>
            <p:sp>
              <p:nvSpPr>
                <p:cNvPr id="55" name="TextBox 55"/>
                <p:cNvSpPr txBox="1"/>
                <p:nvPr/>
              </p:nvSpPr>
              <p:spPr>
                <a:xfrm>
                  <a:off x="9402651" y="6197441"/>
                  <a:ext cx="816197" cy="167640"/>
                </a:xfrm>
                <a:prstGeom prst="rect">
                  <a:avLst/>
                </a:prstGeom>
                <a:noFill/>
                <a:ln>
                  <a:noFill/>
                </a:ln>
              </p:spPr>
              <p:txBody>
                <a:bodyPr wrap="none" lIns="0" tIns="0" rIns="0" bIns="0" anchor="t" anchorCtr="0">
                  <a:spAutoFit/>
                </a:bodyPr>
                <a:lstStyle/>
                <a:p>
                  <a:pPr algn="ctr"/>
                  <a:r>
                    <a:rPr lang="ko-KR" sz="1200" dirty="0">
                      <a:solidFill>
                        <a:srgbClr val="9A9A93"/>
                      </a:solidFill>
                      <a:latin typeface="Segoe UI"/>
                      <a:ea typeface="Microsoft YaHei"/>
                      <a:cs typeface="Segoe UI"/>
                    </a:rPr>
                    <a:t>평균 작업 시간</a:t>
                  </a:r>
                </a:p>
              </p:txBody>
            </p:sp>
          </p:grpSp>
        </p:grpSp>
        <p:grpSp>
          <p:nvGrpSpPr>
            <p:cNvPr id="63" name="Group 63"/>
            <p:cNvGrpSpPr/>
            <p:nvPr/>
          </p:nvGrpSpPr>
          <p:grpSpPr>
            <a:xfrm>
              <a:off x="4476750" y="6477000"/>
              <a:ext cx="7048500" cy="711994"/>
              <a:chOff x="4476750" y="6477000"/>
              <a:chExt cx="7048500" cy="711994"/>
            </a:xfrm>
          </p:grpSpPr>
          <p:sp>
            <p:nvSpPr>
              <p:cNvPr id="58" name="Rectangle 58"/>
              <p:cNvSpPr/>
              <p:nvPr/>
            </p:nvSpPr>
            <p:spPr>
              <a:xfrm>
                <a:off x="4476750" y="6477000"/>
                <a:ext cx="7048500" cy="9525"/>
              </a:xfrm>
              <a:prstGeom prst="rect">
                <a:avLst/>
              </a:prstGeom>
              <a:solidFill>
                <a:srgbClr val="E5E3DC"/>
              </a:solidFill>
              <a:ln>
                <a:noFill/>
              </a:ln>
            </p:spPr>
          </p:sp>
          <p:grpSp>
            <p:nvGrpSpPr>
              <p:cNvPr id="62" name="Group 62"/>
              <p:cNvGrpSpPr/>
              <p:nvPr/>
            </p:nvGrpSpPr>
            <p:grpSpPr>
              <a:xfrm>
                <a:off x="4505325" y="6696075"/>
                <a:ext cx="4918519" cy="492919"/>
                <a:chOff x="4505325" y="6696075"/>
                <a:chExt cx="4918519" cy="492919"/>
              </a:xfrm>
            </p:grpSpPr>
            <p:sp>
              <p:nvSpPr>
                <p:cNvPr id="59" name="Ellipse 59"/>
                <p:cNvSpPr/>
                <p:nvPr/>
              </p:nvSpPr>
              <p:spPr>
                <a:xfrm>
                  <a:off x="4505325" y="6696075"/>
                  <a:ext cx="57150" cy="57150"/>
                </a:xfrm>
                <a:prstGeom prst="ellipse">
                  <a:avLst/>
                </a:prstGeom>
                <a:solidFill>
                  <a:srgbClr val="FF6B35"/>
                </a:solidFill>
                <a:ln>
                  <a:noFill/>
                </a:ln>
              </p:spPr>
            </p:sp>
            <p:sp>
              <p:nvSpPr>
                <p:cNvPr id="60" name="TextBox 60"/>
                <p:cNvSpPr txBox="1"/>
                <p:nvPr/>
              </p:nvSpPr>
              <p:spPr>
                <a:xfrm>
                  <a:off x="4654868" y="6990874"/>
                  <a:ext cx="2357257" cy="198120"/>
                </a:xfrm>
                <a:prstGeom prst="rect">
                  <a:avLst/>
                </a:prstGeom>
                <a:noFill/>
                <a:ln>
                  <a:noFill/>
                </a:ln>
              </p:spPr>
              <p:txBody>
                <a:bodyPr wrap="none" lIns="0" tIns="0" rIns="0" bIns="0" anchor="t" anchorCtr="0">
                  <a:spAutoFit/>
                </a:bodyPr>
                <a:lstStyle/>
                <a:p>
                  <a:pPr algn="l"/>
                  <a:r>
                    <a:rPr lang="ko-KR" sz="1200" b="1" dirty="0">
                      <a:solidFill>
                        <a:srgbClr val="1A1A1A"/>
                      </a:solidFill>
                      <a:latin typeface="Segoe UI"/>
                      <a:ea typeface="Microsoft YaHei"/>
                      <a:cs typeface="Segoe UI"/>
                    </a:rPr>
                    <a:t>같은 일을, 절반도 안 되는 시간에.</a:t>
                  </a:r>
                </a:p>
              </p:txBody>
            </p:sp>
            <p:sp>
              <p:nvSpPr>
                <p:cNvPr id="61" name="TextBox 61"/>
                <p:cNvSpPr txBox="1"/>
                <p:nvPr/>
              </p:nvSpPr>
              <p:spPr>
                <a:xfrm>
                  <a:off x="4655820" y="6856095"/>
                  <a:ext cx="4768024" cy="182880"/>
                </a:xfrm>
                <a:prstGeom prst="rect">
                  <a:avLst/>
                </a:prstGeom>
                <a:noFill/>
                <a:ln>
                  <a:noFill/>
                </a:ln>
              </p:spPr>
              <p:txBody>
                <a:bodyPr wrap="none" lIns="0" tIns="0" rIns="0" bIns="0" anchor="t" anchorCtr="0">
                  <a:spAutoFit/>
                </a:bodyPr>
                <a:lstStyle/>
                <a:p>
                  <a:pPr algn="l"/>
                  <a:r>
                    <a:rPr lang="ko-KR" sz="1200" dirty="0">
                      <a:solidFill>
                        <a:srgbClr val="5A5A52"/>
                      </a:solidFill>
                      <a:latin typeface="Segoe UI"/>
                      <a:ea typeface="Microsoft YaHei"/>
                      <a:cs typeface="Segoe UI"/>
                    </a:rPr>
                    <a:t>속도 차이는 단순한 효율 개선이 아니라, 일하는 방식 자체의 전환을 의미합니다.</a:t>
                  </a:r>
                </a:p>
              </p:txBody>
            </p:sp>
          </p:grpSp>
        </p:grpSp>
      </p:grpSp>
    </p:spTree>
  </p:cSld>
  <p:clrMapOvr>
    <a:masterClrMapping/>
  </p:clrMapOvr>
  <p:transition xmlns:p14="http://schemas.microsoft.com/office/powerpoint/2010/main" p14:dur="5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7"/>
          </a:solidFill>
          <a:ln>
            <a:noFill/>
          </a:ln>
        </p:spPr>
      </p:sp>
      <p:sp>
        <p:nvSpPr>
          <p:cNvPr id="3" name="Line 3"/>
          <p:cNvSpPr/>
          <p:nvPr/>
        </p:nvSpPr>
        <p:spPr>
          <a:xfrm>
            <a:off x="0" y="1714500"/>
            <a:ext cx="12192000" cy="9525"/>
          </a:xfrm>
          <a:custGeom>
            <a:avLst/>
            <a:gdLst/>
            <a:ahLst/>
            <a:cxnLst/>
            <a:rect l="l" t="t" r="r" b="b"/>
            <a:pathLst>
              <a:path w="12192000" h="9525">
                <a:moveTo>
                  <a:pt x="0" y="0"/>
                </a:moveTo>
                <a:lnTo>
                  <a:pt x="12192000" y="0"/>
                </a:lnTo>
              </a:path>
            </a:pathLst>
          </a:custGeom>
          <a:noFill/>
          <a:ln w="9525">
            <a:solidFill>
              <a:srgbClr val="1A1A1A">
                <a:alpha val="6000"/>
              </a:srgbClr>
            </a:solidFill>
          </a:ln>
        </p:spPr>
      </p:sp>
      <p:sp>
        <p:nvSpPr>
          <p:cNvPr id="4" name="Line 4"/>
          <p:cNvSpPr/>
          <p:nvPr/>
        </p:nvSpPr>
        <p:spPr>
          <a:xfrm>
            <a:off x="0" y="5143500"/>
            <a:ext cx="12192000" cy="9525"/>
          </a:xfrm>
          <a:custGeom>
            <a:avLst/>
            <a:gdLst/>
            <a:ahLst/>
            <a:cxnLst/>
            <a:rect l="l" t="t" r="r" b="b"/>
            <a:pathLst>
              <a:path w="12192000" h="9525">
                <a:moveTo>
                  <a:pt x="0" y="0"/>
                </a:moveTo>
                <a:lnTo>
                  <a:pt x="12192000" y="0"/>
                </a:lnTo>
              </a:path>
            </a:pathLst>
          </a:custGeom>
          <a:noFill/>
          <a:ln w="9525">
            <a:solidFill>
              <a:srgbClr val="1A1A1A">
                <a:alpha val="6000"/>
              </a:srgbClr>
            </a:solidFill>
          </a:ln>
        </p:spPr>
      </p:sp>
      <p:grpSp>
        <p:nvGrpSpPr>
          <p:cNvPr id="7" name="Group 7"/>
          <p:cNvGrpSpPr/>
          <p:nvPr/>
        </p:nvGrpSpPr>
        <p:grpSpPr>
          <a:xfrm>
            <a:off x="762000" y="713899"/>
            <a:ext cx="2183733" cy="198120"/>
            <a:chOff x="762000" y="713899"/>
            <a:chExt cx="2183733" cy="198120"/>
          </a:xfrm>
        </p:grpSpPr>
        <p:sp>
          <p:nvSpPr>
            <p:cNvPr id="5" name="Rectangle 5"/>
            <p:cNvSpPr/>
            <p:nvPr/>
          </p:nvSpPr>
          <p:spPr>
            <a:xfrm>
              <a:off x="762000" y="762000"/>
              <a:ext cx="381000" cy="19050"/>
            </a:xfrm>
            <a:prstGeom prst="rect">
              <a:avLst/>
            </a:prstGeom>
            <a:solidFill>
              <a:srgbClr val="D4452C"/>
            </a:solidFill>
            <a:ln>
              <a:noFill/>
            </a:ln>
          </p:spPr>
        </p:sp>
        <p:sp>
          <p:nvSpPr>
            <p:cNvPr id="6" name="TextBox 6"/>
            <p:cNvSpPr txBox="1"/>
            <p:nvPr/>
          </p:nvSpPr>
          <p:spPr>
            <a:xfrm>
              <a:off x="1321118" y="713899"/>
              <a:ext cx="1624615" cy="198120"/>
            </a:xfrm>
            <a:prstGeom prst="rect">
              <a:avLst/>
            </a:prstGeom>
            <a:noFill/>
            <a:ln>
              <a:noFill/>
            </a:ln>
          </p:spPr>
          <p:txBody>
            <a:bodyPr wrap="none" lIns="0" tIns="0" rIns="0" bIns="0" anchor="t" anchorCtr="0">
              <a:spAutoFit/>
            </a:bodyPr>
            <a:lstStyle/>
            <a:p>
              <a:pPr algn="l"/>
              <a:r>
                <a:rPr lang="ko-KR" sz="1200" b="1" dirty="0">
                  <a:solidFill>
                    <a:srgbClr val="D4452C"/>
                  </a:solidFill>
                  <a:latin typeface="Malgun Gothic"/>
                  <a:ea typeface="Malgun Gothic"/>
                  <a:cs typeface="Malgun Gothic"/>
                </a:rPr>
                <a:t>CHAPTER 02 — 현실 진단</a:t>
              </a:r>
            </a:p>
          </p:txBody>
        </p:sp>
      </p:grpSp>
      <p:sp>
        <p:nvSpPr>
          <p:cNvPr id="8" name="TextBox 8"/>
          <p:cNvSpPr txBox="1"/>
          <p:nvPr/>
        </p:nvSpPr>
        <p:spPr>
          <a:xfrm>
            <a:off x="10976181" y="713899"/>
            <a:ext cx="466201" cy="198120"/>
          </a:xfrm>
          <a:prstGeom prst="rect">
            <a:avLst/>
          </a:prstGeom>
          <a:noFill/>
          <a:ln>
            <a:noFill/>
          </a:ln>
        </p:spPr>
        <p:txBody>
          <a:bodyPr wrap="none" lIns="0" tIns="0" rIns="0" bIns="0" anchor="t" anchorCtr="0">
            <a:spAutoFit/>
          </a:bodyPr>
          <a:lstStyle/>
          <a:p>
            <a:pPr algn="r"/>
            <a:r>
              <a:rPr lang="en-US" sz="1200" dirty="0">
                <a:solidFill>
                  <a:srgbClr val="888888"/>
                </a:solidFill>
                <a:latin typeface="Malgun Gothic"/>
                <a:ea typeface="Malgun Gothic"/>
                <a:cs typeface="Malgun Gothic"/>
              </a:rPr>
              <a:t>04 / 12</a:t>
            </a:r>
          </a:p>
        </p:txBody>
      </p:sp>
      <p:grpSp>
        <p:nvGrpSpPr>
          <p:cNvPr id="11" name="Group 11"/>
          <p:cNvGrpSpPr/>
          <p:nvPr/>
        </p:nvGrpSpPr>
        <p:grpSpPr>
          <a:xfrm>
            <a:off x="3621381" y="3838575"/>
            <a:ext cx="4949238" cy="5181600"/>
            <a:chOff x="3621381" y="3838575"/>
            <a:chExt cx="4949238" cy="5181600"/>
          </a:xfrm>
        </p:grpSpPr>
        <p:sp>
          <p:nvSpPr>
            <p:cNvPr id="9" name="TextBox 9"/>
            <p:cNvSpPr txBox="1"/>
            <p:nvPr/>
          </p:nvSpPr>
          <p:spPr>
            <a:xfrm>
              <a:off x="3621381" y="3838575"/>
              <a:ext cx="4949238" cy="5181600"/>
            </a:xfrm>
            <a:prstGeom prst="rect">
              <a:avLst/>
            </a:prstGeom>
            <a:noFill/>
            <a:ln>
              <a:noFill/>
            </a:ln>
          </p:spPr>
          <p:txBody>
            <a:bodyPr wrap="none" lIns="0" tIns="0" rIns="0" bIns="0" anchor="t" anchorCtr="0">
              <a:spAutoFit/>
            </a:bodyPr>
            <a:lstStyle/>
            <a:p>
              <a:pPr algn="ctr"/>
              <a:r>
                <a:rPr lang="en-US" sz="25500" b="1" dirty="0">
                  <a:solidFill>
                    <a:srgbClr val="1A1A1A"/>
                  </a:solidFill>
                  <a:latin typeface="Inter"/>
                  <a:ea typeface="Malgun Gothic"/>
                  <a:cs typeface="Inter"/>
                </a:rPr>
                <a:t>76</a:t>
              </a:r>
            </a:p>
          </p:txBody>
        </p:sp>
        <p:sp>
          <p:nvSpPr>
            <p:cNvPr id="10" name="TextBox 10"/>
            <p:cNvSpPr txBox="1"/>
            <p:nvPr/>
          </p:nvSpPr>
          <p:spPr>
            <a:xfrm>
              <a:off x="5082421" y="4400550"/>
              <a:ext cx="1646158" cy="3048000"/>
            </a:xfrm>
            <a:prstGeom prst="rect">
              <a:avLst/>
            </a:prstGeom>
            <a:noFill/>
            <a:ln>
              <a:noFill/>
            </a:ln>
          </p:spPr>
          <p:txBody>
            <a:bodyPr wrap="none" lIns="0" tIns="0" rIns="0" bIns="0" anchor="t" anchorCtr="0">
              <a:spAutoFit/>
            </a:bodyPr>
            <a:lstStyle/>
            <a:p>
              <a:pPr algn="ctr"/>
              <a:r>
                <a:rPr lang="en-US" sz="15000" b="1" dirty="0">
                  <a:solidFill>
                    <a:srgbClr val="D4452C"/>
                  </a:solidFill>
                  <a:latin typeface="Inter"/>
                  <a:ea typeface="Malgun Gothic"/>
                  <a:cs typeface="Inter"/>
                </a:rPr>
                <a:t>%</a:t>
              </a:r>
            </a:p>
          </p:txBody>
        </p:sp>
      </p:grpSp>
      <p:sp>
        <p:nvSpPr>
          <p:cNvPr id="12" name="TextBox 12"/>
          <p:cNvSpPr txBox="1"/>
          <p:nvPr/>
        </p:nvSpPr>
        <p:spPr>
          <a:xfrm>
            <a:off x="2588204" y="5139690"/>
            <a:ext cx="7015591" cy="365760"/>
          </a:xfrm>
          <a:prstGeom prst="rect">
            <a:avLst/>
          </a:prstGeom>
          <a:noFill/>
          <a:ln>
            <a:noFill/>
          </a:ln>
        </p:spPr>
        <p:txBody>
          <a:bodyPr wrap="none" lIns="0" tIns="0" rIns="0" bIns="0" anchor="t" anchorCtr="0">
            <a:spAutoFit/>
          </a:bodyPr>
          <a:lstStyle/>
          <a:p>
            <a:pPr algn="ctr"/>
            <a:r>
              <a:rPr lang="ko-KR" sz="1800" b="1" dirty="0">
                <a:solidFill>
                  <a:srgbClr val="1A1A1A"/>
                </a:solidFill>
                <a:latin typeface="Malgun Gothic"/>
                <a:ea typeface="Malgun Gothic"/>
                <a:cs typeface="Malgun Gothic"/>
              </a:rPr>
              <a:t>현직 개발자 중 AI 코딩 도구를 일상적으로 사용하는 비율</a:t>
            </a:r>
          </a:p>
        </p:txBody>
      </p:sp>
      <p:sp>
        <p:nvSpPr>
          <p:cNvPr id="13" name="Line 13"/>
          <p:cNvSpPr/>
          <p:nvPr/>
        </p:nvSpPr>
        <p:spPr>
          <a:xfrm>
            <a:off x="5143500" y="5715000"/>
            <a:ext cx="1905000" cy="9525"/>
          </a:xfrm>
          <a:custGeom>
            <a:avLst/>
            <a:gdLst/>
            <a:ahLst/>
            <a:cxnLst/>
            <a:rect l="l" t="t" r="r" b="b"/>
            <a:pathLst>
              <a:path w="1905000" h="9525">
                <a:moveTo>
                  <a:pt x="0" y="0"/>
                </a:moveTo>
                <a:lnTo>
                  <a:pt x="1905000" y="0"/>
                </a:lnTo>
              </a:path>
            </a:pathLst>
          </a:custGeom>
          <a:noFill/>
          <a:ln w="9525">
            <a:solidFill>
              <a:srgbClr val="1A1A1A">
                <a:alpha val="20000"/>
              </a:srgbClr>
            </a:solidFill>
          </a:ln>
        </p:spPr>
      </p:sp>
      <p:sp>
        <p:nvSpPr>
          <p:cNvPr id="14" name="TextBox 14"/>
          <p:cNvSpPr txBox="1"/>
          <p:nvPr/>
        </p:nvSpPr>
        <p:spPr>
          <a:xfrm>
            <a:off x="4472464" y="5887402"/>
            <a:ext cx="3247072" cy="213360"/>
          </a:xfrm>
          <a:prstGeom prst="rect">
            <a:avLst/>
          </a:prstGeom>
          <a:noFill/>
          <a:ln>
            <a:noFill/>
          </a:ln>
        </p:spPr>
        <p:txBody>
          <a:bodyPr wrap="none" lIns="0" tIns="0" rIns="0" bIns="0" anchor="t" anchorCtr="0">
            <a:spAutoFit/>
          </a:bodyPr>
          <a:lstStyle/>
          <a:p>
            <a:pPr algn="ctr"/>
            <a:r>
              <a:rPr lang="ko-KR" sz="1200" dirty="0">
                <a:solidFill>
                  <a:srgbClr val="666666"/>
                </a:solidFill>
                <a:latin typeface="Malgun Gothic"/>
                <a:ea typeface="Malgun Gothic"/>
                <a:cs typeface="Malgun Gothic"/>
              </a:rPr>
              <a:t>Stack Overflow Developer Survey 2024 기준</a:t>
            </a:r>
          </a:p>
        </p:txBody>
      </p:sp>
      <p:grpSp>
        <p:nvGrpSpPr>
          <p:cNvPr id="18" name="Group 18"/>
          <p:cNvGrpSpPr/>
          <p:nvPr/>
        </p:nvGrpSpPr>
        <p:grpSpPr>
          <a:xfrm>
            <a:off x="1375410" y="3436620"/>
            <a:ext cx="1169413" cy="868680"/>
            <a:chOff x="1375410" y="3436620"/>
            <a:chExt cx="1169413" cy="868680"/>
          </a:xfrm>
        </p:grpSpPr>
        <p:sp>
          <p:nvSpPr>
            <p:cNvPr id="15" name="TextBox 15"/>
            <p:cNvSpPr txBox="1"/>
            <p:nvPr/>
          </p:nvSpPr>
          <p:spPr>
            <a:xfrm>
              <a:off x="1417320" y="3436620"/>
              <a:ext cx="381705" cy="182880"/>
            </a:xfrm>
            <a:prstGeom prst="rect">
              <a:avLst/>
            </a:prstGeom>
            <a:noFill/>
            <a:ln>
              <a:noFill/>
            </a:ln>
          </p:spPr>
          <p:txBody>
            <a:bodyPr wrap="none" lIns="0" tIns="0" rIns="0" bIns="0" anchor="t" anchorCtr="0">
              <a:spAutoFit/>
            </a:bodyPr>
            <a:lstStyle/>
            <a:p>
              <a:pPr algn="l"/>
              <a:r>
                <a:rPr lang="ko-KR" sz="1200" b="1" dirty="0">
                  <a:solidFill>
                    <a:srgbClr val="888888"/>
                  </a:solidFill>
                  <a:latin typeface="Malgun Gothic"/>
                  <a:ea typeface="Malgun Gothic"/>
                  <a:cs typeface="Malgun Gothic"/>
                </a:rPr>
                <a:t>1년 전</a:t>
              </a:r>
            </a:p>
          </p:txBody>
        </p:sp>
        <p:sp>
          <p:nvSpPr>
            <p:cNvPr id="16" name="TextBox 16"/>
            <p:cNvSpPr txBox="1"/>
            <p:nvPr/>
          </p:nvSpPr>
          <p:spPr>
            <a:xfrm>
              <a:off x="1375410" y="3451860"/>
              <a:ext cx="1169413" cy="853440"/>
            </a:xfrm>
            <a:prstGeom prst="rect">
              <a:avLst/>
            </a:prstGeom>
            <a:noFill/>
            <a:ln>
              <a:noFill/>
            </a:ln>
          </p:spPr>
          <p:txBody>
            <a:bodyPr wrap="none" lIns="0" tIns="0" rIns="0" bIns="0" anchor="t" anchorCtr="0">
              <a:spAutoFit/>
            </a:bodyPr>
            <a:lstStyle/>
            <a:p>
              <a:pPr algn="l"/>
              <a:r>
                <a:rPr lang="en-US" sz="4200" b="1" dirty="0">
                  <a:solidFill>
                    <a:srgbClr val="888888"/>
                  </a:solidFill>
                  <a:latin typeface="Inter"/>
                  <a:ea typeface="Malgun Gothic"/>
                  <a:cs typeface="Inter"/>
                </a:rPr>
                <a:t>44%</a:t>
              </a:r>
            </a:p>
          </p:txBody>
        </p:sp>
        <p:sp>
          <p:nvSpPr>
            <p:cNvPr id="17" name="Line 17"/>
            <p:cNvSpPr/>
            <p:nvPr/>
          </p:nvSpPr>
          <p:spPr>
            <a:xfrm>
              <a:off x="1428750" y="4143375"/>
              <a:ext cx="762000" cy="9525"/>
            </a:xfrm>
            <a:custGeom>
              <a:avLst/>
              <a:gdLst/>
              <a:ahLst/>
              <a:cxnLst/>
              <a:rect l="l" t="t" r="r" b="b"/>
              <a:pathLst>
                <a:path w="762000" h="9525">
                  <a:moveTo>
                    <a:pt x="0" y="0"/>
                  </a:moveTo>
                  <a:lnTo>
                    <a:pt x="762000" y="0"/>
                  </a:lnTo>
                </a:path>
              </a:pathLst>
            </a:custGeom>
            <a:noFill/>
            <a:ln w="9525">
              <a:solidFill>
                <a:srgbClr val="888888">
                  <a:alpha val="30000"/>
                </a:srgbClr>
              </a:solidFill>
            </a:ln>
          </p:spPr>
        </p:sp>
      </p:grpSp>
      <p:grpSp>
        <p:nvGrpSpPr>
          <p:cNvPr id="22" name="Group 22"/>
          <p:cNvGrpSpPr/>
          <p:nvPr/>
        </p:nvGrpSpPr>
        <p:grpSpPr>
          <a:xfrm>
            <a:off x="10084118" y="3436620"/>
            <a:ext cx="1455038" cy="1516380"/>
            <a:chOff x="10084118" y="3436620"/>
            <a:chExt cx="1455038" cy="1516380"/>
          </a:xfrm>
        </p:grpSpPr>
        <p:sp>
          <p:nvSpPr>
            <p:cNvPr id="19" name="TextBox 19"/>
            <p:cNvSpPr txBox="1"/>
            <p:nvPr/>
          </p:nvSpPr>
          <p:spPr>
            <a:xfrm>
              <a:off x="10085070" y="3436620"/>
              <a:ext cx="733649" cy="182880"/>
            </a:xfrm>
            <a:prstGeom prst="rect">
              <a:avLst/>
            </a:prstGeom>
            <a:noFill/>
            <a:ln>
              <a:noFill/>
            </a:ln>
          </p:spPr>
          <p:txBody>
            <a:bodyPr wrap="none" lIns="0" tIns="0" rIns="0" bIns="0" anchor="t" anchorCtr="0">
              <a:spAutoFit/>
            </a:bodyPr>
            <a:lstStyle/>
            <a:p>
              <a:pPr algn="l"/>
              <a:r>
                <a:rPr lang="ko-KR" sz="1200" b="1" dirty="0">
                  <a:solidFill>
                    <a:srgbClr val="D4452C"/>
                  </a:solidFill>
                  <a:latin typeface="Malgun Gothic"/>
                  <a:ea typeface="Malgun Gothic"/>
                  <a:cs typeface="Malgun Gothic"/>
                </a:rPr>
                <a:t>12개월 동안</a:t>
              </a:r>
            </a:p>
          </p:txBody>
        </p:sp>
        <p:sp>
          <p:nvSpPr>
            <p:cNvPr id="20" name="TextBox 20"/>
            <p:cNvSpPr txBox="1"/>
            <p:nvPr/>
          </p:nvSpPr>
          <p:spPr>
            <a:xfrm>
              <a:off x="10466070" y="4465320"/>
              <a:ext cx="1073086" cy="487680"/>
            </a:xfrm>
            <a:prstGeom prst="rect">
              <a:avLst/>
            </a:prstGeom>
            <a:noFill/>
            <a:ln>
              <a:noFill/>
            </a:ln>
          </p:spPr>
          <p:txBody>
            <a:bodyPr wrap="none" lIns="0" tIns="0" rIns="0" bIns="0" anchor="t" anchorCtr="0">
              <a:spAutoFit/>
            </a:bodyPr>
            <a:lstStyle/>
            <a:p>
              <a:pPr algn="l"/>
              <a:r>
                <a:rPr lang="en-US" sz="2400" b="1" dirty="0">
                  <a:solidFill>
                    <a:srgbClr val="D4452C"/>
                  </a:solidFill>
                  <a:latin typeface="Inter"/>
                  <a:ea typeface="Malgun Gothic"/>
                  <a:cs typeface="Inter"/>
                </a:rPr>
                <a:t>+32%p</a:t>
              </a:r>
            </a:p>
          </p:txBody>
        </p:sp>
        <p:sp>
          <p:nvSpPr>
            <p:cNvPr id="21" name="TextBox 21"/>
            <p:cNvSpPr txBox="1"/>
            <p:nvPr/>
          </p:nvSpPr>
          <p:spPr>
            <a:xfrm>
              <a:off x="10084118" y="4581049"/>
              <a:ext cx="1249394" cy="198120"/>
            </a:xfrm>
            <a:prstGeom prst="rect">
              <a:avLst/>
            </a:prstGeom>
            <a:noFill/>
            <a:ln>
              <a:noFill/>
            </a:ln>
          </p:spPr>
          <p:txBody>
            <a:bodyPr wrap="none" lIns="0" tIns="0" rIns="0" bIns="0" anchor="t" anchorCtr="0">
              <a:spAutoFit/>
            </a:bodyPr>
            <a:lstStyle/>
            <a:p>
              <a:pPr algn="l"/>
              <a:r>
                <a:rPr lang="ko-KR" sz="1200" dirty="0">
                  <a:solidFill>
                    <a:srgbClr val="666666"/>
                  </a:solidFill>
                  <a:latin typeface="Malgun Gothic"/>
                  <a:ea typeface="Malgun Gothic"/>
                  <a:cs typeface="Malgun Gothic"/>
                </a:rPr>
                <a:t>유례없는 채택 속도</a:t>
              </a:r>
            </a:p>
          </p:txBody>
        </p:sp>
      </p:grpSp>
      <p:grpSp>
        <p:nvGrpSpPr>
          <p:cNvPr id="24" name="Group 24"/>
          <p:cNvGrpSpPr/>
          <p:nvPr/>
        </p:nvGrpSpPr>
        <p:grpSpPr>
          <a:xfrm>
            <a:off x="751522" y="7626191"/>
            <a:ext cx="1195745" cy="167640"/>
            <a:chOff x="751522" y="7626191"/>
            <a:chExt cx="1195745" cy="167640"/>
          </a:xfrm>
        </p:grpSpPr>
        <p:sp>
          <p:nvSpPr>
            <p:cNvPr id="23" name="TextBox 23"/>
            <p:cNvSpPr txBox="1"/>
            <p:nvPr/>
          </p:nvSpPr>
          <p:spPr>
            <a:xfrm>
              <a:off x="751522" y="7626191"/>
              <a:ext cx="1195745" cy="167640"/>
            </a:xfrm>
            <a:prstGeom prst="rect">
              <a:avLst/>
            </a:prstGeom>
            <a:noFill/>
            <a:ln>
              <a:noFill/>
            </a:ln>
          </p:spPr>
          <p:txBody>
            <a:bodyPr wrap="none" lIns="0" tIns="0" rIns="0" bIns="0" anchor="t" anchorCtr="0">
              <a:spAutoFit/>
            </a:bodyPr>
            <a:lstStyle/>
            <a:p>
              <a:pPr algn="l"/>
              <a:r>
                <a:rPr lang="ko-KR" sz="1200" dirty="0">
                  <a:solidFill>
                    <a:srgbClr val="999999"/>
                  </a:solidFill>
                  <a:latin typeface="Malgun Gothic"/>
                  <a:ea typeface="Malgun Gothic"/>
                  <a:cs typeface="Malgun Gothic"/>
                </a:rPr>
                <a:t>AI 코딩의 현재와 미래</a:t>
              </a:r>
            </a:p>
          </p:txBody>
        </p:sp>
      </p:grpSp>
      <p:sp>
        <p:nvSpPr>
          <p:cNvPr id="25" name="TextBox 25"/>
          <p:cNvSpPr txBox="1"/>
          <p:nvPr/>
        </p:nvSpPr>
        <p:spPr>
          <a:xfrm>
            <a:off x="10931533" y="6387941"/>
            <a:ext cx="508945" cy="167640"/>
          </a:xfrm>
          <a:prstGeom prst="rect">
            <a:avLst/>
          </a:prstGeom>
          <a:noFill/>
          <a:ln>
            <a:noFill/>
          </a:ln>
        </p:spPr>
        <p:txBody>
          <a:bodyPr wrap="none" lIns="0" tIns="0" rIns="0" bIns="0" anchor="t" anchorCtr="0">
            <a:spAutoFit/>
          </a:bodyPr>
          <a:lstStyle/>
          <a:p>
            <a:pPr algn="r"/>
            <a:r>
              <a:rPr lang="en-US" sz="1200" dirty="0">
                <a:solidFill>
                  <a:srgbClr val="999999"/>
                </a:solidFill>
                <a:latin typeface="Malgun Gothic"/>
                <a:ea typeface="Malgun Gothic"/>
                <a:cs typeface="Malgun Gothic"/>
              </a:rPr>
              <a:t>2024.Q4</a:t>
            </a:r>
          </a:p>
        </p:txBody>
      </p:sp>
    </p:spTree>
  </p:cSld>
  <p:clrMapOvr>
    <a:masterClrMapping/>
  </p:clrMapOvr>
  <p:transition xmlns:p14="http://schemas.microsoft.com/office/powerpoint/2010/main" p14:dur="5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A7CE0"/>
          </a:solidFill>
          <a:ln>
            <a:noFill/>
          </a:ln>
        </p:spPr>
      </p:sp>
      <p:grpSp>
        <p:nvGrpSpPr>
          <p:cNvPr id="7" name="Group 7"/>
          <p:cNvGrpSpPr/>
          <p:nvPr/>
        </p:nvGrpSpPr>
        <p:grpSpPr>
          <a:xfrm>
            <a:off x="708660" y="880110"/>
            <a:ext cx="6787039" cy="977265"/>
            <a:chOff x="708660" y="880110"/>
            <a:chExt cx="6787039" cy="977265"/>
          </a:xfrm>
        </p:grpSpPr>
        <p:sp>
          <p:nvSpPr>
            <p:cNvPr id="4" name="TextBox 4"/>
            <p:cNvSpPr txBox="1"/>
            <p:nvPr/>
          </p:nvSpPr>
          <p:spPr>
            <a:xfrm>
              <a:off x="748665" y="1229678"/>
              <a:ext cx="1997250" cy="213360"/>
            </a:xfrm>
            <a:prstGeom prst="rect">
              <a:avLst/>
            </a:prstGeom>
            <a:noFill/>
            <a:ln>
              <a:noFill/>
            </a:ln>
          </p:spPr>
          <p:txBody>
            <a:bodyPr wrap="none" lIns="0" tIns="0" rIns="0" bIns="0" anchor="t" anchorCtr="0">
              <a:spAutoFit/>
            </a:bodyPr>
            <a:lstStyle/>
            <a:p>
              <a:pPr algn="l"/>
              <a:r>
                <a:rPr lang="ko-KR" sz="1200" dirty="0">
                  <a:solidFill>
                    <a:srgbClr val="8A94A6"/>
                  </a:solidFill>
                  <a:latin typeface="Malgun Gothic"/>
                  <a:ea typeface="Malgun Gothic"/>
                  <a:cs typeface="Malgun Gothic"/>
                </a:rPr>
                <a:t>CHAPTER 02 · AI 코딩의 진화</a:t>
              </a:r>
            </a:p>
          </p:txBody>
        </p:sp>
        <p:sp>
          <p:nvSpPr>
            <p:cNvPr id="5" name="TextBox 5"/>
            <p:cNvSpPr txBox="1"/>
            <p:nvPr/>
          </p:nvSpPr>
          <p:spPr>
            <a:xfrm>
              <a:off x="708660" y="880110"/>
              <a:ext cx="5549160" cy="853440"/>
            </a:xfrm>
            <a:prstGeom prst="rect">
              <a:avLst/>
            </a:prstGeom>
            <a:noFill/>
            <a:ln>
              <a:noFill/>
            </a:ln>
          </p:spPr>
          <p:txBody>
            <a:bodyPr wrap="none" lIns="0" tIns="0" rIns="0" bIns="0" anchor="t" anchorCtr="0">
              <a:spAutoFit/>
            </a:bodyPr>
            <a:lstStyle/>
            <a:p>
              <a:pPr algn="l"/>
              <a:r>
                <a:rPr lang="ko-KR" sz="4200" b="1" dirty="0">
                  <a:solidFill>
                    <a:srgbClr val="0F172A"/>
                  </a:solidFill>
                  <a:latin typeface="Malgun Gothic"/>
                  <a:ea typeface="Malgun Gothic"/>
                  <a:cs typeface="Malgun Gothic"/>
                </a:rPr>
                <a:t>5년 만에 일어난 일</a:t>
              </a:r>
            </a:p>
          </p:txBody>
        </p:sp>
        <p:sp>
          <p:nvSpPr>
            <p:cNvPr id="6" name="TextBox 6"/>
            <p:cNvSpPr txBox="1"/>
            <p:nvPr/>
          </p:nvSpPr>
          <p:spPr>
            <a:xfrm>
              <a:off x="742950" y="1552575"/>
              <a:ext cx="6752749" cy="304800"/>
            </a:xfrm>
            <a:prstGeom prst="rect">
              <a:avLst/>
            </a:prstGeom>
            <a:noFill/>
            <a:ln>
              <a:noFill/>
            </a:ln>
          </p:spPr>
          <p:txBody>
            <a:bodyPr wrap="none" lIns="0" tIns="0" rIns="0" bIns="0" anchor="t" anchorCtr="0">
              <a:spAutoFit/>
            </a:bodyPr>
            <a:lstStyle/>
            <a:p>
              <a:pPr algn="l"/>
              <a:r>
                <a:rPr lang="ko-KR" sz="1500" dirty="0">
                  <a:solidFill>
                    <a:srgbClr val="475569"/>
                  </a:solidFill>
                  <a:latin typeface="Malgun Gothic"/>
                  <a:ea typeface="Malgun Gothic"/>
                  <a:cs typeface="Malgun Gothic"/>
                </a:rPr>
                <a:t>코드 생성의 가능성에서 자율 실행 에이전트까지, AI 코딩 도구의 5년</a:t>
              </a:r>
            </a:p>
          </p:txBody>
        </p:sp>
      </p:grpSp>
      <p:sp>
        <p:nvSpPr>
          <p:cNvPr id="8" name="Line 8"/>
          <p:cNvSpPr/>
          <p:nvPr/>
        </p:nvSpPr>
        <p:spPr>
          <a:xfrm>
            <a:off x="762000" y="2095500"/>
            <a:ext cx="10668000" cy="9525"/>
          </a:xfrm>
          <a:custGeom>
            <a:avLst/>
            <a:gdLst/>
            <a:ahLst/>
            <a:cxnLst/>
            <a:rect l="l" t="t" r="r" b="b"/>
            <a:pathLst>
              <a:path w="10668000" h="9525">
                <a:moveTo>
                  <a:pt x="0" y="0"/>
                </a:moveTo>
                <a:lnTo>
                  <a:pt x="10668000" y="0"/>
                </a:lnTo>
              </a:path>
            </a:pathLst>
          </a:custGeom>
          <a:noFill/>
          <a:ln w="9525">
            <a:solidFill>
              <a:srgbClr val="E2E8F0"/>
            </a:solidFill>
          </a:ln>
        </p:spPr>
      </p:sp>
      <p:grpSp>
        <p:nvGrpSpPr>
          <p:cNvPr id="66" name="Group 66"/>
          <p:cNvGrpSpPr/>
          <p:nvPr/>
        </p:nvGrpSpPr>
        <p:grpSpPr>
          <a:xfrm>
            <a:off x="571500" y="2857500"/>
            <a:ext cx="11049000" cy="2085975"/>
            <a:chOff x="571500" y="2857500"/>
            <a:chExt cx="11049000" cy="2085975"/>
          </a:xfrm>
        </p:grpSpPr>
        <p:sp>
          <p:nvSpPr>
            <p:cNvPr id="9" name="Line 9"/>
            <p:cNvSpPr/>
            <p:nvPr/>
          </p:nvSpPr>
          <p:spPr>
            <a:xfrm>
              <a:off x="1333500" y="4286250"/>
              <a:ext cx="9525000" cy="9525"/>
            </a:xfrm>
            <a:custGeom>
              <a:avLst/>
              <a:gdLst/>
              <a:ahLst/>
              <a:cxnLst/>
              <a:rect l="l" t="t" r="r" b="b"/>
              <a:pathLst>
                <a:path w="9525000" h="9525">
                  <a:moveTo>
                    <a:pt x="0" y="0"/>
                  </a:moveTo>
                  <a:lnTo>
                    <a:pt x="9525000" y="0"/>
                  </a:lnTo>
                </a:path>
              </a:pathLst>
            </a:custGeom>
            <a:noFill/>
            <a:ln w="19050">
              <a:solidFill>
                <a:srgbClr val="CBD5E1"/>
              </a:solidFill>
            </a:ln>
          </p:spPr>
        </p:sp>
        <p:sp>
          <p:nvSpPr>
            <p:cNvPr id="10" name="Line 10"/>
            <p:cNvSpPr/>
            <p:nvPr/>
          </p:nvSpPr>
          <p:spPr>
            <a:xfrm>
              <a:off x="1333500" y="4286250"/>
              <a:ext cx="9525000" cy="9525"/>
            </a:xfrm>
            <a:custGeom>
              <a:avLst/>
              <a:gdLst/>
              <a:ahLst/>
              <a:cxnLst/>
              <a:rect l="l" t="t" r="r" b="b"/>
              <a:pathLst>
                <a:path w="9525000" h="9525">
                  <a:moveTo>
                    <a:pt x="0" y="0"/>
                  </a:moveTo>
                  <a:lnTo>
                    <a:pt x="9525000" y="0"/>
                  </a:lnTo>
                </a:path>
              </a:pathLst>
            </a:custGeom>
            <a:noFill/>
            <a:ln w="19050">
              <a:solidFill>
                <a:srgbClr val="1A7CE0"/>
              </a:solidFill>
              <a:custDash>
                <a:ds d="0" sp="0"/>
              </a:custDash>
            </a:ln>
          </p:spPr>
        </p:sp>
        <p:grpSp>
          <p:nvGrpSpPr>
            <p:cNvPr id="21" name="Group 21"/>
            <p:cNvGrpSpPr/>
            <p:nvPr/>
          </p:nvGrpSpPr>
          <p:grpSpPr>
            <a:xfrm>
              <a:off x="571500" y="2857500"/>
              <a:ext cx="1524000" cy="2057400"/>
              <a:chOff x="571500" y="2857500"/>
              <a:chExt cx="1524000" cy="2057400"/>
            </a:xfrm>
          </p:grpSpPr>
          <p:sp>
            <p:nvSpPr>
              <p:cNvPr id="11" name="Ellipse 11"/>
              <p:cNvSpPr/>
              <p:nvPr/>
            </p:nvSpPr>
            <p:spPr>
              <a:xfrm>
                <a:off x="1200150" y="4152900"/>
                <a:ext cx="266700" cy="266700"/>
              </a:xfrm>
              <a:prstGeom prst="ellipse">
                <a:avLst/>
              </a:prstGeom>
              <a:solidFill>
                <a:srgbClr val="FFFFFF"/>
              </a:solidFill>
              <a:ln w="28575">
                <a:solidFill>
                  <a:srgbClr val="1A7CE0"/>
                </a:solidFill>
              </a:ln>
            </p:spPr>
          </p:sp>
          <p:sp>
            <p:nvSpPr>
              <p:cNvPr id="12" name="Ellipse 12"/>
              <p:cNvSpPr/>
              <p:nvPr/>
            </p:nvSpPr>
            <p:spPr>
              <a:xfrm>
                <a:off x="1285875" y="4238625"/>
                <a:ext cx="95250" cy="95250"/>
              </a:xfrm>
              <a:prstGeom prst="ellipse">
                <a:avLst/>
              </a:prstGeom>
              <a:solidFill>
                <a:srgbClr val="1A7CE0"/>
              </a:solidFill>
              <a:ln>
                <a:noFill/>
              </a:ln>
            </p:spPr>
          </p:sp>
          <p:sp>
            <p:nvSpPr>
              <p:cNvPr id="13" name="TextBox 13"/>
              <p:cNvSpPr txBox="1"/>
              <p:nvPr/>
            </p:nvSpPr>
            <p:spPr>
              <a:xfrm>
                <a:off x="952586" y="4488180"/>
                <a:ext cx="761829" cy="426720"/>
              </a:xfrm>
              <a:prstGeom prst="rect">
                <a:avLst/>
              </a:prstGeom>
              <a:noFill/>
              <a:ln>
                <a:noFill/>
              </a:ln>
            </p:spPr>
            <p:txBody>
              <a:bodyPr wrap="none" lIns="0" tIns="0" rIns="0" bIns="0" anchor="t" anchorCtr="0">
                <a:spAutoFit/>
              </a:bodyPr>
              <a:lstStyle/>
              <a:p>
                <a:pPr algn="ctr"/>
                <a:r>
                  <a:rPr lang="en-US" sz="2100" b="1" dirty="0">
                    <a:solidFill>
                      <a:srgbClr val="0F172A"/>
                    </a:solidFill>
                    <a:latin typeface="Malgun Gothic"/>
                    <a:ea typeface="Malgun Gothic"/>
                    <a:cs typeface="Malgun Gothic"/>
                  </a:rPr>
                  <a:t>2020</a:t>
                </a:r>
              </a:p>
            </p:txBody>
          </p:sp>
          <p:grpSp>
            <p:nvGrpSpPr>
              <p:cNvPr id="20" name="Group 20"/>
              <p:cNvGrpSpPr/>
              <p:nvPr/>
            </p:nvGrpSpPr>
            <p:grpSpPr>
              <a:xfrm>
                <a:off x="571500" y="2857500"/>
                <a:ext cx="1524000" cy="1143000"/>
                <a:chOff x="571500" y="2857500"/>
                <a:chExt cx="1524000" cy="1143000"/>
              </a:xfrm>
            </p:grpSpPr>
            <p:sp>
              <p:nvSpPr>
                <p:cNvPr id="14" name="Rectangle 14"/>
                <p:cNvSpPr/>
                <p:nvPr/>
              </p:nvSpPr>
              <p:spPr>
                <a:xfrm>
                  <a:off x="571500" y="2857500"/>
                  <a:ext cx="1524000" cy="1143000"/>
                </a:xfrm>
                <a:prstGeom prst="roundRect">
                  <a:avLst>
                    <a:gd name="adj" fmla="val 6667"/>
                  </a:avLst>
                </a:prstGeom>
                <a:solidFill>
                  <a:srgbClr val="F8FAFC"/>
                </a:solidFill>
                <a:ln w="9525">
                  <a:solidFill>
                    <a:srgbClr val="E2E8F0"/>
                  </a:solidFill>
                </a:ln>
              </p:spPr>
            </p:sp>
            <p:sp>
              <p:nvSpPr>
                <p:cNvPr id="15" name="Rectangle 15"/>
                <p:cNvSpPr/>
                <p:nvPr/>
              </p:nvSpPr>
              <p:spPr>
                <a:xfrm>
                  <a:off x="571500" y="2857500"/>
                  <a:ext cx="1524000" cy="28575"/>
                </a:xfrm>
                <a:prstGeom prst="roundRect">
                  <a:avLst>
                    <a:gd name="adj" fmla="val 50000"/>
                  </a:avLst>
                </a:prstGeom>
                <a:solidFill>
                  <a:srgbClr val="1A7CE0"/>
                </a:solidFill>
                <a:ln>
                  <a:noFill/>
                </a:ln>
              </p:spPr>
            </p:sp>
            <p:sp>
              <p:nvSpPr>
                <p:cNvPr id="16" name="TextBox 16"/>
                <p:cNvSpPr txBox="1"/>
                <p:nvPr/>
              </p:nvSpPr>
              <p:spPr>
                <a:xfrm>
                  <a:off x="708660" y="3032760"/>
                  <a:ext cx="536543" cy="243840"/>
                </a:xfrm>
                <a:prstGeom prst="rect">
                  <a:avLst/>
                </a:prstGeom>
                <a:noFill/>
                <a:ln>
                  <a:noFill/>
                </a:ln>
              </p:spPr>
              <p:txBody>
                <a:bodyPr wrap="none" lIns="0" tIns="0" rIns="0" bIns="0" anchor="t" anchorCtr="0">
                  <a:spAutoFit/>
                </a:bodyPr>
                <a:lstStyle/>
                <a:p>
                  <a:pPr algn="l"/>
                  <a:r>
                    <a:rPr lang="en-US" sz="1200" b="1" dirty="0">
                      <a:solidFill>
                        <a:srgbClr val="0F172A"/>
                      </a:solidFill>
                      <a:latin typeface="Malgun Gothic"/>
                      <a:ea typeface="Malgun Gothic"/>
                      <a:cs typeface="Malgun Gothic"/>
                    </a:rPr>
                    <a:t>GPT-3</a:t>
                  </a:r>
                </a:p>
              </p:txBody>
            </p:sp>
            <p:sp>
              <p:nvSpPr>
                <p:cNvPr id="17" name="TextBox 17"/>
                <p:cNvSpPr txBox="1"/>
                <p:nvPr/>
              </p:nvSpPr>
              <p:spPr>
                <a:xfrm>
                  <a:off x="711518" y="3323749"/>
                  <a:ext cx="779478" cy="198120"/>
                </a:xfrm>
                <a:prstGeom prst="rect">
                  <a:avLst/>
                </a:prstGeom>
                <a:noFill/>
                <a:ln>
                  <a:noFill/>
                </a:ln>
              </p:spPr>
              <p:txBody>
                <a:bodyPr wrap="none" lIns="0" tIns="0" rIns="0" bIns="0" anchor="t" anchorCtr="0">
                  <a:spAutoFit/>
                </a:bodyPr>
                <a:lstStyle/>
                <a:p>
                  <a:pPr algn="l"/>
                  <a:r>
                    <a:rPr lang="ko-KR" sz="1200" dirty="0">
                      <a:solidFill>
                        <a:srgbClr val="475569"/>
                      </a:solidFill>
                      <a:latin typeface="Malgun Gothic"/>
                      <a:ea typeface="Malgun Gothic"/>
                      <a:cs typeface="Malgun Gothic"/>
                    </a:rPr>
                    <a:t>코드 생성의</a:t>
                  </a:r>
                </a:p>
              </p:txBody>
            </p:sp>
            <p:sp>
              <p:nvSpPr>
                <p:cNvPr id="18" name="TextBox 18"/>
                <p:cNvSpPr txBox="1"/>
                <p:nvPr/>
              </p:nvSpPr>
              <p:spPr>
                <a:xfrm>
                  <a:off x="711518" y="3495199"/>
                  <a:ext cx="779478" cy="198120"/>
                </a:xfrm>
                <a:prstGeom prst="rect">
                  <a:avLst/>
                </a:prstGeom>
                <a:noFill/>
                <a:ln>
                  <a:noFill/>
                </a:ln>
              </p:spPr>
              <p:txBody>
                <a:bodyPr wrap="none" lIns="0" tIns="0" rIns="0" bIns="0" anchor="t" anchorCtr="0">
                  <a:spAutoFit/>
                </a:bodyPr>
                <a:lstStyle/>
                <a:p>
                  <a:pPr algn="l"/>
                  <a:r>
                    <a:rPr lang="ko-KR" sz="1200" dirty="0">
                      <a:solidFill>
                        <a:srgbClr val="475569"/>
                      </a:solidFill>
                      <a:latin typeface="Malgun Gothic"/>
                      <a:ea typeface="Malgun Gothic"/>
                      <a:cs typeface="Malgun Gothic"/>
                    </a:rPr>
                    <a:t>가능성 등장</a:t>
                  </a:r>
                </a:p>
              </p:txBody>
            </p:sp>
            <p:sp>
              <p:nvSpPr>
                <p:cNvPr id="19" name="TextBox 19"/>
                <p:cNvSpPr txBox="1"/>
                <p:nvPr/>
              </p:nvSpPr>
              <p:spPr>
                <a:xfrm>
                  <a:off x="713422" y="3797141"/>
                  <a:ext cx="400502" cy="167640"/>
                </a:xfrm>
                <a:prstGeom prst="rect">
                  <a:avLst/>
                </a:prstGeom>
                <a:noFill/>
                <a:ln>
                  <a:noFill/>
                </a:ln>
              </p:spPr>
              <p:txBody>
                <a:bodyPr wrap="none" lIns="0" tIns="0" rIns="0" bIns="0" anchor="t" anchorCtr="0">
                  <a:spAutoFit/>
                </a:bodyPr>
                <a:lstStyle/>
                <a:p>
                  <a:pPr algn="l"/>
                  <a:r>
                    <a:rPr lang="ko-KR" sz="1200" b="1" dirty="0">
                      <a:solidFill>
                        <a:srgbClr val="1A7CE0"/>
                      </a:solidFill>
                      <a:latin typeface="Malgun Gothic"/>
                      <a:ea typeface="Malgun Gothic"/>
                      <a:cs typeface="Malgun Gothic"/>
                    </a:rPr>
                    <a:t>가능성</a:t>
                  </a:r>
                </a:p>
              </p:txBody>
            </p:sp>
          </p:grpSp>
        </p:grpSp>
        <p:grpSp>
          <p:nvGrpSpPr>
            <p:cNvPr id="32" name="Group 32"/>
            <p:cNvGrpSpPr/>
            <p:nvPr/>
          </p:nvGrpSpPr>
          <p:grpSpPr>
            <a:xfrm>
              <a:off x="2952750" y="2857500"/>
              <a:ext cx="1524000" cy="2057400"/>
              <a:chOff x="2952750" y="2857500"/>
              <a:chExt cx="1524000" cy="2057400"/>
            </a:xfrm>
          </p:grpSpPr>
          <p:sp>
            <p:nvSpPr>
              <p:cNvPr id="22" name="Ellipse 22"/>
              <p:cNvSpPr/>
              <p:nvPr/>
            </p:nvSpPr>
            <p:spPr>
              <a:xfrm>
                <a:off x="3581400" y="4152900"/>
                <a:ext cx="266700" cy="266700"/>
              </a:xfrm>
              <a:prstGeom prst="ellipse">
                <a:avLst/>
              </a:prstGeom>
              <a:solidFill>
                <a:srgbClr val="FFFFFF"/>
              </a:solidFill>
              <a:ln w="28575">
                <a:solidFill>
                  <a:srgbClr val="1A7CE0"/>
                </a:solidFill>
              </a:ln>
            </p:spPr>
          </p:sp>
          <p:sp>
            <p:nvSpPr>
              <p:cNvPr id="23" name="Ellipse 23"/>
              <p:cNvSpPr/>
              <p:nvPr/>
            </p:nvSpPr>
            <p:spPr>
              <a:xfrm>
                <a:off x="3667125" y="4238625"/>
                <a:ext cx="95250" cy="95250"/>
              </a:xfrm>
              <a:prstGeom prst="ellipse">
                <a:avLst/>
              </a:prstGeom>
              <a:solidFill>
                <a:srgbClr val="1A7CE0"/>
              </a:solidFill>
              <a:ln>
                <a:noFill/>
              </a:ln>
            </p:spPr>
          </p:sp>
          <p:sp>
            <p:nvSpPr>
              <p:cNvPr id="24" name="TextBox 24"/>
              <p:cNvSpPr txBox="1"/>
              <p:nvPr/>
            </p:nvSpPr>
            <p:spPr>
              <a:xfrm>
                <a:off x="3374091" y="4488180"/>
                <a:ext cx="681318" cy="426720"/>
              </a:xfrm>
              <a:prstGeom prst="rect">
                <a:avLst/>
              </a:prstGeom>
              <a:noFill/>
              <a:ln>
                <a:noFill/>
              </a:ln>
            </p:spPr>
            <p:txBody>
              <a:bodyPr wrap="none" lIns="0" tIns="0" rIns="0" bIns="0" anchor="t" anchorCtr="0">
                <a:spAutoFit/>
              </a:bodyPr>
              <a:lstStyle/>
              <a:p>
                <a:pPr algn="ctr"/>
                <a:r>
                  <a:rPr lang="en-US" sz="2100" b="1" dirty="0">
                    <a:solidFill>
                      <a:srgbClr val="0F172A"/>
                    </a:solidFill>
                    <a:latin typeface="Malgun Gothic"/>
                    <a:ea typeface="Malgun Gothic"/>
                    <a:cs typeface="Malgun Gothic"/>
                  </a:rPr>
                  <a:t>2021</a:t>
                </a:r>
              </a:p>
            </p:txBody>
          </p:sp>
          <p:grpSp>
            <p:nvGrpSpPr>
              <p:cNvPr id="31" name="Group 31"/>
              <p:cNvGrpSpPr/>
              <p:nvPr/>
            </p:nvGrpSpPr>
            <p:grpSpPr>
              <a:xfrm>
                <a:off x="2952750" y="2857500"/>
                <a:ext cx="1524000" cy="1143000"/>
                <a:chOff x="2952750" y="2857500"/>
                <a:chExt cx="1524000" cy="1143000"/>
              </a:xfrm>
            </p:grpSpPr>
            <p:sp>
              <p:nvSpPr>
                <p:cNvPr id="25" name="Rectangle 25"/>
                <p:cNvSpPr/>
                <p:nvPr/>
              </p:nvSpPr>
              <p:spPr>
                <a:xfrm>
                  <a:off x="2952750" y="2857500"/>
                  <a:ext cx="1524000" cy="1143000"/>
                </a:xfrm>
                <a:prstGeom prst="roundRect">
                  <a:avLst>
                    <a:gd name="adj" fmla="val 6667"/>
                  </a:avLst>
                </a:prstGeom>
                <a:solidFill>
                  <a:srgbClr val="F8FAFC"/>
                </a:solidFill>
                <a:ln w="9525">
                  <a:solidFill>
                    <a:srgbClr val="E2E8F0"/>
                  </a:solidFill>
                </a:ln>
              </p:spPr>
            </p:sp>
            <p:sp>
              <p:nvSpPr>
                <p:cNvPr id="26" name="Rectangle 26"/>
                <p:cNvSpPr/>
                <p:nvPr/>
              </p:nvSpPr>
              <p:spPr>
                <a:xfrm>
                  <a:off x="2952750" y="2857500"/>
                  <a:ext cx="1524000" cy="28575"/>
                </a:xfrm>
                <a:prstGeom prst="roundRect">
                  <a:avLst>
                    <a:gd name="adj" fmla="val 50000"/>
                  </a:avLst>
                </a:prstGeom>
                <a:solidFill>
                  <a:srgbClr val="1A7CE0"/>
                </a:solidFill>
                <a:ln>
                  <a:noFill/>
                </a:ln>
              </p:spPr>
            </p:sp>
            <p:sp>
              <p:nvSpPr>
                <p:cNvPr id="27" name="TextBox 27"/>
                <p:cNvSpPr txBox="1"/>
                <p:nvPr/>
              </p:nvSpPr>
              <p:spPr>
                <a:xfrm>
                  <a:off x="3089910" y="3032760"/>
                  <a:ext cx="1263434" cy="243840"/>
                </a:xfrm>
                <a:prstGeom prst="rect">
                  <a:avLst/>
                </a:prstGeom>
                <a:noFill/>
                <a:ln>
                  <a:noFill/>
                </a:ln>
              </p:spPr>
              <p:txBody>
                <a:bodyPr wrap="none" lIns="0" tIns="0" rIns="0" bIns="0" anchor="t" anchorCtr="0">
                  <a:spAutoFit/>
                </a:bodyPr>
                <a:lstStyle/>
                <a:p>
                  <a:pPr algn="l"/>
                  <a:r>
                    <a:rPr lang="en-US" sz="1200" b="1" dirty="0">
                      <a:solidFill>
                        <a:srgbClr val="0F172A"/>
                      </a:solidFill>
                      <a:latin typeface="Malgun Gothic"/>
                      <a:ea typeface="Malgun Gothic"/>
                      <a:cs typeface="Malgun Gothic"/>
                    </a:rPr>
                    <a:t>GitHub Copilot</a:t>
                  </a:r>
                </a:p>
              </p:txBody>
            </p:sp>
            <p:sp>
              <p:nvSpPr>
                <p:cNvPr id="28" name="TextBox 28"/>
                <p:cNvSpPr txBox="1"/>
                <p:nvPr/>
              </p:nvSpPr>
              <p:spPr>
                <a:xfrm>
                  <a:off x="3092768" y="3323749"/>
                  <a:ext cx="1064276" cy="198120"/>
                </a:xfrm>
                <a:prstGeom prst="rect">
                  <a:avLst/>
                </a:prstGeom>
                <a:noFill/>
                <a:ln>
                  <a:noFill/>
                </a:ln>
              </p:spPr>
              <p:txBody>
                <a:bodyPr wrap="none" lIns="0" tIns="0" rIns="0" bIns="0" anchor="t" anchorCtr="0">
                  <a:spAutoFit/>
                </a:bodyPr>
                <a:lstStyle/>
                <a:p>
                  <a:pPr algn="l"/>
                  <a:r>
                    <a:rPr lang="ko-KR" sz="1200" dirty="0">
                      <a:solidFill>
                        <a:srgbClr val="475569"/>
                      </a:solidFill>
                      <a:latin typeface="Malgun Gothic"/>
                      <a:ea typeface="Malgun Gothic"/>
                      <a:cs typeface="Malgun Gothic"/>
                    </a:rPr>
                    <a:t>페어 프로그래밍</a:t>
                  </a:r>
                </a:p>
              </p:txBody>
            </p:sp>
            <p:sp>
              <p:nvSpPr>
                <p:cNvPr id="29" name="TextBox 29"/>
                <p:cNvSpPr txBox="1"/>
                <p:nvPr/>
              </p:nvSpPr>
              <p:spPr>
                <a:xfrm>
                  <a:off x="3092768" y="3495199"/>
                  <a:ext cx="451961" cy="198120"/>
                </a:xfrm>
                <a:prstGeom prst="rect">
                  <a:avLst/>
                </a:prstGeom>
                <a:noFill/>
                <a:ln>
                  <a:noFill/>
                </a:ln>
              </p:spPr>
              <p:txBody>
                <a:bodyPr wrap="none" lIns="0" tIns="0" rIns="0" bIns="0" anchor="t" anchorCtr="0">
                  <a:spAutoFit/>
                </a:bodyPr>
                <a:lstStyle/>
                <a:p>
                  <a:pPr algn="l"/>
                  <a:r>
                    <a:rPr lang="ko-KR" sz="1200" dirty="0">
                      <a:solidFill>
                        <a:srgbClr val="475569"/>
                      </a:solidFill>
                      <a:latin typeface="Malgun Gothic"/>
                      <a:ea typeface="Malgun Gothic"/>
                      <a:cs typeface="Malgun Gothic"/>
                    </a:rPr>
                    <a:t>상용화</a:t>
                  </a:r>
                </a:p>
              </p:txBody>
            </p:sp>
            <p:sp>
              <p:nvSpPr>
                <p:cNvPr id="30" name="TextBox 30"/>
                <p:cNvSpPr txBox="1"/>
                <p:nvPr/>
              </p:nvSpPr>
              <p:spPr>
                <a:xfrm>
                  <a:off x="3094672" y="3797141"/>
                  <a:ext cx="400502" cy="167640"/>
                </a:xfrm>
                <a:prstGeom prst="rect">
                  <a:avLst/>
                </a:prstGeom>
                <a:noFill/>
                <a:ln>
                  <a:noFill/>
                </a:ln>
              </p:spPr>
              <p:txBody>
                <a:bodyPr wrap="none" lIns="0" tIns="0" rIns="0" bIns="0" anchor="t" anchorCtr="0">
                  <a:spAutoFit/>
                </a:bodyPr>
                <a:lstStyle/>
                <a:p>
                  <a:pPr algn="l"/>
                  <a:r>
                    <a:rPr lang="ko-KR" sz="1200" b="1" dirty="0">
                      <a:solidFill>
                        <a:srgbClr val="1A7CE0"/>
                      </a:solidFill>
                      <a:latin typeface="Malgun Gothic"/>
                      <a:ea typeface="Malgun Gothic"/>
                      <a:cs typeface="Malgun Gothic"/>
                    </a:rPr>
                    <a:t>상용화</a:t>
                  </a:r>
                </a:p>
              </p:txBody>
            </p:sp>
          </p:grpSp>
        </p:grpSp>
        <p:grpSp>
          <p:nvGrpSpPr>
            <p:cNvPr id="43" name="Group 43"/>
            <p:cNvGrpSpPr/>
            <p:nvPr/>
          </p:nvGrpSpPr>
          <p:grpSpPr>
            <a:xfrm>
              <a:off x="5334000" y="2857500"/>
              <a:ext cx="1593818" cy="2057400"/>
              <a:chOff x="5334000" y="2857500"/>
              <a:chExt cx="1593818" cy="2057400"/>
            </a:xfrm>
          </p:grpSpPr>
          <p:sp>
            <p:nvSpPr>
              <p:cNvPr id="33" name="Ellipse 33"/>
              <p:cNvSpPr/>
              <p:nvPr/>
            </p:nvSpPr>
            <p:spPr>
              <a:xfrm>
                <a:off x="5962650" y="4152900"/>
                <a:ext cx="266700" cy="266700"/>
              </a:xfrm>
              <a:prstGeom prst="ellipse">
                <a:avLst/>
              </a:prstGeom>
              <a:solidFill>
                <a:srgbClr val="FFFFFF"/>
              </a:solidFill>
              <a:ln w="28575">
                <a:solidFill>
                  <a:srgbClr val="1A7CE0"/>
                </a:solidFill>
              </a:ln>
            </p:spPr>
          </p:sp>
          <p:sp>
            <p:nvSpPr>
              <p:cNvPr id="34" name="Ellipse 34"/>
              <p:cNvSpPr/>
              <p:nvPr/>
            </p:nvSpPr>
            <p:spPr>
              <a:xfrm>
                <a:off x="6048375" y="4238625"/>
                <a:ext cx="95250" cy="95250"/>
              </a:xfrm>
              <a:prstGeom prst="ellipse">
                <a:avLst/>
              </a:prstGeom>
              <a:solidFill>
                <a:srgbClr val="1A7CE0"/>
              </a:solidFill>
              <a:ln>
                <a:noFill/>
              </a:ln>
            </p:spPr>
          </p:sp>
          <p:sp>
            <p:nvSpPr>
              <p:cNvPr id="35" name="TextBox 35"/>
              <p:cNvSpPr txBox="1"/>
              <p:nvPr/>
            </p:nvSpPr>
            <p:spPr>
              <a:xfrm>
                <a:off x="5715086" y="4488180"/>
                <a:ext cx="761829" cy="426720"/>
              </a:xfrm>
              <a:prstGeom prst="rect">
                <a:avLst/>
              </a:prstGeom>
              <a:noFill/>
              <a:ln>
                <a:noFill/>
              </a:ln>
            </p:spPr>
            <p:txBody>
              <a:bodyPr wrap="none" lIns="0" tIns="0" rIns="0" bIns="0" anchor="t" anchorCtr="0">
                <a:spAutoFit/>
              </a:bodyPr>
              <a:lstStyle/>
              <a:p>
                <a:pPr algn="ctr"/>
                <a:r>
                  <a:rPr lang="en-US" sz="2100" b="1" dirty="0">
                    <a:solidFill>
                      <a:srgbClr val="0F172A"/>
                    </a:solidFill>
                    <a:latin typeface="Malgun Gothic"/>
                    <a:ea typeface="Malgun Gothic"/>
                    <a:cs typeface="Malgun Gothic"/>
                  </a:rPr>
                  <a:t>2023</a:t>
                </a:r>
              </a:p>
            </p:txBody>
          </p:sp>
          <p:grpSp>
            <p:nvGrpSpPr>
              <p:cNvPr id="42" name="Group 42"/>
              <p:cNvGrpSpPr/>
              <p:nvPr/>
            </p:nvGrpSpPr>
            <p:grpSpPr>
              <a:xfrm>
                <a:off x="5334000" y="2857500"/>
                <a:ext cx="1593818" cy="1143000"/>
                <a:chOff x="5334000" y="2857500"/>
                <a:chExt cx="1593818" cy="1143000"/>
              </a:xfrm>
            </p:grpSpPr>
            <p:sp>
              <p:nvSpPr>
                <p:cNvPr id="36" name="Rectangle 36"/>
                <p:cNvSpPr/>
                <p:nvPr/>
              </p:nvSpPr>
              <p:spPr>
                <a:xfrm>
                  <a:off x="5334000" y="2857500"/>
                  <a:ext cx="1524000" cy="1143000"/>
                </a:xfrm>
                <a:prstGeom prst="roundRect">
                  <a:avLst>
                    <a:gd name="adj" fmla="val 6667"/>
                  </a:avLst>
                </a:prstGeom>
                <a:solidFill>
                  <a:srgbClr val="F8FAFC"/>
                </a:solidFill>
                <a:ln w="9525">
                  <a:solidFill>
                    <a:srgbClr val="E2E8F0"/>
                  </a:solidFill>
                </a:ln>
              </p:spPr>
            </p:sp>
            <p:sp>
              <p:nvSpPr>
                <p:cNvPr id="37" name="Rectangle 37"/>
                <p:cNvSpPr/>
                <p:nvPr/>
              </p:nvSpPr>
              <p:spPr>
                <a:xfrm>
                  <a:off x="5334000" y="2857500"/>
                  <a:ext cx="1524000" cy="28575"/>
                </a:xfrm>
                <a:prstGeom prst="roundRect">
                  <a:avLst>
                    <a:gd name="adj" fmla="val 50000"/>
                  </a:avLst>
                </a:prstGeom>
                <a:solidFill>
                  <a:srgbClr val="1A7CE0"/>
                </a:solidFill>
                <a:ln>
                  <a:noFill/>
                </a:ln>
              </p:spPr>
            </p:sp>
            <p:sp>
              <p:nvSpPr>
                <p:cNvPr id="38" name="TextBox 38"/>
                <p:cNvSpPr txBox="1"/>
                <p:nvPr/>
              </p:nvSpPr>
              <p:spPr>
                <a:xfrm>
                  <a:off x="5471160" y="3032760"/>
                  <a:ext cx="1456658" cy="243840"/>
                </a:xfrm>
                <a:prstGeom prst="rect">
                  <a:avLst/>
                </a:prstGeom>
                <a:noFill/>
                <a:ln>
                  <a:noFill/>
                </a:ln>
              </p:spPr>
              <p:txBody>
                <a:bodyPr wrap="none" lIns="0" tIns="0" rIns="0" bIns="0" anchor="t" anchorCtr="0">
                  <a:spAutoFit/>
                </a:bodyPr>
                <a:lstStyle/>
                <a:p>
                  <a:pPr algn="l"/>
                  <a:r>
                    <a:rPr lang="en-US" sz="1200" b="1" dirty="0">
                      <a:solidFill>
                        <a:srgbClr val="0F172A"/>
                      </a:solidFill>
                      <a:latin typeface="Malgun Gothic"/>
                      <a:ea typeface="Malgun Gothic"/>
                      <a:cs typeface="Malgun Gothic"/>
                    </a:rPr>
                    <a:t>ChatGPT · GPT-4</a:t>
                  </a:r>
                </a:p>
              </p:txBody>
            </p:sp>
            <p:sp>
              <p:nvSpPr>
                <p:cNvPr id="39" name="TextBox 39"/>
                <p:cNvSpPr txBox="1"/>
                <p:nvPr/>
              </p:nvSpPr>
              <p:spPr>
                <a:xfrm>
                  <a:off x="5474018" y="3323749"/>
                  <a:ext cx="779478" cy="198120"/>
                </a:xfrm>
                <a:prstGeom prst="rect">
                  <a:avLst/>
                </a:prstGeom>
                <a:noFill/>
                <a:ln>
                  <a:noFill/>
                </a:ln>
              </p:spPr>
              <p:txBody>
                <a:bodyPr wrap="none" lIns="0" tIns="0" rIns="0" bIns="0" anchor="t" anchorCtr="0">
                  <a:spAutoFit/>
                </a:bodyPr>
                <a:lstStyle/>
                <a:p>
                  <a:pPr algn="l"/>
                  <a:r>
                    <a:rPr lang="ko-KR" sz="1200" dirty="0">
                      <a:solidFill>
                        <a:srgbClr val="475569"/>
                      </a:solidFill>
                      <a:latin typeface="Malgun Gothic"/>
                      <a:ea typeface="Malgun Gothic"/>
                      <a:cs typeface="Malgun Gothic"/>
                    </a:rPr>
                    <a:t>자연어 설계</a:t>
                  </a:r>
                </a:p>
              </p:txBody>
            </p:sp>
            <p:sp>
              <p:nvSpPr>
                <p:cNvPr id="40" name="TextBox 40"/>
                <p:cNvSpPr txBox="1"/>
                <p:nvPr/>
              </p:nvSpPr>
              <p:spPr>
                <a:xfrm>
                  <a:off x="5474018" y="3495199"/>
                  <a:ext cx="309562" cy="198120"/>
                </a:xfrm>
                <a:prstGeom prst="rect">
                  <a:avLst/>
                </a:prstGeom>
                <a:noFill/>
                <a:ln>
                  <a:noFill/>
                </a:ln>
              </p:spPr>
              <p:txBody>
                <a:bodyPr wrap="none" lIns="0" tIns="0" rIns="0" bIns="0" anchor="t" anchorCtr="0">
                  <a:spAutoFit/>
                </a:bodyPr>
                <a:lstStyle/>
                <a:p>
                  <a:pPr algn="l"/>
                  <a:r>
                    <a:rPr lang="ko-KR" sz="1200" dirty="0">
                      <a:solidFill>
                        <a:srgbClr val="475569"/>
                      </a:solidFill>
                      <a:latin typeface="Malgun Gothic"/>
                      <a:ea typeface="Malgun Gothic"/>
                      <a:cs typeface="Malgun Gothic"/>
                    </a:rPr>
                    <a:t>가능</a:t>
                  </a:r>
                </a:p>
              </p:txBody>
            </p:sp>
            <p:sp>
              <p:nvSpPr>
                <p:cNvPr id="41" name="TextBox 41"/>
                <p:cNvSpPr txBox="1"/>
                <p:nvPr/>
              </p:nvSpPr>
              <p:spPr>
                <a:xfrm>
                  <a:off x="5475922" y="3797141"/>
                  <a:ext cx="691489" cy="167640"/>
                </a:xfrm>
                <a:prstGeom prst="rect">
                  <a:avLst/>
                </a:prstGeom>
                <a:noFill/>
                <a:ln>
                  <a:noFill/>
                </a:ln>
              </p:spPr>
              <p:txBody>
                <a:bodyPr wrap="none" lIns="0" tIns="0" rIns="0" bIns="0" anchor="t" anchorCtr="0">
                  <a:spAutoFit/>
                </a:bodyPr>
                <a:lstStyle/>
                <a:p>
                  <a:pPr algn="l"/>
                  <a:r>
                    <a:rPr lang="ko-KR" sz="1200" b="1" dirty="0">
                      <a:solidFill>
                        <a:srgbClr val="1A7CE0"/>
                      </a:solidFill>
                      <a:latin typeface="Malgun Gothic"/>
                      <a:ea typeface="Malgun Gothic"/>
                      <a:cs typeface="Malgun Gothic"/>
                    </a:rPr>
                    <a:t>대화형 설계</a:t>
                  </a:r>
                </a:p>
              </p:txBody>
            </p:sp>
          </p:grpSp>
        </p:grpSp>
        <p:grpSp>
          <p:nvGrpSpPr>
            <p:cNvPr id="54" name="Group 54"/>
            <p:cNvGrpSpPr/>
            <p:nvPr/>
          </p:nvGrpSpPr>
          <p:grpSpPr>
            <a:xfrm>
              <a:off x="7715250" y="2857500"/>
              <a:ext cx="1547812" cy="2057400"/>
              <a:chOff x="7715250" y="2857500"/>
              <a:chExt cx="1547812" cy="2057400"/>
            </a:xfrm>
          </p:grpSpPr>
          <p:sp>
            <p:nvSpPr>
              <p:cNvPr id="44" name="Ellipse 44"/>
              <p:cNvSpPr/>
              <p:nvPr/>
            </p:nvSpPr>
            <p:spPr>
              <a:xfrm>
                <a:off x="8343900" y="4152900"/>
                <a:ext cx="266700" cy="266700"/>
              </a:xfrm>
              <a:prstGeom prst="ellipse">
                <a:avLst/>
              </a:prstGeom>
              <a:solidFill>
                <a:srgbClr val="FFFFFF"/>
              </a:solidFill>
              <a:ln w="28575">
                <a:solidFill>
                  <a:srgbClr val="1A7CE0"/>
                </a:solidFill>
              </a:ln>
            </p:spPr>
          </p:sp>
          <p:sp>
            <p:nvSpPr>
              <p:cNvPr id="45" name="Ellipse 45"/>
              <p:cNvSpPr/>
              <p:nvPr/>
            </p:nvSpPr>
            <p:spPr>
              <a:xfrm>
                <a:off x="8429625" y="4238625"/>
                <a:ext cx="95250" cy="95250"/>
              </a:xfrm>
              <a:prstGeom prst="ellipse">
                <a:avLst/>
              </a:prstGeom>
              <a:solidFill>
                <a:srgbClr val="1A7CE0"/>
              </a:solidFill>
              <a:ln>
                <a:noFill/>
              </a:ln>
            </p:spPr>
          </p:sp>
          <p:sp>
            <p:nvSpPr>
              <p:cNvPr id="46" name="TextBox 46"/>
              <p:cNvSpPr txBox="1"/>
              <p:nvPr/>
            </p:nvSpPr>
            <p:spPr>
              <a:xfrm>
                <a:off x="8096336" y="4488180"/>
                <a:ext cx="761829" cy="426720"/>
              </a:xfrm>
              <a:prstGeom prst="rect">
                <a:avLst/>
              </a:prstGeom>
              <a:noFill/>
              <a:ln>
                <a:noFill/>
              </a:ln>
            </p:spPr>
            <p:txBody>
              <a:bodyPr wrap="none" lIns="0" tIns="0" rIns="0" bIns="0" anchor="t" anchorCtr="0">
                <a:spAutoFit/>
              </a:bodyPr>
              <a:lstStyle/>
              <a:p>
                <a:pPr algn="ctr"/>
                <a:r>
                  <a:rPr lang="en-US" sz="2100" b="1" dirty="0">
                    <a:solidFill>
                      <a:srgbClr val="0F172A"/>
                    </a:solidFill>
                    <a:latin typeface="Malgun Gothic"/>
                    <a:ea typeface="Malgun Gothic"/>
                    <a:cs typeface="Malgun Gothic"/>
                  </a:rPr>
                  <a:t>2024</a:t>
                </a:r>
              </a:p>
            </p:txBody>
          </p:sp>
          <p:grpSp>
            <p:nvGrpSpPr>
              <p:cNvPr id="53" name="Group 53"/>
              <p:cNvGrpSpPr/>
              <p:nvPr/>
            </p:nvGrpSpPr>
            <p:grpSpPr>
              <a:xfrm>
                <a:off x="7715250" y="2857500"/>
                <a:ext cx="1547812" cy="1143000"/>
                <a:chOff x="7715250" y="2857500"/>
                <a:chExt cx="1547812" cy="1143000"/>
              </a:xfrm>
            </p:grpSpPr>
            <p:sp>
              <p:nvSpPr>
                <p:cNvPr id="47" name="Rectangle 47"/>
                <p:cNvSpPr/>
                <p:nvPr/>
              </p:nvSpPr>
              <p:spPr>
                <a:xfrm>
                  <a:off x="7715250" y="2857500"/>
                  <a:ext cx="1524000" cy="1143000"/>
                </a:xfrm>
                <a:prstGeom prst="roundRect">
                  <a:avLst>
                    <a:gd name="adj" fmla="val 6667"/>
                  </a:avLst>
                </a:prstGeom>
                <a:solidFill>
                  <a:srgbClr val="F8FAFC"/>
                </a:solidFill>
                <a:ln w="9525">
                  <a:solidFill>
                    <a:srgbClr val="E2E8F0"/>
                  </a:solidFill>
                </a:ln>
              </p:spPr>
            </p:sp>
            <p:sp>
              <p:nvSpPr>
                <p:cNvPr id="48" name="Rectangle 48"/>
                <p:cNvSpPr/>
                <p:nvPr/>
              </p:nvSpPr>
              <p:spPr>
                <a:xfrm>
                  <a:off x="7715250" y="2857500"/>
                  <a:ext cx="1524000" cy="28575"/>
                </a:xfrm>
                <a:prstGeom prst="roundRect">
                  <a:avLst>
                    <a:gd name="adj" fmla="val 50000"/>
                  </a:avLst>
                </a:prstGeom>
                <a:solidFill>
                  <a:srgbClr val="1A7CE0"/>
                </a:solidFill>
                <a:ln>
                  <a:noFill/>
                </a:ln>
              </p:spPr>
            </p:sp>
            <p:sp>
              <p:nvSpPr>
                <p:cNvPr id="49" name="TextBox 49"/>
                <p:cNvSpPr txBox="1"/>
                <p:nvPr/>
              </p:nvSpPr>
              <p:spPr>
                <a:xfrm>
                  <a:off x="7852410" y="3032760"/>
                  <a:ext cx="1410652" cy="243840"/>
                </a:xfrm>
                <a:prstGeom prst="rect">
                  <a:avLst/>
                </a:prstGeom>
                <a:noFill/>
                <a:ln>
                  <a:noFill/>
                </a:ln>
              </p:spPr>
              <p:txBody>
                <a:bodyPr wrap="none" lIns="0" tIns="0" rIns="0" bIns="0" anchor="t" anchorCtr="0">
                  <a:spAutoFit/>
                </a:bodyPr>
                <a:lstStyle/>
                <a:p>
                  <a:pPr algn="l"/>
                  <a:r>
                    <a:rPr lang="en-US" sz="1200" b="1" dirty="0">
                      <a:solidFill>
                        <a:srgbClr val="0F172A"/>
                      </a:solidFill>
                      <a:latin typeface="Malgun Gothic"/>
                      <a:ea typeface="Malgun Gothic"/>
                      <a:cs typeface="Malgun Gothic"/>
                    </a:rPr>
                    <a:t>Cursor · Claude</a:t>
                  </a:r>
                </a:p>
              </p:txBody>
            </p:sp>
            <p:sp>
              <p:nvSpPr>
                <p:cNvPr id="50" name="TextBox 50"/>
                <p:cNvSpPr txBox="1"/>
                <p:nvPr/>
              </p:nvSpPr>
              <p:spPr>
                <a:xfrm>
                  <a:off x="7855268" y="3323749"/>
                  <a:ext cx="551640" cy="198120"/>
                </a:xfrm>
                <a:prstGeom prst="rect">
                  <a:avLst/>
                </a:prstGeom>
                <a:noFill/>
                <a:ln>
                  <a:noFill/>
                </a:ln>
              </p:spPr>
              <p:txBody>
                <a:bodyPr wrap="none" lIns="0" tIns="0" rIns="0" bIns="0" anchor="t" anchorCtr="0">
                  <a:spAutoFit/>
                </a:bodyPr>
                <a:lstStyle/>
                <a:p>
                  <a:pPr algn="l"/>
                  <a:r>
                    <a:rPr lang="ko-KR" sz="1200" dirty="0">
                      <a:solidFill>
                        <a:srgbClr val="475569"/>
                      </a:solidFill>
                      <a:latin typeface="Malgun Gothic"/>
                      <a:ea typeface="Malgun Gothic"/>
                      <a:cs typeface="Malgun Gothic"/>
                    </a:rPr>
                    <a:t>IDE 통합</a:t>
                  </a:r>
                </a:p>
              </p:txBody>
            </p:sp>
            <p:sp>
              <p:nvSpPr>
                <p:cNvPr id="51" name="TextBox 51"/>
                <p:cNvSpPr txBox="1"/>
                <p:nvPr/>
              </p:nvSpPr>
              <p:spPr>
                <a:xfrm>
                  <a:off x="7855268" y="3495199"/>
                  <a:ext cx="921877" cy="198120"/>
                </a:xfrm>
                <a:prstGeom prst="rect">
                  <a:avLst/>
                </a:prstGeom>
                <a:noFill/>
                <a:ln>
                  <a:noFill/>
                </a:ln>
              </p:spPr>
              <p:txBody>
                <a:bodyPr wrap="none" lIns="0" tIns="0" rIns="0" bIns="0" anchor="t" anchorCtr="0">
                  <a:spAutoFit/>
                </a:bodyPr>
                <a:lstStyle/>
                <a:p>
                  <a:pPr algn="l"/>
                  <a:r>
                    <a:rPr lang="ko-KR" sz="1200" dirty="0">
                      <a:solidFill>
                        <a:srgbClr val="475569"/>
                      </a:solidFill>
                      <a:latin typeface="Malgun Gothic"/>
                      <a:ea typeface="Malgun Gothic"/>
                      <a:cs typeface="Malgun Gothic"/>
                    </a:rPr>
                    <a:t>멀티파일 편집</a:t>
                  </a:r>
                </a:p>
              </p:txBody>
            </p:sp>
            <p:sp>
              <p:nvSpPr>
                <p:cNvPr id="52" name="TextBox 52"/>
                <p:cNvSpPr txBox="1"/>
                <p:nvPr/>
              </p:nvSpPr>
              <p:spPr>
                <a:xfrm>
                  <a:off x="7857172" y="3797141"/>
                  <a:ext cx="273987" cy="167640"/>
                </a:xfrm>
                <a:prstGeom prst="rect">
                  <a:avLst/>
                </a:prstGeom>
                <a:noFill/>
                <a:ln>
                  <a:noFill/>
                </a:ln>
              </p:spPr>
              <p:txBody>
                <a:bodyPr wrap="none" lIns="0" tIns="0" rIns="0" bIns="0" anchor="t" anchorCtr="0">
                  <a:spAutoFit/>
                </a:bodyPr>
                <a:lstStyle/>
                <a:p>
                  <a:pPr algn="l"/>
                  <a:r>
                    <a:rPr lang="ko-KR" sz="1200" b="1" dirty="0">
                      <a:solidFill>
                        <a:srgbClr val="1A7CE0"/>
                      </a:solidFill>
                      <a:latin typeface="Malgun Gothic"/>
                      <a:ea typeface="Malgun Gothic"/>
                      <a:cs typeface="Malgun Gothic"/>
                    </a:rPr>
                    <a:t>통합</a:t>
                  </a:r>
                </a:p>
              </p:txBody>
            </p:sp>
          </p:grpSp>
        </p:grpSp>
        <p:grpSp>
          <p:nvGrpSpPr>
            <p:cNvPr id="65" name="Group 65"/>
            <p:cNvGrpSpPr/>
            <p:nvPr/>
          </p:nvGrpSpPr>
          <p:grpSpPr>
            <a:xfrm>
              <a:off x="10096500" y="2857500"/>
              <a:ext cx="1524000" cy="2085975"/>
              <a:chOff x="10096500" y="2857500"/>
              <a:chExt cx="1524000" cy="2085975"/>
            </a:xfrm>
          </p:grpSpPr>
          <p:sp>
            <p:nvSpPr>
              <p:cNvPr id="55" name="Ellipse 55"/>
              <p:cNvSpPr/>
              <p:nvPr/>
            </p:nvSpPr>
            <p:spPr>
              <a:xfrm>
                <a:off x="10687050" y="4114800"/>
                <a:ext cx="342900" cy="342900"/>
              </a:xfrm>
              <a:prstGeom prst="ellipse">
                <a:avLst/>
              </a:prstGeom>
              <a:solidFill>
                <a:srgbClr val="FF6F00"/>
              </a:solidFill>
              <a:ln w="28575">
                <a:solidFill>
                  <a:srgbClr val="FFFFFF"/>
                </a:solidFill>
              </a:ln>
            </p:spPr>
          </p:sp>
          <p:sp>
            <p:nvSpPr>
              <p:cNvPr id="56" name="Ellipse 56"/>
              <p:cNvSpPr/>
              <p:nvPr/>
            </p:nvSpPr>
            <p:spPr>
              <a:xfrm>
                <a:off x="10791825" y="4219575"/>
                <a:ext cx="133350" cy="133350"/>
              </a:xfrm>
              <a:prstGeom prst="ellipse">
                <a:avLst/>
              </a:prstGeom>
              <a:solidFill>
                <a:srgbClr val="FFFFFF"/>
              </a:solidFill>
              <a:ln>
                <a:noFill/>
              </a:ln>
            </p:spPr>
          </p:sp>
          <p:sp>
            <p:nvSpPr>
              <p:cNvPr id="57" name="TextBox 57"/>
              <p:cNvSpPr txBox="1"/>
              <p:nvPr/>
            </p:nvSpPr>
            <p:spPr>
              <a:xfrm>
                <a:off x="10477586" y="4516755"/>
                <a:ext cx="761829" cy="426720"/>
              </a:xfrm>
              <a:prstGeom prst="rect">
                <a:avLst/>
              </a:prstGeom>
              <a:noFill/>
              <a:ln>
                <a:noFill/>
              </a:ln>
            </p:spPr>
            <p:txBody>
              <a:bodyPr wrap="none" lIns="0" tIns="0" rIns="0" bIns="0" anchor="t" anchorCtr="0">
                <a:spAutoFit/>
              </a:bodyPr>
              <a:lstStyle/>
              <a:p>
                <a:pPr algn="ctr"/>
                <a:r>
                  <a:rPr lang="en-US" sz="2100" b="1" dirty="0">
                    <a:solidFill>
                      <a:srgbClr val="FF6F00"/>
                    </a:solidFill>
                    <a:latin typeface="Malgun Gothic"/>
                    <a:ea typeface="Malgun Gothic"/>
                    <a:cs typeface="Malgun Gothic"/>
                  </a:rPr>
                  <a:t>2025</a:t>
                </a:r>
              </a:p>
            </p:txBody>
          </p:sp>
          <p:grpSp>
            <p:nvGrpSpPr>
              <p:cNvPr id="64" name="Group 64"/>
              <p:cNvGrpSpPr/>
              <p:nvPr/>
            </p:nvGrpSpPr>
            <p:grpSpPr>
              <a:xfrm>
                <a:off x="10096500" y="2857500"/>
                <a:ext cx="1524000" cy="1597819"/>
                <a:chOff x="10096500" y="2857500"/>
                <a:chExt cx="1524000" cy="1597819"/>
              </a:xfrm>
            </p:grpSpPr>
            <p:sp>
              <p:nvSpPr>
                <p:cNvPr id="58" name="Rectangle 58"/>
                <p:cNvSpPr/>
                <p:nvPr/>
              </p:nvSpPr>
              <p:spPr>
                <a:xfrm>
                  <a:off x="10096500" y="2857500"/>
                  <a:ext cx="1524000" cy="1143000"/>
                </a:xfrm>
                <a:prstGeom prst="roundRect">
                  <a:avLst>
                    <a:gd name="adj" fmla="val 6667"/>
                  </a:avLst>
                </a:prstGeom>
                <a:solidFill>
                  <a:srgbClr val="FFF7ED"/>
                </a:solidFill>
                <a:ln w="14288">
                  <a:solidFill>
                    <a:srgbClr val="FF6F00"/>
                  </a:solidFill>
                </a:ln>
              </p:spPr>
            </p:sp>
            <p:sp>
              <p:nvSpPr>
                <p:cNvPr id="59" name="Rectangle 59"/>
                <p:cNvSpPr/>
                <p:nvPr/>
              </p:nvSpPr>
              <p:spPr>
                <a:xfrm>
                  <a:off x="10096500" y="2857500"/>
                  <a:ext cx="1524000" cy="28575"/>
                </a:xfrm>
                <a:prstGeom prst="roundRect">
                  <a:avLst>
                    <a:gd name="adj" fmla="val 50000"/>
                  </a:avLst>
                </a:prstGeom>
                <a:solidFill>
                  <a:srgbClr val="FF6F00"/>
                </a:solidFill>
                <a:ln>
                  <a:noFill/>
                </a:ln>
              </p:spPr>
            </p:sp>
            <p:sp>
              <p:nvSpPr>
                <p:cNvPr id="60" name="TextBox 60"/>
                <p:cNvSpPr txBox="1"/>
                <p:nvPr/>
              </p:nvSpPr>
              <p:spPr>
                <a:xfrm>
                  <a:off x="10233660" y="3032760"/>
                  <a:ext cx="1309440" cy="243840"/>
                </a:xfrm>
                <a:prstGeom prst="rect">
                  <a:avLst/>
                </a:prstGeom>
                <a:noFill/>
                <a:ln>
                  <a:noFill/>
                </a:ln>
              </p:spPr>
              <p:txBody>
                <a:bodyPr wrap="none" lIns="0" tIns="0" rIns="0" bIns="0" anchor="t" anchorCtr="0">
                  <a:spAutoFit/>
                </a:bodyPr>
                <a:lstStyle/>
                <a:p>
                  <a:pPr algn="l"/>
                  <a:r>
                    <a:rPr lang="en-US" sz="1200" b="1" dirty="0">
                      <a:solidFill>
                        <a:srgbClr val="0F172A"/>
                      </a:solidFill>
                      <a:latin typeface="Malgun Gothic"/>
                      <a:ea typeface="Malgun Gothic"/>
                      <a:cs typeface="Malgun Gothic"/>
                    </a:rPr>
                    <a:t>Agentic Coding</a:t>
                  </a:r>
                </a:p>
              </p:txBody>
            </p:sp>
            <p:sp>
              <p:nvSpPr>
                <p:cNvPr id="61" name="TextBox 61"/>
                <p:cNvSpPr txBox="1"/>
                <p:nvPr/>
              </p:nvSpPr>
              <p:spPr>
                <a:xfrm>
                  <a:off x="10236518" y="4085749"/>
                  <a:ext cx="637080" cy="198120"/>
                </a:xfrm>
                <a:prstGeom prst="rect">
                  <a:avLst/>
                </a:prstGeom>
                <a:noFill/>
                <a:ln>
                  <a:noFill/>
                </a:ln>
              </p:spPr>
              <p:txBody>
                <a:bodyPr wrap="none" lIns="0" tIns="0" rIns="0" bIns="0" anchor="t" anchorCtr="0">
                  <a:spAutoFit/>
                </a:bodyPr>
                <a:lstStyle/>
                <a:p>
                  <a:pPr algn="l"/>
                  <a:r>
                    <a:rPr lang="ko-KR" sz="1200" dirty="0">
                      <a:solidFill>
                        <a:srgbClr val="475569"/>
                      </a:solidFill>
                      <a:latin typeface="Malgun Gothic"/>
                      <a:ea typeface="Malgun Gothic"/>
                      <a:cs typeface="Malgun Gothic"/>
                    </a:rPr>
                    <a:t>자율 실행</a:t>
                  </a:r>
                </a:p>
              </p:txBody>
            </p:sp>
            <p:sp>
              <p:nvSpPr>
                <p:cNvPr id="62" name="TextBox 62"/>
                <p:cNvSpPr txBox="1"/>
                <p:nvPr/>
              </p:nvSpPr>
              <p:spPr>
                <a:xfrm>
                  <a:off x="10236518" y="4257199"/>
                  <a:ext cx="1064276" cy="198120"/>
                </a:xfrm>
                <a:prstGeom prst="rect">
                  <a:avLst/>
                </a:prstGeom>
                <a:noFill/>
                <a:ln>
                  <a:noFill/>
                </a:ln>
              </p:spPr>
              <p:txBody>
                <a:bodyPr wrap="none" lIns="0" tIns="0" rIns="0" bIns="0" anchor="t" anchorCtr="0">
                  <a:spAutoFit/>
                </a:bodyPr>
                <a:lstStyle/>
                <a:p>
                  <a:pPr algn="l"/>
                  <a:r>
                    <a:rPr lang="ko-KR" sz="1200" dirty="0">
                      <a:solidFill>
                        <a:srgbClr val="475569"/>
                      </a:solidFill>
                      <a:latin typeface="Malgun Gothic"/>
                      <a:ea typeface="Malgun Gothic"/>
                      <a:cs typeface="Malgun Gothic"/>
                    </a:rPr>
                    <a:t>에이전트의 등장</a:t>
                  </a:r>
                </a:p>
              </p:txBody>
            </p:sp>
            <p:sp>
              <p:nvSpPr>
                <p:cNvPr id="63" name="TextBox 63"/>
                <p:cNvSpPr txBox="1"/>
                <p:nvPr/>
              </p:nvSpPr>
              <p:spPr>
                <a:xfrm>
                  <a:off x="10238422" y="3797141"/>
                  <a:ext cx="564973" cy="167640"/>
                </a:xfrm>
                <a:prstGeom prst="rect">
                  <a:avLst/>
                </a:prstGeom>
                <a:noFill/>
                <a:ln>
                  <a:noFill/>
                </a:ln>
              </p:spPr>
              <p:txBody>
                <a:bodyPr wrap="none" lIns="0" tIns="0" rIns="0" bIns="0" anchor="t" anchorCtr="0">
                  <a:spAutoFit/>
                </a:bodyPr>
                <a:lstStyle/>
                <a:p>
                  <a:pPr algn="l"/>
                  <a:r>
                    <a:rPr lang="ko-KR" sz="1200" b="1" dirty="0">
                      <a:solidFill>
                        <a:srgbClr val="FF6F00"/>
                      </a:solidFill>
                      <a:latin typeface="Malgun Gothic"/>
                      <a:ea typeface="Malgun Gothic"/>
                      <a:cs typeface="Malgun Gothic"/>
                    </a:rPr>
                    <a:t>현재 지점</a:t>
                  </a:r>
                </a:p>
              </p:txBody>
            </p:sp>
          </p:grpSp>
        </p:grpSp>
      </p:grpSp>
      <p:grpSp>
        <p:nvGrpSpPr>
          <p:cNvPr id="70" name="Group 70"/>
          <p:cNvGrpSpPr/>
          <p:nvPr/>
        </p:nvGrpSpPr>
        <p:grpSpPr>
          <a:xfrm>
            <a:off x="749618" y="6286500"/>
            <a:ext cx="10692765" cy="378619"/>
            <a:chOff x="749618" y="6286500"/>
            <a:chExt cx="10692765" cy="378619"/>
          </a:xfrm>
        </p:grpSpPr>
        <p:sp>
          <p:nvSpPr>
            <p:cNvPr id="67" name="Line 67"/>
            <p:cNvSpPr/>
            <p:nvPr/>
          </p:nvSpPr>
          <p:spPr>
            <a:xfrm>
              <a:off x="762000" y="6286500"/>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68" name="TextBox 68"/>
            <p:cNvSpPr txBox="1"/>
            <p:nvPr/>
          </p:nvSpPr>
          <p:spPr>
            <a:xfrm>
              <a:off x="749618" y="6466999"/>
              <a:ext cx="4553045" cy="198120"/>
            </a:xfrm>
            <a:prstGeom prst="rect">
              <a:avLst/>
            </a:prstGeom>
            <a:noFill/>
            <a:ln>
              <a:noFill/>
            </a:ln>
          </p:spPr>
          <p:txBody>
            <a:bodyPr wrap="none" lIns="0" tIns="0" rIns="0" bIns="0" anchor="t" anchorCtr="0">
              <a:spAutoFit/>
            </a:bodyPr>
            <a:lstStyle/>
            <a:p>
              <a:pPr algn="l"/>
              <a:r>
                <a:rPr lang="ko-KR" sz="1200" dirty="0">
                  <a:solidFill>
                    <a:srgbClr val="8A94A6"/>
                  </a:solidFill>
                  <a:latin typeface="Malgun Gothic"/>
                  <a:ea typeface="Malgun Gothic"/>
                  <a:cs typeface="Malgun Gothic"/>
                </a:rPr>
                <a:t>자동 완성에서 자율 실행까지, 패러다임은 5년 만에 네 단계를 건너왔다</a:t>
              </a:r>
            </a:p>
          </p:txBody>
        </p:sp>
        <p:sp>
          <p:nvSpPr>
            <p:cNvPr id="69" name="TextBox 69"/>
            <p:cNvSpPr txBox="1"/>
            <p:nvPr/>
          </p:nvSpPr>
          <p:spPr>
            <a:xfrm>
              <a:off x="11253147" y="6466999"/>
              <a:ext cx="189236" cy="198120"/>
            </a:xfrm>
            <a:prstGeom prst="rect">
              <a:avLst/>
            </a:prstGeom>
            <a:noFill/>
            <a:ln>
              <a:noFill/>
            </a:ln>
          </p:spPr>
          <p:txBody>
            <a:bodyPr wrap="none" lIns="0" tIns="0" rIns="0" bIns="0" anchor="t" anchorCtr="0">
              <a:spAutoFit/>
            </a:bodyPr>
            <a:lstStyle/>
            <a:p>
              <a:pPr algn="r"/>
              <a:r>
                <a:rPr lang="en-US" sz="1200" b="1" dirty="0">
                  <a:solidFill>
                    <a:srgbClr val="1A7CE0"/>
                  </a:solidFill>
                  <a:latin typeface="Malgun Gothic"/>
                  <a:ea typeface="Malgun Gothic"/>
                  <a:cs typeface="Malgun Gothic"/>
                </a:rPr>
                <a:t>05</a:t>
              </a:r>
            </a:p>
          </p:txBody>
        </p:sp>
      </p:grpSp>
    </p:spTree>
  </p:cSld>
  <p:clrMapOvr>
    <a:masterClrMapping/>
  </p:clrMapOvr>
  <p:transition xmlns:p14="http://schemas.microsoft.com/office/powerpoint/2010/main" p14:dur="5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7"/>
          </a:solidFill>
          <a:ln>
            <a:noFill/>
          </a:ln>
        </p:spPr>
      </p:sp>
      <p:sp>
        <p:nvSpPr>
          <p:cNvPr id="3" name="Rectangle 3"/>
          <p:cNvSpPr/>
          <p:nvPr/>
        </p:nvSpPr>
        <p:spPr>
          <a:xfrm>
            <a:off x="0" y="0"/>
            <a:ext cx="7429500" cy="6858000"/>
          </a:xfrm>
          <a:prstGeom prst="rect">
            <a:avLst/>
          </a:prstGeom>
          <a:solidFill>
            <a:srgbClr val="0A1628"/>
          </a:solidFill>
          <a:ln>
            <a:noFill/>
          </a:ln>
        </p:spPr>
      </p:sp>
      <p:sp>
        <p:nvSpPr>
          <p:cNvPr id="4" name="Rectangle 4"/>
          <p:cNvSpPr/>
          <p:nvPr/>
        </p:nvSpPr>
        <p:spPr>
          <a:xfrm>
            <a:off x="0" y="0"/>
            <a:ext cx="7429500" cy="6858000"/>
          </a:xfrm>
          <a:prstGeom prst="rect">
            <a:avLst/>
          </a:prstGeom>
          <a:gradFill>
            <a:gsLst>
              <a:gs pos="0">
                <a:srgbClr val="1A7CE0">
                  <a:alpha val="25000"/>
                </a:srgbClr>
              </a:gs>
              <a:gs pos="100000">
                <a:srgbClr val="0A1628">
                  <a:alpha val="0"/>
                </a:srgbClr>
              </a:gs>
            </a:gsLst>
            <a:path path="circle">
              <a:fillToRect l="50000" t="50000" r="50000" b="50000"/>
            </a:path>
          </a:gradFill>
          <a:ln>
            <a:noFill/>
          </a:ln>
        </p:spPr>
      </p:sp>
      <p:grpSp>
        <p:nvGrpSpPr>
          <p:cNvPr id="39" name="Group 39"/>
          <p:cNvGrpSpPr/>
          <p:nvPr/>
        </p:nvGrpSpPr>
        <p:grpSpPr>
          <a:xfrm>
            <a:off x="1333500" y="1143000"/>
            <a:ext cx="1524000" cy="4572000"/>
            <a:chOff x="1333500" y="1143000"/>
            <a:chExt cx="1524000" cy="4572000"/>
          </a:xfrm>
        </p:grpSpPr>
        <p:sp>
          <p:nvSpPr>
            <p:cNvPr id="5" name="Line 5"/>
            <p:cNvSpPr/>
            <p:nvPr/>
          </p:nvSpPr>
          <p:spPr>
            <a:xfrm>
              <a:off x="1333500" y="1143000"/>
              <a:ext cx="1524000" cy="571500"/>
            </a:xfrm>
            <a:custGeom>
              <a:avLst/>
              <a:gdLst/>
              <a:ahLst/>
              <a:cxnLst/>
              <a:rect l="l" t="t" r="r" b="b"/>
              <a:pathLst>
                <a:path w="1524000" h="571500">
                  <a:moveTo>
                    <a:pt x="0" y="571500"/>
                  </a:moveTo>
                  <a:lnTo>
                    <a:pt x="1524000" y="0"/>
                  </a:lnTo>
                </a:path>
              </a:pathLst>
            </a:custGeom>
            <a:noFill/>
            <a:ln w="7620">
              <a:solidFill>
                <a:srgbClr val="1A7CE0">
                  <a:alpha val="25000"/>
                </a:srgbClr>
              </a:solidFill>
            </a:ln>
          </p:spPr>
        </p:sp>
        <p:sp>
          <p:nvSpPr>
            <p:cNvPr id="6" name="Line 6"/>
            <p:cNvSpPr/>
            <p:nvPr/>
          </p:nvSpPr>
          <p:spPr>
            <a:xfrm>
              <a:off x="1333500" y="1714500"/>
              <a:ext cx="1524000" cy="190500"/>
            </a:xfrm>
            <a:custGeom>
              <a:avLst/>
              <a:gdLst/>
              <a:ahLst/>
              <a:cxnLst/>
              <a:rect l="l" t="t" r="r" b="b"/>
              <a:pathLst>
                <a:path w="1524000" h="190500">
                  <a:moveTo>
                    <a:pt x="0" y="0"/>
                  </a:moveTo>
                  <a:lnTo>
                    <a:pt x="1524000" y="190500"/>
                  </a:lnTo>
                </a:path>
              </a:pathLst>
            </a:custGeom>
            <a:noFill/>
            <a:ln w="7620">
              <a:solidFill>
                <a:srgbClr val="1A7CE0">
                  <a:alpha val="35000"/>
                </a:srgbClr>
              </a:solidFill>
            </a:ln>
          </p:spPr>
        </p:sp>
        <p:sp>
          <p:nvSpPr>
            <p:cNvPr id="7" name="Line 7"/>
            <p:cNvSpPr/>
            <p:nvPr/>
          </p:nvSpPr>
          <p:spPr>
            <a:xfrm>
              <a:off x="1333500" y="1714500"/>
              <a:ext cx="1524000" cy="952500"/>
            </a:xfrm>
            <a:custGeom>
              <a:avLst/>
              <a:gdLst/>
              <a:ahLst/>
              <a:cxnLst/>
              <a:rect l="l" t="t" r="r" b="b"/>
              <a:pathLst>
                <a:path w="1524000" h="952500">
                  <a:moveTo>
                    <a:pt x="0" y="0"/>
                  </a:moveTo>
                  <a:lnTo>
                    <a:pt x="1524000" y="952500"/>
                  </a:lnTo>
                </a:path>
              </a:pathLst>
            </a:custGeom>
            <a:noFill/>
            <a:ln w="7620">
              <a:solidFill>
                <a:srgbClr val="1A7CE0">
                  <a:alpha val="20000"/>
                </a:srgbClr>
              </a:solidFill>
            </a:ln>
          </p:spPr>
        </p:sp>
        <p:sp>
          <p:nvSpPr>
            <p:cNvPr id="8" name="Line 8"/>
            <p:cNvSpPr/>
            <p:nvPr/>
          </p:nvSpPr>
          <p:spPr>
            <a:xfrm>
              <a:off x="1333500" y="1714500"/>
              <a:ext cx="1524000" cy="1714500"/>
            </a:xfrm>
            <a:custGeom>
              <a:avLst/>
              <a:gdLst/>
              <a:ahLst/>
              <a:cxnLst/>
              <a:rect l="l" t="t" r="r" b="b"/>
              <a:pathLst>
                <a:path w="1524000" h="1714500">
                  <a:moveTo>
                    <a:pt x="0" y="0"/>
                  </a:moveTo>
                  <a:lnTo>
                    <a:pt x="1524000" y="1714500"/>
                  </a:lnTo>
                </a:path>
              </a:pathLst>
            </a:custGeom>
            <a:noFill/>
            <a:ln w="7620">
              <a:solidFill>
                <a:srgbClr val="1A7CE0">
                  <a:alpha val="15000"/>
                </a:srgbClr>
              </a:solidFill>
            </a:ln>
          </p:spPr>
        </p:sp>
        <p:sp>
          <p:nvSpPr>
            <p:cNvPr id="9" name="Line 9"/>
            <p:cNvSpPr/>
            <p:nvPr/>
          </p:nvSpPr>
          <p:spPr>
            <a:xfrm>
              <a:off x="1333500" y="1714500"/>
              <a:ext cx="1524000" cy="2476500"/>
            </a:xfrm>
            <a:custGeom>
              <a:avLst/>
              <a:gdLst/>
              <a:ahLst/>
              <a:cxnLst/>
              <a:rect l="l" t="t" r="r" b="b"/>
              <a:pathLst>
                <a:path w="1524000" h="2476500">
                  <a:moveTo>
                    <a:pt x="0" y="0"/>
                  </a:moveTo>
                  <a:lnTo>
                    <a:pt x="1524000" y="2476500"/>
                  </a:lnTo>
                </a:path>
              </a:pathLst>
            </a:custGeom>
            <a:noFill/>
            <a:ln w="7620">
              <a:solidFill>
                <a:srgbClr val="1A7CE0">
                  <a:alpha val="20000"/>
                </a:srgbClr>
              </a:solidFill>
            </a:ln>
          </p:spPr>
        </p:sp>
        <p:sp>
          <p:nvSpPr>
            <p:cNvPr id="10" name="Line 10"/>
            <p:cNvSpPr/>
            <p:nvPr/>
          </p:nvSpPr>
          <p:spPr>
            <a:xfrm>
              <a:off x="1333500" y="1714500"/>
              <a:ext cx="1524000" cy="3238500"/>
            </a:xfrm>
            <a:custGeom>
              <a:avLst/>
              <a:gdLst/>
              <a:ahLst/>
              <a:cxnLst/>
              <a:rect l="l" t="t" r="r" b="b"/>
              <a:pathLst>
                <a:path w="1524000" h="3238500">
                  <a:moveTo>
                    <a:pt x="0" y="0"/>
                  </a:moveTo>
                  <a:lnTo>
                    <a:pt x="1524000" y="3238500"/>
                  </a:lnTo>
                </a:path>
              </a:pathLst>
            </a:custGeom>
            <a:noFill/>
            <a:ln w="7620">
              <a:solidFill>
                <a:srgbClr val="1A7CE0">
                  <a:alpha val="15000"/>
                </a:srgbClr>
              </a:solidFill>
            </a:ln>
          </p:spPr>
        </p:sp>
        <p:sp>
          <p:nvSpPr>
            <p:cNvPr id="11" name="Line 11"/>
            <p:cNvSpPr/>
            <p:nvPr/>
          </p:nvSpPr>
          <p:spPr>
            <a:xfrm>
              <a:off x="1333500" y="1714500"/>
              <a:ext cx="1524000" cy="4000500"/>
            </a:xfrm>
            <a:custGeom>
              <a:avLst/>
              <a:gdLst/>
              <a:ahLst/>
              <a:cxnLst/>
              <a:rect l="l" t="t" r="r" b="b"/>
              <a:pathLst>
                <a:path w="1524000" h="4000500">
                  <a:moveTo>
                    <a:pt x="0" y="0"/>
                  </a:moveTo>
                  <a:lnTo>
                    <a:pt x="1524000" y="4000500"/>
                  </a:lnTo>
                </a:path>
              </a:pathLst>
            </a:custGeom>
            <a:noFill/>
            <a:ln w="7620">
              <a:solidFill>
                <a:srgbClr val="1A7CE0">
                  <a:alpha val="10000"/>
                </a:srgbClr>
              </a:solidFill>
            </a:ln>
          </p:spPr>
        </p:sp>
        <p:sp>
          <p:nvSpPr>
            <p:cNvPr id="12" name="Line 12"/>
            <p:cNvSpPr/>
            <p:nvPr/>
          </p:nvSpPr>
          <p:spPr>
            <a:xfrm>
              <a:off x="1333500" y="1143000"/>
              <a:ext cx="1524000" cy="1524000"/>
            </a:xfrm>
            <a:custGeom>
              <a:avLst/>
              <a:gdLst/>
              <a:ahLst/>
              <a:cxnLst/>
              <a:rect l="l" t="t" r="r" b="b"/>
              <a:pathLst>
                <a:path w="1524000" h="1524000">
                  <a:moveTo>
                    <a:pt x="0" y="1524000"/>
                  </a:moveTo>
                  <a:lnTo>
                    <a:pt x="1524000" y="0"/>
                  </a:lnTo>
                </a:path>
              </a:pathLst>
            </a:custGeom>
            <a:noFill/>
            <a:ln w="7620">
              <a:solidFill>
                <a:srgbClr val="1A7CE0">
                  <a:alpha val="20000"/>
                </a:srgbClr>
              </a:solidFill>
            </a:ln>
          </p:spPr>
        </p:sp>
        <p:sp>
          <p:nvSpPr>
            <p:cNvPr id="13" name="Line 13"/>
            <p:cNvSpPr/>
            <p:nvPr/>
          </p:nvSpPr>
          <p:spPr>
            <a:xfrm>
              <a:off x="1333500" y="1905000"/>
              <a:ext cx="1524000" cy="762000"/>
            </a:xfrm>
            <a:custGeom>
              <a:avLst/>
              <a:gdLst/>
              <a:ahLst/>
              <a:cxnLst/>
              <a:rect l="l" t="t" r="r" b="b"/>
              <a:pathLst>
                <a:path w="1524000" h="762000">
                  <a:moveTo>
                    <a:pt x="0" y="762000"/>
                  </a:moveTo>
                  <a:lnTo>
                    <a:pt x="1524000" y="0"/>
                  </a:lnTo>
                </a:path>
              </a:pathLst>
            </a:custGeom>
            <a:noFill/>
            <a:ln w="7620">
              <a:solidFill>
                <a:srgbClr val="1A7CE0">
                  <a:alpha val="40000"/>
                </a:srgbClr>
              </a:solidFill>
            </a:ln>
          </p:spPr>
        </p:sp>
        <p:sp>
          <p:nvSpPr>
            <p:cNvPr id="14" name="Line 14"/>
            <p:cNvSpPr/>
            <p:nvPr/>
          </p:nvSpPr>
          <p:spPr>
            <a:xfrm>
              <a:off x="1333500" y="2667000"/>
              <a:ext cx="1524000" cy="9525"/>
            </a:xfrm>
            <a:custGeom>
              <a:avLst/>
              <a:gdLst/>
              <a:ahLst/>
              <a:cxnLst/>
              <a:rect l="l" t="t" r="r" b="b"/>
              <a:pathLst>
                <a:path w="1524000" h="9525">
                  <a:moveTo>
                    <a:pt x="0" y="0"/>
                  </a:moveTo>
                  <a:lnTo>
                    <a:pt x="1524000" y="0"/>
                  </a:lnTo>
                </a:path>
              </a:pathLst>
            </a:custGeom>
            <a:noFill/>
            <a:ln w="7620">
              <a:solidFill>
                <a:srgbClr val="1A7CE0">
                  <a:alpha val="45000"/>
                </a:srgbClr>
              </a:solidFill>
            </a:ln>
          </p:spPr>
        </p:sp>
        <p:sp>
          <p:nvSpPr>
            <p:cNvPr id="15" name="Line 15"/>
            <p:cNvSpPr/>
            <p:nvPr/>
          </p:nvSpPr>
          <p:spPr>
            <a:xfrm>
              <a:off x="1333500" y="2667000"/>
              <a:ext cx="1524000" cy="762000"/>
            </a:xfrm>
            <a:custGeom>
              <a:avLst/>
              <a:gdLst/>
              <a:ahLst/>
              <a:cxnLst/>
              <a:rect l="l" t="t" r="r" b="b"/>
              <a:pathLst>
                <a:path w="1524000" h="762000">
                  <a:moveTo>
                    <a:pt x="0" y="0"/>
                  </a:moveTo>
                  <a:lnTo>
                    <a:pt x="1524000" y="762000"/>
                  </a:lnTo>
                </a:path>
              </a:pathLst>
            </a:custGeom>
            <a:noFill/>
            <a:ln w="7620">
              <a:solidFill>
                <a:srgbClr val="1A7CE0">
                  <a:alpha val="30000"/>
                </a:srgbClr>
              </a:solidFill>
            </a:ln>
          </p:spPr>
        </p:sp>
        <p:sp>
          <p:nvSpPr>
            <p:cNvPr id="16" name="Line 16"/>
            <p:cNvSpPr/>
            <p:nvPr/>
          </p:nvSpPr>
          <p:spPr>
            <a:xfrm>
              <a:off x="1333500" y="2667000"/>
              <a:ext cx="1524000" cy="1524000"/>
            </a:xfrm>
            <a:custGeom>
              <a:avLst/>
              <a:gdLst/>
              <a:ahLst/>
              <a:cxnLst/>
              <a:rect l="l" t="t" r="r" b="b"/>
              <a:pathLst>
                <a:path w="1524000" h="1524000">
                  <a:moveTo>
                    <a:pt x="0" y="0"/>
                  </a:moveTo>
                  <a:lnTo>
                    <a:pt x="1524000" y="1524000"/>
                  </a:lnTo>
                </a:path>
              </a:pathLst>
            </a:custGeom>
            <a:noFill/>
            <a:ln w="7620">
              <a:solidFill>
                <a:srgbClr val="1A7CE0">
                  <a:alpha val="20000"/>
                </a:srgbClr>
              </a:solidFill>
            </a:ln>
          </p:spPr>
        </p:sp>
        <p:sp>
          <p:nvSpPr>
            <p:cNvPr id="17" name="Line 17"/>
            <p:cNvSpPr/>
            <p:nvPr/>
          </p:nvSpPr>
          <p:spPr>
            <a:xfrm>
              <a:off x="1333500" y="2667000"/>
              <a:ext cx="1524000" cy="2286000"/>
            </a:xfrm>
            <a:custGeom>
              <a:avLst/>
              <a:gdLst/>
              <a:ahLst/>
              <a:cxnLst/>
              <a:rect l="l" t="t" r="r" b="b"/>
              <a:pathLst>
                <a:path w="1524000" h="2286000">
                  <a:moveTo>
                    <a:pt x="0" y="0"/>
                  </a:moveTo>
                  <a:lnTo>
                    <a:pt x="1524000" y="2286000"/>
                  </a:lnTo>
                </a:path>
              </a:pathLst>
            </a:custGeom>
            <a:noFill/>
            <a:ln w="7620">
              <a:solidFill>
                <a:srgbClr val="1A7CE0">
                  <a:alpha val="15000"/>
                </a:srgbClr>
              </a:solidFill>
            </a:ln>
          </p:spPr>
        </p:sp>
        <p:sp>
          <p:nvSpPr>
            <p:cNvPr id="18" name="Line 18"/>
            <p:cNvSpPr/>
            <p:nvPr/>
          </p:nvSpPr>
          <p:spPr>
            <a:xfrm>
              <a:off x="1333500" y="2667000"/>
              <a:ext cx="1524000" cy="3048000"/>
            </a:xfrm>
            <a:custGeom>
              <a:avLst/>
              <a:gdLst/>
              <a:ahLst/>
              <a:cxnLst/>
              <a:rect l="l" t="t" r="r" b="b"/>
              <a:pathLst>
                <a:path w="1524000" h="3048000">
                  <a:moveTo>
                    <a:pt x="0" y="0"/>
                  </a:moveTo>
                  <a:lnTo>
                    <a:pt x="1524000" y="3048000"/>
                  </a:lnTo>
                </a:path>
              </a:pathLst>
            </a:custGeom>
            <a:noFill/>
            <a:ln w="7620">
              <a:solidFill>
                <a:srgbClr val="1A7CE0">
                  <a:alpha val="10000"/>
                </a:srgbClr>
              </a:solidFill>
            </a:ln>
          </p:spPr>
        </p:sp>
        <p:sp>
          <p:nvSpPr>
            <p:cNvPr id="19" name="Line 19"/>
            <p:cNvSpPr/>
            <p:nvPr/>
          </p:nvSpPr>
          <p:spPr>
            <a:xfrm>
              <a:off x="1333500" y="1143000"/>
              <a:ext cx="1524000" cy="2476500"/>
            </a:xfrm>
            <a:custGeom>
              <a:avLst/>
              <a:gdLst/>
              <a:ahLst/>
              <a:cxnLst/>
              <a:rect l="l" t="t" r="r" b="b"/>
              <a:pathLst>
                <a:path w="1524000" h="2476500">
                  <a:moveTo>
                    <a:pt x="0" y="2476500"/>
                  </a:moveTo>
                  <a:lnTo>
                    <a:pt x="1524000" y="0"/>
                  </a:lnTo>
                </a:path>
              </a:pathLst>
            </a:custGeom>
            <a:noFill/>
            <a:ln w="7620">
              <a:solidFill>
                <a:srgbClr val="1A7CE0">
                  <a:alpha val="15000"/>
                </a:srgbClr>
              </a:solidFill>
            </a:ln>
          </p:spPr>
        </p:sp>
        <p:sp>
          <p:nvSpPr>
            <p:cNvPr id="20" name="Line 20"/>
            <p:cNvSpPr/>
            <p:nvPr/>
          </p:nvSpPr>
          <p:spPr>
            <a:xfrm>
              <a:off x="1333500" y="1905000"/>
              <a:ext cx="1524000" cy="1714500"/>
            </a:xfrm>
            <a:custGeom>
              <a:avLst/>
              <a:gdLst/>
              <a:ahLst/>
              <a:cxnLst/>
              <a:rect l="l" t="t" r="r" b="b"/>
              <a:pathLst>
                <a:path w="1524000" h="1714500">
                  <a:moveTo>
                    <a:pt x="0" y="1714500"/>
                  </a:moveTo>
                  <a:lnTo>
                    <a:pt x="1524000" y="0"/>
                  </a:lnTo>
                </a:path>
              </a:pathLst>
            </a:custGeom>
            <a:noFill/>
            <a:ln w="7620">
              <a:solidFill>
                <a:srgbClr val="1A7CE0">
                  <a:alpha val="25000"/>
                </a:srgbClr>
              </a:solidFill>
            </a:ln>
          </p:spPr>
        </p:sp>
        <p:sp>
          <p:nvSpPr>
            <p:cNvPr id="21" name="Line 21"/>
            <p:cNvSpPr/>
            <p:nvPr/>
          </p:nvSpPr>
          <p:spPr>
            <a:xfrm>
              <a:off x="1333500" y="2667000"/>
              <a:ext cx="1524000" cy="952500"/>
            </a:xfrm>
            <a:custGeom>
              <a:avLst/>
              <a:gdLst/>
              <a:ahLst/>
              <a:cxnLst/>
              <a:rect l="l" t="t" r="r" b="b"/>
              <a:pathLst>
                <a:path w="1524000" h="952500">
                  <a:moveTo>
                    <a:pt x="0" y="952500"/>
                  </a:moveTo>
                  <a:lnTo>
                    <a:pt x="1524000" y="0"/>
                  </a:lnTo>
                </a:path>
              </a:pathLst>
            </a:custGeom>
            <a:noFill/>
            <a:ln w="7620">
              <a:solidFill>
                <a:srgbClr val="1A7CE0">
                  <a:alpha val="40000"/>
                </a:srgbClr>
              </a:solidFill>
            </a:ln>
          </p:spPr>
        </p:sp>
        <p:sp>
          <p:nvSpPr>
            <p:cNvPr id="22" name="Line 22"/>
            <p:cNvSpPr/>
            <p:nvPr/>
          </p:nvSpPr>
          <p:spPr>
            <a:xfrm>
              <a:off x="1333500" y="3429000"/>
              <a:ext cx="1524000" cy="190500"/>
            </a:xfrm>
            <a:custGeom>
              <a:avLst/>
              <a:gdLst/>
              <a:ahLst/>
              <a:cxnLst/>
              <a:rect l="l" t="t" r="r" b="b"/>
              <a:pathLst>
                <a:path w="1524000" h="190500">
                  <a:moveTo>
                    <a:pt x="0" y="190500"/>
                  </a:moveTo>
                  <a:lnTo>
                    <a:pt x="1524000" y="0"/>
                  </a:lnTo>
                </a:path>
              </a:pathLst>
            </a:custGeom>
            <a:noFill/>
            <a:ln w="7620">
              <a:solidFill>
                <a:srgbClr val="1A7CE0">
                  <a:alpha val="50000"/>
                </a:srgbClr>
              </a:solidFill>
            </a:ln>
          </p:spPr>
        </p:sp>
        <p:sp>
          <p:nvSpPr>
            <p:cNvPr id="23" name="Line 23"/>
            <p:cNvSpPr/>
            <p:nvPr/>
          </p:nvSpPr>
          <p:spPr>
            <a:xfrm>
              <a:off x="1333500" y="3619500"/>
              <a:ext cx="1524000" cy="571500"/>
            </a:xfrm>
            <a:custGeom>
              <a:avLst/>
              <a:gdLst/>
              <a:ahLst/>
              <a:cxnLst/>
              <a:rect l="l" t="t" r="r" b="b"/>
              <a:pathLst>
                <a:path w="1524000" h="571500">
                  <a:moveTo>
                    <a:pt x="0" y="0"/>
                  </a:moveTo>
                  <a:lnTo>
                    <a:pt x="1524000" y="571500"/>
                  </a:lnTo>
                </a:path>
              </a:pathLst>
            </a:custGeom>
            <a:noFill/>
            <a:ln w="7620">
              <a:solidFill>
                <a:srgbClr val="1A7CE0">
                  <a:alpha val="40000"/>
                </a:srgbClr>
              </a:solidFill>
            </a:ln>
          </p:spPr>
        </p:sp>
        <p:sp>
          <p:nvSpPr>
            <p:cNvPr id="24" name="Line 24"/>
            <p:cNvSpPr/>
            <p:nvPr/>
          </p:nvSpPr>
          <p:spPr>
            <a:xfrm>
              <a:off x="1333500" y="3619500"/>
              <a:ext cx="1524000" cy="1333500"/>
            </a:xfrm>
            <a:custGeom>
              <a:avLst/>
              <a:gdLst/>
              <a:ahLst/>
              <a:cxnLst/>
              <a:rect l="l" t="t" r="r" b="b"/>
              <a:pathLst>
                <a:path w="1524000" h="1333500">
                  <a:moveTo>
                    <a:pt x="0" y="0"/>
                  </a:moveTo>
                  <a:lnTo>
                    <a:pt x="1524000" y="1333500"/>
                  </a:lnTo>
                </a:path>
              </a:pathLst>
            </a:custGeom>
            <a:noFill/>
            <a:ln w="7620">
              <a:solidFill>
                <a:srgbClr val="1A7CE0">
                  <a:alpha val="25000"/>
                </a:srgbClr>
              </a:solidFill>
            </a:ln>
          </p:spPr>
        </p:sp>
        <p:sp>
          <p:nvSpPr>
            <p:cNvPr id="25" name="Line 25"/>
            <p:cNvSpPr/>
            <p:nvPr/>
          </p:nvSpPr>
          <p:spPr>
            <a:xfrm>
              <a:off x="1333500" y="3619500"/>
              <a:ext cx="1524000" cy="2095500"/>
            </a:xfrm>
            <a:custGeom>
              <a:avLst/>
              <a:gdLst/>
              <a:ahLst/>
              <a:cxnLst/>
              <a:rect l="l" t="t" r="r" b="b"/>
              <a:pathLst>
                <a:path w="1524000" h="2095500">
                  <a:moveTo>
                    <a:pt x="0" y="0"/>
                  </a:moveTo>
                  <a:lnTo>
                    <a:pt x="1524000" y="2095500"/>
                  </a:lnTo>
                </a:path>
              </a:pathLst>
            </a:custGeom>
            <a:noFill/>
            <a:ln w="7620">
              <a:solidFill>
                <a:srgbClr val="1A7CE0">
                  <a:alpha val="15000"/>
                </a:srgbClr>
              </a:solidFill>
            </a:ln>
          </p:spPr>
        </p:sp>
        <p:sp>
          <p:nvSpPr>
            <p:cNvPr id="26" name="Line 26"/>
            <p:cNvSpPr/>
            <p:nvPr/>
          </p:nvSpPr>
          <p:spPr>
            <a:xfrm>
              <a:off x="1333500" y="1143000"/>
              <a:ext cx="1524000" cy="3429000"/>
            </a:xfrm>
            <a:custGeom>
              <a:avLst/>
              <a:gdLst/>
              <a:ahLst/>
              <a:cxnLst/>
              <a:rect l="l" t="t" r="r" b="b"/>
              <a:pathLst>
                <a:path w="1524000" h="3429000">
                  <a:moveTo>
                    <a:pt x="0" y="3429000"/>
                  </a:moveTo>
                  <a:lnTo>
                    <a:pt x="1524000" y="0"/>
                  </a:lnTo>
                </a:path>
              </a:pathLst>
            </a:custGeom>
            <a:noFill/>
            <a:ln w="7620">
              <a:solidFill>
                <a:srgbClr val="1A7CE0">
                  <a:alpha val="10000"/>
                </a:srgbClr>
              </a:solidFill>
            </a:ln>
          </p:spPr>
        </p:sp>
        <p:sp>
          <p:nvSpPr>
            <p:cNvPr id="27" name="Line 27"/>
            <p:cNvSpPr/>
            <p:nvPr/>
          </p:nvSpPr>
          <p:spPr>
            <a:xfrm>
              <a:off x="1333500" y="1905000"/>
              <a:ext cx="1524000" cy="2667000"/>
            </a:xfrm>
            <a:custGeom>
              <a:avLst/>
              <a:gdLst/>
              <a:ahLst/>
              <a:cxnLst/>
              <a:rect l="l" t="t" r="r" b="b"/>
              <a:pathLst>
                <a:path w="1524000" h="2667000">
                  <a:moveTo>
                    <a:pt x="0" y="2667000"/>
                  </a:moveTo>
                  <a:lnTo>
                    <a:pt x="1524000" y="0"/>
                  </a:lnTo>
                </a:path>
              </a:pathLst>
            </a:custGeom>
            <a:noFill/>
            <a:ln w="7620">
              <a:solidFill>
                <a:srgbClr val="1A7CE0">
                  <a:alpha val="15000"/>
                </a:srgbClr>
              </a:solidFill>
            </a:ln>
          </p:spPr>
        </p:sp>
        <p:sp>
          <p:nvSpPr>
            <p:cNvPr id="28" name="Line 28"/>
            <p:cNvSpPr/>
            <p:nvPr/>
          </p:nvSpPr>
          <p:spPr>
            <a:xfrm>
              <a:off x="1333500" y="2667000"/>
              <a:ext cx="1524000" cy="1905000"/>
            </a:xfrm>
            <a:custGeom>
              <a:avLst/>
              <a:gdLst/>
              <a:ahLst/>
              <a:cxnLst/>
              <a:rect l="l" t="t" r="r" b="b"/>
              <a:pathLst>
                <a:path w="1524000" h="1905000">
                  <a:moveTo>
                    <a:pt x="0" y="1905000"/>
                  </a:moveTo>
                  <a:lnTo>
                    <a:pt x="1524000" y="0"/>
                  </a:lnTo>
                </a:path>
              </a:pathLst>
            </a:custGeom>
            <a:noFill/>
            <a:ln w="7620">
              <a:solidFill>
                <a:srgbClr val="1A7CE0">
                  <a:alpha val="20000"/>
                </a:srgbClr>
              </a:solidFill>
            </a:ln>
          </p:spPr>
        </p:sp>
        <p:sp>
          <p:nvSpPr>
            <p:cNvPr id="29" name="Line 29"/>
            <p:cNvSpPr/>
            <p:nvPr/>
          </p:nvSpPr>
          <p:spPr>
            <a:xfrm>
              <a:off x="1333500" y="3429000"/>
              <a:ext cx="1524000" cy="1143000"/>
            </a:xfrm>
            <a:custGeom>
              <a:avLst/>
              <a:gdLst/>
              <a:ahLst/>
              <a:cxnLst/>
              <a:rect l="l" t="t" r="r" b="b"/>
              <a:pathLst>
                <a:path w="1524000" h="1143000">
                  <a:moveTo>
                    <a:pt x="0" y="1143000"/>
                  </a:moveTo>
                  <a:lnTo>
                    <a:pt x="1524000" y="0"/>
                  </a:lnTo>
                </a:path>
              </a:pathLst>
            </a:custGeom>
            <a:noFill/>
            <a:ln w="7620">
              <a:solidFill>
                <a:srgbClr val="1A7CE0">
                  <a:alpha val="30000"/>
                </a:srgbClr>
              </a:solidFill>
            </a:ln>
          </p:spPr>
        </p:sp>
        <p:sp>
          <p:nvSpPr>
            <p:cNvPr id="30" name="Line 30"/>
            <p:cNvSpPr/>
            <p:nvPr/>
          </p:nvSpPr>
          <p:spPr>
            <a:xfrm>
              <a:off x="1333500" y="4191000"/>
              <a:ext cx="1524000" cy="381000"/>
            </a:xfrm>
            <a:custGeom>
              <a:avLst/>
              <a:gdLst/>
              <a:ahLst/>
              <a:cxnLst/>
              <a:rect l="l" t="t" r="r" b="b"/>
              <a:pathLst>
                <a:path w="1524000" h="381000">
                  <a:moveTo>
                    <a:pt x="0" y="381000"/>
                  </a:moveTo>
                  <a:lnTo>
                    <a:pt x="1524000" y="0"/>
                  </a:lnTo>
                </a:path>
              </a:pathLst>
            </a:custGeom>
            <a:noFill/>
            <a:ln w="7620">
              <a:solidFill>
                <a:srgbClr val="1A7CE0">
                  <a:alpha val="45000"/>
                </a:srgbClr>
              </a:solidFill>
            </a:ln>
          </p:spPr>
        </p:sp>
        <p:sp>
          <p:nvSpPr>
            <p:cNvPr id="31" name="Line 31"/>
            <p:cNvSpPr/>
            <p:nvPr/>
          </p:nvSpPr>
          <p:spPr>
            <a:xfrm>
              <a:off x="1333500" y="4572000"/>
              <a:ext cx="1524000" cy="381000"/>
            </a:xfrm>
            <a:custGeom>
              <a:avLst/>
              <a:gdLst/>
              <a:ahLst/>
              <a:cxnLst/>
              <a:rect l="l" t="t" r="r" b="b"/>
              <a:pathLst>
                <a:path w="1524000" h="381000">
                  <a:moveTo>
                    <a:pt x="0" y="0"/>
                  </a:moveTo>
                  <a:lnTo>
                    <a:pt x="1524000" y="381000"/>
                  </a:lnTo>
                </a:path>
              </a:pathLst>
            </a:custGeom>
            <a:noFill/>
            <a:ln w="7620">
              <a:solidFill>
                <a:srgbClr val="1A7CE0">
                  <a:alpha val="40000"/>
                </a:srgbClr>
              </a:solidFill>
            </a:ln>
          </p:spPr>
        </p:sp>
        <p:sp>
          <p:nvSpPr>
            <p:cNvPr id="32" name="Line 32"/>
            <p:cNvSpPr/>
            <p:nvPr/>
          </p:nvSpPr>
          <p:spPr>
            <a:xfrm>
              <a:off x="1333500" y="4572000"/>
              <a:ext cx="1524000" cy="1143000"/>
            </a:xfrm>
            <a:custGeom>
              <a:avLst/>
              <a:gdLst/>
              <a:ahLst/>
              <a:cxnLst/>
              <a:rect l="l" t="t" r="r" b="b"/>
              <a:pathLst>
                <a:path w="1524000" h="1143000">
                  <a:moveTo>
                    <a:pt x="0" y="0"/>
                  </a:moveTo>
                  <a:lnTo>
                    <a:pt x="1524000" y="1143000"/>
                  </a:lnTo>
                </a:path>
              </a:pathLst>
            </a:custGeom>
            <a:noFill/>
            <a:ln w="7620">
              <a:solidFill>
                <a:srgbClr val="1A7CE0">
                  <a:alpha val="20000"/>
                </a:srgbClr>
              </a:solidFill>
            </a:ln>
          </p:spPr>
        </p:sp>
        <p:sp>
          <p:nvSpPr>
            <p:cNvPr id="33" name="Line 33"/>
            <p:cNvSpPr/>
            <p:nvPr/>
          </p:nvSpPr>
          <p:spPr>
            <a:xfrm>
              <a:off x="1333500" y="1905000"/>
              <a:ext cx="1524000" cy="3619500"/>
            </a:xfrm>
            <a:custGeom>
              <a:avLst/>
              <a:gdLst/>
              <a:ahLst/>
              <a:cxnLst/>
              <a:rect l="l" t="t" r="r" b="b"/>
              <a:pathLst>
                <a:path w="1524000" h="3619500">
                  <a:moveTo>
                    <a:pt x="0" y="3619500"/>
                  </a:moveTo>
                  <a:lnTo>
                    <a:pt x="1524000" y="0"/>
                  </a:lnTo>
                </a:path>
              </a:pathLst>
            </a:custGeom>
            <a:noFill/>
            <a:ln w="7620">
              <a:solidFill>
                <a:srgbClr val="1A7CE0">
                  <a:alpha val="10000"/>
                </a:srgbClr>
              </a:solidFill>
            </a:ln>
          </p:spPr>
        </p:sp>
        <p:sp>
          <p:nvSpPr>
            <p:cNvPr id="34" name="Line 34"/>
            <p:cNvSpPr/>
            <p:nvPr/>
          </p:nvSpPr>
          <p:spPr>
            <a:xfrm>
              <a:off x="1333500" y="2667000"/>
              <a:ext cx="1524000" cy="2857500"/>
            </a:xfrm>
            <a:custGeom>
              <a:avLst/>
              <a:gdLst/>
              <a:ahLst/>
              <a:cxnLst/>
              <a:rect l="l" t="t" r="r" b="b"/>
              <a:pathLst>
                <a:path w="1524000" h="2857500">
                  <a:moveTo>
                    <a:pt x="0" y="2857500"/>
                  </a:moveTo>
                  <a:lnTo>
                    <a:pt x="1524000" y="0"/>
                  </a:lnTo>
                </a:path>
              </a:pathLst>
            </a:custGeom>
            <a:noFill/>
            <a:ln w="7620">
              <a:solidFill>
                <a:srgbClr val="1A7CE0">
                  <a:alpha val="15000"/>
                </a:srgbClr>
              </a:solidFill>
            </a:ln>
          </p:spPr>
        </p:sp>
        <p:sp>
          <p:nvSpPr>
            <p:cNvPr id="35" name="Line 35"/>
            <p:cNvSpPr/>
            <p:nvPr/>
          </p:nvSpPr>
          <p:spPr>
            <a:xfrm>
              <a:off x="1333500" y="3429000"/>
              <a:ext cx="1524000" cy="2095500"/>
            </a:xfrm>
            <a:custGeom>
              <a:avLst/>
              <a:gdLst/>
              <a:ahLst/>
              <a:cxnLst/>
              <a:rect l="l" t="t" r="r" b="b"/>
              <a:pathLst>
                <a:path w="1524000" h="2095500">
                  <a:moveTo>
                    <a:pt x="0" y="2095500"/>
                  </a:moveTo>
                  <a:lnTo>
                    <a:pt x="1524000" y="0"/>
                  </a:lnTo>
                </a:path>
              </a:pathLst>
            </a:custGeom>
            <a:noFill/>
            <a:ln w="7620">
              <a:solidFill>
                <a:srgbClr val="1A7CE0">
                  <a:alpha val="20000"/>
                </a:srgbClr>
              </a:solidFill>
            </a:ln>
          </p:spPr>
        </p:sp>
        <p:sp>
          <p:nvSpPr>
            <p:cNvPr id="36" name="Line 36"/>
            <p:cNvSpPr/>
            <p:nvPr/>
          </p:nvSpPr>
          <p:spPr>
            <a:xfrm>
              <a:off x="1333500" y="4191000"/>
              <a:ext cx="1524000" cy="1333500"/>
            </a:xfrm>
            <a:custGeom>
              <a:avLst/>
              <a:gdLst/>
              <a:ahLst/>
              <a:cxnLst/>
              <a:rect l="l" t="t" r="r" b="b"/>
              <a:pathLst>
                <a:path w="1524000" h="1333500">
                  <a:moveTo>
                    <a:pt x="0" y="1333500"/>
                  </a:moveTo>
                  <a:lnTo>
                    <a:pt x="1524000" y="0"/>
                  </a:lnTo>
                </a:path>
              </a:pathLst>
            </a:custGeom>
            <a:noFill/>
            <a:ln w="7620">
              <a:solidFill>
                <a:srgbClr val="1A7CE0">
                  <a:alpha val="30000"/>
                </a:srgbClr>
              </a:solidFill>
            </a:ln>
          </p:spPr>
        </p:sp>
        <p:sp>
          <p:nvSpPr>
            <p:cNvPr id="37" name="Line 37"/>
            <p:cNvSpPr/>
            <p:nvPr/>
          </p:nvSpPr>
          <p:spPr>
            <a:xfrm>
              <a:off x="1333500" y="4953000"/>
              <a:ext cx="1524000" cy="571500"/>
            </a:xfrm>
            <a:custGeom>
              <a:avLst/>
              <a:gdLst/>
              <a:ahLst/>
              <a:cxnLst/>
              <a:rect l="l" t="t" r="r" b="b"/>
              <a:pathLst>
                <a:path w="1524000" h="571500">
                  <a:moveTo>
                    <a:pt x="0" y="571500"/>
                  </a:moveTo>
                  <a:lnTo>
                    <a:pt x="1524000" y="0"/>
                  </a:lnTo>
                </a:path>
              </a:pathLst>
            </a:custGeom>
            <a:noFill/>
            <a:ln w="7620">
              <a:solidFill>
                <a:srgbClr val="1A7CE0">
                  <a:alpha val="40000"/>
                </a:srgbClr>
              </a:solidFill>
            </a:ln>
          </p:spPr>
        </p:sp>
        <p:sp>
          <p:nvSpPr>
            <p:cNvPr id="38" name="Line 38"/>
            <p:cNvSpPr/>
            <p:nvPr/>
          </p:nvSpPr>
          <p:spPr>
            <a:xfrm>
              <a:off x="1333500" y="5524500"/>
              <a:ext cx="1524000" cy="190500"/>
            </a:xfrm>
            <a:custGeom>
              <a:avLst/>
              <a:gdLst/>
              <a:ahLst/>
              <a:cxnLst/>
              <a:rect l="l" t="t" r="r" b="b"/>
              <a:pathLst>
                <a:path w="1524000" h="190500">
                  <a:moveTo>
                    <a:pt x="0" y="0"/>
                  </a:moveTo>
                  <a:lnTo>
                    <a:pt x="1524000" y="190500"/>
                  </a:lnTo>
                </a:path>
              </a:pathLst>
            </a:custGeom>
            <a:noFill/>
            <a:ln w="7620">
              <a:solidFill>
                <a:srgbClr val="1A7CE0">
                  <a:alpha val="35000"/>
                </a:srgbClr>
              </a:solidFill>
            </a:ln>
          </p:spPr>
        </p:sp>
      </p:grpSp>
      <p:grpSp>
        <p:nvGrpSpPr>
          <p:cNvPr id="72" name="Group 72"/>
          <p:cNvGrpSpPr/>
          <p:nvPr/>
        </p:nvGrpSpPr>
        <p:grpSpPr>
          <a:xfrm>
            <a:off x="2857500" y="1143000"/>
            <a:ext cx="1714500" cy="4581525"/>
            <a:chOff x="2857500" y="1143000"/>
            <a:chExt cx="1714500" cy="4581525"/>
          </a:xfrm>
        </p:grpSpPr>
        <p:sp>
          <p:nvSpPr>
            <p:cNvPr id="40" name="Line 40"/>
            <p:cNvSpPr/>
            <p:nvPr/>
          </p:nvSpPr>
          <p:spPr>
            <a:xfrm>
              <a:off x="2857500" y="1143000"/>
              <a:ext cx="1714500" cy="9525"/>
            </a:xfrm>
            <a:custGeom>
              <a:avLst/>
              <a:gdLst/>
              <a:ahLst/>
              <a:cxnLst/>
              <a:rect l="l" t="t" r="r" b="b"/>
              <a:pathLst>
                <a:path w="1714500" h="9525">
                  <a:moveTo>
                    <a:pt x="0" y="0"/>
                  </a:moveTo>
                  <a:lnTo>
                    <a:pt x="1714500" y="0"/>
                  </a:lnTo>
                </a:path>
              </a:pathLst>
            </a:custGeom>
            <a:noFill/>
            <a:ln w="7620">
              <a:solidFill>
                <a:srgbClr val="1A7CE0">
                  <a:alpha val="40000"/>
                </a:srgbClr>
              </a:solidFill>
            </a:ln>
          </p:spPr>
        </p:sp>
        <p:sp>
          <p:nvSpPr>
            <p:cNvPr id="41" name="Line 41"/>
            <p:cNvSpPr/>
            <p:nvPr/>
          </p:nvSpPr>
          <p:spPr>
            <a:xfrm>
              <a:off x="2857500" y="1143000"/>
              <a:ext cx="1714500" cy="762000"/>
            </a:xfrm>
            <a:custGeom>
              <a:avLst/>
              <a:gdLst/>
              <a:ahLst/>
              <a:cxnLst/>
              <a:rect l="l" t="t" r="r" b="b"/>
              <a:pathLst>
                <a:path w="1714500" h="762000">
                  <a:moveTo>
                    <a:pt x="0" y="0"/>
                  </a:moveTo>
                  <a:lnTo>
                    <a:pt x="1714500" y="762000"/>
                  </a:lnTo>
                </a:path>
              </a:pathLst>
            </a:custGeom>
            <a:noFill/>
            <a:ln w="7620">
              <a:solidFill>
                <a:srgbClr val="1A7CE0">
                  <a:alpha val="30000"/>
                </a:srgbClr>
              </a:solidFill>
            </a:ln>
          </p:spPr>
        </p:sp>
        <p:sp>
          <p:nvSpPr>
            <p:cNvPr id="42" name="Line 42"/>
            <p:cNvSpPr/>
            <p:nvPr/>
          </p:nvSpPr>
          <p:spPr>
            <a:xfrm>
              <a:off x="2857500" y="1143000"/>
              <a:ext cx="1714500" cy="1524000"/>
            </a:xfrm>
            <a:custGeom>
              <a:avLst/>
              <a:gdLst/>
              <a:ahLst/>
              <a:cxnLst/>
              <a:rect l="l" t="t" r="r" b="b"/>
              <a:pathLst>
                <a:path w="1714500" h="1524000">
                  <a:moveTo>
                    <a:pt x="0" y="0"/>
                  </a:moveTo>
                  <a:lnTo>
                    <a:pt x="1714500" y="1524000"/>
                  </a:lnTo>
                </a:path>
              </a:pathLst>
            </a:custGeom>
            <a:noFill/>
            <a:ln w="7620">
              <a:solidFill>
                <a:srgbClr val="1A7CE0">
                  <a:alpha val="20000"/>
                </a:srgbClr>
              </a:solidFill>
            </a:ln>
          </p:spPr>
        </p:sp>
        <p:sp>
          <p:nvSpPr>
            <p:cNvPr id="43" name="Line 43"/>
            <p:cNvSpPr/>
            <p:nvPr/>
          </p:nvSpPr>
          <p:spPr>
            <a:xfrm>
              <a:off x="2857500" y="1143000"/>
              <a:ext cx="1714500" cy="2286000"/>
            </a:xfrm>
            <a:custGeom>
              <a:avLst/>
              <a:gdLst/>
              <a:ahLst/>
              <a:cxnLst/>
              <a:rect l="l" t="t" r="r" b="b"/>
              <a:pathLst>
                <a:path w="1714500" h="2286000">
                  <a:moveTo>
                    <a:pt x="0" y="0"/>
                  </a:moveTo>
                  <a:lnTo>
                    <a:pt x="1714500" y="2286000"/>
                  </a:lnTo>
                </a:path>
              </a:pathLst>
            </a:custGeom>
            <a:noFill/>
            <a:ln w="7620">
              <a:solidFill>
                <a:srgbClr val="1A7CE0">
                  <a:alpha val="15000"/>
                </a:srgbClr>
              </a:solidFill>
            </a:ln>
          </p:spPr>
        </p:sp>
        <p:sp>
          <p:nvSpPr>
            <p:cNvPr id="44" name="Line 44"/>
            <p:cNvSpPr/>
            <p:nvPr/>
          </p:nvSpPr>
          <p:spPr>
            <a:xfrm>
              <a:off x="2857500" y="1143000"/>
              <a:ext cx="1714500" cy="762000"/>
            </a:xfrm>
            <a:custGeom>
              <a:avLst/>
              <a:gdLst/>
              <a:ahLst/>
              <a:cxnLst/>
              <a:rect l="l" t="t" r="r" b="b"/>
              <a:pathLst>
                <a:path w="1714500" h="762000">
                  <a:moveTo>
                    <a:pt x="0" y="762000"/>
                  </a:moveTo>
                  <a:lnTo>
                    <a:pt x="1714500" y="0"/>
                  </a:lnTo>
                </a:path>
              </a:pathLst>
            </a:custGeom>
            <a:noFill/>
            <a:ln w="7620">
              <a:solidFill>
                <a:srgbClr val="1A7CE0">
                  <a:alpha val="35000"/>
                </a:srgbClr>
              </a:solidFill>
            </a:ln>
          </p:spPr>
        </p:sp>
        <p:sp>
          <p:nvSpPr>
            <p:cNvPr id="45" name="Line 45"/>
            <p:cNvSpPr/>
            <p:nvPr/>
          </p:nvSpPr>
          <p:spPr>
            <a:xfrm>
              <a:off x="2857500" y="1905000"/>
              <a:ext cx="1714500" cy="9525"/>
            </a:xfrm>
            <a:custGeom>
              <a:avLst/>
              <a:gdLst/>
              <a:ahLst/>
              <a:cxnLst/>
              <a:rect l="l" t="t" r="r" b="b"/>
              <a:pathLst>
                <a:path w="1714500" h="9525">
                  <a:moveTo>
                    <a:pt x="0" y="0"/>
                  </a:moveTo>
                  <a:lnTo>
                    <a:pt x="1714500" y="0"/>
                  </a:lnTo>
                </a:path>
              </a:pathLst>
            </a:custGeom>
            <a:noFill/>
            <a:ln w="7620">
              <a:solidFill>
                <a:srgbClr val="1A7CE0">
                  <a:alpha val="50000"/>
                </a:srgbClr>
              </a:solidFill>
            </a:ln>
          </p:spPr>
        </p:sp>
        <p:sp>
          <p:nvSpPr>
            <p:cNvPr id="46" name="Line 46"/>
            <p:cNvSpPr/>
            <p:nvPr/>
          </p:nvSpPr>
          <p:spPr>
            <a:xfrm>
              <a:off x="2857500" y="1905000"/>
              <a:ext cx="1714500" cy="762000"/>
            </a:xfrm>
            <a:custGeom>
              <a:avLst/>
              <a:gdLst/>
              <a:ahLst/>
              <a:cxnLst/>
              <a:rect l="l" t="t" r="r" b="b"/>
              <a:pathLst>
                <a:path w="1714500" h="762000">
                  <a:moveTo>
                    <a:pt x="0" y="0"/>
                  </a:moveTo>
                  <a:lnTo>
                    <a:pt x="1714500" y="762000"/>
                  </a:lnTo>
                </a:path>
              </a:pathLst>
            </a:custGeom>
            <a:noFill/>
            <a:ln w="7620">
              <a:solidFill>
                <a:srgbClr val="1A7CE0">
                  <a:alpha val="35000"/>
                </a:srgbClr>
              </a:solidFill>
            </a:ln>
          </p:spPr>
        </p:sp>
        <p:sp>
          <p:nvSpPr>
            <p:cNvPr id="47" name="Line 47"/>
            <p:cNvSpPr/>
            <p:nvPr/>
          </p:nvSpPr>
          <p:spPr>
            <a:xfrm>
              <a:off x="2857500" y="1905000"/>
              <a:ext cx="1714500" cy="1524000"/>
            </a:xfrm>
            <a:custGeom>
              <a:avLst/>
              <a:gdLst/>
              <a:ahLst/>
              <a:cxnLst/>
              <a:rect l="l" t="t" r="r" b="b"/>
              <a:pathLst>
                <a:path w="1714500" h="1524000">
                  <a:moveTo>
                    <a:pt x="0" y="0"/>
                  </a:moveTo>
                  <a:lnTo>
                    <a:pt x="1714500" y="1524000"/>
                  </a:lnTo>
                </a:path>
              </a:pathLst>
            </a:custGeom>
            <a:noFill/>
            <a:ln w="7620">
              <a:solidFill>
                <a:srgbClr val="1A7CE0">
                  <a:alpha val="25000"/>
                </a:srgbClr>
              </a:solidFill>
            </a:ln>
          </p:spPr>
        </p:sp>
        <p:sp>
          <p:nvSpPr>
            <p:cNvPr id="48" name="Line 48"/>
            <p:cNvSpPr/>
            <p:nvPr/>
          </p:nvSpPr>
          <p:spPr>
            <a:xfrm>
              <a:off x="2857500" y="1905000"/>
              <a:ext cx="1714500" cy="2286000"/>
            </a:xfrm>
            <a:custGeom>
              <a:avLst/>
              <a:gdLst/>
              <a:ahLst/>
              <a:cxnLst/>
              <a:rect l="l" t="t" r="r" b="b"/>
              <a:pathLst>
                <a:path w="1714500" h="2286000">
                  <a:moveTo>
                    <a:pt x="0" y="0"/>
                  </a:moveTo>
                  <a:lnTo>
                    <a:pt x="1714500" y="2286000"/>
                  </a:lnTo>
                </a:path>
              </a:pathLst>
            </a:custGeom>
            <a:noFill/>
            <a:ln w="7620">
              <a:solidFill>
                <a:srgbClr val="1A7CE0">
                  <a:alpha val="15000"/>
                </a:srgbClr>
              </a:solidFill>
            </a:ln>
          </p:spPr>
        </p:sp>
        <p:sp>
          <p:nvSpPr>
            <p:cNvPr id="49" name="Line 49"/>
            <p:cNvSpPr/>
            <p:nvPr/>
          </p:nvSpPr>
          <p:spPr>
            <a:xfrm>
              <a:off x="2857500" y="1143000"/>
              <a:ext cx="1714500" cy="1524000"/>
            </a:xfrm>
            <a:custGeom>
              <a:avLst/>
              <a:gdLst/>
              <a:ahLst/>
              <a:cxnLst/>
              <a:rect l="l" t="t" r="r" b="b"/>
              <a:pathLst>
                <a:path w="1714500" h="1524000">
                  <a:moveTo>
                    <a:pt x="0" y="1524000"/>
                  </a:moveTo>
                  <a:lnTo>
                    <a:pt x="1714500" y="0"/>
                  </a:lnTo>
                </a:path>
              </a:pathLst>
            </a:custGeom>
            <a:noFill/>
            <a:ln w="7620">
              <a:solidFill>
                <a:srgbClr val="1A7CE0">
                  <a:alpha val="20000"/>
                </a:srgbClr>
              </a:solidFill>
            </a:ln>
          </p:spPr>
        </p:sp>
        <p:sp>
          <p:nvSpPr>
            <p:cNvPr id="50" name="Line 50"/>
            <p:cNvSpPr/>
            <p:nvPr/>
          </p:nvSpPr>
          <p:spPr>
            <a:xfrm>
              <a:off x="2857500" y="1905000"/>
              <a:ext cx="1714500" cy="762000"/>
            </a:xfrm>
            <a:custGeom>
              <a:avLst/>
              <a:gdLst/>
              <a:ahLst/>
              <a:cxnLst/>
              <a:rect l="l" t="t" r="r" b="b"/>
              <a:pathLst>
                <a:path w="1714500" h="762000">
                  <a:moveTo>
                    <a:pt x="0" y="762000"/>
                  </a:moveTo>
                  <a:lnTo>
                    <a:pt x="1714500" y="0"/>
                  </a:lnTo>
                </a:path>
              </a:pathLst>
            </a:custGeom>
            <a:noFill/>
            <a:ln w="7620">
              <a:solidFill>
                <a:srgbClr val="1A7CE0">
                  <a:alpha val="35000"/>
                </a:srgbClr>
              </a:solidFill>
            </a:ln>
          </p:spPr>
        </p:sp>
        <p:sp>
          <p:nvSpPr>
            <p:cNvPr id="51" name="Line 51"/>
            <p:cNvSpPr/>
            <p:nvPr/>
          </p:nvSpPr>
          <p:spPr>
            <a:xfrm>
              <a:off x="2857500" y="2667000"/>
              <a:ext cx="1714500" cy="9525"/>
            </a:xfrm>
            <a:custGeom>
              <a:avLst/>
              <a:gdLst/>
              <a:ahLst/>
              <a:cxnLst/>
              <a:rect l="l" t="t" r="r" b="b"/>
              <a:pathLst>
                <a:path w="1714500" h="9525">
                  <a:moveTo>
                    <a:pt x="0" y="0"/>
                  </a:moveTo>
                  <a:lnTo>
                    <a:pt x="1714500" y="0"/>
                  </a:lnTo>
                </a:path>
              </a:pathLst>
            </a:custGeom>
            <a:noFill/>
            <a:ln w="7620">
              <a:solidFill>
                <a:srgbClr val="1A7CE0">
                  <a:alpha val="50000"/>
                </a:srgbClr>
              </a:solidFill>
            </a:ln>
          </p:spPr>
        </p:sp>
        <p:sp>
          <p:nvSpPr>
            <p:cNvPr id="52" name="Line 52"/>
            <p:cNvSpPr/>
            <p:nvPr/>
          </p:nvSpPr>
          <p:spPr>
            <a:xfrm>
              <a:off x="2857500" y="2667000"/>
              <a:ext cx="1714500" cy="762000"/>
            </a:xfrm>
            <a:custGeom>
              <a:avLst/>
              <a:gdLst/>
              <a:ahLst/>
              <a:cxnLst/>
              <a:rect l="l" t="t" r="r" b="b"/>
              <a:pathLst>
                <a:path w="1714500" h="762000">
                  <a:moveTo>
                    <a:pt x="0" y="0"/>
                  </a:moveTo>
                  <a:lnTo>
                    <a:pt x="1714500" y="762000"/>
                  </a:lnTo>
                </a:path>
              </a:pathLst>
            </a:custGeom>
            <a:noFill/>
            <a:ln w="7620">
              <a:solidFill>
                <a:srgbClr val="1A7CE0">
                  <a:alpha val="40000"/>
                </a:srgbClr>
              </a:solidFill>
            </a:ln>
          </p:spPr>
        </p:sp>
        <p:sp>
          <p:nvSpPr>
            <p:cNvPr id="53" name="Line 53"/>
            <p:cNvSpPr/>
            <p:nvPr/>
          </p:nvSpPr>
          <p:spPr>
            <a:xfrm>
              <a:off x="2857500" y="2667000"/>
              <a:ext cx="1714500" cy="1524000"/>
            </a:xfrm>
            <a:custGeom>
              <a:avLst/>
              <a:gdLst/>
              <a:ahLst/>
              <a:cxnLst/>
              <a:rect l="l" t="t" r="r" b="b"/>
              <a:pathLst>
                <a:path w="1714500" h="1524000">
                  <a:moveTo>
                    <a:pt x="0" y="0"/>
                  </a:moveTo>
                  <a:lnTo>
                    <a:pt x="1714500" y="1524000"/>
                  </a:lnTo>
                </a:path>
              </a:pathLst>
            </a:custGeom>
            <a:noFill/>
            <a:ln w="7620">
              <a:solidFill>
                <a:srgbClr val="1A7CE0">
                  <a:alpha val="25000"/>
                </a:srgbClr>
              </a:solidFill>
            </a:ln>
          </p:spPr>
        </p:sp>
        <p:sp>
          <p:nvSpPr>
            <p:cNvPr id="54" name="Line 54"/>
            <p:cNvSpPr/>
            <p:nvPr/>
          </p:nvSpPr>
          <p:spPr>
            <a:xfrm>
              <a:off x="2857500" y="2667000"/>
              <a:ext cx="1714500" cy="2286000"/>
            </a:xfrm>
            <a:custGeom>
              <a:avLst/>
              <a:gdLst/>
              <a:ahLst/>
              <a:cxnLst/>
              <a:rect l="l" t="t" r="r" b="b"/>
              <a:pathLst>
                <a:path w="1714500" h="2286000">
                  <a:moveTo>
                    <a:pt x="0" y="0"/>
                  </a:moveTo>
                  <a:lnTo>
                    <a:pt x="1714500" y="2286000"/>
                  </a:lnTo>
                </a:path>
              </a:pathLst>
            </a:custGeom>
            <a:noFill/>
            <a:ln w="7620">
              <a:solidFill>
                <a:srgbClr val="1A7CE0">
                  <a:alpha val="15000"/>
                </a:srgbClr>
              </a:solidFill>
            </a:ln>
          </p:spPr>
        </p:sp>
        <p:sp>
          <p:nvSpPr>
            <p:cNvPr id="55" name="Line 55"/>
            <p:cNvSpPr/>
            <p:nvPr/>
          </p:nvSpPr>
          <p:spPr>
            <a:xfrm>
              <a:off x="2857500" y="1905000"/>
              <a:ext cx="1714500" cy="1524000"/>
            </a:xfrm>
            <a:custGeom>
              <a:avLst/>
              <a:gdLst/>
              <a:ahLst/>
              <a:cxnLst/>
              <a:rect l="l" t="t" r="r" b="b"/>
              <a:pathLst>
                <a:path w="1714500" h="1524000">
                  <a:moveTo>
                    <a:pt x="0" y="1524000"/>
                  </a:moveTo>
                  <a:lnTo>
                    <a:pt x="1714500" y="0"/>
                  </a:lnTo>
                </a:path>
              </a:pathLst>
            </a:custGeom>
            <a:noFill/>
            <a:ln w="7620">
              <a:solidFill>
                <a:srgbClr val="1A7CE0">
                  <a:alpha val="20000"/>
                </a:srgbClr>
              </a:solidFill>
            </a:ln>
          </p:spPr>
        </p:sp>
        <p:sp>
          <p:nvSpPr>
            <p:cNvPr id="56" name="Line 56"/>
            <p:cNvSpPr/>
            <p:nvPr/>
          </p:nvSpPr>
          <p:spPr>
            <a:xfrm>
              <a:off x="2857500" y="2667000"/>
              <a:ext cx="1714500" cy="762000"/>
            </a:xfrm>
            <a:custGeom>
              <a:avLst/>
              <a:gdLst/>
              <a:ahLst/>
              <a:cxnLst/>
              <a:rect l="l" t="t" r="r" b="b"/>
              <a:pathLst>
                <a:path w="1714500" h="762000">
                  <a:moveTo>
                    <a:pt x="0" y="762000"/>
                  </a:moveTo>
                  <a:lnTo>
                    <a:pt x="1714500" y="0"/>
                  </a:lnTo>
                </a:path>
              </a:pathLst>
            </a:custGeom>
            <a:noFill/>
            <a:ln w="7620">
              <a:solidFill>
                <a:srgbClr val="1A7CE0">
                  <a:alpha val="35000"/>
                </a:srgbClr>
              </a:solidFill>
            </a:ln>
          </p:spPr>
        </p:sp>
        <p:sp>
          <p:nvSpPr>
            <p:cNvPr id="57" name="Line 57"/>
            <p:cNvSpPr/>
            <p:nvPr/>
          </p:nvSpPr>
          <p:spPr>
            <a:xfrm>
              <a:off x="2857500" y="3429000"/>
              <a:ext cx="1714500" cy="9525"/>
            </a:xfrm>
            <a:custGeom>
              <a:avLst/>
              <a:gdLst/>
              <a:ahLst/>
              <a:cxnLst/>
              <a:rect l="l" t="t" r="r" b="b"/>
              <a:pathLst>
                <a:path w="1714500" h="9525">
                  <a:moveTo>
                    <a:pt x="0" y="0"/>
                  </a:moveTo>
                  <a:lnTo>
                    <a:pt x="1714500" y="0"/>
                  </a:lnTo>
                </a:path>
              </a:pathLst>
            </a:custGeom>
            <a:noFill/>
            <a:ln w="7620">
              <a:solidFill>
                <a:srgbClr val="1A7CE0">
                  <a:alpha val="55000"/>
                </a:srgbClr>
              </a:solidFill>
            </a:ln>
          </p:spPr>
        </p:sp>
        <p:sp>
          <p:nvSpPr>
            <p:cNvPr id="58" name="Line 58"/>
            <p:cNvSpPr/>
            <p:nvPr/>
          </p:nvSpPr>
          <p:spPr>
            <a:xfrm>
              <a:off x="2857500" y="3429000"/>
              <a:ext cx="1714500" cy="762000"/>
            </a:xfrm>
            <a:custGeom>
              <a:avLst/>
              <a:gdLst/>
              <a:ahLst/>
              <a:cxnLst/>
              <a:rect l="l" t="t" r="r" b="b"/>
              <a:pathLst>
                <a:path w="1714500" h="762000">
                  <a:moveTo>
                    <a:pt x="0" y="0"/>
                  </a:moveTo>
                  <a:lnTo>
                    <a:pt x="1714500" y="762000"/>
                  </a:lnTo>
                </a:path>
              </a:pathLst>
            </a:custGeom>
            <a:noFill/>
            <a:ln w="7620">
              <a:solidFill>
                <a:srgbClr val="1A7CE0">
                  <a:alpha val="40000"/>
                </a:srgbClr>
              </a:solidFill>
            </a:ln>
          </p:spPr>
        </p:sp>
        <p:sp>
          <p:nvSpPr>
            <p:cNvPr id="59" name="Line 59"/>
            <p:cNvSpPr/>
            <p:nvPr/>
          </p:nvSpPr>
          <p:spPr>
            <a:xfrm>
              <a:off x="2857500" y="3429000"/>
              <a:ext cx="1714500" cy="1524000"/>
            </a:xfrm>
            <a:custGeom>
              <a:avLst/>
              <a:gdLst/>
              <a:ahLst/>
              <a:cxnLst/>
              <a:rect l="l" t="t" r="r" b="b"/>
              <a:pathLst>
                <a:path w="1714500" h="1524000">
                  <a:moveTo>
                    <a:pt x="0" y="0"/>
                  </a:moveTo>
                  <a:lnTo>
                    <a:pt x="1714500" y="1524000"/>
                  </a:lnTo>
                </a:path>
              </a:pathLst>
            </a:custGeom>
            <a:noFill/>
            <a:ln w="7620">
              <a:solidFill>
                <a:srgbClr val="1A7CE0">
                  <a:alpha val="25000"/>
                </a:srgbClr>
              </a:solidFill>
            </a:ln>
          </p:spPr>
        </p:sp>
        <p:sp>
          <p:nvSpPr>
            <p:cNvPr id="60" name="Line 60"/>
            <p:cNvSpPr/>
            <p:nvPr/>
          </p:nvSpPr>
          <p:spPr>
            <a:xfrm>
              <a:off x="2857500" y="2667000"/>
              <a:ext cx="1714500" cy="1524000"/>
            </a:xfrm>
            <a:custGeom>
              <a:avLst/>
              <a:gdLst/>
              <a:ahLst/>
              <a:cxnLst/>
              <a:rect l="l" t="t" r="r" b="b"/>
              <a:pathLst>
                <a:path w="1714500" h="1524000">
                  <a:moveTo>
                    <a:pt x="0" y="1524000"/>
                  </a:moveTo>
                  <a:lnTo>
                    <a:pt x="1714500" y="0"/>
                  </a:lnTo>
                </a:path>
              </a:pathLst>
            </a:custGeom>
            <a:noFill/>
            <a:ln w="7620">
              <a:solidFill>
                <a:srgbClr val="1A7CE0">
                  <a:alpha val="20000"/>
                </a:srgbClr>
              </a:solidFill>
            </a:ln>
          </p:spPr>
        </p:sp>
        <p:sp>
          <p:nvSpPr>
            <p:cNvPr id="61" name="Line 61"/>
            <p:cNvSpPr/>
            <p:nvPr/>
          </p:nvSpPr>
          <p:spPr>
            <a:xfrm>
              <a:off x="2857500" y="3429000"/>
              <a:ext cx="1714500" cy="762000"/>
            </a:xfrm>
            <a:custGeom>
              <a:avLst/>
              <a:gdLst/>
              <a:ahLst/>
              <a:cxnLst/>
              <a:rect l="l" t="t" r="r" b="b"/>
              <a:pathLst>
                <a:path w="1714500" h="762000">
                  <a:moveTo>
                    <a:pt x="0" y="762000"/>
                  </a:moveTo>
                  <a:lnTo>
                    <a:pt x="1714500" y="0"/>
                  </a:lnTo>
                </a:path>
              </a:pathLst>
            </a:custGeom>
            <a:noFill/>
            <a:ln w="7620">
              <a:solidFill>
                <a:srgbClr val="1A7CE0">
                  <a:alpha val="35000"/>
                </a:srgbClr>
              </a:solidFill>
            </a:ln>
          </p:spPr>
        </p:sp>
        <p:sp>
          <p:nvSpPr>
            <p:cNvPr id="62" name="Line 62"/>
            <p:cNvSpPr/>
            <p:nvPr/>
          </p:nvSpPr>
          <p:spPr>
            <a:xfrm>
              <a:off x="2857500" y="4191000"/>
              <a:ext cx="1714500" cy="9525"/>
            </a:xfrm>
            <a:custGeom>
              <a:avLst/>
              <a:gdLst/>
              <a:ahLst/>
              <a:cxnLst/>
              <a:rect l="l" t="t" r="r" b="b"/>
              <a:pathLst>
                <a:path w="1714500" h="9525">
                  <a:moveTo>
                    <a:pt x="0" y="0"/>
                  </a:moveTo>
                  <a:lnTo>
                    <a:pt x="1714500" y="0"/>
                  </a:lnTo>
                </a:path>
              </a:pathLst>
            </a:custGeom>
            <a:noFill/>
            <a:ln w="7620">
              <a:solidFill>
                <a:srgbClr val="1A7CE0">
                  <a:alpha val="50000"/>
                </a:srgbClr>
              </a:solidFill>
            </a:ln>
          </p:spPr>
        </p:sp>
        <p:sp>
          <p:nvSpPr>
            <p:cNvPr id="63" name="Line 63"/>
            <p:cNvSpPr/>
            <p:nvPr/>
          </p:nvSpPr>
          <p:spPr>
            <a:xfrm>
              <a:off x="2857500" y="4191000"/>
              <a:ext cx="1714500" cy="762000"/>
            </a:xfrm>
            <a:custGeom>
              <a:avLst/>
              <a:gdLst/>
              <a:ahLst/>
              <a:cxnLst/>
              <a:rect l="l" t="t" r="r" b="b"/>
              <a:pathLst>
                <a:path w="1714500" h="762000">
                  <a:moveTo>
                    <a:pt x="0" y="0"/>
                  </a:moveTo>
                  <a:lnTo>
                    <a:pt x="1714500" y="762000"/>
                  </a:lnTo>
                </a:path>
              </a:pathLst>
            </a:custGeom>
            <a:noFill/>
            <a:ln w="7620">
              <a:solidFill>
                <a:srgbClr val="1A7CE0">
                  <a:alpha val="40000"/>
                </a:srgbClr>
              </a:solidFill>
            </a:ln>
          </p:spPr>
        </p:sp>
        <p:sp>
          <p:nvSpPr>
            <p:cNvPr id="64" name="Line 64"/>
            <p:cNvSpPr/>
            <p:nvPr/>
          </p:nvSpPr>
          <p:spPr>
            <a:xfrm>
              <a:off x="2857500" y="4191000"/>
              <a:ext cx="1714500" cy="1524000"/>
            </a:xfrm>
            <a:custGeom>
              <a:avLst/>
              <a:gdLst/>
              <a:ahLst/>
              <a:cxnLst/>
              <a:rect l="l" t="t" r="r" b="b"/>
              <a:pathLst>
                <a:path w="1714500" h="1524000">
                  <a:moveTo>
                    <a:pt x="0" y="0"/>
                  </a:moveTo>
                  <a:lnTo>
                    <a:pt x="1714500" y="1524000"/>
                  </a:lnTo>
                </a:path>
              </a:pathLst>
            </a:custGeom>
            <a:noFill/>
            <a:ln w="7620">
              <a:solidFill>
                <a:srgbClr val="1A7CE0">
                  <a:alpha val="25000"/>
                </a:srgbClr>
              </a:solidFill>
            </a:ln>
          </p:spPr>
        </p:sp>
        <p:sp>
          <p:nvSpPr>
            <p:cNvPr id="65" name="Line 65"/>
            <p:cNvSpPr/>
            <p:nvPr/>
          </p:nvSpPr>
          <p:spPr>
            <a:xfrm>
              <a:off x="2857500" y="3429000"/>
              <a:ext cx="1714500" cy="1524000"/>
            </a:xfrm>
            <a:custGeom>
              <a:avLst/>
              <a:gdLst/>
              <a:ahLst/>
              <a:cxnLst/>
              <a:rect l="l" t="t" r="r" b="b"/>
              <a:pathLst>
                <a:path w="1714500" h="1524000">
                  <a:moveTo>
                    <a:pt x="0" y="1524000"/>
                  </a:moveTo>
                  <a:lnTo>
                    <a:pt x="1714500" y="0"/>
                  </a:lnTo>
                </a:path>
              </a:pathLst>
            </a:custGeom>
            <a:noFill/>
            <a:ln w="7620">
              <a:solidFill>
                <a:srgbClr val="1A7CE0">
                  <a:alpha val="15000"/>
                </a:srgbClr>
              </a:solidFill>
            </a:ln>
          </p:spPr>
        </p:sp>
        <p:sp>
          <p:nvSpPr>
            <p:cNvPr id="66" name="Line 66"/>
            <p:cNvSpPr/>
            <p:nvPr/>
          </p:nvSpPr>
          <p:spPr>
            <a:xfrm>
              <a:off x="2857500" y="4191000"/>
              <a:ext cx="1714500" cy="762000"/>
            </a:xfrm>
            <a:custGeom>
              <a:avLst/>
              <a:gdLst/>
              <a:ahLst/>
              <a:cxnLst/>
              <a:rect l="l" t="t" r="r" b="b"/>
              <a:pathLst>
                <a:path w="1714500" h="762000">
                  <a:moveTo>
                    <a:pt x="0" y="762000"/>
                  </a:moveTo>
                  <a:lnTo>
                    <a:pt x="1714500" y="0"/>
                  </a:lnTo>
                </a:path>
              </a:pathLst>
            </a:custGeom>
            <a:noFill/>
            <a:ln w="7620">
              <a:solidFill>
                <a:srgbClr val="1A7CE0">
                  <a:alpha val="30000"/>
                </a:srgbClr>
              </a:solidFill>
            </a:ln>
          </p:spPr>
        </p:sp>
        <p:sp>
          <p:nvSpPr>
            <p:cNvPr id="67" name="Line 67"/>
            <p:cNvSpPr/>
            <p:nvPr/>
          </p:nvSpPr>
          <p:spPr>
            <a:xfrm>
              <a:off x="2857500" y="4953000"/>
              <a:ext cx="1714500" cy="9525"/>
            </a:xfrm>
            <a:custGeom>
              <a:avLst/>
              <a:gdLst/>
              <a:ahLst/>
              <a:cxnLst/>
              <a:rect l="l" t="t" r="r" b="b"/>
              <a:pathLst>
                <a:path w="1714500" h="9525">
                  <a:moveTo>
                    <a:pt x="0" y="0"/>
                  </a:moveTo>
                  <a:lnTo>
                    <a:pt x="1714500" y="0"/>
                  </a:lnTo>
                </a:path>
              </a:pathLst>
            </a:custGeom>
            <a:noFill/>
            <a:ln w="7620">
              <a:solidFill>
                <a:srgbClr val="1A7CE0">
                  <a:alpha val="45000"/>
                </a:srgbClr>
              </a:solidFill>
            </a:ln>
          </p:spPr>
        </p:sp>
        <p:sp>
          <p:nvSpPr>
            <p:cNvPr id="68" name="Line 68"/>
            <p:cNvSpPr/>
            <p:nvPr/>
          </p:nvSpPr>
          <p:spPr>
            <a:xfrm>
              <a:off x="2857500" y="4953000"/>
              <a:ext cx="1714500" cy="762000"/>
            </a:xfrm>
            <a:custGeom>
              <a:avLst/>
              <a:gdLst/>
              <a:ahLst/>
              <a:cxnLst/>
              <a:rect l="l" t="t" r="r" b="b"/>
              <a:pathLst>
                <a:path w="1714500" h="762000">
                  <a:moveTo>
                    <a:pt x="0" y="0"/>
                  </a:moveTo>
                  <a:lnTo>
                    <a:pt x="1714500" y="762000"/>
                  </a:lnTo>
                </a:path>
              </a:pathLst>
            </a:custGeom>
            <a:noFill/>
            <a:ln w="7620">
              <a:solidFill>
                <a:srgbClr val="1A7CE0">
                  <a:alpha val="35000"/>
                </a:srgbClr>
              </a:solidFill>
            </a:ln>
          </p:spPr>
        </p:sp>
        <p:sp>
          <p:nvSpPr>
            <p:cNvPr id="69" name="Line 69"/>
            <p:cNvSpPr/>
            <p:nvPr/>
          </p:nvSpPr>
          <p:spPr>
            <a:xfrm>
              <a:off x="2857500" y="4191000"/>
              <a:ext cx="1714500" cy="1524000"/>
            </a:xfrm>
            <a:custGeom>
              <a:avLst/>
              <a:gdLst/>
              <a:ahLst/>
              <a:cxnLst/>
              <a:rect l="l" t="t" r="r" b="b"/>
              <a:pathLst>
                <a:path w="1714500" h="1524000">
                  <a:moveTo>
                    <a:pt x="0" y="1524000"/>
                  </a:moveTo>
                  <a:lnTo>
                    <a:pt x="1714500" y="0"/>
                  </a:lnTo>
                </a:path>
              </a:pathLst>
            </a:custGeom>
            <a:noFill/>
            <a:ln w="7620">
              <a:solidFill>
                <a:srgbClr val="1A7CE0">
                  <a:alpha val="15000"/>
                </a:srgbClr>
              </a:solidFill>
            </a:ln>
          </p:spPr>
        </p:sp>
        <p:sp>
          <p:nvSpPr>
            <p:cNvPr id="70" name="Line 70"/>
            <p:cNvSpPr/>
            <p:nvPr/>
          </p:nvSpPr>
          <p:spPr>
            <a:xfrm>
              <a:off x="2857500" y="4953000"/>
              <a:ext cx="1714500" cy="762000"/>
            </a:xfrm>
            <a:custGeom>
              <a:avLst/>
              <a:gdLst/>
              <a:ahLst/>
              <a:cxnLst/>
              <a:rect l="l" t="t" r="r" b="b"/>
              <a:pathLst>
                <a:path w="1714500" h="762000">
                  <a:moveTo>
                    <a:pt x="0" y="762000"/>
                  </a:moveTo>
                  <a:lnTo>
                    <a:pt x="1714500" y="0"/>
                  </a:lnTo>
                </a:path>
              </a:pathLst>
            </a:custGeom>
            <a:noFill/>
            <a:ln w="7620">
              <a:solidFill>
                <a:srgbClr val="1A7CE0">
                  <a:alpha val="30000"/>
                </a:srgbClr>
              </a:solidFill>
            </a:ln>
          </p:spPr>
        </p:sp>
        <p:sp>
          <p:nvSpPr>
            <p:cNvPr id="71" name="Line 71"/>
            <p:cNvSpPr/>
            <p:nvPr/>
          </p:nvSpPr>
          <p:spPr>
            <a:xfrm>
              <a:off x="2857500" y="5715000"/>
              <a:ext cx="1714500" cy="9525"/>
            </a:xfrm>
            <a:custGeom>
              <a:avLst/>
              <a:gdLst/>
              <a:ahLst/>
              <a:cxnLst/>
              <a:rect l="l" t="t" r="r" b="b"/>
              <a:pathLst>
                <a:path w="1714500" h="9525">
                  <a:moveTo>
                    <a:pt x="0" y="0"/>
                  </a:moveTo>
                  <a:lnTo>
                    <a:pt x="1714500" y="0"/>
                  </a:lnTo>
                </a:path>
              </a:pathLst>
            </a:custGeom>
            <a:noFill/>
            <a:ln w="7620">
              <a:solidFill>
                <a:srgbClr val="1A7CE0">
                  <a:alpha val="40000"/>
                </a:srgbClr>
              </a:solidFill>
            </a:ln>
          </p:spPr>
        </p:sp>
      </p:grpSp>
      <p:grpSp>
        <p:nvGrpSpPr>
          <p:cNvPr id="97" name="Group 97"/>
          <p:cNvGrpSpPr/>
          <p:nvPr/>
        </p:nvGrpSpPr>
        <p:grpSpPr>
          <a:xfrm>
            <a:off x="4572000" y="1143000"/>
            <a:ext cx="1524000" cy="4572000"/>
            <a:chOff x="4572000" y="1143000"/>
            <a:chExt cx="1524000" cy="4572000"/>
          </a:xfrm>
        </p:grpSpPr>
        <p:sp>
          <p:nvSpPr>
            <p:cNvPr id="73" name="Line 73"/>
            <p:cNvSpPr/>
            <p:nvPr/>
          </p:nvSpPr>
          <p:spPr>
            <a:xfrm>
              <a:off x="4572000" y="1143000"/>
              <a:ext cx="1524000" cy="952500"/>
            </a:xfrm>
            <a:custGeom>
              <a:avLst/>
              <a:gdLst/>
              <a:ahLst/>
              <a:cxnLst/>
              <a:rect l="l" t="t" r="r" b="b"/>
              <a:pathLst>
                <a:path w="1524000" h="952500">
                  <a:moveTo>
                    <a:pt x="0" y="0"/>
                  </a:moveTo>
                  <a:lnTo>
                    <a:pt x="1524000" y="952500"/>
                  </a:lnTo>
                </a:path>
              </a:pathLst>
            </a:custGeom>
            <a:noFill/>
            <a:ln w="8572">
              <a:solidFill>
                <a:srgbClr val="1A7CE0">
                  <a:alpha val="40000"/>
                </a:srgbClr>
              </a:solidFill>
            </a:ln>
          </p:spPr>
        </p:sp>
        <p:sp>
          <p:nvSpPr>
            <p:cNvPr id="74" name="Line 74"/>
            <p:cNvSpPr/>
            <p:nvPr/>
          </p:nvSpPr>
          <p:spPr>
            <a:xfrm>
              <a:off x="4572000" y="1143000"/>
              <a:ext cx="1524000" cy="2095500"/>
            </a:xfrm>
            <a:custGeom>
              <a:avLst/>
              <a:gdLst/>
              <a:ahLst/>
              <a:cxnLst/>
              <a:rect l="l" t="t" r="r" b="b"/>
              <a:pathLst>
                <a:path w="1524000" h="2095500">
                  <a:moveTo>
                    <a:pt x="0" y="0"/>
                  </a:moveTo>
                  <a:lnTo>
                    <a:pt x="1524000" y="2095500"/>
                  </a:lnTo>
                </a:path>
              </a:pathLst>
            </a:custGeom>
            <a:noFill/>
            <a:ln w="8572">
              <a:solidFill>
                <a:srgbClr val="1A7CE0">
                  <a:alpha val="25000"/>
                </a:srgbClr>
              </a:solidFill>
            </a:ln>
          </p:spPr>
        </p:sp>
        <p:sp>
          <p:nvSpPr>
            <p:cNvPr id="75" name="Line 75"/>
            <p:cNvSpPr/>
            <p:nvPr/>
          </p:nvSpPr>
          <p:spPr>
            <a:xfrm>
              <a:off x="4572000" y="1143000"/>
              <a:ext cx="1524000" cy="3238500"/>
            </a:xfrm>
            <a:custGeom>
              <a:avLst/>
              <a:gdLst/>
              <a:ahLst/>
              <a:cxnLst/>
              <a:rect l="l" t="t" r="r" b="b"/>
              <a:pathLst>
                <a:path w="1524000" h="3238500">
                  <a:moveTo>
                    <a:pt x="0" y="0"/>
                  </a:moveTo>
                  <a:lnTo>
                    <a:pt x="1524000" y="3238500"/>
                  </a:lnTo>
                </a:path>
              </a:pathLst>
            </a:custGeom>
            <a:noFill/>
            <a:ln w="8572">
              <a:solidFill>
                <a:srgbClr val="1A7CE0">
                  <a:alpha val="15000"/>
                </a:srgbClr>
              </a:solidFill>
            </a:ln>
          </p:spPr>
        </p:sp>
        <p:sp>
          <p:nvSpPr>
            <p:cNvPr id="76" name="Line 76"/>
            <p:cNvSpPr/>
            <p:nvPr/>
          </p:nvSpPr>
          <p:spPr>
            <a:xfrm>
              <a:off x="4572000" y="1905000"/>
              <a:ext cx="1524000" cy="190500"/>
            </a:xfrm>
            <a:custGeom>
              <a:avLst/>
              <a:gdLst/>
              <a:ahLst/>
              <a:cxnLst/>
              <a:rect l="l" t="t" r="r" b="b"/>
              <a:pathLst>
                <a:path w="1524000" h="190500">
                  <a:moveTo>
                    <a:pt x="0" y="0"/>
                  </a:moveTo>
                  <a:lnTo>
                    <a:pt x="1524000" y="190500"/>
                  </a:lnTo>
                </a:path>
              </a:pathLst>
            </a:custGeom>
            <a:noFill/>
            <a:ln w="8572">
              <a:solidFill>
                <a:srgbClr val="1A7CE0">
                  <a:alpha val="50000"/>
                </a:srgbClr>
              </a:solidFill>
            </a:ln>
          </p:spPr>
        </p:sp>
        <p:sp>
          <p:nvSpPr>
            <p:cNvPr id="77" name="Line 77"/>
            <p:cNvSpPr/>
            <p:nvPr/>
          </p:nvSpPr>
          <p:spPr>
            <a:xfrm>
              <a:off x="4572000" y="1905000"/>
              <a:ext cx="1524000" cy="1333500"/>
            </a:xfrm>
            <a:custGeom>
              <a:avLst/>
              <a:gdLst/>
              <a:ahLst/>
              <a:cxnLst/>
              <a:rect l="l" t="t" r="r" b="b"/>
              <a:pathLst>
                <a:path w="1524000" h="1333500">
                  <a:moveTo>
                    <a:pt x="0" y="0"/>
                  </a:moveTo>
                  <a:lnTo>
                    <a:pt x="1524000" y="1333500"/>
                  </a:lnTo>
                </a:path>
              </a:pathLst>
            </a:custGeom>
            <a:noFill/>
            <a:ln w="8572">
              <a:solidFill>
                <a:srgbClr val="1A7CE0">
                  <a:alpha val="35000"/>
                </a:srgbClr>
              </a:solidFill>
            </a:ln>
          </p:spPr>
        </p:sp>
        <p:sp>
          <p:nvSpPr>
            <p:cNvPr id="78" name="Line 78"/>
            <p:cNvSpPr/>
            <p:nvPr/>
          </p:nvSpPr>
          <p:spPr>
            <a:xfrm>
              <a:off x="4572000" y="1905000"/>
              <a:ext cx="1524000" cy="2476500"/>
            </a:xfrm>
            <a:custGeom>
              <a:avLst/>
              <a:gdLst/>
              <a:ahLst/>
              <a:cxnLst/>
              <a:rect l="l" t="t" r="r" b="b"/>
              <a:pathLst>
                <a:path w="1524000" h="2476500">
                  <a:moveTo>
                    <a:pt x="0" y="0"/>
                  </a:moveTo>
                  <a:lnTo>
                    <a:pt x="1524000" y="2476500"/>
                  </a:lnTo>
                </a:path>
              </a:pathLst>
            </a:custGeom>
            <a:noFill/>
            <a:ln w="8572">
              <a:solidFill>
                <a:srgbClr val="1A7CE0">
                  <a:alpha val="20000"/>
                </a:srgbClr>
              </a:solidFill>
            </a:ln>
          </p:spPr>
        </p:sp>
        <p:sp>
          <p:nvSpPr>
            <p:cNvPr id="79" name="Line 79"/>
            <p:cNvSpPr/>
            <p:nvPr/>
          </p:nvSpPr>
          <p:spPr>
            <a:xfrm>
              <a:off x="4572000" y="1905000"/>
              <a:ext cx="1524000" cy="3619500"/>
            </a:xfrm>
            <a:custGeom>
              <a:avLst/>
              <a:gdLst/>
              <a:ahLst/>
              <a:cxnLst/>
              <a:rect l="l" t="t" r="r" b="b"/>
              <a:pathLst>
                <a:path w="1524000" h="3619500">
                  <a:moveTo>
                    <a:pt x="0" y="0"/>
                  </a:moveTo>
                  <a:lnTo>
                    <a:pt x="1524000" y="3619500"/>
                  </a:lnTo>
                </a:path>
              </a:pathLst>
            </a:custGeom>
            <a:noFill/>
            <a:ln w="8572">
              <a:solidFill>
                <a:srgbClr val="1A7CE0">
                  <a:alpha val="15000"/>
                </a:srgbClr>
              </a:solidFill>
            </a:ln>
          </p:spPr>
        </p:sp>
        <p:sp>
          <p:nvSpPr>
            <p:cNvPr id="80" name="Line 80"/>
            <p:cNvSpPr/>
            <p:nvPr/>
          </p:nvSpPr>
          <p:spPr>
            <a:xfrm>
              <a:off x="4572000" y="2095500"/>
              <a:ext cx="1524000" cy="571500"/>
            </a:xfrm>
            <a:custGeom>
              <a:avLst/>
              <a:gdLst/>
              <a:ahLst/>
              <a:cxnLst/>
              <a:rect l="l" t="t" r="r" b="b"/>
              <a:pathLst>
                <a:path w="1524000" h="571500">
                  <a:moveTo>
                    <a:pt x="0" y="571500"/>
                  </a:moveTo>
                  <a:lnTo>
                    <a:pt x="1524000" y="0"/>
                  </a:lnTo>
                </a:path>
              </a:pathLst>
            </a:custGeom>
            <a:noFill/>
            <a:ln w="8572">
              <a:solidFill>
                <a:srgbClr val="1A7CE0">
                  <a:alpha val="45000"/>
                </a:srgbClr>
              </a:solidFill>
            </a:ln>
          </p:spPr>
        </p:sp>
        <p:sp>
          <p:nvSpPr>
            <p:cNvPr id="81" name="Line 81"/>
            <p:cNvSpPr/>
            <p:nvPr/>
          </p:nvSpPr>
          <p:spPr>
            <a:xfrm>
              <a:off x="4572000" y="2667000"/>
              <a:ext cx="1524000" cy="571500"/>
            </a:xfrm>
            <a:custGeom>
              <a:avLst/>
              <a:gdLst/>
              <a:ahLst/>
              <a:cxnLst/>
              <a:rect l="l" t="t" r="r" b="b"/>
              <a:pathLst>
                <a:path w="1524000" h="571500">
                  <a:moveTo>
                    <a:pt x="0" y="0"/>
                  </a:moveTo>
                  <a:lnTo>
                    <a:pt x="1524000" y="571500"/>
                  </a:lnTo>
                </a:path>
              </a:pathLst>
            </a:custGeom>
            <a:noFill/>
            <a:ln w="8572">
              <a:solidFill>
                <a:srgbClr val="1A7CE0">
                  <a:alpha val="50000"/>
                </a:srgbClr>
              </a:solidFill>
            </a:ln>
          </p:spPr>
        </p:sp>
        <p:sp>
          <p:nvSpPr>
            <p:cNvPr id="82" name="Line 82"/>
            <p:cNvSpPr/>
            <p:nvPr/>
          </p:nvSpPr>
          <p:spPr>
            <a:xfrm>
              <a:off x="4572000" y="2667000"/>
              <a:ext cx="1524000" cy="1714500"/>
            </a:xfrm>
            <a:custGeom>
              <a:avLst/>
              <a:gdLst/>
              <a:ahLst/>
              <a:cxnLst/>
              <a:rect l="l" t="t" r="r" b="b"/>
              <a:pathLst>
                <a:path w="1524000" h="1714500">
                  <a:moveTo>
                    <a:pt x="0" y="0"/>
                  </a:moveTo>
                  <a:lnTo>
                    <a:pt x="1524000" y="1714500"/>
                  </a:lnTo>
                </a:path>
              </a:pathLst>
            </a:custGeom>
            <a:noFill/>
            <a:ln w="8572">
              <a:solidFill>
                <a:srgbClr val="1A7CE0">
                  <a:alpha val="30000"/>
                </a:srgbClr>
              </a:solidFill>
            </a:ln>
          </p:spPr>
        </p:sp>
        <p:sp>
          <p:nvSpPr>
            <p:cNvPr id="83" name="Line 83"/>
            <p:cNvSpPr/>
            <p:nvPr/>
          </p:nvSpPr>
          <p:spPr>
            <a:xfrm>
              <a:off x="4572000" y="2667000"/>
              <a:ext cx="1524000" cy="2857500"/>
            </a:xfrm>
            <a:custGeom>
              <a:avLst/>
              <a:gdLst/>
              <a:ahLst/>
              <a:cxnLst/>
              <a:rect l="l" t="t" r="r" b="b"/>
              <a:pathLst>
                <a:path w="1524000" h="2857500">
                  <a:moveTo>
                    <a:pt x="0" y="0"/>
                  </a:moveTo>
                  <a:lnTo>
                    <a:pt x="1524000" y="2857500"/>
                  </a:lnTo>
                </a:path>
              </a:pathLst>
            </a:custGeom>
            <a:noFill/>
            <a:ln w="8572">
              <a:solidFill>
                <a:srgbClr val="1A7CE0">
                  <a:alpha val="20000"/>
                </a:srgbClr>
              </a:solidFill>
            </a:ln>
          </p:spPr>
        </p:sp>
        <p:sp>
          <p:nvSpPr>
            <p:cNvPr id="84" name="Line 84"/>
            <p:cNvSpPr/>
            <p:nvPr/>
          </p:nvSpPr>
          <p:spPr>
            <a:xfrm>
              <a:off x="4572000" y="2095500"/>
              <a:ext cx="1524000" cy="1333500"/>
            </a:xfrm>
            <a:custGeom>
              <a:avLst/>
              <a:gdLst/>
              <a:ahLst/>
              <a:cxnLst/>
              <a:rect l="l" t="t" r="r" b="b"/>
              <a:pathLst>
                <a:path w="1524000" h="1333500">
                  <a:moveTo>
                    <a:pt x="0" y="1333500"/>
                  </a:moveTo>
                  <a:lnTo>
                    <a:pt x="1524000" y="0"/>
                  </a:lnTo>
                </a:path>
              </a:pathLst>
            </a:custGeom>
            <a:noFill/>
            <a:ln w="8572">
              <a:solidFill>
                <a:srgbClr val="1A7CE0">
                  <a:alpha val="30000"/>
                </a:srgbClr>
              </a:solidFill>
            </a:ln>
          </p:spPr>
        </p:sp>
        <p:sp>
          <p:nvSpPr>
            <p:cNvPr id="85" name="Line 85"/>
            <p:cNvSpPr/>
            <p:nvPr/>
          </p:nvSpPr>
          <p:spPr>
            <a:xfrm>
              <a:off x="4572000" y="3238500"/>
              <a:ext cx="1524000" cy="190500"/>
            </a:xfrm>
            <a:custGeom>
              <a:avLst/>
              <a:gdLst/>
              <a:ahLst/>
              <a:cxnLst/>
              <a:rect l="l" t="t" r="r" b="b"/>
              <a:pathLst>
                <a:path w="1524000" h="190500">
                  <a:moveTo>
                    <a:pt x="0" y="190500"/>
                  </a:moveTo>
                  <a:lnTo>
                    <a:pt x="1524000" y="0"/>
                  </a:lnTo>
                </a:path>
              </a:pathLst>
            </a:custGeom>
            <a:noFill/>
            <a:ln w="8572">
              <a:solidFill>
                <a:srgbClr val="1A7CE0">
                  <a:alpha val="50000"/>
                </a:srgbClr>
              </a:solidFill>
            </a:ln>
          </p:spPr>
        </p:sp>
        <p:sp>
          <p:nvSpPr>
            <p:cNvPr id="86" name="Line 86"/>
            <p:cNvSpPr/>
            <p:nvPr/>
          </p:nvSpPr>
          <p:spPr>
            <a:xfrm>
              <a:off x="4572000" y="3429000"/>
              <a:ext cx="1524000" cy="952500"/>
            </a:xfrm>
            <a:custGeom>
              <a:avLst/>
              <a:gdLst/>
              <a:ahLst/>
              <a:cxnLst/>
              <a:rect l="l" t="t" r="r" b="b"/>
              <a:pathLst>
                <a:path w="1524000" h="952500">
                  <a:moveTo>
                    <a:pt x="0" y="0"/>
                  </a:moveTo>
                  <a:lnTo>
                    <a:pt x="1524000" y="952500"/>
                  </a:lnTo>
                </a:path>
              </a:pathLst>
            </a:custGeom>
            <a:noFill/>
            <a:ln w="8572">
              <a:solidFill>
                <a:srgbClr val="1A7CE0">
                  <a:alpha val="50000"/>
                </a:srgbClr>
              </a:solidFill>
            </a:ln>
          </p:spPr>
        </p:sp>
        <p:sp>
          <p:nvSpPr>
            <p:cNvPr id="87" name="Line 87"/>
            <p:cNvSpPr/>
            <p:nvPr/>
          </p:nvSpPr>
          <p:spPr>
            <a:xfrm>
              <a:off x="4572000" y="3429000"/>
              <a:ext cx="1524000" cy="2095500"/>
            </a:xfrm>
            <a:custGeom>
              <a:avLst/>
              <a:gdLst/>
              <a:ahLst/>
              <a:cxnLst/>
              <a:rect l="l" t="t" r="r" b="b"/>
              <a:pathLst>
                <a:path w="1524000" h="2095500">
                  <a:moveTo>
                    <a:pt x="0" y="0"/>
                  </a:moveTo>
                  <a:lnTo>
                    <a:pt x="1524000" y="2095500"/>
                  </a:lnTo>
                </a:path>
              </a:pathLst>
            </a:custGeom>
            <a:noFill/>
            <a:ln w="8572">
              <a:solidFill>
                <a:srgbClr val="1A7CE0">
                  <a:alpha val="30000"/>
                </a:srgbClr>
              </a:solidFill>
            </a:ln>
          </p:spPr>
        </p:sp>
        <p:sp>
          <p:nvSpPr>
            <p:cNvPr id="88" name="Line 88"/>
            <p:cNvSpPr/>
            <p:nvPr/>
          </p:nvSpPr>
          <p:spPr>
            <a:xfrm>
              <a:off x="4572000" y="2095500"/>
              <a:ext cx="1524000" cy="2095500"/>
            </a:xfrm>
            <a:custGeom>
              <a:avLst/>
              <a:gdLst/>
              <a:ahLst/>
              <a:cxnLst/>
              <a:rect l="l" t="t" r="r" b="b"/>
              <a:pathLst>
                <a:path w="1524000" h="2095500">
                  <a:moveTo>
                    <a:pt x="0" y="2095500"/>
                  </a:moveTo>
                  <a:lnTo>
                    <a:pt x="1524000" y="0"/>
                  </a:lnTo>
                </a:path>
              </a:pathLst>
            </a:custGeom>
            <a:noFill/>
            <a:ln w="8572">
              <a:solidFill>
                <a:srgbClr val="1A7CE0">
                  <a:alpha val="20000"/>
                </a:srgbClr>
              </a:solidFill>
            </a:ln>
          </p:spPr>
        </p:sp>
        <p:sp>
          <p:nvSpPr>
            <p:cNvPr id="89" name="Line 89"/>
            <p:cNvSpPr/>
            <p:nvPr/>
          </p:nvSpPr>
          <p:spPr>
            <a:xfrm>
              <a:off x="4572000" y="3238500"/>
              <a:ext cx="1524000" cy="952500"/>
            </a:xfrm>
            <a:custGeom>
              <a:avLst/>
              <a:gdLst/>
              <a:ahLst/>
              <a:cxnLst/>
              <a:rect l="l" t="t" r="r" b="b"/>
              <a:pathLst>
                <a:path w="1524000" h="952500">
                  <a:moveTo>
                    <a:pt x="0" y="952500"/>
                  </a:moveTo>
                  <a:lnTo>
                    <a:pt x="1524000" y="0"/>
                  </a:lnTo>
                </a:path>
              </a:pathLst>
            </a:custGeom>
            <a:noFill/>
            <a:ln w="8572">
              <a:solidFill>
                <a:srgbClr val="1A7CE0">
                  <a:alpha val="30000"/>
                </a:srgbClr>
              </a:solidFill>
            </a:ln>
          </p:spPr>
        </p:sp>
        <p:sp>
          <p:nvSpPr>
            <p:cNvPr id="90" name="Line 90"/>
            <p:cNvSpPr/>
            <p:nvPr/>
          </p:nvSpPr>
          <p:spPr>
            <a:xfrm>
              <a:off x="4572000" y="4191000"/>
              <a:ext cx="1524000" cy="190500"/>
            </a:xfrm>
            <a:custGeom>
              <a:avLst/>
              <a:gdLst/>
              <a:ahLst/>
              <a:cxnLst/>
              <a:rect l="l" t="t" r="r" b="b"/>
              <a:pathLst>
                <a:path w="1524000" h="190500">
                  <a:moveTo>
                    <a:pt x="0" y="0"/>
                  </a:moveTo>
                  <a:lnTo>
                    <a:pt x="1524000" y="190500"/>
                  </a:lnTo>
                </a:path>
              </a:pathLst>
            </a:custGeom>
            <a:noFill/>
            <a:ln w="8572">
              <a:solidFill>
                <a:srgbClr val="1A7CE0">
                  <a:alpha val="50000"/>
                </a:srgbClr>
              </a:solidFill>
            </a:ln>
          </p:spPr>
        </p:sp>
        <p:sp>
          <p:nvSpPr>
            <p:cNvPr id="91" name="Line 91"/>
            <p:cNvSpPr/>
            <p:nvPr/>
          </p:nvSpPr>
          <p:spPr>
            <a:xfrm>
              <a:off x="4572000" y="4191000"/>
              <a:ext cx="1524000" cy="1333500"/>
            </a:xfrm>
            <a:custGeom>
              <a:avLst/>
              <a:gdLst/>
              <a:ahLst/>
              <a:cxnLst/>
              <a:rect l="l" t="t" r="r" b="b"/>
              <a:pathLst>
                <a:path w="1524000" h="1333500">
                  <a:moveTo>
                    <a:pt x="0" y="0"/>
                  </a:moveTo>
                  <a:lnTo>
                    <a:pt x="1524000" y="1333500"/>
                  </a:lnTo>
                </a:path>
              </a:pathLst>
            </a:custGeom>
            <a:noFill/>
            <a:ln w="8572">
              <a:solidFill>
                <a:srgbClr val="1A7CE0">
                  <a:alpha val="45000"/>
                </a:srgbClr>
              </a:solidFill>
            </a:ln>
          </p:spPr>
        </p:sp>
        <p:sp>
          <p:nvSpPr>
            <p:cNvPr id="92" name="Line 92"/>
            <p:cNvSpPr/>
            <p:nvPr/>
          </p:nvSpPr>
          <p:spPr>
            <a:xfrm>
              <a:off x="4572000" y="3238500"/>
              <a:ext cx="1524000" cy="1714500"/>
            </a:xfrm>
            <a:custGeom>
              <a:avLst/>
              <a:gdLst/>
              <a:ahLst/>
              <a:cxnLst/>
              <a:rect l="l" t="t" r="r" b="b"/>
              <a:pathLst>
                <a:path w="1524000" h="1714500">
                  <a:moveTo>
                    <a:pt x="0" y="1714500"/>
                  </a:moveTo>
                  <a:lnTo>
                    <a:pt x="1524000" y="0"/>
                  </a:lnTo>
                </a:path>
              </a:pathLst>
            </a:custGeom>
            <a:noFill/>
            <a:ln w="8572">
              <a:solidFill>
                <a:srgbClr val="1A7CE0">
                  <a:alpha val="20000"/>
                </a:srgbClr>
              </a:solidFill>
            </a:ln>
          </p:spPr>
        </p:sp>
        <p:sp>
          <p:nvSpPr>
            <p:cNvPr id="93" name="Line 93"/>
            <p:cNvSpPr/>
            <p:nvPr/>
          </p:nvSpPr>
          <p:spPr>
            <a:xfrm>
              <a:off x="4572000" y="4381500"/>
              <a:ext cx="1524000" cy="571500"/>
            </a:xfrm>
            <a:custGeom>
              <a:avLst/>
              <a:gdLst/>
              <a:ahLst/>
              <a:cxnLst/>
              <a:rect l="l" t="t" r="r" b="b"/>
              <a:pathLst>
                <a:path w="1524000" h="571500">
                  <a:moveTo>
                    <a:pt x="0" y="571500"/>
                  </a:moveTo>
                  <a:lnTo>
                    <a:pt x="1524000" y="0"/>
                  </a:lnTo>
                </a:path>
              </a:pathLst>
            </a:custGeom>
            <a:noFill/>
            <a:ln w="8572">
              <a:solidFill>
                <a:srgbClr val="1A7CE0">
                  <a:alpha val="40000"/>
                </a:srgbClr>
              </a:solidFill>
            </a:ln>
          </p:spPr>
        </p:sp>
        <p:sp>
          <p:nvSpPr>
            <p:cNvPr id="94" name="Line 94"/>
            <p:cNvSpPr/>
            <p:nvPr/>
          </p:nvSpPr>
          <p:spPr>
            <a:xfrm>
              <a:off x="4572000" y="4953000"/>
              <a:ext cx="1524000" cy="571500"/>
            </a:xfrm>
            <a:custGeom>
              <a:avLst/>
              <a:gdLst/>
              <a:ahLst/>
              <a:cxnLst/>
              <a:rect l="l" t="t" r="r" b="b"/>
              <a:pathLst>
                <a:path w="1524000" h="571500">
                  <a:moveTo>
                    <a:pt x="0" y="0"/>
                  </a:moveTo>
                  <a:lnTo>
                    <a:pt x="1524000" y="571500"/>
                  </a:lnTo>
                </a:path>
              </a:pathLst>
            </a:custGeom>
            <a:noFill/>
            <a:ln w="8572">
              <a:solidFill>
                <a:srgbClr val="1A7CE0">
                  <a:alpha val="50000"/>
                </a:srgbClr>
              </a:solidFill>
            </a:ln>
          </p:spPr>
        </p:sp>
        <p:sp>
          <p:nvSpPr>
            <p:cNvPr id="95" name="Line 95"/>
            <p:cNvSpPr/>
            <p:nvPr/>
          </p:nvSpPr>
          <p:spPr>
            <a:xfrm>
              <a:off x="4572000" y="4381500"/>
              <a:ext cx="1524000" cy="1333500"/>
            </a:xfrm>
            <a:custGeom>
              <a:avLst/>
              <a:gdLst/>
              <a:ahLst/>
              <a:cxnLst/>
              <a:rect l="l" t="t" r="r" b="b"/>
              <a:pathLst>
                <a:path w="1524000" h="1333500">
                  <a:moveTo>
                    <a:pt x="0" y="1333500"/>
                  </a:moveTo>
                  <a:lnTo>
                    <a:pt x="1524000" y="0"/>
                  </a:lnTo>
                </a:path>
              </a:pathLst>
            </a:custGeom>
            <a:noFill/>
            <a:ln w="8572">
              <a:solidFill>
                <a:srgbClr val="1A7CE0">
                  <a:alpha val="20000"/>
                </a:srgbClr>
              </a:solidFill>
            </a:ln>
          </p:spPr>
        </p:sp>
        <p:sp>
          <p:nvSpPr>
            <p:cNvPr id="96" name="Line 96"/>
            <p:cNvSpPr/>
            <p:nvPr/>
          </p:nvSpPr>
          <p:spPr>
            <a:xfrm>
              <a:off x="4572000" y="5524500"/>
              <a:ext cx="1524000" cy="190500"/>
            </a:xfrm>
            <a:custGeom>
              <a:avLst/>
              <a:gdLst/>
              <a:ahLst/>
              <a:cxnLst/>
              <a:rect l="l" t="t" r="r" b="b"/>
              <a:pathLst>
                <a:path w="1524000" h="190500">
                  <a:moveTo>
                    <a:pt x="0" y="190500"/>
                  </a:moveTo>
                  <a:lnTo>
                    <a:pt x="1524000" y="0"/>
                  </a:lnTo>
                </a:path>
              </a:pathLst>
            </a:custGeom>
            <a:noFill/>
            <a:ln w="8572">
              <a:solidFill>
                <a:srgbClr val="1A7CE0">
                  <a:alpha val="40000"/>
                </a:srgbClr>
              </a:solidFill>
            </a:ln>
          </p:spPr>
        </p:sp>
      </p:grpSp>
      <p:sp>
        <p:nvSpPr>
          <p:cNvPr id="98" name="Ellipse 98"/>
          <p:cNvSpPr/>
          <p:nvPr/>
        </p:nvSpPr>
        <p:spPr>
          <a:xfrm>
            <a:off x="1247775" y="1628775"/>
            <a:ext cx="171450" cy="171450"/>
          </a:xfrm>
          <a:prstGeom prst="ellipse">
            <a:avLst/>
          </a:prstGeom>
          <a:solidFill>
            <a:srgbClr val="1A7CE0">
              <a:alpha val="70000"/>
            </a:srgbClr>
          </a:solidFill>
          <a:ln>
            <a:noFill/>
          </a:ln>
        </p:spPr>
      </p:sp>
      <p:sp>
        <p:nvSpPr>
          <p:cNvPr id="99" name="Ellipse 99"/>
          <p:cNvSpPr/>
          <p:nvPr/>
        </p:nvSpPr>
        <p:spPr>
          <a:xfrm>
            <a:off x="1247775" y="2581275"/>
            <a:ext cx="171450" cy="171450"/>
          </a:xfrm>
          <a:prstGeom prst="ellipse">
            <a:avLst/>
          </a:prstGeom>
          <a:solidFill>
            <a:srgbClr val="1A7CE0">
              <a:alpha val="85000"/>
            </a:srgbClr>
          </a:solidFill>
          <a:ln>
            <a:noFill/>
          </a:ln>
        </p:spPr>
      </p:sp>
      <p:sp>
        <p:nvSpPr>
          <p:cNvPr id="100" name="Ellipse 100"/>
          <p:cNvSpPr/>
          <p:nvPr/>
        </p:nvSpPr>
        <p:spPr>
          <a:xfrm>
            <a:off x="1247775" y="3533775"/>
            <a:ext cx="171450" cy="171450"/>
          </a:xfrm>
          <a:prstGeom prst="ellipse">
            <a:avLst/>
          </a:prstGeom>
          <a:solidFill>
            <a:srgbClr val="1A7CE0">
              <a:alpha val="90000"/>
            </a:srgbClr>
          </a:solidFill>
          <a:ln>
            <a:noFill/>
          </a:ln>
        </p:spPr>
      </p:sp>
      <p:sp>
        <p:nvSpPr>
          <p:cNvPr id="101" name="Ellipse 101"/>
          <p:cNvSpPr/>
          <p:nvPr/>
        </p:nvSpPr>
        <p:spPr>
          <a:xfrm>
            <a:off x="1247775" y="4486275"/>
            <a:ext cx="171450" cy="171450"/>
          </a:xfrm>
          <a:prstGeom prst="ellipse">
            <a:avLst/>
          </a:prstGeom>
          <a:solidFill>
            <a:srgbClr val="1A7CE0">
              <a:alpha val="75000"/>
            </a:srgbClr>
          </a:solidFill>
          <a:ln>
            <a:noFill/>
          </a:ln>
        </p:spPr>
      </p:sp>
      <p:sp>
        <p:nvSpPr>
          <p:cNvPr id="102" name="Ellipse 102"/>
          <p:cNvSpPr/>
          <p:nvPr/>
        </p:nvSpPr>
        <p:spPr>
          <a:xfrm>
            <a:off x="1247775" y="5438775"/>
            <a:ext cx="171450" cy="171450"/>
          </a:xfrm>
          <a:prstGeom prst="ellipse">
            <a:avLst/>
          </a:prstGeom>
          <a:solidFill>
            <a:srgbClr val="1A7CE0">
              <a:alpha val="60000"/>
            </a:srgbClr>
          </a:solidFill>
          <a:ln>
            <a:noFill/>
          </a:ln>
        </p:spPr>
      </p:sp>
      <p:sp>
        <p:nvSpPr>
          <p:cNvPr id="103" name="Ellipse 103"/>
          <p:cNvSpPr/>
          <p:nvPr/>
        </p:nvSpPr>
        <p:spPr>
          <a:xfrm>
            <a:off x="2781300" y="1066800"/>
            <a:ext cx="152400" cy="152400"/>
          </a:xfrm>
          <a:prstGeom prst="ellipse">
            <a:avLst/>
          </a:prstGeom>
          <a:solidFill>
            <a:srgbClr val="FF6F00">
              <a:alpha val="80000"/>
            </a:srgbClr>
          </a:solidFill>
          <a:ln>
            <a:noFill/>
          </a:ln>
        </p:spPr>
      </p:sp>
      <p:sp>
        <p:nvSpPr>
          <p:cNvPr id="104" name="Ellipse 104"/>
          <p:cNvSpPr/>
          <p:nvPr/>
        </p:nvSpPr>
        <p:spPr>
          <a:xfrm>
            <a:off x="2781300" y="1828800"/>
            <a:ext cx="152400" cy="152400"/>
          </a:xfrm>
          <a:prstGeom prst="ellipse">
            <a:avLst/>
          </a:prstGeom>
          <a:solidFill>
            <a:srgbClr val="FF6F00">
              <a:alpha val="95000"/>
            </a:srgbClr>
          </a:solidFill>
          <a:ln>
            <a:noFill/>
          </a:ln>
        </p:spPr>
      </p:sp>
      <p:sp>
        <p:nvSpPr>
          <p:cNvPr id="105" name="Ellipse 105"/>
          <p:cNvSpPr/>
          <p:nvPr/>
        </p:nvSpPr>
        <p:spPr>
          <a:xfrm>
            <a:off x="2781300" y="2590800"/>
            <a:ext cx="152400" cy="152400"/>
          </a:xfrm>
          <a:prstGeom prst="ellipse">
            <a:avLst/>
          </a:prstGeom>
          <a:solidFill>
            <a:srgbClr val="FF6F00">
              <a:alpha val="85000"/>
            </a:srgbClr>
          </a:solidFill>
          <a:ln>
            <a:noFill/>
          </a:ln>
        </p:spPr>
      </p:sp>
      <p:sp>
        <p:nvSpPr>
          <p:cNvPr id="106" name="Ellipse 106"/>
          <p:cNvSpPr/>
          <p:nvPr/>
        </p:nvSpPr>
        <p:spPr>
          <a:xfrm>
            <a:off x="2781300" y="3352800"/>
            <a:ext cx="152400" cy="152400"/>
          </a:xfrm>
          <a:prstGeom prst="ellipse">
            <a:avLst/>
          </a:prstGeom>
          <a:solidFill>
            <a:srgbClr val="FF6F00">
              <a:alpha val="90000"/>
            </a:srgbClr>
          </a:solidFill>
          <a:ln>
            <a:noFill/>
          </a:ln>
        </p:spPr>
      </p:sp>
      <p:sp>
        <p:nvSpPr>
          <p:cNvPr id="107" name="Ellipse 107"/>
          <p:cNvSpPr/>
          <p:nvPr/>
        </p:nvSpPr>
        <p:spPr>
          <a:xfrm>
            <a:off x="2781300" y="4114800"/>
            <a:ext cx="152400" cy="152400"/>
          </a:xfrm>
          <a:prstGeom prst="ellipse">
            <a:avLst/>
          </a:prstGeom>
          <a:solidFill>
            <a:srgbClr val="FF6F00">
              <a:alpha val="80000"/>
            </a:srgbClr>
          </a:solidFill>
          <a:ln>
            <a:noFill/>
          </a:ln>
        </p:spPr>
      </p:sp>
      <p:sp>
        <p:nvSpPr>
          <p:cNvPr id="108" name="Ellipse 108"/>
          <p:cNvSpPr/>
          <p:nvPr/>
        </p:nvSpPr>
        <p:spPr>
          <a:xfrm>
            <a:off x="2781300" y="4876800"/>
            <a:ext cx="152400" cy="152400"/>
          </a:xfrm>
          <a:prstGeom prst="ellipse">
            <a:avLst/>
          </a:prstGeom>
          <a:solidFill>
            <a:srgbClr val="FF6F00">
              <a:alpha val="70000"/>
            </a:srgbClr>
          </a:solidFill>
          <a:ln>
            <a:noFill/>
          </a:ln>
        </p:spPr>
      </p:sp>
      <p:sp>
        <p:nvSpPr>
          <p:cNvPr id="109" name="Ellipse 109"/>
          <p:cNvSpPr/>
          <p:nvPr/>
        </p:nvSpPr>
        <p:spPr>
          <a:xfrm>
            <a:off x="2781300" y="5638800"/>
            <a:ext cx="152400" cy="152400"/>
          </a:xfrm>
          <a:prstGeom prst="ellipse">
            <a:avLst/>
          </a:prstGeom>
          <a:solidFill>
            <a:srgbClr val="FF6F00">
              <a:alpha val="65000"/>
            </a:srgbClr>
          </a:solidFill>
          <a:ln>
            <a:noFill/>
          </a:ln>
        </p:spPr>
      </p:sp>
      <p:sp>
        <p:nvSpPr>
          <p:cNvPr id="110" name="Ellipse 110"/>
          <p:cNvSpPr/>
          <p:nvPr/>
        </p:nvSpPr>
        <p:spPr>
          <a:xfrm>
            <a:off x="4495800" y="1066800"/>
            <a:ext cx="152400" cy="152400"/>
          </a:xfrm>
          <a:prstGeom prst="ellipse">
            <a:avLst/>
          </a:prstGeom>
          <a:solidFill>
            <a:srgbClr val="FF6F00">
              <a:alpha val="75000"/>
            </a:srgbClr>
          </a:solidFill>
          <a:ln>
            <a:noFill/>
          </a:ln>
        </p:spPr>
      </p:sp>
      <p:sp>
        <p:nvSpPr>
          <p:cNvPr id="111" name="Ellipse 111"/>
          <p:cNvSpPr/>
          <p:nvPr/>
        </p:nvSpPr>
        <p:spPr>
          <a:xfrm>
            <a:off x="4495800" y="1828800"/>
            <a:ext cx="152400" cy="152400"/>
          </a:xfrm>
          <a:prstGeom prst="ellipse">
            <a:avLst/>
          </a:prstGeom>
          <a:solidFill>
            <a:srgbClr val="FF6F00">
              <a:alpha val="90000"/>
            </a:srgbClr>
          </a:solidFill>
          <a:ln>
            <a:noFill/>
          </a:ln>
        </p:spPr>
      </p:sp>
      <p:sp>
        <p:nvSpPr>
          <p:cNvPr id="112" name="Ellipse 112"/>
          <p:cNvSpPr/>
          <p:nvPr/>
        </p:nvSpPr>
        <p:spPr>
          <a:xfrm>
            <a:off x="4495800" y="2590800"/>
            <a:ext cx="152400" cy="152400"/>
          </a:xfrm>
          <a:prstGeom prst="ellipse">
            <a:avLst/>
          </a:prstGeom>
          <a:solidFill>
            <a:srgbClr val="FF6F00">
              <a:alpha val="95000"/>
            </a:srgbClr>
          </a:solidFill>
          <a:ln>
            <a:noFill/>
          </a:ln>
        </p:spPr>
      </p:sp>
      <p:sp>
        <p:nvSpPr>
          <p:cNvPr id="113" name="Ellipse 113"/>
          <p:cNvSpPr/>
          <p:nvPr/>
        </p:nvSpPr>
        <p:spPr>
          <a:xfrm>
            <a:off x="4495800" y="3352800"/>
            <a:ext cx="152400" cy="152400"/>
          </a:xfrm>
          <a:prstGeom prst="ellipse">
            <a:avLst/>
          </a:prstGeom>
          <a:solidFill>
            <a:srgbClr val="FF6F00">
              <a:alpha val="90000"/>
            </a:srgbClr>
          </a:solidFill>
          <a:ln>
            <a:noFill/>
          </a:ln>
        </p:spPr>
      </p:sp>
      <p:sp>
        <p:nvSpPr>
          <p:cNvPr id="114" name="Ellipse 114"/>
          <p:cNvSpPr/>
          <p:nvPr/>
        </p:nvSpPr>
        <p:spPr>
          <a:xfrm>
            <a:off x="4495800" y="4114800"/>
            <a:ext cx="152400" cy="152400"/>
          </a:xfrm>
          <a:prstGeom prst="ellipse">
            <a:avLst/>
          </a:prstGeom>
          <a:solidFill>
            <a:srgbClr val="FF6F00">
              <a:alpha val="85000"/>
            </a:srgbClr>
          </a:solidFill>
          <a:ln>
            <a:noFill/>
          </a:ln>
        </p:spPr>
      </p:sp>
      <p:sp>
        <p:nvSpPr>
          <p:cNvPr id="115" name="Ellipse 115"/>
          <p:cNvSpPr/>
          <p:nvPr/>
        </p:nvSpPr>
        <p:spPr>
          <a:xfrm>
            <a:off x="4495800" y="4876800"/>
            <a:ext cx="152400" cy="152400"/>
          </a:xfrm>
          <a:prstGeom prst="ellipse">
            <a:avLst/>
          </a:prstGeom>
          <a:solidFill>
            <a:srgbClr val="FF6F00">
              <a:alpha val="75000"/>
            </a:srgbClr>
          </a:solidFill>
          <a:ln>
            <a:noFill/>
          </a:ln>
        </p:spPr>
      </p:sp>
      <p:sp>
        <p:nvSpPr>
          <p:cNvPr id="116" name="Ellipse 116"/>
          <p:cNvSpPr/>
          <p:nvPr/>
        </p:nvSpPr>
        <p:spPr>
          <a:xfrm>
            <a:off x="4495800" y="5638800"/>
            <a:ext cx="152400" cy="152400"/>
          </a:xfrm>
          <a:prstGeom prst="ellipse">
            <a:avLst/>
          </a:prstGeom>
          <a:solidFill>
            <a:srgbClr val="FF6F00">
              <a:alpha val="70000"/>
            </a:srgbClr>
          </a:solidFill>
          <a:ln>
            <a:noFill/>
          </a:ln>
        </p:spPr>
      </p:sp>
      <p:sp>
        <p:nvSpPr>
          <p:cNvPr id="117" name="Ellipse 117"/>
          <p:cNvSpPr/>
          <p:nvPr/>
        </p:nvSpPr>
        <p:spPr>
          <a:xfrm>
            <a:off x="5991225" y="1990725"/>
            <a:ext cx="209550" cy="209550"/>
          </a:xfrm>
          <a:prstGeom prst="ellipse">
            <a:avLst/>
          </a:prstGeom>
          <a:solidFill>
            <a:srgbClr val="FAFAF7">
              <a:alpha val="95000"/>
            </a:srgbClr>
          </a:solidFill>
          <a:ln>
            <a:noFill/>
          </a:ln>
        </p:spPr>
      </p:sp>
      <p:sp>
        <p:nvSpPr>
          <p:cNvPr id="118" name="Ellipse 118"/>
          <p:cNvSpPr/>
          <p:nvPr/>
        </p:nvSpPr>
        <p:spPr>
          <a:xfrm>
            <a:off x="5991225" y="3133725"/>
            <a:ext cx="209550" cy="209550"/>
          </a:xfrm>
          <a:prstGeom prst="ellipse">
            <a:avLst/>
          </a:prstGeom>
          <a:solidFill>
            <a:srgbClr val="FAFAF7"/>
          </a:solidFill>
          <a:ln>
            <a:noFill/>
          </a:ln>
        </p:spPr>
      </p:sp>
      <p:sp>
        <p:nvSpPr>
          <p:cNvPr id="119" name="Ellipse 119"/>
          <p:cNvSpPr/>
          <p:nvPr/>
        </p:nvSpPr>
        <p:spPr>
          <a:xfrm>
            <a:off x="5991225" y="4276725"/>
            <a:ext cx="209550" cy="209550"/>
          </a:xfrm>
          <a:prstGeom prst="ellipse">
            <a:avLst/>
          </a:prstGeom>
          <a:solidFill>
            <a:srgbClr val="FAFAF7">
              <a:alpha val="95000"/>
            </a:srgbClr>
          </a:solidFill>
          <a:ln>
            <a:noFill/>
          </a:ln>
        </p:spPr>
      </p:sp>
      <p:sp>
        <p:nvSpPr>
          <p:cNvPr id="120" name="Ellipse 120"/>
          <p:cNvSpPr/>
          <p:nvPr/>
        </p:nvSpPr>
        <p:spPr>
          <a:xfrm>
            <a:off x="5991225" y="5419725"/>
            <a:ext cx="209550" cy="209550"/>
          </a:xfrm>
          <a:prstGeom prst="ellipse">
            <a:avLst/>
          </a:prstGeom>
          <a:solidFill>
            <a:srgbClr val="FAFAF7">
              <a:alpha val="90000"/>
            </a:srgbClr>
          </a:solidFill>
          <a:ln>
            <a:noFill/>
          </a:ln>
        </p:spPr>
      </p:sp>
      <p:sp>
        <p:nvSpPr>
          <p:cNvPr id="121" name="Ellipse 121"/>
          <p:cNvSpPr/>
          <p:nvPr/>
        </p:nvSpPr>
        <p:spPr>
          <a:xfrm>
            <a:off x="5905500" y="3048000"/>
            <a:ext cx="381000" cy="381000"/>
          </a:xfrm>
          <a:prstGeom prst="ellipse">
            <a:avLst/>
          </a:prstGeom>
          <a:noFill/>
          <a:ln w="9525">
            <a:solidFill>
              <a:srgbClr val="FAFAF7">
                <a:alpha val="30000"/>
              </a:srgbClr>
            </a:solidFill>
          </a:ln>
        </p:spPr>
      </p:sp>
      <p:sp>
        <p:nvSpPr>
          <p:cNvPr id="122" name="Ellipse 122"/>
          <p:cNvSpPr/>
          <p:nvPr/>
        </p:nvSpPr>
        <p:spPr>
          <a:xfrm>
            <a:off x="5905500" y="4191000"/>
            <a:ext cx="381000" cy="381000"/>
          </a:xfrm>
          <a:prstGeom prst="ellipse">
            <a:avLst/>
          </a:prstGeom>
          <a:noFill/>
          <a:ln w="9525">
            <a:solidFill>
              <a:srgbClr val="FAFAF7">
                <a:alpha val="20000"/>
              </a:srgbClr>
            </a:solidFill>
          </a:ln>
        </p:spPr>
      </p:sp>
      <p:sp>
        <p:nvSpPr>
          <p:cNvPr id="123" name="TextBox 123"/>
          <p:cNvSpPr txBox="1"/>
          <p:nvPr/>
        </p:nvSpPr>
        <p:spPr>
          <a:xfrm>
            <a:off x="522922" y="444341"/>
            <a:ext cx="2491026" cy="167640"/>
          </a:xfrm>
          <a:prstGeom prst="rect">
            <a:avLst/>
          </a:prstGeom>
          <a:noFill/>
          <a:ln>
            <a:noFill/>
          </a:ln>
        </p:spPr>
        <p:txBody>
          <a:bodyPr wrap="none" lIns="0" tIns="0" rIns="0" bIns="0" anchor="t" anchorCtr="0">
            <a:spAutoFit/>
          </a:bodyPr>
          <a:lstStyle/>
          <a:p>
            <a:pPr algn="l"/>
            <a:r>
              <a:rPr lang="en-US" sz="1200" dirty="0">
                <a:solidFill>
                  <a:srgbClr val="FAFAF7">
                    <a:alphaMod val="50000"/>
                  </a:srgbClr>
                </a:solidFill>
                <a:latin typeface="Malgun Gothic"/>
                <a:ea typeface="Malgun Gothic"/>
                <a:cs typeface="Malgun Gothic"/>
              </a:rPr>
              <a:t>NEURAL NETWORK · AUTONOMOUS REASONING</a:t>
            </a:r>
          </a:p>
        </p:txBody>
      </p:sp>
      <p:sp>
        <p:nvSpPr>
          <p:cNvPr id="124" name="TextBox 124"/>
          <p:cNvSpPr txBox="1"/>
          <p:nvPr/>
        </p:nvSpPr>
        <p:spPr>
          <a:xfrm>
            <a:off x="521018" y="6333649"/>
            <a:ext cx="2445544" cy="198120"/>
          </a:xfrm>
          <a:prstGeom prst="rect">
            <a:avLst/>
          </a:prstGeom>
          <a:noFill/>
          <a:ln>
            <a:noFill/>
          </a:ln>
        </p:spPr>
        <p:txBody>
          <a:bodyPr wrap="none" lIns="0" tIns="0" rIns="0" bIns="0" anchor="t" anchorCtr="0">
            <a:spAutoFit/>
          </a:bodyPr>
          <a:lstStyle/>
          <a:p>
            <a:pPr algn="l"/>
            <a:r>
              <a:rPr lang="ko-KR" sz="1200" dirty="0">
                <a:solidFill>
                  <a:srgbClr val="FAFAF7">
                    <a:alphaMod val="70000"/>
                  </a:srgbClr>
                </a:solidFill>
                <a:latin typeface="Malgun Gothic"/>
                <a:ea typeface="Malgun Gothic"/>
                <a:cs typeface="Malgun Gothic"/>
              </a:rPr>
              <a:t>스스로 추론하고, 실행하고, 검증한다</a:t>
            </a:r>
          </a:p>
        </p:txBody>
      </p:sp>
      <p:sp>
        <p:nvSpPr>
          <p:cNvPr id="125" name="TextBox 125"/>
          <p:cNvSpPr txBox="1"/>
          <p:nvPr/>
        </p:nvSpPr>
        <p:spPr>
          <a:xfrm>
            <a:off x="7876222" y="787241"/>
            <a:ext cx="685163" cy="167640"/>
          </a:xfrm>
          <a:prstGeom prst="rect">
            <a:avLst/>
          </a:prstGeom>
          <a:noFill/>
          <a:ln>
            <a:noFill/>
          </a:ln>
        </p:spPr>
        <p:txBody>
          <a:bodyPr wrap="none" lIns="0" tIns="0" rIns="0" bIns="0" anchor="t" anchorCtr="0">
            <a:spAutoFit/>
          </a:bodyPr>
          <a:lstStyle/>
          <a:p>
            <a:pPr algn="l"/>
            <a:r>
              <a:rPr lang="en-US" sz="1200" b="1" dirty="0">
                <a:solidFill>
                  <a:srgbClr val="FF6F00"/>
                </a:solidFill>
                <a:latin typeface="Malgun Gothic"/>
                <a:ea typeface="Malgun Gothic"/>
                <a:cs typeface="Malgun Gothic"/>
              </a:rPr>
              <a:t>CHAPTER 03</a:t>
            </a:r>
          </a:p>
        </p:txBody>
      </p:sp>
      <p:sp>
        <p:nvSpPr>
          <p:cNvPr id="126" name="Rectangle 126"/>
          <p:cNvSpPr/>
          <p:nvPr/>
        </p:nvSpPr>
        <p:spPr>
          <a:xfrm>
            <a:off x="7886700" y="1028700"/>
            <a:ext cx="304800" cy="19050"/>
          </a:xfrm>
          <a:prstGeom prst="rect">
            <a:avLst/>
          </a:prstGeom>
          <a:solidFill>
            <a:srgbClr val="FF6F00"/>
          </a:solidFill>
          <a:ln>
            <a:noFill/>
          </a:ln>
        </p:spPr>
      </p:sp>
      <p:sp>
        <p:nvSpPr>
          <p:cNvPr id="127" name="TextBox 127"/>
          <p:cNvSpPr txBox="1"/>
          <p:nvPr/>
        </p:nvSpPr>
        <p:spPr>
          <a:xfrm>
            <a:off x="7856220" y="1379220"/>
            <a:ext cx="1588351" cy="487680"/>
          </a:xfrm>
          <a:prstGeom prst="rect">
            <a:avLst/>
          </a:prstGeom>
          <a:noFill/>
          <a:ln>
            <a:noFill/>
          </a:ln>
        </p:spPr>
        <p:txBody>
          <a:bodyPr wrap="none" lIns="0" tIns="0" rIns="0" bIns="0" anchor="t" anchorCtr="0">
            <a:spAutoFit/>
          </a:bodyPr>
          <a:lstStyle/>
          <a:p>
            <a:pPr algn="l"/>
            <a:r>
              <a:rPr lang="ko-KR" sz="2400" b="1" dirty="0">
                <a:solidFill>
                  <a:srgbClr val="0A1628"/>
                </a:solidFill>
                <a:latin typeface="Malgun Gothic"/>
                <a:ea typeface="Malgun Gothic"/>
                <a:cs typeface="Malgun Gothic"/>
              </a:rPr>
              <a:t>AI는 이제</a:t>
            </a:r>
          </a:p>
        </p:txBody>
      </p:sp>
      <p:sp>
        <p:nvSpPr>
          <p:cNvPr id="128" name="TextBox 128"/>
          <p:cNvSpPr txBox="1"/>
          <p:nvPr/>
        </p:nvSpPr>
        <p:spPr>
          <a:xfrm>
            <a:off x="7856220" y="1779270"/>
            <a:ext cx="2784500" cy="487680"/>
          </a:xfrm>
          <a:prstGeom prst="rect">
            <a:avLst/>
          </a:prstGeom>
          <a:noFill/>
          <a:ln>
            <a:noFill/>
          </a:ln>
        </p:spPr>
        <p:txBody>
          <a:bodyPr wrap="none" lIns="0" tIns="0" rIns="0" bIns="0" anchor="t" anchorCtr="0">
            <a:spAutoFit/>
          </a:bodyPr>
          <a:lstStyle/>
          <a:p>
            <a:pPr algn="l"/>
            <a:r>
              <a:rPr lang="ko-KR" sz="2400" b="1" dirty="0">
                <a:solidFill>
                  <a:srgbClr val="0A1628"/>
                </a:solidFill>
                <a:latin typeface="Malgun Gothic"/>
                <a:ea typeface="Malgun Gothic"/>
                <a:cs typeface="Malgun Gothic"/>
              </a:rPr>
              <a:t>"도구"가 아니다</a:t>
            </a:r>
          </a:p>
        </p:txBody>
      </p:sp>
      <p:sp>
        <p:nvSpPr>
          <p:cNvPr id="129" name="TextBox 129"/>
          <p:cNvSpPr txBox="1"/>
          <p:nvPr/>
        </p:nvSpPr>
        <p:spPr>
          <a:xfrm>
            <a:off x="7873365" y="2286952"/>
            <a:ext cx="1077135" cy="213360"/>
          </a:xfrm>
          <a:prstGeom prst="rect">
            <a:avLst/>
          </a:prstGeom>
          <a:noFill/>
          <a:ln>
            <a:noFill/>
          </a:ln>
        </p:spPr>
        <p:txBody>
          <a:bodyPr wrap="none" lIns="0" tIns="0" rIns="0" bIns="0" anchor="t" anchorCtr="0">
            <a:spAutoFit/>
          </a:bodyPr>
          <a:lstStyle/>
          <a:p>
            <a:pPr algn="l"/>
            <a:r>
              <a:rPr lang="ko-KR" sz="1200" dirty="0">
                <a:solidFill>
                  <a:srgbClr val="0A1628">
                    <a:alphaMod val="55000"/>
                  </a:srgbClr>
                </a:solidFill>
                <a:latin typeface="Malgun Gothic"/>
                <a:ea typeface="Malgun Gothic"/>
                <a:cs typeface="Malgun Gothic"/>
              </a:rPr>
              <a:t>동료에 가깝다.</a:t>
            </a:r>
          </a:p>
        </p:txBody>
      </p:sp>
      <p:sp>
        <p:nvSpPr>
          <p:cNvPr id="130" name="Line 130"/>
          <p:cNvSpPr/>
          <p:nvPr/>
        </p:nvSpPr>
        <p:spPr>
          <a:xfrm>
            <a:off x="7886700" y="2819400"/>
            <a:ext cx="3771900" cy="9525"/>
          </a:xfrm>
          <a:custGeom>
            <a:avLst/>
            <a:gdLst/>
            <a:ahLst/>
            <a:cxnLst/>
            <a:rect l="l" t="t" r="r" b="b"/>
            <a:pathLst>
              <a:path w="3771900" h="9525">
                <a:moveTo>
                  <a:pt x="0" y="0"/>
                </a:moveTo>
                <a:lnTo>
                  <a:pt x="3771900" y="0"/>
                </a:lnTo>
              </a:path>
            </a:pathLst>
          </a:custGeom>
          <a:noFill/>
          <a:ln w="9525">
            <a:solidFill>
              <a:srgbClr val="0A1628">
                <a:alpha val="12000"/>
              </a:srgbClr>
            </a:solidFill>
          </a:ln>
        </p:spPr>
      </p:sp>
      <p:sp>
        <p:nvSpPr>
          <p:cNvPr id="131" name="TextBox 131"/>
          <p:cNvSpPr txBox="1"/>
          <p:nvPr/>
        </p:nvSpPr>
        <p:spPr>
          <a:xfrm>
            <a:off x="7876222" y="3130391"/>
            <a:ext cx="128493" cy="167640"/>
          </a:xfrm>
          <a:prstGeom prst="rect">
            <a:avLst/>
          </a:prstGeom>
          <a:noFill/>
          <a:ln>
            <a:noFill/>
          </a:ln>
        </p:spPr>
        <p:txBody>
          <a:bodyPr wrap="none" lIns="0" tIns="0" rIns="0" bIns="0" anchor="t" anchorCtr="0">
            <a:spAutoFit/>
          </a:bodyPr>
          <a:lstStyle/>
          <a:p>
            <a:pPr algn="l"/>
            <a:r>
              <a:rPr lang="en-US" sz="1200" b="1" dirty="0">
                <a:solidFill>
                  <a:srgbClr val="FF6F00"/>
                </a:solidFill>
                <a:latin typeface="Malgun Gothic"/>
                <a:ea typeface="Malgun Gothic"/>
                <a:cs typeface="Malgun Gothic"/>
              </a:rPr>
              <a:t>01</a:t>
            </a:r>
          </a:p>
        </p:txBody>
      </p:sp>
      <p:sp>
        <p:nvSpPr>
          <p:cNvPr id="132" name="TextBox 132"/>
          <p:cNvSpPr txBox="1"/>
          <p:nvPr/>
        </p:nvSpPr>
        <p:spPr>
          <a:xfrm>
            <a:off x="7872412" y="3345656"/>
            <a:ext cx="1556623" cy="228600"/>
          </a:xfrm>
          <a:prstGeom prst="rect">
            <a:avLst/>
          </a:prstGeom>
          <a:noFill/>
          <a:ln>
            <a:noFill/>
          </a:ln>
        </p:spPr>
        <p:txBody>
          <a:bodyPr wrap="none" lIns="0" tIns="0" rIns="0" bIns="0" anchor="t" anchorCtr="0">
            <a:spAutoFit/>
          </a:bodyPr>
          <a:lstStyle/>
          <a:p>
            <a:pPr algn="l"/>
            <a:r>
              <a:rPr lang="ko-KR" sz="1200" dirty="0">
                <a:solidFill>
                  <a:srgbClr val="0A1628"/>
                </a:solidFill>
                <a:latin typeface="Malgun Gothic"/>
                <a:ea typeface="Malgun Gothic"/>
                <a:cs typeface="Malgun Gothic"/>
              </a:rPr>
              <a:t>멀티파일 리팩토링을</a:t>
            </a:r>
          </a:p>
        </p:txBody>
      </p:sp>
      <p:sp>
        <p:nvSpPr>
          <p:cNvPr id="133" name="TextBox 133"/>
          <p:cNvSpPr txBox="1"/>
          <p:nvPr/>
        </p:nvSpPr>
        <p:spPr>
          <a:xfrm>
            <a:off x="7872412" y="3536156"/>
            <a:ext cx="1228011" cy="228600"/>
          </a:xfrm>
          <a:prstGeom prst="rect">
            <a:avLst/>
          </a:prstGeom>
          <a:noFill/>
          <a:ln>
            <a:noFill/>
          </a:ln>
        </p:spPr>
        <p:txBody>
          <a:bodyPr wrap="none" lIns="0" tIns="0" rIns="0" bIns="0" anchor="t" anchorCtr="0">
            <a:spAutoFit/>
          </a:bodyPr>
          <a:lstStyle/>
          <a:p>
            <a:pPr algn="l"/>
            <a:r>
              <a:rPr lang="ko-KR" sz="1200" dirty="0">
                <a:solidFill>
                  <a:srgbClr val="0A1628"/>
                </a:solidFill>
                <a:latin typeface="Malgun Gothic"/>
                <a:ea typeface="Malgun Gothic"/>
                <a:cs typeface="Malgun Gothic"/>
              </a:rPr>
              <a:t>자율적으로 수행</a:t>
            </a:r>
          </a:p>
        </p:txBody>
      </p:sp>
      <p:sp>
        <p:nvSpPr>
          <p:cNvPr id="134" name="TextBox 134"/>
          <p:cNvSpPr txBox="1"/>
          <p:nvPr/>
        </p:nvSpPr>
        <p:spPr>
          <a:xfrm>
            <a:off x="7876222" y="4006691"/>
            <a:ext cx="160122" cy="167640"/>
          </a:xfrm>
          <a:prstGeom prst="rect">
            <a:avLst/>
          </a:prstGeom>
          <a:noFill/>
          <a:ln>
            <a:noFill/>
          </a:ln>
        </p:spPr>
        <p:txBody>
          <a:bodyPr wrap="none" lIns="0" tIns="0" rIns="0" bIns="0" anchor="t" anchorCtr="0">
            <a:spAutoFit/>
          </a:bodyPr>
          <a:lstStyle/>
          <a:p>
            <a:pPr algn="l"/>
            <a:r>
              <a:rPr lang="en-US" sz="1200" b="1" dirty="0">
                <a:solidFill>
                  <a:srgbClr val="FF6F00"/>
                </a:solidFill>
                <a:latin typeface="Malgun Gothic"/>
                <a:ea typeface="Malgun Gothic"/>
                <a:cs typeface="Malgun Gothic"/>
              </a:rPr>
              <a:t>02</a:t>
            </a:r>
          </a:p>
        </p:txBody>
      </p:sp>
      <p:sp>
        <p:nvSpPr>
          <p:cNvPr id="135" name="TextBox 135"/>
          <p:cNvSpPr txBox="1"/>
          <p:nvPr/>
        </p:nvSpPr>
        <p:spPr>
          <a:xfrm>
            <a:off x="7872412" y="4221956"/>
            <a:ext cx="2164556" cy="228600"/>
          </a:xfrm>
          <a:prstGeom prst="rect">
            <a:avLst/>
          </a:prstGeom>
          <a:noFill/>
          <a:ln>
            <a:noFill/>
          </a:ln>
        </p:spPr>
        <p:txBody>
          <a:bodyPr wrap="none" lIns="0" tIns="0" rIns="0" bIns="0" anchor="t" anchorCtr="0">
            <a:spAutoFit/>
          </a:bodyPr>
          <a:lstStyle/>
          <a:p>
            <a:pPr algn="l"/>
            <a:r>
              <a:rPr lang="ko-KR" sz="1200" dirty="0">
                <a:solidFill>
                  <a:srgbClr val="0A1628"/>
                </a:solidFill>
                <a:latin typeface="Malgun Gothic"/>
                <a:ea typeface="Malgun Gothic"/>
                <a:cs typeface="Malgun Gothic"/>
              </a:rPr>
              <a:t>테스트, 버그 수정, 배포까지</a:t>
            </a:r>
          </a:p>
        </p:txBody>
      </p:sp>
      <p:sp>
        <p:nvSpPr>
          <p:cNvPr id="136" name="TextBox 136"/>
          <p:cNvSpPr txBox="1"/>
          <p:nvPr/>
        </p:nvSpPr>
        <p:spPr>
          <a:xfrm>
            <a:off x="7872412" y="4412456"/>
            <a:ext cx="1310164" cy="228600"/>
          </a:xfrm>
          <a:prstGeom prst="rect">
            <a:avLst/>
          </a:prstGeom>
          <a:noFill/>
          <a:ln>
            <a:noFill/>
          </a:ln>
        </p:spPr>
        <p:txBody>
          <a:bodyPr wrap="none" lIns="0" tIns="0" rIns="0" bIns="0" anchor="t" anchorCtr="0">
            <a:spAutoFit/>
          </a:bodyPr>
          <a:lstStyle/>
          <a:p>
            <a:pPr algn="l"/>
            <a:r>
              <a:rPr lang="ko-KR" sz="1200" dirty="0">
                <a:solidFill>
                  <a:srgbClr val="0A1628"/>
                </a:solidFill>
                <a:latin typeface="Malgun Gothic"/>
                <a:ea typeface="Malgun Gothic"/>
                <a:cs typeface="Malgun Gothic"/>
              </a:rPr>
              <a:t>end-to-end 처리</a:t>
            </a:r>
          </a:p>
        </p:txBody>
      </p:sp>
      <p:sp>
        <p:nvSpPr>
          <p:cNvPr id="137" name="TextBox 137"/>
          <p:cNvSpPr txBox="1"/>
          <p:nvPr/>
        </p:nvSpPr>
        <p:spPr>
          <a:xfrm>
            <a:off x="7876222" y="4882991"/>
            <a:ext cx="160122" cy="167640"/>
          </a:xfrm>
          <a:prstGeom prst="rect">
            <a:avLst/>
          </a:prstGeom>
          <a:noFill/>
          <a:ln>
            <a:noFill/>
          </a:ln>
        </p:spPr>
        <p:txBody>
          <a:bodyPr wrap="none" lIns="0" tIns="0" rIns="0" bIns="0" anchor="t" anchorCtr="0">
            <a:spAutoFit/>
          </a:bodyPr>
          <a:lstStyle/>
          <a:p>
            <a:pPr algn="l"/>
            <a:r>
              <a:rPr lang="en-US" sz="1200" b="1" dirty="0">
                <a:solidFill>
                  <a:srgbClr val="FF6F00"/>
                </a:solidFill>
                <a:latin typeface="Malgun Gothic"/>
                <a:ea typeface="Malgun Gothic"/>
                <a:cs typeface="Malgun Gothic"/>
              </a:rPr>
              <a:t>03</a:t>
            </a:r>
          </a:p>
        </p:txBody>
      </p:sp>
      <p:sp>
        <p:nvSpPr>
          <p:cNvPr id="138" name="TextBox 138"/>
          <p:cNvSpPr txBox="1"/>
          <p:nvPr/>
        </p:nvSpPr>
        <p:spPr>
          <a:xfrm>
            <a:off x="7872412" y="5098256"/>
            <a:ext cx="1228011" cy="228600"/>
          </a:xfrm>
          <a:prstGeom prst="rect">
            <a:avLst/>
          </a:prstGeom>
          <a:noFill/>
          <a:ln>
            <a:noFill/>
          </a:ln>
        </p:spPr>
        <p:txBody>
          <a:bodyPr wrap="none" lIns="0" tIns="0" rIns="0" bIns="0" anchor="t" anchorCtr="0">
            <a:spAutoFit/>
          </a:bodyPr>
          <a:lstStyle/>
          <a:p>
            <a:pPr algn="l"/>
            <a:r>
              <a:rPr lang="ko-KR" sz="1200" dirty="0">
                <a:solidFill>
                  <a:srgbClr val="0A1628"/>
                </a:solidFill>
                <a:latin typeface="Malgun Gothic"/>
                <a:ea typeface="Malgun Gothic"/>
                <a:cs typeface="Malgun Gothic"/>
              </a:rPr>
              <a:t>자연어로 시스템</a:t>
            </a:r>
          </a:p>
        </p:txBody>
      </p:sp>
      <p:sp>
        <p:nvSpPr>
          <p:cNvPr id="139" name="TextBox 139"/>
          <p:cNvSpPr txBox="1"/>
          <p:nvPr/>
        </p:nvSpPr>
        <p:spPr>
          <a:xfrm>
            <a:off x="7872412" y="5288756"/>
            <a:ext cx="1228011" cy="228600"/>
          </a:xfrm>
          <a:prstGeom prst="rect">
            <a:avLst/>
          </a:prstGeom>
          <a:noFill/>
          <a:ln>
            <a:noFill/>
          </a:ln>
        </p:spPr>
        <p:txBody>
          <a:bodyPr wrap="none" lIns="0" tIns="0" rIns="0" bIns="0" anchor="t" anchorCtr="0">
            <a:spAutoFit/>
          </a:bodyPr>
          <a:lstStyle/>
          <a:p>
            <a:pPr algn="l"/>
            <a:r>
              <a:rPr lang="ko-KR" sz="1200" dirty="0">
                <a:solidFill>
                  <a:srgbClr val="0A1628"/>
                </a:solidFill>
                <a:latin typeface="Malgun Gothic"/>
                <a:ea typeface="Malgun Gothic"/>
                <a:cs typeface="Malgun Gothic"/>
              </a:rPr>
              <a:t>아키텍처를 설계</a:t>
            </a:r>
          </a:p>
        </p:txBody>
      </p:sp>
      <p:sp>
        <p:nvSpPr>
          <p:cNvPr id="140" name="TextBox 140"/>
          <p:cNvSpPr txBox="1"/>
          <p:nvPr/>
        </p:nvSpPr>
        <p:spPr>
          <a:xfrm>
            <a:off x="7876222" y="5759291"/>
            <a:ext cx="160122" cy="167640"/>
          </a:xfrm>
          <a:prstGeom prst="rect">
            <a:avLst/>
          </a:prstGeom>
          <a:noFill/>
          <a:ln>
            <a:noFill/>
          </a:ln>
        </p:spPr>
        <p:txBody>
          <a:bodyPr wrap="none" lIns="0" tIns="0" rIns="0" bIns="0" anchor="t" anchorCtr="0">
            <a:spAutoFit/>
          </a:bodyPr>
          <a:lstStyle/>
          <a:p>
            <a:pPr algn="l"/>
            <a:r>
              <a:rPr lang="en-US" sz="1200" b="1" dirty="0">
                <a:solidFill>
                  <a:srgbClr val="FF6F00"/>
                </a:solidFill>
                <a:latin typeface="Malgun Gothic"/>
                <a:ea typeface="Malgun Gothic"/>
                <a:cs typeface="Malgun Gothic"/>
              </a:rPr>
              <a:t>04</a:t>
            </a:r>
          </a:p>
        </p:txBody>
      </p:sp>
      <p:sp>
        <p:nvSpPr>
          <p:cNvPr id="141" name="TextBox 141"/>
          <p:cNvSpPr txBox="1"/>
          <p:nvPr/>
        </p:nvSpPr>
        <p:spPr>
          <a:xfrm>
            <a:off x="7872412" y="5974556"/>
            <a:ext cx="899398" cy="228600"/>
          </a:xfrm>
          <a:prstGeom prst="rect">
            <a:avLst/>
          </a:prstGeom>
          <a:noFill/>
          <a:ln>
            <a:noFill/>
          </a:ln>
        </p:spPr>
        <p:txBody>
          <a:bodyPr wrap="none" lIns="0" tIns="0" rIns="0" bIns="0" anchor="t" anchorCtr="0">
            <a:spAutoFit/>
          </a:bodyPr>
          <a:lstStyle/>
          <a:p>
            <a:pPr algn="l"/>
            <a:r>
              <a:rPr lang="ko-KR" sz="1200" dirty="0">
                <a:solidFill>
                  <a:srgbClr val="0A1628"/>
                </a:solidFill>
                <a:latin typeface="Malgun Gothic"/>
                <a:ea typeface="Malgun Gothic"/>
                <a:cs typeface="Malgun Gothic"/>
              </a:rPr>
              <a:t>코드 리뷰의</a:t>
            </a:r>
          </a:p>
        </p:txBody>
      </p:sp>
      <p:sp>
        <p:nvSpPr>
          <p:cNvPr id="142" name="TextBox 142"/>
          <p:cNvSpPr txBox="1"/>
          <p:nvPr/>
        </p:nvSpPr>
        <p:spPr>
          <a:xfrm>
            <a:off x="7872412" y="6165056"/>
            <a:ext cx="1162288" cy="228600"/>
          </a:xfrm>
          <a:prstGeom prst="rect">
            <a:avLst/>
          </a:prstGeom>
          <a:noFill/>
          <a:ln>
            <a:noFill/>
          </a:ln>
        </p:spPr>
        <p:txBody>
          <a:bodyPr wrap="none" lIns="0" tIns="0" rIns="0" bIns="0" anchor="t" anchorCtr="0">
            <a:spAutoFit/>
          </a:bodyPr>
          <a:lstStyle/>
          <a:p>
            <a:pPr algn="l"/>
            <a:r>
              <a:rPr lang="ko-KR" sz="1200" dirty="0">
                <a:solidFill>
                  <a:srgbClr val="0A1628"/>
                </a:solidFill>
                <a:latin typeface="Malgun Gothic"/>
                <a:ea typeface="Malgun Gothic"/>
                <a:cs typeface="Malgun Gothic"/>
              </a:rPr>
              <a:t>1차 라인을 담당</a:t>
            </a:r>
          </a:p>
        </p:txBody>
      </p:sp>
    </p:spTree>
  </p:cSld>
  <p:clrMapOvr>
    <a:masterClrMapping/>
  </p:clrMapOvr>
  <p:transition xmlns:p14="http://schemas.microsoft.com/office/powerpoint/2010/main" p14:dur="5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0E27"/>
              </a:gs>
              <a:gs pos="100000">
                <a:srgbClr val="141937"/>
              </a:gs>
            </a:gsLst>
            <a:lin ang="2700000" scaled="1"/>
          </a:gradFill>
          <a:ln>
            <a:noFill/>
          </a:ln>
        </p:spPr>
      </p:sp>
      <p:grpSp>
        <p:nvGrpSpPr>
          <p:cNvPr id="6" name="Group 6"/>
          <p:cNvGrpSpPr/>
          <p:nvPr/>
        </p:nvGrpSpPr>
        <p:grpSpPr>
          <a:xfrm>
            <a:off x="573405" y="599599"/>
            <a:ext cx="4770727" cy="943451"/>
            <a:chOff x="573405" y="599599"/>
            <a:chExt cx="4770727" cy="943451"/>
          </a:xfrm>
        </p:grpSpPr>
        <p:sp>
          <p:nvSpPr>
            <p:cNvPr id="3" name="TextBox 3"/>
            <p:cNvSpPr txBox="1"/>
            <p:nvPr/>
          </p:nvSpPr>
          <p:spPr>
            <a:xfrm>
              <a:off x="597218" y="599599"/>
              <a:ext cx="1128355" cy="198120"/>
            </a:xfrm>
            <a:prstGeom prst="rect">
              <a:avLst/>
            </a:prstGeom>
            <a:noFill/>
            <a:ln>
              <a:noFill/>
            </a:ln>
          </p:spPr>
          <p:txBody>
            <a:bodyPr wrap="none" lIns="0" tIns="0" rIns="0" bIns="0" anchor="t" anchorCtr="0">
              <a:spAutoFit/>
            </a:bodyPr>
            <a:lstStyle/>
            <a:p>
              <a:pPr algn="l"/>
              <a:r>
                <a:rPr lang="ko-KR" sz="1200" dirty="0">
                  <a:solidFill>
                    <a:srgbClr val="1A8FE3"/>
                  </a:solidFill>
                  <a:latin typeface="Malgun Gothic"/>
                  <a:ea typeface="Malgun Gothic"/>
                  <a:cs typeface="Malgun Gothic"/>
                </a:rPr>
                <a:t>PART 07 · 분기점</a:t>
              </a:r>
            </a:p>
          </p:txBody>
        </p:sp>
        <p:sp>
          <p:nvSpPr>
            <p:cNvPr id="4" name="TextBox 4"/>
            <p:cNvSpPr txBox="1"/>
            <p:nvPr/>
          </p:nvSpPr>
          <p:spPr>
            <a:xfrm>
              <a:off x="573405" y="816292"/>
              <a:ext cx="4770727" cy="579120"/>
            </a:xfrm>
            <a:prstGeom prst="rect">
              <a:avLst/>
            </a:prstGeom>
            <a:noFill/>
            <a:ln>
              <a:noFill/>
            </a:ln>
          </p:spPr>
          <p:txBody>
            <a:bodyPr wrap="none" lIns="0" tIns="0" rIns="0" bIns="0" anchor="t" anchorCtr="0">
              <a:spAutoFit/>
            </a:bodyPr>
            <a:lstStyle/>
            <a:p>
              <a:pPr algn="l"/>
              <a:r>
                <a:rPr lang="ko-KR" sz="2850" b="1" dirty="0">
                  <a:solidFill>
                    <a:srgbClr val="FFFFFF"/>
                  </a:solidFill>
                  <a:latin typeface="Malgun Gothic"/>
                  <a:ea typeface="Malgun Gothic"/>
                  <a:cs typeface="Malgun Gothic"/>
                </a:rPr>
                <a:t>같은 시대, 두 개의 미래</a:t>
              </a:r>
            </a:p>
          </p:txBody>
        </p:sp>
        <p:sp>
          <p:nvSpPr>
            <p:cNvPr id="5" name="TextBox 5"/>
            <p:cNvSpPr txBox="1"/>
            <p:nvPr/>
          </p:nvSpPr>
          <p:spPr>
            <a:xfrm>
              <a:off x="594360" y="1299210"/>
              <a:ext cx="3421761" cy="24384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AI를 다루는 방식이 개발자의 경로를 가른다</a:t>
              </a:r>
            </a:p>
          </p:txBody>
        </p:sp>
      </p:grpSp>
      <p:sp>
        <p:nvSpPr>
          <p:cNvPr id="7" name="Line 7"/>
          <p:cNvSpPr/>
          <p:nvPr/>
        </p:nvSpPr>
        <p:spPr>
          <a:xfrm>
            <a:off x="6096000" y="1905000"/>
            <a:ext cx="9525" cy="4381500"/>
          </a:xfrm>
          <a:custGeom>
            <a:avLst/>
            <a:gdLst/>
            <a:ahLst/>
            <a:cxnLst/>
            <a:rect l="l" t="t" r="r" b="b"/>
            <a:pathLst>
              <a:path w="9525" h="4381500">
                <a:moveTo>
                  <a:pt x="0" y="0"/>
                </a:moveTo>
                <a:lnTo>
                  <a:pt x="0" y="4381500"/>
                </a:lnTo>
              </a:path>
            </a:pathLst>
          </a:custGeom>
          <a:noFill/>
          <a:ln w="9525">
            <a:gradFill>
              <a:gsLst>
                <a:gs pos="0">
                  <a:srgbClr val="FFFFFF">
                    <a:alpha val="0"/>
                  </a:srgbClr>
                </a:gs>
                <a:gs pos="50000">
                  <a:srgbClr val="FFFFFF">
                    <a:alpha val="25000"/>
                  </a:srgbClr>
                </a:gs>
                <a:gs pos="100000">
                  <a:srgbClr val="FFFFFF">
                    <a:alpha val="0"/>
                  </a:srgbClr>
                </a:gs>
              </a:gsLst>
              <a:lin ang="5400000" scaled="1"/>
            </a:gradFill>
          </a:ln>
        </p:spPr>
      </p:sp>
      <p:grpSp>
        <p:nvGrpSpPr>
          <p:cNvPr id="10" name="Group 10"/>
          <p:cNvGrpSpPr/>
          <p:nvPr/>
        </p:nvGrpSpPr>
        <p:grpSpPr>
          <a:xfrm>
            <a:off x="5829300" y="3543300"/>
            <a:ext cx="533400" cy="533400"/>
            <a:chOff x="5829300" y="3543300"/>
            <a:chExt cx="533400" cy="533400"/>
          </a:xfrm>
        </p:grpSpPr>
        <p:sp>
          <p:nvSpPr>
            <p:cNvPr id="8" name="Ellipse 8"/>
            <p:cNvSpPr/>
            <p:nvPr/>
          </p:nvSpPr>
          <p:spPr>
            <a:xfrm>
              <a:off x="5829300" y="3543300"/>
              <a:ext cx="533400" cy="533400"/>
            </a:xfrm>
            <a:prstGeom prst="ellipse">
              <a:avLst/>
            </a:prstGeom>
            <a:solidFill>
              <a:srgbClr val="0A0E27"/>
            </a:solidFill>
            <a:ln w="9525">
              <a:solidFill>
                <a:srgbClr val="FFFFFF">
                  <a:alpha val="20000"/>
                </a:srgbClr>
              </a:solidFill>
            </a:ln>
          </p:spPr>
        </p:sp>
        <p:sp>
          <p:nvSpPr>
            <p:cNvPr id="9" name="TextBox 9"/>
            <p:cNvSpPr txBox="1"/>
            <p:nvPr/>
          </p:nvSpPr>
          <p:spPr>
            <a:xfrm>
              <a:off x="5994104" y="3772852"/>
              <a:ext cx="203792" cy="213360"/>
            </a:xfrm>
            <a:prstGeom prst="rect">
              <a:avLst/>
            </a:prstGeom>
            <a:noFill/>
            <a:ln>
              <a:noFill/>
            </a:ln>
          </p:spPr>
          <p:txBody>
            <a:bodyPr wrap="none" lIns="0" tIns="0" rIns="0" bIns="0" anchor="t" anchorCtr="0">
              <a:spAutoFit/>
            </a:bodyPr>
            <a:lstStyle/>
            <a:p>
              <a:pPr algn="ctr"/>
              <a:r>
                <a:rPr lang="en-US" sz="1200" b="1" dirty="0">
                  <a:solidFill>
                    <a:srgbClr val="FFFFFF"/>
                  </a:solidFill>
                  <a:latin typeface="Malgun Gothic"/>
                  <a:ea typeface="Malgun Gothic"/>
                  <a:cs typeface="Malgun Gothic"/>
                </a:rPr>
                <a:t>VS</a:t>
              </a:r>
            </a:p>
          </p:txBody>
        </p:sp>
      </p:grpSp>
      <p:grpSp>
        <p:nvGrpSpPr>
          <p:cNvPr id="36" name="Group 36"/>
          <p:cNvGrpSpPr/>
          <p:nvPr/>
        </p:nvGrpSpPr>
        <p:grpSpPr>
          <a:xfrm>
            <a:off x="609600" y="1857375"/>
            <a:ext cx="5143500" cy="4429125"/>
            <a:chOff x="609600" y="1857375"/>
            <a:chExt cx="5143500" cy="4429125"/>
          </a:xfrm>
        </p:grpSpPr>
        <p:sp>
          <p:nvSpPr>
            <p:cNvPr id="11" name="Rectangle 11"/>
            <p:cNvSpPr/>
            <p:nvPr/>
          </p:nvSpPr>
          <p:spPr>
            <a:xfrm>
              <a:off x="609600" y="1857375"/>
              <a:ext cx="5143500" cy="4429125"/>
            </a:xfrm>
            <a:prstGeom prst="roundRect">
              <a:avLst>
                <a:gd name="adj" fmla="val 3441"/>
              </a:avLst>
            </a:prstGeom>
            <a:gradFill>
              <a:gsLst>
                <a:gs pos="0">
                  <a:srgbClr val="1A8FE3">
                    <a:alpha val="15000"/>
                  </a:srgbClr>
                </a:gs>
                <a:gs pos="100000">
                  <a:srgbClr val="1A8FE3">
                    <a:alpha val="3000"/>
                  </a:srgbClr>
                </a:gs>
              </a:gsLst>
              <a:lin ang="5400000" scaled="1"/>
            </a:gradFill>
            <a:ln w="9525">
              <a:solidFill>
                <a:srgbClr val="1A8FE3">
                  <a:alpha val="30000"/>
                </a:srgbClr>
              </a:solidFill>
            </a:ln>
          </p:spPr>
        </p:sp>
        <p:grpSp>
          <p:nvGrpSpPr>
            <p:cNvPr id="15" name="Group 15"/>
            <p:cNvGrpSpPr/>
            <p:nvPr/>
          </p:nvGrpSpPr>
          <p:grpSpPr>
            <a:xfrm>
              <a:off x="914400" y="2143125"/>
              <a:ext cx="2983604" cy="557213"/>
              <a:chOff x="914400" y="2143125"/>
              <a:chExt cx="2983604" cy="557213"/>
            </a:xfrm>
          </p:grpSpPr>
          <p:sp>
            <p:nvSpPr>
              <p:cNvPr id="12" name="Rectangle 12"/>
              <p:cNvSpPr/>
              <p:nvPr/>
            </p:nvSpPr>
            <p:spPr>
              <a:xfrm>
                <a:off x="914400" y="2143125"/>
                <a:ext cx="419100" cy="419100"/>
              </a:xfrm>
              <a:prstGeom prst="roundRect">
                <a:avLst>
                  <a:gd name="adj" fmla="val 22727"/>
                </a:avLst>
              </a:prstGeom>
              <a:solidFill>
                <a:srgbClr val="1A8FE3">
                  <a:alpha val="18000"/>
                </a:srgbClr>
              </a:solidFill>
              <a:ln>
                <a:noFill/>
              </a:ln>
            </p:spPr>
          </p:sp>
          <p:sp>
            <p:nvSpPr>
              <p:cNvPr id="13" name="TextBox 13"/>
              <p:cNvSpPr txBox="1"/>
              <p:nvPr/>
            </p:nvSpPr>
            <p:spPr>
              <a:xfrm>
                <a:off x="1473518" y="2228374"/>
                <a:ext cx="480797" cy="198120"/>
              </a:xfrm>
              <a:prstGeom prst="rect">
                <a:avLst/>
              </a:prstGeom>
              <a:noFill/>
              <a:ln>
                <a:noFill/>
              </a:ln>
            </p:spPr>
            <p:txBody>
              <a:bodyPr wrap="none" lIns="0" tIns="0" rIns="0" bIns="0" anchor="t" anchorCtr="0">
                <a:spAutoFit/>
              </a:bodyPr>
              <a:lstStyle/>
              <a:p>
                <a:pPr algn="l"/>
                <a:r>
                  <a:rPr lang="en-US" sz="1200" b="1" dirty="0">
                    <a:solidFill>
                      <a:srgbClr val="1A8FE3"/>
                    </a:solidFill>
                    <a:latin typeface="Malgun Gothic"/>
                    <a:ea typeface="Malgun Gothic"/>
                    <a:cs typeface="Malgun Gothic"/>
                  </a:rPr>
                  <a:t>TYPE A</a:t>
                </a:r>
              </a:p>
            </p:txBody>
          </p:sp>
          <p:sp>
            <p:nvSpPr>
              <p:cNvPr id="14" name="TextBox 14"/>
              <p:cNvSpPr txBox="1"/>
              <p:nvPr/>
            </p:nvSpPr>
            <p:spPr>
              <a:xfrm>
                <a:off x="1464945" y="2365058"/>
                <a:ext cx="2433059" cy="335280"/>
              </a:xfrm>
              <a:prstGeom prst="rect">
                <a:avLst/>
              </a:prstGeom>
              <a:noFill/>
              <a:ln>
                <a:noFill/>
              </a:ln>
            </p:spPr>
            <p:txBody>
              <a:bodyPr wrap="none" lIns="0" tIns="0" rIns="0" bIns="0" anchor="t" anchorCtr="0">
                <a:spAutoFit/>
              </a:bodyPr>
              <a:lstStyle/>
              <a:p>
                <a:pPr algn="l"/>
                <a:r>
                  <a:rPr lang="ko-KR" sz="1650" b="1" dirty="0">
                    <a:solidFill>
                      <a:srgbClr val="FFFFFF"/>
                    </a:solidFill>
                    <a:latin typeface="Malgun Gothic"/>
                    <a:ea typeface="Malgun Gothic"/>
                    <a:cs typeface="Malgun Gothic"/>
                  </a:rPr>
                  <a:t>AI를 활용하는 개발자</a:t>
                </a:r>
              </a:p>
            </p:txBody>
          </p:sp>
        </p:grpSp>
        <p:sp>
          <p:nvSpPr>
            <p:cNvPr id="16" name="Line 16"/>
            <p:cNvSpPr/>
            <p:nvPr/>
          </p:nvSpPr>
          <p:spPr>
            <a:xfrm>
              <a:off x="914400" y="2809875"/>
              <a:ext cx="4533900" cy="9525"/>
            </a:xfrm>
            <a:custGeom>
              <a:avLst/>
              <a:gdLst/>
              <a:ahLst/>
              <a:cxnLst/>
              <a:rect l="l" t="t" r="r" b="b"/>
              <a:pathLst>
                <a:path w="4533900" h="9525">
                  <a:moveTo>
                    <a:pt x="0" y="0"/>
                  </a:moveTo>
                  <a:lnTo>
                    <a:pt x="4533900" y="0"/>
                  </a:lnTo>
                </a:path>
              </a:pathLst>
            </a:custGeom>
            <a:noFill/>
            <a:ln w="9525">
              <a:solidFill>
                <a:srgbClr val="FFFFFF">
                  <a:alpha val="8000"/>
                </a:srgbClr>
              </a:solidFill>
            </a:ln>
          </p:spPr>
        </p:sp>
        <p:grpSp>
          <p:nvGrpSpPr>
            <p:cNvPr id="32" name="Group 32"/>
            <p:cNvGrpSpPr/>
            <p:nvPr/>
          </p:nvGrpSpPr>
          <p:grpSpPr>
            <a:xfrm>
              <a:off x="902970" y="3091339"/>
              <a:ext cx="4545330" cy="1973580"/>
              <a:chOff x="902970" y="3091339"/>
              <a:chExt cx="4545330" cy="1973580"/>
            </a:xfrm>
          </p:grpSpPr>
          <p:grpSp>
            <p:nvGrpSpPr>
              <p:cNvPr id="19" name="Group 19"/>
              <p:cNvGrpSpPr/>
              <p:nvPr/>
            </p:nvGrpSpPr>
            <p:grpSpPr>
              <a:xfrm>
                <a:off x="902970" y="3091339"/>
                <a:ext cx="2857158" cy="259080"/>
                <a:chOff x="902970" y="3091339"/>
                <a:chExt cx="2857158" cy="259080"/>
              </a:xfrm>
            </p:grpSpPr>
            <p:sp>
              <p:nvSpPr>
                <p:cNvPr id="17" name="TextBox 17"/>
                <p:cNvSpPr txBox="1"/>
                <p:nvPr/>
              </p:nvSpPr>
              <p:spPr>
                <a:xfrm>
                  <a:off x="902970" y="3131820"/>
                  <a:ext cx="285750" cy="182880"/>
                </a:xfrm>
                <a:prstGeom prst="rect">
                  <a:avLst/>
                </a:prstGeom>
                <a:noFill/>
                <a:ln>
                  <a:noFill/>
                </a:ln>
              </p:spPr>
              <p:txBody>
                <a:bodyPr wrap="none" lIns="0" tIns="0" rIns="0" bIns="0" anchor="t" anchorCtr="0">
                  <a:spAutoFit/>
                </a:bodyPr>
                <a:lstStyle/>
                <a:p>
                  <a:pPr algn="l"/>
                  <a:r>
                    <a:rPr lang="ko-KR" sz="1200" dirty="0">
                      <a:solidFill>
                        <a:srgbClr val="6B7FBF"/>
                      </a:solidFill>
                      <a:latin typeface="Malgun Gothic"/>
                      <a:ea typeface="Malgun Gothic"/>
                      <a:cs typeface="Malgun Gothic"/>
                    </a:rPr>
                    <a:t>본업</a:t>
                  </a:r>
                </a:p>
              </p:txBody>
            </p:sp>
            <p:sp>
              <p:nvSpPr>
                <p:cNvPr id="18" name="TextBox 18"/>
                <p:cNvSpPr txBox="1"/>
                <p:nvPr/>
              </p:nvSpPr>
              <p:spPr>
                <a:xfrm>
                  <a:off x="1850708" y="3091339"/>
                  <a:ext cx="1909420" cy="259080"/>
                </a:xfrm>
                <a:prstGeom prst="rect">
                  <a:avLst/>
                </a:prstGeom>
                <a:noFill/>
                <a:ln>
                  <a:noFill/>
                </a:ln>
              </p:spPr>
              <p:txBody>
                <a:bodyPr wrap="none" lIns="0" tIns="0" rIns="0" bIns="0" anchor="t" anchorCtr="0">
                  <a:spAutoFit/>
                </a:bodyPr>
                <a:lstStyle/>
                <a:p>
                  <a:pPr algn="l"/>
                  <a:r>
                    <a:rPr lang="ko-KR" sz="1275" b="1" dirty="0">
                      <a:solidFill>
                        <a:srgbClr val="FFFFFF"/>
                      </a:solidFill>
                      <a:latin typeface="Malgun Gothic"/>
                      <a:ea typeface="Malgun Gothic"/>
                      <a:cs typeface="Malgun Gothic"/>
                    </a:rPr>
                    <a:t>문제 정의와 아키텍처</a:t>
                  </a:r>
                </a:p>
              </p:txBody>
            </p:sp>
          </p:grpSp>
          <p:sp>
            <p:nvSpPr>
              <p:cNvPr id="20" name="Line 20"/>
              <p:cNvSpPr/>
              <p:nvPr/>
            </p:nvSpPr>
            <p:spPr>
              <a:xfrm>
                <a:off x="914400" y="3476625"/>
                <a:ext cx="4533900" cy="9525"/>
              </a:xfrm>
              <a:custGeom>
                <a:avLst/>
                <a:gdLst/>
                <a:ahLst/>
                <a:cxnLst/>
                <a:rect l="l" t="t" r="r" b="b"/>
                <a:pathLst>
                  <a:path w="4533900" h="9525">
                    <a:moveTo>
                      <a:pt x="0" y="0"/>
                    </a:moveTo>
                    <a:lnTo>
                      <a:pt x="4533900" y="0"/>
                    </a:lnTo>
                  </a:path>
                </a:pathLst>
              </a:custGeom>
              <a:noFill/>
              <a:ln w="9525">
                <a:solidFill>
                  <a:srgbClr val="FFFFFF">
                    <a:alpha val="5000"/>
                  </a:srgbClr>
                </a:solidFill>
              </a:ln>
            </p:spPr>
          </p:sp>
          <p:grpSp>
            <p:nvGrpSpPr>
              <p:cNvPr id="23" name="Group 23"/>
              <p:cNvGrpSpPr/>
              <p:nvPr/>
            </p:nvGrpSpPr>
            <p:grpSpPr>
              <a:xfrm>
                <a:off x="902970" y="3662839"/>
                <a:ext cx="2045731" cy="259080"/>
                <a:chOff x="902970" y="3662839"/>
                <a:chExt cx="2045731" cy="259080"/>
              </a:xfrm>
            </p:grpSpPr>
            <p:sp>
              <p:nvSpPr>
                <p:cNvPr id="21" name="TextBox 21"/>
                <p:cNvSpPr txBox="1"/>
                <p:nvPr/>
              </p:nvSpPr>
              <p:spPr>
                <a:xfrm>
                  <a:off x="902970" y="3703320"/>
                  <a:ext cx="285750" cy="182880"/>
                </a:xfrm>
                <a:prstGeom prst="rect">
                  <a:avLst/>
                </a:prstGeom>
                <a:noFill/>
                <a:ln>
                  <a:noFill/>
                </a:ln>
              </p:spPr>
              <p:txBody>
                <a:bodyPr wrap="none" lIns="0" tIns="0" rIns="0" bIns="0" anchor="t" anchorCtr="0">
                  <a:spAutoFit/>
                </a:bodyPr>
                <a:lstStyle/>
                <a:p>
                  <a:pPr algn="l"/>
                  <a:r>
                    <a:rPr lang="ko-KR" sz="1200" dirty="0">
                      <a:solidFill>
                        <a:srgbClr val="6B7FBF"/>
                      </a:solidFill>
                      <a:latin typeface="Malgun Gothic"/>
                      <a:ea typeface="Malgun Gothic"/>
                      <a:cs typeface="Malgun Gothic"/>
                    </a:rPr>
                    <a:t>속도</a:t>
                  </a:r>
                </a:p>
              </p:txBody>
            </p:sp>
            <p:sp>
              <p:nvSpPr>
                <p:cNvPr id="22" name="TextBox 22"/>
                <p:cNvSpPr txBox="1"/>
                <p:nvPr/>
              </p:nvSpPr>
              <p:spPr>
                <a:xfrm>
                  <a:off x="1850708" y="3662839"/>
                  <a:ext cx="1097993" cy="259080"/>
                </a:xfrm>
                <a:prstGeom prst="rect">
                  <a:avLst/>
                </a:prstGeom>
                <a:noFill/>
                <a:ln>
                  <a:noFill/>
                </a:ln>
              </p:spPr>
              <p:txBody>
                <a:bodyPr wrap="none" lIns="0" tIns="0" rIns="0" bIns="0" anchor="t" anchorCtr="0">
                  <a:spAutoFit/>
                </a:bodyPr>
                <a:lstStyle/>
                <a:p>
                  <a:pPr algn="l"/>
                  <a:r>
                    <a:rPr lang="ko-KR" sz="1275" b="1" dirty="0">
                      <a:solidFill>
                        <a:srgbClr val="FFFFFF"/>
                      </a:solidFill>
                      <a:latin typeface="Malgun Gothic"/>
                      <a:ea typeface="Malgun Gothic"/>
                      <a:cs typeface="Malgun Gothic"/>
                    </a:rPr>
                    <a:t xml:space="preserve">1인이 </a:t>
                  </a:r>
                  <a:r>
                    <a:rPr lang="ko-KR" sz="1275" b="1" dirty="0">
                      <a:solidFill>
                        <a:srgbClr val="1A8FE3"/>
                      </a:solidFill>
                      <a:latin typeface="Malgun Gothic"/>
                      <a:ea typeface="Malgun Gothic"/>
                      <a:cs typeface="Malgun Gothic"/>
                    </a:rPr>
                    <a:t>5인 몫</a:t>
                  </a:r>
                </a:p>
              </p:txBody>
            </p:sp>
          </p:grpSp>
          <p:sp>
            <p:nvSpPr>
              <p:cNvPr id="24" name="Line 24"/>
              <p:cNvSpPr/>
              <p:nvPr/>
            </p:nvSpPr>
            <p:spPr>
              <a:xfrm>
                <a:off x="914400" y="4048125"/>
                <a:ext cx="4533900" cy="9525"/>
              </a:xfrm>
              <a:custGeom>
                <a:avLst/>
                <a:gdLst/>
                <a:ahLst/>
                <a:cxnLst/>
                <a:rect l="l" t="t" r="r" b="b"/>
                <a:pathLst>
                  <a:path w="4533900" h="9525">
                    <a:moveTo>
                      <a:pt x="0" y="0"/>
                    </a:moveTo>
                    <a:lnTo>
                      <a:pt x="4533900" y="0"/>
                    </a:lnTo>
                  </a:path>
                </a:pathLst>
              </a:custGeom>
              <a:noFill/>
              <a:ln w="9525">
                <a:solidFill>
                  <a:srgbClr val="FFFFFF">
                    <a:alpha val="5000"/>
                  </a:srgbClr>
                </a:solidFill>
              </a:ln>
            </p:spPr>
          </p:sp>
          <p:grpSp>
            <p:nvGrpSpPr>
              <p:cNvPr id="27" name="Group 27"/>
              <p:cNvGrpSpPr/>
              <p:nvPr/>
            </p:nvGrpSpPr>
            <p:grpSpPr>
              <a:xfrm>
                <a:off x="902970" y="4234339"/>
                <a:ext cx="2915815" cy="259080"/>
                <a:chOff x="902970" y="4234339"/>
                <a:chExt cx="2915815" cy="259080"/>
              </a:xfrm>
            </p:grpSpPr>
            <p:sp>
              <p:nvSpPr>
                <p:cNvPr id="25" name="TextBox 25"/>
                <p:cNvSpPr txBox="1"/>
                <p:nvPr/>
              </p:nvSpPr>
              <p:spPr>
                <a:xfrm>
                  <a:off x="902970" y="4274820"/>
                  <a:ext cx="285750" cy="182880"/>
                </a:xfrm>
                <a:prstGeom prst="rect">
                  <a:avLst/>
                </a:prstGeom>
                <a:noFill/>
                <a:ln>
                  <a:noFill/>
                </a:ln>
              </p:spPr>
              <p:txBody>
                <a:bodyPr wrap="none" lIns="0" tIns="0" rIns="0" bIns="0" anchor="t" anchorCtr="0">
                  <a:spAutoFit/>
                </a:bodyPr>
                <a:lstStyle/>
                <a:p>
                  <a:pPr algn="l"/>
                  <a:r>
                    <a:rPr lang="ko-KR" sz="1200" dirty="0">
                      <a:solidFill>
                        <a:srgbClr val="6B7FBF"/>
                      </a:solidFill>
                      <a:latin typeface="Malgun Gothic"/>
                      <a:ea typeface="Malgun Gothic"/>
                      <a:cs typeface="Malgun Gothic"/>
                    </a:rPr>
                    <a:t>학습</a:t>
                  </a:r>
                </a:p>
              </p:txBody>
            </p:sp>
            <p:sp>
              <p:nvSpPr>
                <p:cNvPr id="26" name="TextBox 26"/>
                <p:cNvSpPr txBox="1"/>
                <p:nvPr/>
              </p:nvSpPr>
              <p:spPr>
                <a:xfrm>
                  <a:off x="1850708" y="4234339"/>
                  <a:ext cx="1968077" cy="259080"/>
                </a:xfrm>
                <a:prstGeom prst="rect">
                  <a:avLst/>
                </a:prstGeom>
                <a:noFill/>
                <a:ln>
                  <a:noFill/>
                </a:ln>
              </p:spPr>
              <p:txBody>
                <a:bodyPr wrap="none" lIns="0" tIns="0" rIns="0" bIns="0" anchor="t" anchorCtr="0">
                  <a:spAutoFit/>
                </a:bodyPr>
                <a:lstStyle/>
                <a:p>
                  <a:pPr algn="l"/>
                  <a:r>
                    <a:rPr lang="ko-KR" sz="1275" b="1" dirty="0">
                      <a:solidFill>
                        <a:srgbClr val="FFFFFF"/>
                      </a:solidFill>
                      <a:latin typeface="Malgun Gothic"/>
                      <a:ea typeface="Malgun Gothic"/>
                      <a:cs typeface="Malgun Gothic"/>
                    </a:rPr>
                    <a:t>매일 새로운 도구 실험</a:t>
                  </a:r>
                </a:p>
              </p:txBody>
            </p:sp>
          </p:grpSp>
          <p:sp>
            <p:nvSpPr>
              <p:cNvPr id="28" name="Line 28"/>
              <p:cNvSpPr/>
              <p:nvPr/>
            </p:nvSpPr>
            <p:spPr>
              <a:xfrm>
                <a:off x="914400" y="4619625"/>
                <a:ext cx="4533900" cy="9525"/>
              </a:xfrm>
              <a:custGeom>
                <a:avLst/>
                <a:gdLst/>
                <a:ahLst/>
                <a:cxnLst/>
                <a:rect l="l" t="t" r="r" b="b"/>
                <a:pathLst>
                  <a:path w="4533900" h="9525">
                    <a:moveTo>
                      <a:pt x="0" y="0"/>
                    </a:moveTo>
                    <a:lnTo>
                      <a:pt x="4533900" y="0"/>
                    </a:lnTo>
                  </a:path>
                </a:pathLst>
              </a:custGeom>
              <a:noFill/>
              <a:ln w="9525">
                <a:solidFill>
                  <a:srgbClr val="FFFFFF">
                    <a:alpha val="5000"/>
                  </a:srgbClr>
                </a:solidFill>
              </a:ln>
            </p:spPr>
          </p:sp>
          <p:grpSp>
            <p:nvGrpSpPr>
              <p:cNvPr id="31" name="Group 31"/>
              <p:cNvGrpSpPr/>
              <p:nvPr/>
            </p:nvGrpSpPr>
            <p:grpSpPr>
              <a:xfrm>
                <a:off x="902970" y="4805839"/>
                <a:ext cx="2211927" cy="259080"/>
                <a:chOff x="902970" y="4805839"/>
                <a:chExt cx="2211927" cy="259080"/>
              </a:xfrm>
            </p:grpSpPr>
            <p:sp>
              <p:nvSpPr>
                <p:cNvPr id="29" name="TextBox 29"/>
                <p:cNvSpPr txBox="1"/>
                <p:nvPr/>
              </p:nvSpPr>
              <p:spPr>
                <a:xfrm>
                  <a:off x="902970" y="4846320"/>
                  <a:ext cx="285750" cy="182880"/>
                </a:xfrm>
                <a:prstGeom prst="rect">
                  <a:avLst/>
                </a:prstGeom>
                <a:noFill/>
                <a:ln>
                  <a:noFill/>
                </a:ln>
              </p:spPr>
              <p:txBody>
                <a:bodyPr wrap="none" lIns="0" tIns="0" rIns="0" bIns="0" anchor="t" anchorCtr="0">
                  <a:spAutoFit/>
                </a:bodyPr>
                <a:lstStyle/>
                <a:p>
                  <a:pPr algn="l"/>
                  <a:r>
                    <a:rPr lang="ko-KR" sz="1200" dirty="0">
                      <a:solidFill>
                        <a:srgbClr val="6B7FBF"/>
                      </a:solidFill>
                      <a:latin typeface="Malgun Gothic"/>
                      <a:ea typeface="Malgun Gothic"/>
                      <a:cs typeface="Malgun Gothic"/>
                    </a:rPr>
                    <a:t>가치</a:t>
                  </a:r>
                </a:p>
              </p:txBody>
            </p:sp>
            <p:sp>
              <p:nvSpPr>
                <p:cNvPr id="30" name="TextBox 30"/>
                <p:cNvSpPr txBox="1"/>
                <p:nvPr/>
              </p:nvSpPr>
              <p:spPr>
                <a:xfrm>
                  <a:off x="1850708" y="4805839"/>
                  <a:ext cx="1264189" cy="259080"/>
                </a:xfrm>
                <a:prstGeom prst="rect">
                  <a:avLst/>
                </a:prstGeom>
                <a:noFill/>
                <a:ln>
                  <a:noFill/>
                </a:ln>
              </p:spPr>
              <p:txBody>
                <a:bodyPr wrap="none" lIns="0" tIns="0" rIns="0" bIns="0" anchor="t" anchorCtr="0">
                  <a:spAutoFit/>
                </a:bodyPr>
                <a:lstStyle/>
                <a:p>
                  <a:pPr algn="l"/>
                  <a:r>
                    <a:rPr lang="ko-KR" sz="1275" b="1" dirty="0">
                      <a:solidFill>
                        <a:srgbClr val="FFFFFF"/>
                      </a:solidFill>
                      <a:latin typeface="Malgun Gothic"/>
                      <a:ea typeface="Malgun Gothic"/>
                      <a:cs typeface="Malgun Gothic"/>
                    </a:rPr>
                    <a:t xml:space="preserve">시장에서 </a:t>
                  </a:r>
                  <a:r>
                    <a:rPr lang="ko-KR" sz="1275" b="1" dirty="0">
                      <a:solidFill>
                        <a:srgbClr val="1A8FE3"/>
                      </a:solidFill>
                      <a:latin typeface="Malgun Gothic"/>
                      <a:ea typeface="Malgun Gothic"/>
                      <a:cs typeface="Malgun Gothic"/>
                    </a:rPr>
                    <a:t>희소</a:t>
                  </a:r>
                </a:p>
              </p:txBody>
            </p:sp>
          </p:grpSp>
        </p:grpSp>
        <p:grpSp>
          <p:nvGrpSpPr>
            <p:cNvPr id="35" name="Group 35"/>
            <p:cNvGrpSpPr/>
            <p:nvPr/>
          </p:nvGrpSpPr>
          <p:grpSpPr>
            <a:xfrm>
              <a:off x="914400" y="5476875"/>
              <a:ext cx="4533900" cy="766763"/>
              <a:chOff x="914400" y="5476875"/>
              <a:chExt cx="4533900" cy="766763"/>
            </a:xfrm>
          </p:grpSpPr>
          <p:sp>
            <p:nvSpPr>
              <p:cNvPr id="33" name="Rectangle 33"/>
              <p:cNvSpPr/>
              <p:nvPr/>
            </p:nvSpPr>
            <p:spPr>
              <a:xfrm>
                <a:off x="914400" y="5476875"/>
                <a:ext cx="4533900" cy="533400"/>
              </a:xfrm>
              <a:prstGeom prst="roundRect">
                <a:avLst>
                  <a:gd name="adj" fmla="val 14286"/>
                </a:avLst>
              </a:prstGeom>
              <a:solidFill>
                <a:srgbClr val="1A8FE3">
                  <a:alpha val="12000"/>
                </a:srgbClr>
              </a:solidFill>
              <a:ln>
                <a:noFill/>
              </a:ln>
            </p:spPr>
          </p:sp>
          <p:sp>
            <p:nvSpPr>
              <p:cNvPr id="34" name="TextBox 34"/>
              <p:cNvSpPr txBox="1"/>
              <p:nvPr/>
            </p:nvSpPr>
            <p:spPr>
              <a:xfrm>
                <a:off x="1377315" y="6030278"/>
                <a:ext cx="1805559" cy="213360"/>
              </a:xfrm>
              <a:prstGeom prst="rect">
                <a:avLst/>
              </a:prstGeom>
              <a:noFill/>
              <a:ln>
                <a:noFill/>
              </a:ln>
            </p:spPr>
            <p:txBody>
              <a:bodyPr wrap="none" lIns="0" tIns="0" rIns="0" bIns="0" anchor="t" anchorCtr="0">
                <a:spAutoFit/>
              </a:bodyPr>
              <a:lstStyle/>
              <a:p>
                <a:pPr algn="l"/>
                <a:r>
                  <a:rPr lang="ko-KR" sz="1200" dirty="0">
                    <a:solidFill>
                      <a:srgbClr val="A8C9E8"/>
                    </a:solidFill>
                    <a:latin typeface="Malgun Gothic"/>
                    <a:ea typeface="Malgun Gothic"/>
                    <a:cs typeface="Malgun Gothic"/>
                  </a:rPr>
                  <a:t>레버리지가 누적되는 방향</a:t>
                </a:r>
              </a:p>
            </p:txBody>
          </p:sp>
        </p:grpSp>
      </p:grpSp>
      <p:grpSp>
        <p:nvGrpSpPr>
          <p:cNvPr id="62" name="Group 62"/>
          <p:cNvGrpSpPr/>
          <p:nvPr/>
        </p:nvGrpSpPr>
        <p:grpSpPr>
          <a:xfrm>
            <a:off x="6438900" y="1857375"/>
            <a:ext cx="5143500" cy="4429125"/>
            <a:chOff x="6438900" y="1857375"/>
            <a:chExt cx="5143500" cy="4429125"/>
          </a:xfrm>
        </p:grpSpPr>
        <p:sp>
          <p:nvSpPr>
            <p:cNvPr id="37" name="Rectangle 37"/>
            <p:cNvSpPr/>
            <p:nvPr/>
          </p:nvSpPr>
          <p:spPr>
            <a:xfrm>
              <a:off x="6438900" y="1857375"/>
              <a:ext cx="5143500" cy="4429125"/>
            </a:xfrm>
            <a:prstGeom prst="roundRect">
              <a:avLst>
                <a:gd name="adj" fmla="val 3441"/>
              </a:avLst>
            </a:prstGeom>
            <a:gradFill>
              <a:gsLst>
                <a:gs pos="0">
                  <a:srgbClr val="6B7280">
                    <a:alpha val="12000"/>
                  </a:srgbClr>
                </a:gs>
                <a:gs pos="100000">
                  <a:srgbClr val="6B7280">
                    <a:alpha val="3000"/>
                  </a:srgbClr>
                </a:gs>
              </a:gsLst>
              <a:lin ang="5400000" scaled="1"/>
            </a:gradFill>
            <a:ln w="9525">
              <a:solidFill>
                <a:srgbClr val="6B7280">
                  <a:alpha val="30000"/>
                </a:srgbClr>
              </a:solidFill>
            </a:ln>
          </p:spPr>
        </p:sp>
        <p:grpSp>
          <p:nvGrpSpPr>
            <p:cNvPr id="41" name="Group 41"/>
            <p:cNvGrpSpPr/>
            <p:nvPr/>
          </p:nvGrpSpPr>
          <p:grpSpPr>
            <a:xfrm>
              <a:off x="6743700" y="2143125"/>
              <a:ext cx="2983604" cy="557213"/>
              <a:chOff x="6743700" y="2143125"/>
              <a:chExt cx="2983604" cy="557213"/>
            </a:xfrm>
          </p:grpSpPr>
          <p:sp>
            <p:nvSpPr>
              <p:cNvPr id="38" name="Rectangle 38"/>
              <p:cNvSpPr/>
              <p:nvPr/>
            </p:nvSpPr>
            <p:spPr>
              <a:xfrm>
                <a:off x="6743700" y="2143125"/>
                <a:ext cx="419100" cy="419100"/>
              </a:xfrm>
              <a:prstGeom prst="roundRect">
                <a:avLst>
                  <a:gd name="adj" fmla="val 22727"/>
                </a:avLst>
              </a:prstGeom>
              <a:solidFill>
                <a:srgbClr val="6B7280">
                  <a:alpha val="18000"/>
                </a:srgbClr>
              </a:solidFill>
              <a:ln>
                <a:noFill/>
              </a:ln>
            </p:spPr>
          </p:sp>
          <p:sp>
            <p:nvSpPr>
              <p:cNvPr id="39" name="TextBox 39"/>
              <p:cNvSpPr txBox="1"/>
              <p:nvPr/>
            </p:nvSpPr>
            <p:spPr>
              <a:xfrm>
                <a:off x="7302818" y="2228374"/>
                <a:ext cx="480797" cy="198120"/>
              </a:xfrm>
              <a:prstGeom prst="rect">
                <a:avLst/>
              </a:prstGeom>
              <a:noFill/>
              <a:ln>
                <a:noFill/>
              </a:ln>
            </p:spPr>
            <p:txBody>
              <a:bodyPr wrap="none" lIns="0" tIns="0" rIns="0" bIns="0" anchor="t" anchorCtr="0">
                <a:spAutoFit/>
              </a:bodyPr>
              <a:lstStyle/>
              <a:p>
                <a:pPr algn="l"/>
                <a:r>
                  <a:rPr lang="en-US" sz="1200" b="1" dirty="0">
                    <a:solidFill>
                      <a:srgbClr val="9CA3AF"/>
                    </a:solidFill>
                    <a:latin typeface="Malgun Gothic"/>
                    <a:ea typeface="Malgun Gothic"/>
                    <a:cs typeface="Malgun Gothic"/>
                  </a:rPr>
                  <a:t>TYPE B</a:t>
                </a:r>
              </a:p>
            </p:txBody>
          </p:sp>
          <p:sp>
            <p:nvSpPr>
              <p:cNvPr id="40" name="TextBox 40"/>
              <p:cNvSpPr txBox="1"/>
              <p:nvPr/>
            </p:nvSpPr>
            <p:spPr>
              <a:xfrm>
                <a:off x="7294245" y="2365058"/>
                <a:ext cx="2433059" cy="335280"/>
              </a:xfrm>
              <a:prstGeom prst="rect">
                <a:avLst/>
              </a:prstGeom>
              <a:noFill/>
              <a:ln>
                <a:noFill/>
              </a:ln>
            </p:spPr>
            <p:txBody>
              <a:bodyPr wrap="none" lIns="0" tIns="0" rIns="0" bIns="0" anchor="t" anchorCtr="0">
                <a:spAutoFit/>
              </a:bodyPr>
              <a:lstStyle/>
              <a:p>
                <a:pPr algn="l"/>
                <a:r>
                  <a:rPr lang="ko-KR" sz="1650" b="1" dirty="0">
                    <a:solidFill>
                      <a:srgbClr val="E5E7EB"/>
                    </a:solidFill>
                    <a:latin typeface="Malgun Gothic"/>
                    <a:ea typeface="Malgun Gothic"/>
                    <a:cs typeface="Malgun Gothic"/>
                  </a:rPr>
                  <a:t>AI를 외면하는 개발자</a:t>
                </a:r>
              </a:p>
            </p:txBody>
          </p:sp>
        </p:grpSp>
        <p:sp>
          <p:nvSpPr>
            <p:cNvPr id="42" name="Line 42"/>
            <p:cNvSpPr/>
            <p:nvPr/>
          </p:nvSpPr>
          <p:spPr>
            <a:xfrm>
              <a:off x="6743700" y="2809875"/>
              <a:ext cx="4533900" cy="9525"/>
            </a:xfrm>
            <a:custGeom>
              <a:avLst/>
              <a:gdLst/>
              <a:ahLst/>
              <a:cxnLst/>
              <a:rect l="l" t="t" r="r" b="b"/>
              <a:pathLst>
                <a:path w="4533900" h="9525">
                  <a:moveTo>
                    <a:pt x="0" y="0"/>
                  </a:moveTo>
                  <a:lnTo>
                    <a:pt x="4533900" y="0"/>
                  </a:lnTo>
                </a:path>
              </a:pathLst>
            </a:custGeom>
            <a:noFill/>
            <a:ln w="9525">
              <a:solidFill>
                <a:srgbClr val="FFFFFF">
                  <a:alpha val="8000"/>
                </a:srgbClr>
              </a:solidFill>
            </a:ln>
          </p:spPr>
        </p:sp>
        <p:grpSp>
          <p:nvGrpSpPr>
            <p:cNvPr id="58" name="Group 58"/>
            <p:cNvGrpSpPr/>
            <p:nvPr/>
          </p:nvGrpSpPr>
          <p:grpSpPr>
            <a:xfrm>
              <a:off x="6732270" y="3091339"/>
              <a:ext cx="4545330" cy="1973580"/>
              <a:chOff x="6732270" y="3091339"/>
              <a:chExt cx="4545330" cy="1973580"/>
            </a:xfrm>
          </p:grpSpPr>
          <p:grpSp>
            <p:nvGrpSpPr>
              <p:cNvPr id="45" name="Group 45"/>
              <p:cNvGrpSpPr/>
              <p:nvPr/>
            </p:nvGrpSpPr>
            <p:grpSpPr>
              <a:xfrm>
                <a:off x="6732270" y="3091339"/>
                <a:ext cx="2581561" cy="259080"/>
                <a:chOff x="6732270" y="3091339"/>
                <a:chExt cx="2581561" cy="259080"/>
              </a:xfrm>
            </p:grpSpPr>
            <p:sp>
              <p:nvSpPr>
                <p:cNvPr id="43" name="TextBox 43"/>
                <p:cNvSpPr txBox="1"/>
                <p:nvPr/>
              </p:nvSpPr>
              <p:spPr>
                <a:xfrm>
                  <a:off x="6732270" y="3131820"/>
                  <a:ext cx="285750" cy="182880"/>
                </a:xfrm>
                <a:prstGeom prst="rect">
                  <a:avLst/>
                </a:prstGeom>
                <a:noFill/>
                <a:ln>
                  <a:noFill/>
                </a:ln>
              </p:spPr>
              <p:txBody>
                <a:bodyPr wrap="none" lIns="0" tIns="0" rIns="0" bIns="0" anchor="t" anchorCtr="0">
                  <a:spAutoFit/>
                </a:bodyPr>
                <a:lstStyle/>
                <a:p>
                  <a:pPr algn="l"/>
                  <a:r>
                    <a:rPr lang="ko-KR" sz="1200" dirty="0">
                      <a:solidFill>
                        <a:srgbClr val="6B7280"/>
                      </a:solidFill>
                      <a:latin typeface="Malgun Gothic"/>
                      <a:ea typeface="Malgun Gothic"/>
                      <a:cs typeface="Malgun Gothic"/>
                    </a:rPr>
                    <a:t>본업</a:t>
                  </a:r>
                </a:p>
              </p:txBody>
            </p:sp>
            <p:sp>
              <p:nvSpPr>
                <p:cNvPr id="44" name="TextBox 44"/>
                <p:cNvSpPr txBox="1"/>
                <p:nvPr/>
              </p:nvSpPr>
              <p:spPr>
                <a:xfrm>
                  <a:off x="7680008" y="3091339"/>
                  <a:ext cx="1633823" cy="259080"/>
                </a:xfrm>
                <a:prstGeom prst="rect">
                  <a:avLst/>
                </a:prstGeom>
                <a:noFill/>
                <a:ln>
                  <a:noFill/>
                </a:ln>
              </p:spPr>
              <p:txBody>
                <a:bodyPr wrap="none" lIns="0" tIns="0" rIns="0" bIns="0" anchor="t" anchorCtr="0">
                  <a:spAutoFit/>
                </a:bodyPr>
                <a:lstStyle/>
                <a:p>
                  <a:pPr algn="l"/>
                  <a:r>
                    <a:rPr lang="ko-KR" sz="1275" dirty="0">
                      <a:solidFill>
                        <a:srgbClr val="D1D5DB"/>
                      </a:solidFill>
                      <a:latin typeface="Malgun Gothic"/>
                      <a:ea typeface="Malgun Gothic"/>
                      <a:cs typeface="Malgun Gothic"/>
                    </a:rPr>
                    <a:t>반복적인 구현 작업</a:t>
                  </a:r>
                </a:p>
              </p:txBody>
            </p:sp>
          </p:grpSp>
          <p:sp>
            <p:nvSpPr>
              <p:cNvPr id="46" name="Line 46"/>
              <p:cNvSpPr/>
              <p:nvPr/>
            </p:nvSpPr>
            <p:spPr>
              <a:xfrm>
                <a:off x="6743700" y="3476625"/>
                <a:ext cx="4533900" cy="9525"/>
              </a:xfrm>
              <a:custGeom>
                <a:avLst/>
                <a:gdLst/>
                <a:ahLst/>
                <a:cxnLst/>
                <a:rect l="l" t="t" r="r" b="b"/>
                <a:pathLst>
                  <a:path w="4533900" h="9525">
                    <a:moveTo>
                      <a:pt x="0" y="0"/>
                    </a:moveTo>
                    <a:lnTo>
                      <a:pt x="4533900" y="0"/>
                    </a:lnTo>
                  </a:path>
                </a:pathLst>
              </a:custGeom>
              <a:noFill/>
              <a:ln w="9525">
                <a:solidFill>
                  <a:srgbClr val="FFFFFF">
                    <a:alpha val="5000"/>
                  </a:srgbClr>
                </a:solidFill>
              </a:ln>
            </p:spPr>
          </p:sp>
          <p:grpSp>
            <p:nvGrpSpPr>
              <p:cNvPr id="49" name="Group 49"/>
              <p:cNvGrpSpPr/>
              <p:nvPr/>
            </p:nvGrpSpPr>
            <p:grpSpPr>
              <a:xfrm>
                <a:off x="6732270" y="3662839"/>
                <a:ext cx="2209134" cy="259080"/>
                <a:chOff x="6732270" y="3662839"/>
                <a:chExt cx="2209134" cy="259080"/>
              </a:xfrm>
            </p:grpSpPr>
            <p:sp>
              <p:nvSpPr>
                <p:cNvPr id="47" name="TextBox 47"/>
                <p:cNvSpPr txBox="1"/>
                <p:nvPr/>
              </p:nvSpPr>
              <p:spPr>
                <a:xfrm>
                  <a:off x="6732270" y="3703320"/>
                  <a:ext cx="285750" cy="182880"/>
                </a:xfrm>
                <a:prstGeom prst="rect">
                  <a:avLst/>
                </a:prstGeom>
                <a:noFill/>
                <a:ln>
                  <a:noFill/>
                </a:ln>
              </p:spPr>
              <p:txBody>
                <a:bodyPr wrap="none" lIns="0" tIns="0" rIns="0" bIns="0" anchor="t" anchorCtr="0">
                  <a:spAutoFit/>
                </a:bodyPr>
                <a:lstStyle/>
                <a:p>
                  <a:pPr algn="l"/>
                  <a:r>
                    <a:rPr lang="ko-KR" sz="1200" dirty="0">
                      <a:solidFill>
                        <a:srgbClr val="6B7280"/>
                      </a:solidFill>
                      <a:latin typeface="Malgun Gothic"/>
                      <a:ea typeface="Malgun Gothic"/>
                      <a:cs typeface="Malgun Gothic"/>
                    </a:rPr>
                    <a:t>속도</a:t>
                  </a:r>
                </a:p>
              </p:txBody>
            </p:sp>
            <p:sp>
              <p:nvSpPr>
                <p:cNvPr id="48" name="TextBox 48"/>
                <p:cNvSpPr txBox="1"/>
                <p:nvPr/>
              </p:nvSpPr>
              <p:spPr>
                <a:xfrm>
                  <a:off x="7680008" y="3662839"/>
                  <a:ext cx="1261396" cy="259080"/>
                </a:xfrm>
                <a:prstGeom prst="rect">
                  <a:avLst/>
                </a:prstGeom>
                <a:noFill/>
                <a:ln>
                  <a:noFill/>
                </a:ln>
              </p:spPr>
              <p:txBody>
                <a:bodyPr wrap="none" lIns="0" tIns="0" rIns="0" bIns="0" anchor="t" anchorCtr="0">
                  <a:spAutoFit/>
                </a:bodyPr>
                <a:lstStyle/>
                <a:p>
                  <a:pPr algn="l"/>
                  <a:r>
                    <a:rPr lang="ko-KR" sz="1275" dirty="0">
                      <a:solidFill>
                        <a:srgbClr val="D1D5DB"/>
                      </a:solidFill>
                      <a:latin typeface="Malgun Gothic"/>
                      <a:ea typeface="Malgun Gothic"/>
                      <a:cs typeface="Malgun Gothic"/>
                    </a:rPr>
                    <a:t>기존 방식 유지</a:t>
                  </a:r>
                </a:p>
              </p:txBody>
            </p:sp>
          </p:grpSp>
          <p:sp>
            <p:nvSpPr>
              <p:cNvPr id="50" name="Line 50"/>
              <p:cNvSpPr/>
              <p:nvPr/>
            </p:nvSpPr>
            <p:spPr>
              <a:xfrm>
                <a:off x="6743700" y="4048125"/>
                <a:ext cx="4533900" cy="9525"/>
              </a:xfrm>
              <a:custGeom>
                <a:avLst/>
                <a:gdLst/>
                <a:ahLst/>
                <a:cxnLst/>
                <a:rect l="l" t="t" r="r" b="b"/>
                <a:pathLst>
                  <a:path w="4533900" h="9525">
                    <a:moveTo>
                      <a:pt x="0" y="0"/>
                    </a:moveTo>
                    <a:lnTo>
                      <a:pt x="4533900" y="0"/>
                    </a:lnTo>
                  </a:path>
                </a:pathLst>
              </a:custGeom>
              <a:noFill/>
              <a:ln w="9525">
                <a:solidFill>
                  <a:srgbClr val="FFFFFF">
                    <a:alpha val="5000"/>
                  </a:srgbClr>
                </a:solidFill>
              </a:ln>
            </p:spPr>
          </p:sp>
          <p:grpSp>
            <p:nvGrpSpPr>
              <p:cNvPr id="53" name="Group 53"/>
              <p:cNvGrpSpPr/>
              <p:nvPr/>
            </p:nvGrpSpPr>
            <p:grpSpPr>
              <a:xfrm>
                <a:off x="6732270" y="4234339"/>
                <a:ext cx="1780842" cy="259080"/>
                <a:chOff x="6732270" y="4234339"/>
                <a:chExt cx="1780842" cy="259080"/>
              </a:xfrm>
            </p:grpSpPr>
            <p:sp>
              <p:nvSpPr>
                <p:cNvPr id="51" name="TextBox 51"/>
                <p:cNvSpPr txBox="1"/>
                <p:nvPr/>
              </p:nvSpPr>
              <p:spPr>
                <a:xfrm>
                  <a:off x="6732270" y="4274820"/>
                  <a:ext cx="285750" cy="182880"/>
                </a:xfrm>
                <a:prstGeom prst="rect">
                  <a:avLst/>
                </a:prstGeom>
                <a:noFill/>
                <a:ln>
                  <a:noFill/>
                </a:ln>
              </p:spPr>
              <p:txBody>
                <a:bodyPr wrap="none" lIns="0" tIns="0" rIns="0" bIns="0" anchor="t" anchorCtr="0">
                  <a:spAutoFit/>
                </a:bodyPr>
                <a:lstStyle/>
                <a:p>
                  <a:pPr algn="l"/>
                  <a:r>
                    <a:rPr lang="ko-KR" sz="1200" dirty="0">
                      <a:solidFill>
                        <a:srgbClr val="6B7280"/>
                      </a:solidFill>
                      <a:latin typeface="Malgun Gothic"/>
                      <a:ea typeface="Malgun Gothic"/>
                      <a:cs typeface="Malgun Gothic"/>
                    </a:rPr>
                    <a:t>학습</a:t>
                  </a:r>
                </a:p>
              </p:txBody>
            </p:sp>
            <p:sp>
              <p:nvSpPr>
                <p:cNvPr id="52" name="TextBox 52"/>
                <p:cNvSpPr txBox="1"/>
                <p:nvPr/>
              </p:nvSpPr>
              <p:spPr>
                <a:xfrm>
                  <a:off x="7680008" y="4234339"/>
                  <a:ext cx="833104" cy="259080"/>
                </a:xfrm>
                <a:prstGeom prst="rect">
                  <a:avLst/>
                </a:prstGeom>
                <a:noFill/>
                <a:ln>
                  <a:noFill/>
                </a:ln>
              </p:spPr>
              <p:txBody>
                <a:bodyPr wrap="none" lIns="0" tIns="0" rIns="0" bIns="0" anchor="t" anchorCtr="0">
                  <a:spAutoFit/>
                </a:bodyPr>
                <a:lstStyle/>
                <a:p>
                  <a:pPr algn="l"/>
                  <a:r>
                    <a:rPr lang="ko-KR" sz="1275" dirty="0">
                      <a:solidFill>
                        <a:srgbClr val="D1D5DB"/>
                      </a:solidFill>
                      <a:latin typeface="Malgun Gothic"/>
                      <a:ea typeface="Malgun Gothic"/>
                      <a:cs typeface="Malgun Gothic"/>
                    </a:rPr>
                    <a:t>변화 거부</a:t>
                  </a:r>
                </a:p>
              </p:txBody>
            </p:sp>
          </p:grpSp>
          <p:sp>
            <p:nvSpPr>
              <p:cNvPr id="54" name="Line 54"/>
              <p:cNvSpPr/>
              <p:nvPr/>
            </p:nvSpPr>
            <p:spPr>
              <a:xfrm>
                <a:off x="6743700" y="4619625"/>
                <a:ext cx="4533900" cy="9525"/>
              </a:xfrm>
              <a:custGeom>
                <a:avLst/>
                <a:gdLst/>
                <a:ahLst/>
                <a:cxnLst/>
                <a:rect l="l" t="t" r="r" b="b"/>
                <a:pathLst>
                  <a:path w="4533900" h="9525">
                    <a:moveTo>
                      <a:pt x="0" y="0"/>
                    </a:moveTo>
                    <a:lnTo>
                      <a:pt x="4533900" y="0"/>
                    </a:lnTo>
                  </a:path>
                </a:pathLst>
              </a:custGeom>
              <a:noFill/>
              <a:ln w="9525">
                <a:solidFill>
                  <a:srgbClr val="FFFFFF">
                    <a:alpha val="5000"/>
                  </a:srgbClr>
                </a:solidFill>
              </a:ln>
            </p:spPr>
          </p:sp>
          <p:grpSp>
            <p:nvGrpSpPr>
              <p:cNvPr id="57" name="Group 57"/>
              <p:cNvGrpSpPr/>
              <p:nvPr/>
            </p:nvGrpSpPr>
            <p:grpSpPr>
              <a:xfrm>
                <a:off x="6732270" y="4805839"/>
                <a:ext cx="2153270" cy="259080"/>
                <a:chOff x="6732270" y="4805839"/>
                <a:chExt cx="2153270" cy="259080"/>
              </a:xfrm>
            </p:grpSpPr>
            <p:sp>
              <p:nvSpPr>
                <p:cNvPr id="55" name="TextBox 55"/>
                <p:cNvSpPr txBox="1"/>
                <p:nvPr/>
              </p:nvSpPr>
              <p:spPr>
                <a:xfrm>
                  <a:off x="6732270" y="4846320"/>
                  <a:ext cx="285750" cy="182880"/>
                </a:xfrm>
                <a:prstGeom prst="rect">
                  <a:avLst/>
                </a:prstGeom>
                <a:noFill/>
                <a:ln>
                  <a:noFill/>
                </a:ln>
              </p:spPr>
              <p:txBody>
                <a:bodyPr wrap="none" lIns="0" tIns="0" rIns="0" bIns="0" anchor="t" anchorCtr="0">
                  <a:spAutoFit/>
                </a:bodyPr>
                <a:lstStyle/>
                <a:p>
                  <a:pPr algn="l"/>
                  <a:r>
                    <a:rPr lang="ko-KR" sz="1200" dirty="0">
                      <a:solidFill>
                        <a:srgbClr val="6B7280"/>
                      </a:solidFill>
                      <a:latin typeface="Malgun Gothic"/>
                      <a:ea typeface="Malgun Gothic"/>
                      <a:cs typeface="Malgun Gothic"/>
                    </a:rPr>
                    <a:t>가치</a:t>
                  </a:r>
                </a:p>
              </p:txBody>
            </p:sp>
            <p:sp>
              <p:nvSpPr>
                <p:cNvPr id="56" name="TextBox 56"/>
                <p:cNvSpPr txBox="1"/>
                <p:nvPr/>
              </p:nvSpPr>
              <p:spPr>
                <a:xfrm>
                  <a:off x="7680008" y="4805839"/>
                  <a:ext cx="1205532" cy="259080"/>
                </a:xfrm>
                <a:prstGeom prst="rect">
                  <a:avLst/>
                </a:prstGeom>
                <a:noFill/>
                <a:ln>
                  <a:noFill/>
                </a:ln>
              </p:spPr>
              <p:txBody>
                <a:bodyPr wrap="none" lIns="0" tIns="0" rIns="0" bIns="0" anchor="t" anchorCtr="0">
                  <a:spAutoFit/>
                </a:bodyPr>
                <a:lstStyle/>
                <a:p>
                  <a:pPr algn="l"/>
                  <a:r>
                    <a:rPr lang="ko-KR" sz="1275" dirty="0">
                      <a:solidFill>
                        <a:srgbClr val="D1D5DB"/>
                      </a:solidFill>
                      <a:latin typeface="Malgun Gothic"/>
                      <a:ea typeface="Malgun Gothic"/>
                      <a:cs typeface="Malgun Gothic"/>
                    </a:rPr>
                    <a:t xml:space="preserve">빠르게 </a:t>
                  </a:r>
                  <a:r>
                    <a:rPr lang="ko-KR" sz="1275" b="1" dirty="0">
                      <a:solidFill>
                        <a:srgbClr val="E07B7B"/>
                      </a:solidFill>
                      <a:latin typeface="Malgun Gothic"/>
                      <a:ea typeface="Malgun Gothic"/>
                      <a:cs typeface="Malgun Gothic"/>
                    </a:rPr>
                    <a:t>평준화</a:t>
                  </a:r>
                </a:p>
              </p:txBody>
            </p:sp>
          </p:grpSp>
        </p:grpSp>
        <p:grpSp>
          <p:nvGrpSpPr>
            <p:cNvPr id="61" name="Group 61"/>
            <p:cNvGrpSpPr/>
            <p:nvPr/>
          </p:nvGrpSpPr>
          <p:grpSpPr>
            <a:xfrm>
              <a:off x="6743700" y="5476875"/>
              <a:ext cx="4533900" cy="766763"/>
              <a:chOff x="6743700" y="5476875"/>
              <a:chExt cx="4533900" cy="766763"/>
            </a:xfrm>
          </p:grpSpPr>
          <p:sp>
            <p:nvSpPr>
              <p:cNvPr id="59" name="Rectangle 59"/>
              <p:cNvSpPr/>
              <p:nvPr/>
            </p:nvSpPr>
            <p:spPr>
              <a:xfrm>
                <a:off x="6743700" y="5476875"/>
                <a:ext cx="4533900" cy="533400"/>
              </a:xfrm>
              <a:prstGeom prst="roundRect">
                <a:avLst>
                  <a:gd name="adj" fmla="val 14286"/>
                </a:avLst>
              </a:prstGeom>
              <a:solidFill>
                <a:srgbClr val="6B7280">
                  <a:alpha val="12000"/>
                </a:srgbClr>
              </a:solidFill>
              <a:ln>
                <a:noFill/>
              </a:ln>
            </p:spPr>
          </p:sp>
          <p:sp>
            <p:nvSpPr>
              <p:cNvPr id="60" name="TextBox 60"/>
              <p:cNvSpPr txBox="1"/>
              <p:nvPr/>
            </p:nvSpPr>
            <p:spPr>
              <a:xfrm>
                <a:off x="7206615" y="6030278"/>
                <a:ext cx="1498854" cy="213360"/>
              </a:xfrm>
              <a:prstGeom prst="rect">
                <a:avLst/>
              </a:prstGeom>
              <a:noFill/>
              <a:ln>
                <a:noFill/>
              </a:ln>
            </p:spPr>
            <p:txBody>
              <a:bodyPr wrap="none" lIns="0" tIns="0" rIns="0" bIns="0" anchor="t" anchorCtr="0">
                <a:spAutoFit/>
              </a:bodyPr>
              <a:lstStyle/>
              <a:p>
                <a:pPr algn="l"/>
                <a:r>
                  <a:rPr lang="ko-KR" sz="1200" dirty="0">
                    <a:solidFill>
                      <a:srgbClr val="9CA3AF"/>
                    </a:solidFill>
                    <a:latin typeface="Malgun Gothic"/>
                    <a:ea typeface="Malgun Gothic"/>
                    <a:cs typeface="Malgun Gothic"/>
                  </a:rPr>
                  <a:t>격차가 누적되는 방향</a:t>
                </a:r>
              </a:p>
            </p:txBody>
          </p:sp>
        </p:grpSp>
      </p:grpSp>
      <p:grpSp>
        <p:nvGrpSpPr>
          <p:cNvPr id="65" name="Group 65"/>
          <p:cNvGrpSpPr/>
          <p:nvPr/>
        </p:nvGrpSpPr>
        <p:grpSpPr>
          <a:xfrm>
            <a:off x="599122" y="6483191"/>
            <a:ext cx="10993755" cy="167640"/>
            <a:chOff x="599122" y="6483191"/>
            <a:chExt cx="10993755" cy="167640"/>
          </a:xfrm>
        </p:grpSpPr>
        <p:sp>
          <p:nvSpPr>
            <p:cNvPr id="63" name="TextBox 63"/>
            <p:cNvSpPr txBox="1"/>
            <p:nvPr/>
          </p:nvSpPr>
          <p:spPr>
            <a:xfrm>
              <a:off x="599122" y="6483191"/>
              <a:ext cx="1436727" cy="167640"/>
            </a:xfrm>
            <a:prstGeom prst="rect">
              <a:avLst/>
            </a:prstGeom>
            <a:noFill/>
            <a:ln>
              <a:noFill/>
            </a:ln>
          </p:spPr>
          <p:txBody>
            <a:bodyPr wrap="none" lIns="0" tIns="0" rIns="0" bIns="0" anchor="t" anchorCtr="0">
              <a:spAutoFit/>
            </a:bodyPr>
            <a:lstStyle/>
            <a:p>
              <a:pPr algn="l"/>
              <a:r>
                <a:rPr lang="ko-KR" sz="1200" dirty="0">
                  <a:solidFill>
                    <a:srgbClr val="4B5563"/>
                  </a:solidFill>
                  <a:latin typeface="Malgun Gothic"/>
                  <a:ea typeface="Malgun Gothic"/>
                  <a:cs typeface="Malgun Gothic"/>
                </a:rPr>
                <a:t>두 부류의 개발자 · 분기점</a:t>
              </a:r>
            </a:p>
          </p:txBody>
        </p:sp>
        <p:sp>
          <p:nvSpPr>
            <p:cNvPr id="64" name="TextBox 64"/>
            <p:cNvSpPr txBox="1"/>
            <p:nvPr/>
          </p:nvSpPr>
          <p:spPr>
            <a:xfrm>
              <a:off x="11439382" y="6483191"/>
              <a:ext cx="153495" cy="167640"/>
            </a:xfrm>
            <a:prstGeom prst="rect">
              <a:avLst/>
            </a:prstGeom>
            <a:noFill/>
            <a:ln>
              <a:noFill/>
            </a:ln>
          </p:spPr>
          <p:txBody>
            <a:bodyPr wrap="none" lIns="0" tIns="0" rIns="0" bIns="0" anchor="t" anchorCtr="0">
              <a:spAutoFit/>
            </a:bodyPr>
            <a:lstStyle/>
            <a:p>
              <a:pPr algn="r"/>
              <a:r>
                <a:rPr lang="en-US" sz="1200" dirty="0">
                  <a:solidFill>
                    <a:srgbClr val="6B7280"/>
                  </a:solidFill>
                  <a:latin typeface="Malgun Gothic"/>
                  <a:ea typeface="Malgun Gothic"/>
                  <a:cs typeface="Malgun Gothic"/>
                </a:rPr>
                <a:t>07</a:t>
              </a:r>
            </a:p>
          </p:txBody>
        </p:sp>
      </p:grpSp>
    </p:spTree>
  </p:cSld>
  <p:clrMapOvr>
    <a:masterClrMapping/>
  </p:clrMapOvr>
  <p:transition xmlns:p14="http://schemas.microsoft.com/office/powerpoint/2010/main" p14:dur="5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7"/>
          </a:solidFill>
          <a:ln>
            <a:noFill/>
          </a:ln>
        </p:spPr>
      </p:sp>
      <p:sp>
        <p:nvSpPr>
          <p:cNvPr id="3" name="Rectangle 3"/>
          <p:cNvSpPr/>
          <p:nvPr/>
        </p:nvSpPr>
        <p:spPr>
          <a:xfrm>
            <a:off x="0" y="0"/>
            <a:ext cx="12192000" cy="57150"/>
          </a:xfrm>
          <a:prstGeom prst="rect">
            <a:avLst/>
          </a:prstGeom>
          <a:solidFill>
            <a:srgbClr val="1A1A1A"/>
          </a:solidFill>
          <a:ln>
            <a:noFill/>
          </a:ln>
        </p:spPr>
      </p:sp>
      <p:grpSp>
        <p:nvGrpSpPr>
          <p:cNvPr id="8" name="Group 8"/>
          <p:cNvGrpSpPr/>
          <p:nvPr/>
        </p:nvGrpSpPr>
        <p:grpSpPr>
          <a:xfrm>
            <a:off x="716280" y="656749"/>
            <a:ext cx="5555361" cy="1314926"/>
            <a:chOff x="716280" y="656749"/>
            <a:chExt cx="5555361" cy="1314926"/>
          </a:xfrm>
        </p:grpSpPr>
        <p:sp>
          <p:nvSpPr>
            <p:cNvPr id="4" name="TextBox 4"/>
            <p:cNvSpPr txBox="1"/>
            <p:nvPr/>
          </p:nvSpPr>
          <p:spPr>
            <a:xfrm>
              <a:off x="749618" y="656749"/>
              <a:ext cx="1774134" cy="198120"/>
            </a:xfrm>
            <a:prstGeom prst="rect">
              <a:avLst/>
            </a:prstGeom>
            <a:noFill/>
            <a:ln>
              <a:noFill/>
            </a:ln>
          </p:spPr>
          <p:txBody>
            <a:bodyPr wrap="none" lIns="0" tIns="0" rIns="0" bIns="0" anchor="t" anchorCtr="0">
              <a:spAutoFit/>
            </a:bodyPr>
            <a:lstStyle/>
            <a:p>
              <a:pPr algn="l"/>
              <a:r>
                <a:rPr lang="ko-KR" sz="1200" b="1" dirty="0">
                  <a:solidFill>
                    <a:srgbClr val="FF5722"/>
                  </a:solidFill>
                  <a:latin typeface="Segoe UI"/>
                  <a:ea typeface="Microsoft YaHei"/>
                  <a:cs typeface="Segoe UI"/>
                </a:rPr>
                <a:t>ACTION ITEMS / 행동 강령</a:t>
              </a:r>
            </a:p>
          </p:txBody>
        </p:sp>
        <p:sp>
          <p:nvSpPr>
            <p:cNvPr id="5" name="TextBox 5"/>
            <p:cNvSpPr txBox="1"/>
            <p:nvPr/>
          </p:nvSpPr>
          <p:spPr>
            <a:xfrm>
              <a:off x="716280" y="849630"/>
              <a:ext cx="4673613" cy="731520"/>
            </a:xfrm>
            <a:prstGeom prst="rect">
              <a:avLst/>
            </a:prstGeom>
            <a:noFill/>
            <a:ln>
              <a:noFill/>
            </a:ln>
          </p:spPr>
          <p:txBody>
            <a:bodyPr wrap="none" lIns="0" tIns="0" rIns="0" bIns="0" anchor="t" anchorCtr="0">
              <a:spAutoFit/>
            </a:bodyPr>
            <a:lstStyle/>
            <a:p>
              <a:pPr algn="l"/>
              <a:r>
                <a:rPr lang="ko-KR" sz="3600" b="1" dirty="0">
                  <a:solidFill>
                    <a:srgbClr val="1A1A1A"/>
                  </a:solidFill>
                  <a:latin typeface="Segoe UI"/>
                  <a:ea typeface="Microsoft YaHei"/>
                  <a:cs typeface="Segoe UI"/>
                </a:rPr>
                <a:t>오늘부터 시작하라</a:t>
              </a:r>
            </a:p>
          </p:txBody>
        </p:sp>
        <p:sp>
          <p:nvSpPr>
            <p:cNvPr id="6" name="Line 6"/>
            <p:cNvSpPr/>
            <p:nvPr/>
          </p:nvSpPr>
          <p:spPr>
            <a:xfrm>
              <a:off x="762000" y="1524000"/>
              <a:ext cx="762000" cy="9525"/>
            </a:xfrm>
            <a:custGeom>
              <a:avLst/>
              <a:gdLst/>
              <a:ahLst/>
              <a:cxnLst/>
              <a:rect l="l" t="t" r="r" b="b"/>
              <a:pathLst>
                <a:path w="762000" h="9525">
                  <a:moveTo>
                    <a:pt x="0" y="0"/>
                  </a:moveTo>
                  <a:lnTo>
                    <a:pt x="762000" y="0"/>
                  </a:lnTo>
                </a:path>
              </a:pathLst>
            </a:custGeom>
            <a:noFill/>
            <a:ln w="28575">
              <a:solidFill>
                <a:srgbClr val="FF5722"/>
              </a:solidFill>
            </a:ln>
          </p:spPr>
        </p:sp>
        <p:sp>
          <p:nvSpPr>
            <p:cNvPr id="7" name="TextBox 7"/>
            <p:cNvSpPr txBox="1"/>
            <p:nvPr/>
          </p:nvSpPr>
          <p:spPr>
            <a:xfrm>
              <a:off x="746760" y="1727835"/>
              <a:ext cx="5524881" cy="243840"/>
            </a:xfrm>
            <a:prstGeom prst="rect">
              <a:avLst/>
            </a:prstGeom>
            <a:noFill/>
            <a:ln>
              <a:noFill/>
            </a:ln>
          </p:spPr>
          <p:txBody>
            <a:bodyPr wrap="none" lIns="0" tIns="0" rIns="0" bIns="0" anchor="t" anchorCtr="0">
              <a:spAutoFit/>
            </a:bodyPr>
            <a:lstStyle/>
            <a:p>
              <a:pPr algn="l"/>
              <a:r>
                <a:rPr lang="ko-KR" sz="1200" dirty="0">
                  <a:solidFill>
                    <a:srgbClr val="666666"/>
                  </a:solidFill>
                  <a:latin typeface="Segoe UI"/>
                  <a:ea typeface="Microsoft YaHei"/>
                  <a:cs typeface="Segoe UI"/>
                </a:rPr>
                <a:t>읽고 끄덕이는 것으로는 아무것도 변하지 않는다. 지금 해야 할 4가지.</a:t>
              </a:r>
            </a:p>
          </p:txBody>
        </p:sp>
      </p:grpSp>
      <p:grpSp>
        <p:nvGrpSpPr>
          <p:cNvPr id="14" name="Group 14"/>
          <p:cNvGrpSpPr/>
          <p:nvPr/>
        </p:nvGrpSpPr>
        <p:grpSpPr>
          <a:xfrm>
            <a:off x="762000" y="2286000"/>
            <a:ext cx="10668000" cy="923925"/>
            <a:chOff x="762000" y="2286000"/>
            <a:chExt cx="10668000" cy="923925"/>
          </a:xfrm>
        </p:grpSpPr>
        <p:sp>
          <p:nvSpPr>
            <p:cNvPr id="9" name="Rectangle 9"/>
            <p:cNvSpPr/>
            <p:nvPr/>
          </p:nvSpPr>
          <p:spPr>
            <a:xfrm>
              <a:off x="762000" y="2286000"/>
              <a:ext cx="10668000" cy="876300"/>
            </a:xfrm>
            <a:prstGeom prst="rect">
              <a:avLst/>
            </a:prstGeom>
            <a:solidFill>
              <a:srgbClr val="FFFFFF"/>
            </a:solidFill>
            <a:ln w="9525">
              <a:solidFill>
                <a:srgbClr val="E8E8E3"/>
              </a:solidFill>
            </a:ln>
          </p:spPr>
        </p:sp>
        <p:sp>
          <p:nvSpPr>
            <p:cNvPr id="10" name="Rectangle 10"/>
            <p:cNvSpPr/>
            <p:nvPr/>
          </p:nvSpPr>
          <p:spPr>
            <a:xfrm>
              <a:off x="762000" y="2286000"/>
              <a:ext cx="57150" cy="876300"/>
            </a:xfrm>
            <a:prstGeom prst="rect">
              <a:avLst/>
            </a:prstGeom>
            <a:solidFill>
              <a:srgbClr val="FF5722"/>
            </a:solidFill>
            <a:ln>
              <a:noFill/>
            </a:ln>
          </p:spPr>
        </p:sp>
        <p:sp>
          <p:nvSpPr>
            <p:cNvPr id="11" name="TextBox 11"/>
            <p:cNvSpPr txBox="1"/>
            <p:nvPr/>
          </p:nvSpPr>
          <p:spPr>
            <a:xfrm>
              <a:off x="1089660" y="2356485"/>
              <a:ext cx="654148" cy="853440"/>
            </a:xfrm>
            <a:prstGeom prst="rect">
              <a:avLst/>
            </a:prstGeom>
            <a:noFill/>
            <a:ln>
              <a:noFill/>
            </a:ln>
          </p:spPr>
          <p:txBody>
            <a:bodyPr wrap="none" lIns="0" tIns="0" rIns="0" bIns="0" anchor="t" anchorCtr="0">
              <a:spAutoFit/>
            </a:bodyPr>
            <a:lstStyle/>
            <a:p>
              <a:pPr algn="l"/>
              <a:r>
                <a:rPr lang="en-US" sz="4200" b="1" dirty="0">
                  <a:solidFill>
                    <a:srgbClr val="1A1A1A"/>
                  </a:solidFill>
                  <a:latin typeface="Segoe UI"/>
                  <a:ea typeface="Microsoft YaHei"/>
                  <a:cs typeface="Segoe UI"/>
                </a:rPr>
                <a:t>01</a:t>
              </a:r>
            </a:p>
          </p:txBody>
        </p:sp>
        <p:sp>
          <p:nvSpPr>
            <p:cNvPr id="12" name="TextBox 12"/>
            <p:cNvSpPr txBox="1"/>
            <p:nvPr/>
          </p:nvSpPr>
          <p:spPr>
            <a:xfrm>
              <a:off x="2265045" y="2507932"/>
              <a:ext cx="2217982" cy="335280"/>
            </a:xfrm>
            <a:prstGeom prst="rect">
              <a:avLst/>
            </a:prstGeom>
            <a:noFill/>
            <a:ln>
              <a:noFill/>
            </a:ln>
          </p:spPr>
          <p:txBody>
            <a:bodyPr wrap="none" lIns="0" tIns="0" rIns="0" bIns="0" anchor="t" anchorCtr="0">
              <a:spAutoFit/>
            </a:bodyPr>
            <a:lstStyle/>
            <a:p>
              <a:pPr algn="l"/>
              <a:r>
                <a:rPr lang="ko-KR" sz="1650" b="1" dirty="0">
                  <a:solidFill>
                    <a:srgbClr val="1A1A1A"/>
                  </a:solidFill>
                  <a:latin typeface="Segoe UI"/>
                  <a:ea typeface="Microsoft YaHei"/>
                  <a:cs typeface="Segoe UI"/>
                </a:rPr>
                <a:t>도구를 손에 익혀라</a:t>
              </a:r>
            </a:p>
          </p:txBody>
        </p:sp>
        <p:sp>
          <p:nvSpPr>
            <p:cNvPr id="13" name="TextBox 13"/>
            <p:cNvSpPr txBox="1"/>
            <p:nvPr/>
          </p:nvSpPr>
          <p:spPr>
            <a:xfrm>
              <a:off x="2271712" y="2850356"/>
              <a:ext cx="7849552" cy="228600"/>
            </a:xfrm>
            <a:prstGeom prst="rect">
              <a:avLst/>
            </a:prstGeom>
            <a:noFill/>
            <a:ln>
              <a:noFill/>
            </a:ln>
          </p:spPr>
          <p:txBody>
            <a:bodyPr wrap="none" lIns="0" tIns="0" rIns="0" bIns="0" anchor="t" anchorCtr="0">
              <a:spAutoFit/>
            </a:bodyPr>
            <a:lstStyle/>
            <a:p>
              <a:pPr algn="l"/>
              <a:r>
                <a:rPr lang="ko-KR" sz="1200" dirty="0">
                  <a:solidFill>
                    <a:srgbClr val="555555"/>
                  </a:solidFill>
                  <a:latin typeface="Segoe UI"/>
                  <a:ea typeface="Microsoft YaHei"/>
                  <a:cs typeface="Segoe UI"/>
                </a:rPr>
                <a:t>Cursor, Claude Code, Copilot 중 하나를 골라 매일 사용한다. 손에 익지 않은 도구는 무기가 되지 않는다.</a:t>
              </a:r>
            </a:p>
          </p:txBody>
        </p:sp>
      </p:grpSp>
      <p:grpSp>
        <p:nvGrpSpPr>
          <p:cNvPr id="20" name="Group 20"/>
          <p:cNvGrpSpPr/>
          <p:nvPr/>
        </p:nvGrpSpPr>
        <p:grpSpPr>
          <a:xfrm>
            <a:off x="762000" y="3276600"/>
            <a:ext cx="10668000" cy="923925"/>
            <a:chOff x="762000" y="3276600"/>
            <a:chExt cx="10668000" cy="923925"/>
          </a:xfrm>
        </p:grpSpPr>
        <p:sp>
          <p:nvSpPr>
            <p:cNvPr id="15" name="Rectangle 15"/>
            <p:cNvSpPr/>
            <p:nvPr/>
          </p:nvSpPr>
          <p:spPr>
            <a:xfrm>
              <a:off x="762000" y="3276600"/>
              <a:ext cx="10668000" cy="876300"/>
            </a:xfrm>
            <a:prstGeom prst="rect">
              <a:avLst/>
            </a:prstGeom>
            <a:solidFill>
              <a:srgbClr val="FFFFFF"/>
            </a:solidFill>
            <a:ln w="9525">
              <a:solidFill>
                <a:srgbClr val="E8E8E3"/>
              </a:solidFill>
            </a:ln>
          </p:spPr>
        </p:sp>
        <p:sp>
          <p:nvSpPr>
            <p:cNvPr id="16" name="Rectangle 16"/>
            <p:cNvSpPr/>
            <p:nvPr/>
          </p:nvSpPr>
          <p:spPr>
            <a:xfrm>
              <a:off x="762000" y="3276600"/>
              <a:ext cx="57150" cy="876300"/>
            </a:xfrm>
            <a:prstGeom prst="rect">
              <a:avLst/>
            </a:prstGeom>
            <a:solidFill>
              <a:srgbClr val="FF5722"/>
            </a:solidFill>
            <a:ln>
              <a:noFill/>
            </a:ln>
          </p:spPr>
        </p:sp>
        <p:sp>
          <p:nvSpPr>
            <p:cNvPr id="17" name="TextBox 17"/>
            <p:cNvSpPr txBox="1"/>
            <p:nvPr/>
          </p:nvSpPr>
          <p:spPr>
            <a:xfrm>
              <a:off x="1089660" y="3347085"/>
              <a:ext cx="815169" cy="853440"/>
            </a:xfrm>
            <a:prstGeom prst="rect">
              <a:avLst/>
            </a:prstGeom>
            <a:noFill/>
            <a:ln>
              <a:noFill/>
            </a:ln>
          </p:spPr>
          <p:txBody>
            <a:bodyPr wrap="none" lIns="0" tIns="0" rIns="0" bIns="0" anchor="t" anchorCtr="0">
              <a:spAutoFit/>
            </a:bodyPr>
            <a:lstStyle/>
            <a:p>
              <a:pPr algn="l"/>
              <a:r>
                <a:rPr lang="en-US" sz="4200" b="1" dirty="0">
                  <a:solidFill>
                    <a:srgbClr val="1A1A1A"/>
                  </a:solidFill>
                  <a:latin typeface="Segoe UI"/>
                  <a:ea typeface="Microsoft YaHei"/>
                  <a:cs typeface="Segoe UI"/>
                </a:rPr>
                <a:t>02</a:t>
              </a:r>
            </a:p>
          </p:txBody>
        </p:sp>
        <p:sp>
          <p:nvSpPr>
            <p:cNvPr id="18" name="TextBox 18"/>
            <p:cNvSpPr txBox="1"/>
            <p:nvPr/>
          </p:nvSpPr>
          <p:spPr>
            <a:xfrm>
              <a:off x="2265045" y="3498532"/>
              <a:ext cx="3483140" cy="335280"/>
            </a:xfrm>
            <a:prstGeom prst="rect">
              <a:avLst/>
            </a:prstGeom>
            <a:noFill/>
            <a:ln>
              <a:noFill/>
            </a:ln>
          </p:spPr>
          <p:txBody>
            <a:bodyPr wrap="none" lIns="0" tIns="0" rIns="0" bIns="0" anchor="t" anchorCtr="0">
              <a:spAutoFit/>
            </a:bodyPr>
            <a:lstStyle/>
            <a:p>
              <a:pPr algn="l"/>
              <a:r>
                <a:rPr lang="ko-KR" sz="1650" b="1" dirty="0">
                  <a:solidFill>
                    <a:srgbClr val="1A1A1A"/>
                  </a:solidFill>
                  <a:latin typeface="Segoe UI"/>
                  <a:ea typeface="Microsoft YaHei"/>
                  <a:cs typeface="Segoe UI"/>
                </a:rPr>
                <a:t>프롬프트 엔지니어링을 배워라</a:t>
              </a:r>
            </a:p>
          </p:txBody>
        </p:sp>
        <p:sp>
          <p:nvSpPr>
            <p:cNvPr id="19" name="TextBox 19"/>
            <p:cNvSpPr txBox="1"/>
            <p:nvPr/>
          </p:nvSpPr>
          <p:spPr>
            <a:xfrm>
              <a:off x="2271712" y="3840956"/>
              <a:ext cx="6124337" cy="228600"/>
            </a:xfrm>
            <a:prstGeom prst="rect">
              <a:avLst/>
            </a:prstGeom>
            <a:noFill/>
            <a:ln>
              <a:noFill/>
            </a:ln>
          </p:spPr>
          <p:txBody>
            <a:bodyPr wrap="none" lIns="0" tIns="0" rIns="0" bIns="0" anchor="t" anchorCtr="0">
              <a:spAutoFit/>
            </a:bodyPr>
            <a:lstStyle/>
            <a:p>
              <a:pPr algn="l"/>
              <a:r>
                <a:rPr lang="ko-KR" sz="1200" dirty="0">
                  <a:solidFill>
                    <a:srgbClr val="555555"/>
                  </a:solidFill>
                  <a:latin typeface="Segoe UI"/>
                  <a:ea typeface="Microsoft YaHei"/>
                  <a:cs typeface="Segoe UI"/>
                </a:rPr>
                <a:t>명확한 컨텍스트와 제약 조건을 설계하는 능력 — 이것이 새로운 시대의 문해력이다.</a:t>
              </a:r>
            </a:p>
          </p:txBody>
        </p:sp>
      </p:grpSp>
      <p:grpSp>
        <p:nvGrpSpPr>
          <p:cNvPr id="26" name="Group 26"/>
          <p:cNvGrpSpPr/>
          <p:nvPr/>
        </p:nvGrpSpPr>
        <p:grpSpPr>
          <a:xfrm>
            <a:off x="762000" y="4267200"/>
            <a:ext cx="10668000" cy="923925"/>
            <a:chOff x="762000" y="4267200"/>
            <a:chExt cx="10668000" cy="923925"/>
          </a:xfrm>
        </p:grpSpPr>
        <p:sp>
          <p:nvSpPr>
            <p:cNvPr id="21" name="Rectangle 21"/>
            <p:cNvSpPr/>
            <p:nvPr/>
          </p:nvSpPr>
          <p:spPr>
            <a:xfrm>
              <a:off x="762000" y="4267200"/>
              <a:ext cx="10668000" cy="876300"/>
            </a:xfrm>
            <a:prstGeom prst="rect">
              <a:avLst/>
            </a:prstGeom>
            <a:solidFill>
              <a:srgbClr val="FFFFFF"/>
            </a:solidFill>
            <a:ln w="9525">
              <a:solidFill>
                <a:srgbClr val="E8E8E3"/>
              </a:solidFill>
            </a:ln>
          </p:spPr>
        </p:sp>
        <p:sp>
          <p:nvSpPr>
            <p:cNvPr id="22" name="Rectangle 22"/>
            <p:cNvSpPr/>
            <p:nvPr/>
          </p:nvSpPr>
          <p:spPr>
            <a:xfrm>
              <a:off x="762000" y="4267200"/>
              <a:ext cx="57150" cy="876300"/>
            </a:xfrm>
            <a:prstGeom prst="rect">
              <a:avLst/>
            </a:prstGeom>
            <a:solidFill>
              <a:srgbClr val="FF5722"/>
            </a:solidFill>
            <a:ln>
              <a:noFill/>
            </a:ln>
          </p:spPr>
        </p:sp>
        <p:sp>
          <p:nvSpPr>
            <p:cNvPr id="23" name="TextBox 23"/>
            <p:cNvSpPr txBox="1"/>
            <p:nvPr/>
          </p:nvSpPr>
          <p:spPr>
            <a:xfrm>
              <a:off x="1089660" y="4337685"/>
              <a:ext cx="815169" cy="853440"/>
            </a:xfrm>
            <a:prstGeom prst="rect">
              <a:avLst/>
            </a:prstGeom>
            <a:noFill/>
            <a:ln>
              <a:noFill/>
            </a:ln>
          </p:spPr>
          <p:txBody>
            <a:bodyPr wrap="none" lIns="0" tIns="0" rIns="0" bIns="0" anchor="t" anchorCtr="0">
              <a:spAutoFit/>
            </a:bodyPr>
            <a:lstStyle/>
            <a:p>
              <a:pPr algn="l"/>
              <a:r>
                <a:rPr lang="en-US" sz="4200" b="1" dirty="0">
                  <a:solidFill>
                    <a:srgbClr val="1A1A1A"/>
                  </a:solidFill>
                  <a:latin typeface="Segoe UI"/>
                  <a:ea typeface="Microsoft YaHei"/>
                  <a:cs typeface="Segoe UI"/>
                </a:rPr>
                <a:t>03</a:t>
              </a:r>
            </a:p>
          </p:txBody>
        </p:sp>
        <p:sp>
          <p:nvSpPr>
            <p:cNvPr id="24" name="TextBox 24"/>
            <p:cNvSpPr txBox="1"/>
            <p:nvPr/>
          </p:nvSpPr>
          <p:spPr>
            <a:xfrm>
              <a:off x="2265045" y="4489132"/>
              <a:ext cx="2180027" cy="335280"/>
            </a:xfrm>
            <a:prstGeom prst="rect">
              <a:avLst/>
            </a:prstGeom>
            <a:noFill/>
            <a:ln>
              <a:noFill/>
            </a:ln>
          </p:spPr>
          <p:txBody>
            <a:bodyPr wrap="none" lIns="0" tIns="0" rIns="0" bIns="0" anchor="t" anchorCtr="0">
              <a:spAutoFit/>
            </a:bodyPr>
            <a:lstStyle/>
            <a:p>
              <a:pPr algn="l"/>
              <a:r>
                <a:rPr lang="ko-KR" sz="1650" b="1" dirty="0">
                  <a:solidFill>
                    <a:srgbClr val="1A1A1A"/>
                  </a:solidFill>
                  <a:latin typeface="Segoe UI"/>
                  <a:ea typeface="Microsoft YaHei"/>
                  <a:cs typeface="Segoe UI"/>
                </a:rPr>
                <a:t>AI 출력을 검증하라</a:t>
              </a:r>
            </a:p>
          </p:txBody>
        </p:sp>
        <p:sp>
          <p:nvSpPr>
            <p:cNvPr id="25" name="TextBox 25"/>
            <p:cNvSpPr txBox="1"/>
            <p:nvPr/>
          </p:nvSpPr>
          <p:spPr>
            <a:xfrm>
              <a:off x="2271712" y="4831556"/>
              <a:ext cx="5861447" cy="228600"/>
            </a:xfrm>
            <a:prstGeom prst="rect">
              <a:avLst/>
            </a:prstGeom>
            <a:noFill/>
            <a:ln>
              <a:noFill/>
            </a:ln>
          </p:spPr>
          <p:txBody>
            <a:bodyPr wrap="none" lIns="0" tIns="0" rIns="0" bIns="0" anchor="t" anchorCtr="0">
              <a:spAutoFit/>
            </a:bodyPr>
            <a:lstStyle/>
            <a:p>
              <a:pPr algn="l"/>
              <a:r>
                <a:rPr lang="ko-KR" sz="1200" dirty="0">
                  <a:solidFill>
                    <a:srgbClr val="555555"/>
                  </a:solidFill>
                  <a:latin typeface="Segoe UI"/>
                  <a:ea typeface="Microsoft YaHei"/>
                  <a:cs typeface="Segoe UI"/>
                </a:rPr>
                <a:t>맹신은 사고를 부른다. 비판적 협업자가 되어라 — AI는 동료이지 신탁이 아니다.</a:t>
              </a:r>
            </a:p>
          </p:txBody>
        </p:sp>
      </p:grpSp>
      <p:grpSp>
        <p:nvGrpSpPr>
          <p:cNvPr id="32" name="Group 32"/>
          <p:cNvGrpSpPr/>
          <p:nvPr/>
        </p:nvGrpSpPr>
        <p:grpSpPr>
          <a:xfrm>
            <a:off x="762000" y="5257800"/>
            <a:ext cx="10668000" cy="990600"/>
            <a:chOff x="762000" y="5257800"/>
            <a:chExt cx="10668000" cy="990600"/>
          </a:xfrm>
        </p:grpSpPr>
        <p:sp>
          <p:nvSpPr>
            <p:cNvPr id="27" name="Rectangle 27"/>
            <p:cNvSpPr/>
            <p:nvPr/>
          </p:nvSpPr>
          <p:spPr>
            <a:xfrm>
              <a:off x="762000" y="5257800"/>
              <a:ext cx="10668000" cy="952500"/>
            </a:xfrm>
            <a:prstGeom prst="rect">
              <a:avLst/>
            </a:prstGeom>
            <a:solidFill>
              <a:srgbClr val="1A1A1A"/>
            </a:solidFill>
            <a:ln>
              <a:noFill/>
            </a:ln>
          </p:spPr>
        </p:sp>
        <p:sp>
          <p:nvSpPr>
            <p:cNvPr id="28" name="Rectangle 28"/>
            <p:cNvSpPr/>
            <p:nvPr/>
          </p:nvSpPr>
          <p:spPr>
            <a:xfrm>
              <a:off x="762000" y="5257800"/>
              <a:ext cx="57150" cy="952500"/>
            </a:xfrm>
            <a:prstGeom prst="rect">
              <a:avLst/>
            </a:prstGeom>
            <a:solidFill>
              <a:srgbClr val="FF5722"/>
            </a:solidFill>
            <a:ln>
              <a:noFill/>
            </a:ln>
          </p:spPr>
        </p:sp>
        <p:sp>
          <p:nvSpPr>
            <p:cNvPr id="29" name="TextBox 29"/>
            <p:cNvSpPr txBox="1"/>
            <p:nvPr/>
          </p:nvSpPr>
          <p:spPr>
            <a:xfrm>
              <a:off x="1085850" y="5334000"/>
              <a:ext cx="873395" cy="914400"/>
            </a:xfrm>
            <a:prstGeom prst="rect">
              <a:avLst/>
            </a:prstGeom>
            <a:noFill/>
            <a:ln>
              <a:noFill/>
            </a:ln>
          </p:spPr>
          <p:txBody>
            <a:bodyPr wrap="none" lIns="0" tIns="0" rIns="0" bIns="0" anchor="t" anchorCtr="0">
              <a:spAutoFit/>
            </a:bodyPr>
            <a:lstStyle/>
            <a:p>
              <a:pPr algn="l"/>
              <a:r>
                <a:rPr lang="en-US" sz="4500" b="1" dirty="0">
                  <a:solidFill>
                    <a:srgbClr val="FF5722"/>
                  </a:solidFill>
                  <a:latin typeface="Segoe UI"/>
                  <a:ea typeface="Microsoft YaHei"/>
                  <a:cs typeface="Segoe UI"/>
                </a:rPr>
                <a:t>04</a:t>
              </a:r>
            </a:p>
          </p:txBody>
        </p:sp>
        <p:sp>
          <p:nvSpPr>
            <p:cNvPr id="30" name="TextBox 30"/>
            <p:cNvSpPr txBox="1"/>
            <p:nvPr/>
          </p:nvSpPr>
          <p:spPr>
            <a:xfrm>
              <a:off x="2264092" y="5490686"/>
              <a:ext cx="3535651" cy="350520"/>
            </a:xfrm>
            <a:prstGeom prst="rect">
              <a:avLst/>
            </a:prstGeom>
            <a:noFill/>
            <a:ln>
              <a:noFill/>
            </a:ln>
          </p:spPr>
          <p:txBody>
            <a:bodyPr wrap="none" lIns="0" tIns="0" rIns="0" bIns="0" anchor="t" anchorCtr="0">
              <a:spAutoFit/>
            </a:bodyPr>
            <a:lstStyle/>
            <a:p>
              <a:pPr algn="l"/>
              <a:r>
                <a:rPr lang="ko-KR" sz="1725" b="1" dirty="0">
                  <a:solidFill>
                    <a:srgbClr val="FFFFFF"/>
                  </a:solidFill>
                  <a:latin typeface="Segoe UI"/>
                  <a:ea typeface="Microsoft YaHei"/>
                  <a:cs typeface="Segoe UI"/>
                </a:rPr>
                <a:t>추상화 레벨을 한 단계 올려라</a:t>
              </a:r>
            </a:p>
          </p:txBody>
        </p:sp>
        <p:sp>
          <p:nvSpPr>
            <p:cNvPr id="31" name="TextBox 31"/>
            <p:cNvSpPr txBox="1"/>
            <p:nvPr/>
          </p:nvSpPr>
          <p:spPr>
            <a:xfrm>
              <a:off x="2271712" y="5860256"/>
              <a:ext cx="5935385" cy="228600"/>
            </a:xfrm>
            <a:prstGeom prst="rect">
              <a:avLst/>
            </a:prstGeom>
            <a:noFill/>
            <a:ln>
              <a:noFill/>
            </a:ln>
          </p:spPr>
          <p:txBody>
            <a:bodyPr wrap="none" lIns="0" tIns="0" rIns="0" bIns="0" anchor="t" anchorCtr="0">
              <a:spAutoFit/>
            </a:bodyPr>
            <a:lstStyle/>
            <a:p>
              <a:pPr algn="l"/>
              <a:r>
                <a:rPr lang="ko-KR" sz="1200" dirty="0">
                  <a:solidFill>
                    <a:srgbClr val="BBBBBB"/>
                  </a:solidFill>
                  <a:latin typeface="Segoe UI"/>
                  <a:ea typeface="Microsoft YaHei"/>
                  <a:cs typeface="Segoe UI"/>
                </a:rPr>
                <a:t>코드가 아닌 시스템과 의사결정을 다뤄라. 이것이 AI 시대 개발자의 진짜 일이다.</a:t>
              </a:r>
            </a:p>
          </p:txBody>
        </p:sp>
      </p:grpSp>
      <p:grpSp>
        <p:nvGrpSpPr>
          <p:cNvPr id="35" name="Group 35"/>
          <p:cNvGrpSpPr/>
          <p:nvPr/>
        </p:nvGrpSpPr>
        <p:grpSpPr>
          <a:xfrm>
            <a:off x="751522" y="6483191"/>
            <a:ext cx="10688955" cy="167640"/>
            <a:chOff x="751522" y="6483191"/>
            <a:chExt cx="10688955" cy="167640"/>
          </a:xfrm>
        </p:grpSpPr>
        <p:sp>
          <p:nvSpPr>
            <p:cNvPr id="33" name="TextBox 33"/>
            <p:cNvSpPr txBox="1"/>
            <p:nvPr/>
          </p:nvSpPr>
          <p:spPr>
            <a:xfrm>
              <a:off x="751522" y="6483191"/>
              <a:ext cx="963498" cy="167640"/>
            </a:xfrm>
            <a:prstGeom prst="rect">
              <a:avLst/>
            </a:prstGeom>
            <a:noFill/>
            <a:ln>
              <a:noFill/>
            </a:ln>
          </p:spPr>
          <p:txBody>
            <a:bodyPr wrap="none" lIns="0" tIns="0" rIns="0" bIns="0" anchor="t" anchorCtr="0">
              <a:spAutoFit/>
            </a:bodyPr>
            <a:lstStyle/>
            <a:p>
              <a:pPr algn="l"/>
              <a:r>
                <a:rPr lang="ko-KR" sz="1200" b="1" dirty="0">
                  <a:solidFill>
                    <a:srgbClr val="999999"/>
                  </a:solidFill>
                  <a:latin typeface="Segoe UI"/>
                  <a:ea typeface="Microsoft YaHei"/>
                  <a:cs typeface="Segoe UI"/>
                </a:rPr>
                <a:t>AI 시대의 개발자</a:t>
              </a:r>
            </a:p>
          </p:txBody>
        </p:sp>
        <p:sp>
          <p:nvSpPr>
            <p:cNvPr id="34" name="TextBox 34"/>
            <p:cNvSpPr txBox="1"/>
            <p:nvPr/>
          </p:nvSpPr>
          <p:spPr>
            <a:xfrm>
              <a:off x="11027323" y="6483191"/>
              <a:ext cx="413154" cy="167640"/>
            </a:xfrm>
            <a:prstGeom prst="rect">
              <a:avLst/>
            </a:prstGeom>
            <a:noFill/>
            <a:ln>
              <a:noFill/>
            </a:ln>
          </p:spPr>
          <p:txBody>
            <a:bodyPr wrap="none" lIns="0" tIns="0" rIns="0" bIns="0" anchor="t" anchorCtr="0">
              <a:spAutoFit/>
            </a:bodyPr>
            <a:lstStyle/>
            <a:p>
              <a:pPr algn="r"/>
              <a:r>
                <a:rPr lang="en-US" sz="1200" b="1" dirty="0">
                  <a:solidFill>
                    <a:srgbClr val="999999"/>
                  </a:solidFill>
                  <a:latin typeface="Segoe UI"/>
                  <a:ea typeface="Microsoft YaHei"/>
                  <a:cs typeface="Segoe UI"/>
                </a:rPr>
                <a:t>08 / 10</a:t>
              </a:r>
            </a:p>
          </p:txBody>
        </p:sp>
      </p:grpSp>
    </p:spTree>
  </p:cSld>
  <p:clrMapOvr>
    <a:masterClrMapping/>
  </p:clrMapOvr>
  <p:transition xmlns:p14="http://schemas.microsoft.com/office/powerpoint/2010/main" p14:dur="5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1929"/>
          </a:solidFill>
          <a:ln>
            <a:noFill/>
          </a:ln>
        </p:spPr>
      </p:sp>
      <p:sp>
        <p:nvSpPr>
          <p:cNvPr id="3" name="Rectangle 3"/>
          <p:cNvSpPr/>
          <p:nvPr/>
        </p:nvSpPr>
        <p:spPr>
          <a:xfrm>
            <a:off x="0" y="0"/>
            <a:ext cx="12192000" cy="6858000"/>
          </a:xfrm>
          <a:prstGeom prst="rect">
            <a:avLst/>
          </a:prstGeom>
          <a:gradFill>
            <a:gsLst>
              <a:gs pos="0">
                <a:srgbClr val="1A3A5C">
                  <a:alpha val="40000"/>
                </a:srgbClr>
              </a:gs>
              <a:gs pos="100000">
                <a:srgbClr val="0A1929">
                  <a:alpha val="0"/>
                </a:srgbClr>
              </a:gs>
            </a:gsLst>
            <a:path path="circle">
              <a:fillToRect l="50000" t="50000" r="50000" b="50000"/>
            </a:path>
          </a:gradFill>
          <a:ln>
            <a:noFill/>
          </a:ln>
        </p:spPr>
      </p:sp>
      <p:sp>
        <p:nvSpPr>
          <p:cNvPr id="4" name="TextBox 4"/>
          <p:cNvSpPr txBox="1"/>
          <p:nvPr/>
        </p:nvSpPr>
        <p:spPr>
          <a:xfrm>
            <a:off x="914400" y="723900"/>
            <a:ext cx="1975390" cy="3657600"/>
          </a:xfrm>
          <a:prstGeom prst="rect">
            <a:avLst/>
          </a:prstGeom>
          <a:noFill/>
          <a:ln>
            <a:noFill/>
          </a:ln>
        </p:spPr>
        <p:txBody>
          <a:bodyPr wrap="none" lIns="0" tIns="0" rIns="0" bIns="0" anchor="t" anchorCtr="0">
            <a:spAutoFit/>
          </a:bodyPr>
          <a:lstStyle/>
          <a:p>
            <a:pPr algn="l"/>
            <a:r>
              <a:rPr lang="en-US" sz="18000" b="1" dirty="0">
                <a:solidFill>
                  <a:srgbClr val="00D4FF">
                    <a:alphaMod val="15000"/>
                  </a:srgbClr>
                </a:solidFill>
                <a:latin typeface="Georgia"/>
                <a:ea typeface="SimSun"/>
                <a:cs typeface="Georgia"/>
              </a:rPr>
              <a:t>"</a:t>
            </a:r>
          </a:p>
        </p:txBody>
      </p:sp>
      <p:sp>
        <p:nvSpPr>
          <p:cNvPr id="5" name="TextBox 5"/>
          <p:cNvSpPr txBox="1"/>
          <p:nvPr/>
        </p:nvSpPr>
        <p:spPr>
          <a:xfrm>
            <a:off x="1668780" y="2373630"/>
            <a:ext cx="7610094" cy="731520"/>
          </a:xfrm>
          <a:prstGeom prst="rect">
            <a:avLst/>
          </a:prstGeom>
          <a:noFill/>
          <a:ln>
            <a:noFill/>
          </a:ln>
        </p:spPr>
        <p:txBody>
          <a:bodyPr wrap="none" lIns="0" tIns="0" rIns="0" bIns="0" anchor="t" anchorCtr="0">
            <a:spAutoFit/>
          </a:bodyPr>
          <a:lstStyle/>
          <a:p>
            <a:pPr algn="l"/>
            <a:r>
              <a:rPr lang="ko-KR" sz="3600" dirty="0">
                <a:solidFill>
                  <a:srgbClr val="E8F1F8"/>
                </a:solidFill>
                <a:latin typeface="Malgun Gothic"/>
                <a:ea typeface="Malgun Gothic"/>
                <a:cs typeface="Malgun Gothic"/>
              </a:rPr>
              <a:t>AI는 개발자를 대체하지 않는다.</a:t>
            </a:r>
          </a:p>
        </p:txBody>
      </p:sp>
      <p:sp>
        <p:nvSpPr>
          <p:cNvPr id="6" name="TextBox 6"/>
          <p:cNvSpPr txBox="1"/>
          <p:nvPr/>
        </p:nvSpPr>
        <p:spPr>
          <a:xfrm>
            <a:off x="1661160" y="3166110"/>
            <a:ext cx="5549160" cy="853440"/>
          </a:xfrm>
          <a:prstGeom prst="rect">
            <a:avLst/>
          </a:prstGeom>
          <a:noFill/>
          <a:ln>
            <a:noFill/>
          </a:ln>
        </p:spPr>
        <p:txBody>
          <a:bodyPr wrap="none" lIns="0" tIns="0" rIns="0" bIns="0" anchor="t" anchorCtr="0">
            <a:spAutoFit/>
          </a:bodyPr>
          <a:lstStyle/>
          <a:p>
            <a:pPr algn="l"/>
            <a:r>
              <a:rPr lang="ko-KR" sz="4200" b="1" dirty="0">
                <a:solidFill>
                  <a:srgbClr val="FFFFFF"/>
                </a:solidFill>
                <a:latin typeface="Malgun Gothic"/>
                <a:ea typeface="Malgun Gothic"/>
                <a:cs typeface="Malgun Gothic"/>
              </a:rPr>
              <a:t>AI를 쓰는 개발자가</a:t>
            </a:r>
          </a:p>
        </p:txBody>
      </p:sp>
      <p:sp>
        <p:nvSpPr>
          <p:cNvPr id="7" name="TextBox 7"/>
          <p:cNvSpPr txBox="1"/>
          <p:nvPr/>
        </p:nvSpPr>
        <p:spPr>
          <a:xfrm>
            <a:off x="1661160" y="3928110"/>
            <a:ext cx="8769563" cy="853440"/>
          </a:xfrm>
          <a:prstGeom prst="rect">
            <a:avLst/>
          </a:prstGeom>
          <a:noFill/>
          <a:ln>
            <a:noFill/>
          </a:ln>
        </p:spPr>
        <p:txBody>
          <a:bodyPr wrap="none" lIns="0" tIns="0" rIns="0" bIns="0" anchor="t" anchorCtr="0">
            <a:spAutoFit/>
          </a:bodyPr>
          <a:lstStyle/>
          <a:p>
            <a:pPr algn="l"/>
            <a:r>
              <a:rPr lang="ko-KR" sz="4200" b="1" dirty="0">
                <a:solidFill>
                  <a:srgbClr val="00D4FF"/>
                </a:solidFill>
                <a:latin typeface="Malgun Gothic"/>
                <a:ea typeface="Malgun Gothic"/>
                <a:cs typeface="Malgun Gothic"/>
              </a:rPr>
              <a:t>쓰지 않는 개발자를 대체한다.</a:t>
            </a:r>
          </a:p>
        </p:txBody>
      </p:sp>
      <p:sp>
        <p:nvSpPr>
          <p:cNvPr id="8" name="Rectangle 8"/>
          <p:cNvSpPr/>
          <p:nvPr/>
        </p:nvSpPr>
        <p:spPr>
          <a:xfrm>
            <a:off x="1714500" y="4857750"/>
            <a:ext cx="1143000" cy="28575"/>
          </a:xfrm>
          <a:prstGeom prst="rect">
            <a:avLst/>
          </a:prstGeom>
          <a:gradFill>
            <a:gsLst>
              <a:gs pos="0">
                <a:srgbClr val="00D4FF">
                  <a:alpha val="0"/>
                </a:srgbClr>
              </a:gs>
              <a:gs pos="50000">
                <a:srgbClr val="00D4FF"/>
              </a:gs>
              <a:gs pos="100000">
                <a:srgbClr val="00D4FF">
                  <a:alpha val="0"/>
                </a:srgbClr>
              </a:gs>
            </a:gsLst>
            <a:lin ang="0" scaled="1"/>
          </a:gradFill>
          <a:ln>
            <a:noFill/>
          </a:ln>
        </p:spPr>
      </p:sp>
      <p:sp>
        <p:nvSpPr>
          <p:cNvPr id="9" name="TextBox 9"/>
          <p:cNvSpPr txBox="1"/>
          <p:nvPr/>
        </p:nvSpPr>
        <p:spPr>
          <a:xfrm>
            <a:off x="1693545" y="5155882"/>
            <a:ext cx="2319195" cy="335280"/>
          </a:xfrm>
          <a:prstGeom prst="rect">
            <a:avLst/>
          </a:prstGeom>
          <a:noFill/>
          <a:ln>
            <a:noFill/>
          </a:ln>
        </p:spPr>
        <p:txBody>
          <a:bodyPr wrap="none" lIns="0" tIns="0" rIns="0" bIns="0" anchor="t" anchorCtr="0">
            <a:spAutoFit/>
          </a:bodyPr>
          <a:lstStyle/>
          <a:p>
            <a:pPr algn="l"/>
            <a:r>
              <a:rPr lang="ko-KR" sz="1650" i="1" dirty="0">
                <a:solidFill>
                  <a:srgbClr val="8FA8BD"/>
                </a:solidFill>
                <a:latin typeface="Malgun Gothic"/>
                <a:ea typeface="Malgun Gothic"/>
                <a:cs typeface="Malgun Gothic"/>
              </a:rPr>
              <a:t>— 이것이 우리의 시대</a:t>
            </a:r>
          </a:p>
        </p:txBody>
      </p:sp>
      <p:sp>
        <p:nvSpPr>
          <p:cNvPr id="10" name="TextBox 10"/>
          <p:cNvSpPr txBox="1"/>
          <p:nvPr/>
        </p:nvSpPr>
        <p:spPr>
          <a:xfrm>
            <a:off x="10306050" y="4733925"/>
            <a:ext cx="1481542" cy="2743200"/>
          </a:xfrm>
          <a:prstGeom prst="rect">
            <a:avLst/>
          </a:prstGeom>
          <a:noFill/>
          <a:ln>
            <a:noFill/>
          </a:ln>
        </p:spPr>
        <p:txBody>
          <a:bodyPr wrap="none" lIns="0" tIns="0" rIns="0" bIns="0" anchor="t" anchorCtr="0">
            <a:spAutoFit/>
          </a:bodyPr>
          <a:lstStyle/>
          <a:p>
            <a:pPr algn="l"/>
            <a:r>
              <a:rPr lang="en-US" sz="13500" b="1" dirty="0">
                <a:solidFill>
                  <a:srgbClr val="00D4FF">
                    <a:alphaMod val="12000"/>
                  </a:srgbClr>
                </a:solidFill>
                <a:latin typeface="Georgia"/>
                <a:ea typeface="SimSun"/>
                <a:cs typeface="Georgia"/>
              </a:rPr>
              <a:t>"</a:t>
            </a:r>
          </a:p>
        </p:txBody>
      </p:sp>
      <p:sp>
        <p:nvSpPr>
          <p:cNvPr id="11" name="TextBox 11"/>
          <p:cNvSpPr txBox="1"/>
          <p:nvPr/>
        </p:nvSpPr>
        <p:spPr>
          <a:xfrm>
            <a:off x="1703070" y="6379845"/>
            <a:ext cx="1087564" cy="182880"/>
          </a:xfrm>
          <a:prstGeom prst="rect">
            <a:avLst/>
          </a:prstGeom>
          <a:noFill/>
          <a:ln>
            <a:noFill/>
          </a:ln>
        </p:spPr>
        <p:txBody>
          <a:bodyPr wrap="none" lIns="0" tIns="0" rIns="0" bIns="0" anchor="t" anchorCtr="0">
            <a:spAutoFit/>
          </a:bodyPr>
          <a:lstStyle/>
          <a:p>
            <a:pPr algn="l"/>
            <a:r>
              <a:rPr lang="ko-KR" sz="1200" dirty="0">
                <a:solidFill>
                  <a:srgbClr val="3D5871"/>
                </a:solidFill>
                <a:latin typeface="Malgun Gothic"/>
                <a:ea typeface="Malgun Gothic"/>
                <a:cs typeface="Malgun Gothic"/>
              </a:rPr>
              <a:t>P09 · 핵심 메시지</a:t>
            </a:r>
          </a:p>
        </p:txBody>
      </p:sp>
    </p:spTree>
  </p:cSld>
  <p:clrMapOvr>
    <a:masterClrMapping/>
  </p:clrMapOvr>
  <p:transition xmlns:p14="http://schemas.microsoft.com/office/powerpoint/2010/main" p14:dur="5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0E1A"/>
              </a:gs>
              <a:gs pos="50000">
                <a:srgbClr val="1A1F2E"/>
              </a:gs>
              <a:gs pos="100000">
                <a:srgbClr val="0A0E1A"/>
              </a:gs>
            </a:gsLst>
            <a:lin ang="5400000" scaled="1"/>
          </a:gradFill>
          <a:ln>
            <a:noFill/>
          </a:ln>
        </p:spPr>
      </p:sp>
      <p:sp>
        <p:nvSpPr>
          <p:cNvPr id="3" name="Rectangle 3"/>
          <p:cNvSpPr/>
          <p:nvPr/>
        </p:nvSpPr>
        <p:spPr>
          <a:xfrm>
            <a:off x="0" y="0"/>
            <a:ext cx="12192000" cy="6858000"/>
          </a:xfrm>
          <a:prstGeom prst="rect">
            <a:avLst/>
          </a:prstGeom>
          <a:gradFill>
            <a:gsLst>
              <a:gs pos="0">
                <a:srgbClr val="FFFFFF">
                  <a:alpha val="8000"/>
                </a:srgbClr>
              </a:gs>
              <a:gs pos="100000">
                <a:srgbClr val="FFFFFF">
                  <a:alpha val="0"/>
                </a:srgbClr>
              </a:gs>
            </a:gsLst>
            <a:path path="circle">
              <a:fillToRect l="50000" t="50000" r="50000" b="50000"/>
            </a:path>
          </a:gradFill>
          <a:ln>
            <a:noFill/>
          </a:ln>
        </p:spPr>
      </p:sp>
      <p:sp>
        <p:nvSpPr>
          <p:cNvPr id="4" name="Line 4"/>
          <p:cNvSpPr/>
          <p:nvPr/>
        </p:nvSpPr>
        <p:spPr>
          <a:xfrm>
            <a:off x="6096000" y="762000"/>
            <a:ext cx="9525" cy="5334000"/>
          </a:xfrm>
          <a:custGeom>
            <a:avLst/>
            <a:gdLst/>
            <a:ahLst/>
            <a:cxnLst/>
            <a:rect l="l" t="t" r="r" b="b"/>
            <a:pathLst>
              <a:path w="9525" h="5334000">
                <a:moveTo>
                  <a:pt x="0" y="0"/>
                </a:moveTo>
                <a:lnTo>
                  <a:pt x="0" y="5334000"/>
                </a:lnTo>
              </a:path>
            </a:pathLst>
          </a:custGeom>
          <a:noFill/>
          <a:ln w="9525">
            <a:solidFill>
              <a:srgbClr val="2A3142">
                <a:alpha val="60000"/>
              </a:srgbClr>
            </a:solidFill>
          </a:ln>
        </p:spPr>
      </p:sp>
      <p:sp>
        <p:nvSpPr>
          <p:cNvPr id="5" name="Rectangle 5"/>
          <p:cNvSpPr/>
          <p:nvPr/>
        </p:nvSpPr>
        <p:spPr>
          <a:xfrm>
            <a:off x="0" y="3409950"/>
            <a:ext cx="6096000" cy="38100"/>
          </a:xfrm>
          <a:prstGeom prst="rect">
            <a:avLst/>
          </a:prstGeom>
          <a:gradFill>
            <a:gsLst>
              <a:gs pos="0">
                <a:srgbClr val="C0392B">
                  <a:alpha val="0"/>
                </a:srgbClr>
              </a:gs>
              <a:gs pos="50000">
                <a:srgbClr val="C0392B">
                  <a:alpha val="60000"/>
                </a:srgbClr>
              </a:gs>
              <a:gs pos="100000">
                <a:srgbClr val="C0392B">
                  <a:alpha val="0"/>
                </a:srgbClr>
              </a:gs>
            </a:gsLst>
            <a:lin ang="0" scaled="1"/>
          </a:gradFill>
          <a:ln>
            <a:noFill/>
          </a:ln>
        </p:spPr>
      </p:sp>
      <p:sp>
        <p:nvSpPr>
          <p:cNvPr id="6" name="Rectangle 6"/>
          <p:cNvSpPr/>
          <p:nvPr/>
        </p:nvSpPr>
        <p:spPr>
          <a:xfrm>
            <a:off x="6096000" y="3409950"/>
            <a:ext cx="6096000" cy="38100"/>
          </a:xfrm>
          <a:prstGeom prst="rect">
            <a:avLst/>
          </a:prstGeom>
          <a:gradFill>
            <a:gsLst>
              <a:gs pos="0">
                <a:srgbClr val="27AE60">
                  <a:alpha val="0"/>
                </a:srgbClr>
              </a:gs>
              <a:gs pos="50000">
                <a:srgbClr val="27AE60">
                  <a:alpha val="60000"/>
                </a:srgbClr>
              </a:gs>
              <a:gs pos="100000">
                <a:srgbClr val="27AE60">
                  <a:alpha val="0"/>
                </a:srgbClr>
              </a:gs>
            </a:gsLst>
            <a:lin ang="0" scaled="1"/>
          </a:gradFill>
          <a:ln>
            <a:noFill/>
          </a:ln>
        </p:spPr>
      </p:sp>
      <p:sp>
        <p:nvSpPr>
          <p:cNvPr id="7" name="TextBox 7"/>
          <p:cNvSpPr txBox="1"/>
          <p:nvPr/>
        </p:nvSpPr>
        <p:spPr>
          <a:xfrm>
            <a:off x="749618" y="580549"/>
            <a:ext cx="1042916" cy="198120"/>
          </a:xfrm>
          <a:prstGeom prst="rect">
            <a:avLst/>
          </a:prstGeom>
          <a:noFill/>
          <a:ln>
            <a:noFill/>
          </a:ln>
        </p:spPr>
        <p:txBody>
          <a:bodyPr wrap="none" lIns="0" tIns="0" rIns="0" bIns="0" anchor="t" anchorCtr="0">
            <a:spAutoFit/>
          </a:bodyPr>
          <a:lstStyle/>
          <a:p>
            <a:pPr algn="l"/>
            <a:r>
              <a:rPr lang="en-US" sz="1200" dirty="0">
                <a:solidFill>
                  <a:srgbClr val="6B7280"/>
                </a:solidFill>
                <a:latin typeface="Malgun Gothic"/>
                <a:ea typeface="Malgun Gothic"/>
                <a:cs typeface="Malgun Gothic"/>
              </a:rPr>
              <a:t>CLIMATE · 2026</a:t>
            </a:r>
          </a:p>
        </p:txBody>
      </p:sp>
      <p:sp>
        <p:nvSpPr>
          <p:cNvPr id="8" name="TextBox 8"/>
          <p:cNvSpPr txBox="1"/>
          <p:nvPr/>
        </p:nvSpPr>
        <p:spPr>
          <a:xfrm>
            <a:off x="11011781" y="580549"/>
            <a:ext cx="430601" cy="198120"/>
          </a:xfrm>
          <a:prstGeom prst="rect">
            <a:avLst/>
          </a:prstGeom>
          <a:noFill/>
          <a:ln>
            <a:noFill/>
          </a:ln>
        </p:spPr>
        <p:txBody>
          <a:bodyPr wrap="none" lIns="0" tIns="0" rIns="0" bIns="0" anchor="t" anchorCtr="0">
            <a:spAutoFit/>
          </a:bodyPr>
          <a:lstStyle/>
          <a:p>
            <a:pPr algn="r"/>
            <a:r>
              <a:rPr lang="en-US" sz="1200" dirty="0">
                <a:solidFill>
                  <a:srgbClr val="6B7280"/>
                </a:solidFill>
                <a:latin typeface="Malgun Gothic"/>
                <a:ea typeface="Malgun Gothic"/>
                <a:cs typeface="Malgun Gothic"/>
              </a:rPr>
              <a:t>10 / 10</a:t>
            </a:r>
          </a:p>
        </p:txBody>
      </p:sp>
      <p:sp>
        <p:nvSpPr>
          <p:cNvPr id="9" name="TextBox 9"/>
          <p:cNvSpPr txBox="1"/>
          <p:nvPr/>
        </p:nvSpPr>
        <p:spPr>
          <a:xfrm>
            <a:off x="2833111" y="2051685"/>
            <a:ext cx="6525778" cy="1158240"/>
          </a:xfrm>
          <a:prstGeom prst="rect">
            <a:avLst/>
          </a:prstGeom>
          <a:noFill/>
          <a:ln>
            <a:noFill/>
          </a:ln>
        </p:spPr>
        <p:txBody>
          <a:bodyPr wrap="none" lIns="0" tIns="0" rIns="0" bIns="0" anchor="t" anchorCtr="0">
            <a:spAutoFit/>
          </a:bodyPr>
          <a:lstStyle/>
          <a:p>
            <a:pPr algn="ctr"/>
            <a:r>
              <a:rPr lang="ko-KR" sz="5700" b="1" dirty="0">
                <a:solidFill>
                  <a:srgbClr val="FFFFFF"/>
                </a:solidFill>
                <a:latin typeface="Malgun Gothic"/>
                <a:ea typeface="Malgun Gothic"/>
                <a:cs typeface="Malgun Gothic"/>
              </a:rPr>
              <a:t>종말은 선택이다</a:t>
            </a:r>
          </a:p>
        </p:txBody>
      </p:sp>
      <p:sp>
        <p:nvSpPr>
          <p:cNvPr id="10" name="TextBox 10"/>
          <p:cNvSpPr txBox="1"/>
          <p:nvPr/>
        </p:nvSpPr>
        <p:spPr>
          <a:xfrm>
            <a:off x="4255651" y="3123248"/>
            <a:ext cx="3680698" cy="396240"/>
          </a:xfrm>
          <a:prstGeom prst="rect">
            <a:avLst/>
          </a:prstGeom>
          <a:noFill/>
          <a:ln>
            <a:noFill/>
          </a:ln>
        </p:spPr>
        <p:txBody>
          <a:bodyPr wrap="none" lIns="0" tIns="0" rIns="0" bIns="0" anchor="t" anchorCtr="0">
            <a:spAutoFit/>
          </a:bodyPr>
          <a:lstStyle/>
          <a:p>
            <a:pPr algn="ctr"/>
            <a:r>
              <a:rPr lang="ko-KR" sz="1950" dirty="0">
                <a:solidFill>
                  <a:srgbClr val="9CA3AF"/>
                </a:solidFill>
                <a:latin typeface="Malgun Gothic"/>
                <a:ea typeface="Malgun Gothic"/>
                <a:cs typeface="Malgun Gothic"/>
              </a:rPr>
              <a:t>당신은 어느 쪽에 서 있는가?</a:t>
            </a:r>
          </a:p>
        </p:txBody>
      </p:sp>
      <p:sp>
        <p:nvSpPr>
          <p:cNvPr id="11" name="TextBox 11"/>
          <p:cNvSpPr txBox="1"/>
          <p:nvPr/>
        </p:nvSpPr>
        <p:spPr>
          <a:xfrm>
            <a:off x="2789109" y="3982402"/>
            <a:ext cx="517781" cy="213360"/>
          </a:xfrm>
          <a:prstGeom prst="rect">
            <a:avLst/>
          </a:prstGeom>
          <a:noFill/>
          <a:ln>
            <a:noFill/>
          </a:ln>
        </p:spPr>
        <p:txBody>
          <a:bodyPr wrap="none" lIns="0" tIns="0" rIns="0" bIns="0" anchor="t" anchorCtr="0">
            <a:spAutoFit/>
          </a:bodyPr>
          <a:lstStyle/>
          <a:p>
            <a:pPr algn="ctr"/>
            <a:r>
              <a:rPr lang="en-US" sz="1200" b="1" dirty="0">
                <a:solidFill>
                  <a:srgbClr val="C0392B"/>
                </a:solidFill>
                <a:latin typeface="Malgun Gothic"/>
                <a:ea typeface="Malgun Gothic"/>
                <a:cs typeface="Malgun Gothic"/>
              </a:rPr>
              <a:t>PATH A</a:t>
            </a:r>
          </a:p>
        </p:txBody>
      </p:sp>
      <p:sp>
        <p:nvSpPr>
          <p:cNvPr id="12" name="TextBox 12"/>
          <p:cNvSpPr txBox="1"/>
          <p:nvPr/>
        </p:nvSpPr>
        <p:spPr>
          <a:xfrm>
            <a:off x="2699290" y="4297680"/>
            <a:ext cx="697420" cy="426720"/>
          </a:xfrm>
          <a:prstGeom prst="rect">
            <a:avLst/>
          </a:prstGeom>
          <a:noFill/>
          <a:ln>
            <a:noFill/>
          </a:ln>
        </p:spPr>
        <p:txBody>
          <a:bodyPr wrap="none" lIns="0" tIns="0" rIns="0" bIns="0" anchor="t" anchorCtr="0">
            <a:spAutoFit/>
          </a:bodyPr>
          <a:lstStyle/>
          <a:p>
            <a:pPr algn="ctr"/>
            <a:r>
              <a:rPr lang="ko-KR" sz="2100" b="1" dirty="0">
                <a:solidFill>
                  <a:srgbClr val="E5E7EB"/>
                </a:solidFill>
                <a:latin typeface="Malgun Gothic"/>
                <a:ea typeface="Malgun Gothic"/>
                <a:cs typeface="Malgun Gothic"/>
              </a:rPr>
              <a:t>방관</a:t>
            </a:r>
          </a:p>
        </p:txBody>
      </p:sp>
      <p:sp>
        <p:nvSpPr>
          <p:cNvPr id="13" name="TextBox 13"/>
          <p:cNvSpPr txBox="1"/>
          <p:nvPr/>
        </p:nvSpPr>
        <p:spPr>
          <a:xfrm>
            <a:off x="2339519" y="4736306"/>
            <a:ext cx="1416963" cy="228600"/>
          </a:xfrm>
          <a:prstGeom prst="rect">
            <a:avLst/>
          </a:prstGeom>
          <a:noFill/>
          <a:ln>
            <a:noFill/>
          </a:ln>
        </p:spPr>
        <p:txBody>
          <a:bodyPr wrap="none" lIns="0" tIns="0" rIns="0" bIns="0" anchor="t" anchorCtr="0">
            <a:spAutoFit/>
          </a:bodyPr>
          <a:lstStyle/>
          <a:p>
            <a:pPr algn="ctr"/>
            <a:r>
              <a:rPr lang="ko-KR" sz="1200" dirty="0">
                <a:solidFill>
                  <a:srgbClr val="6B7280"/>
                </a:solidFill>
                <a:latin typeface="Malgun Gothic"/>
                <a:ea typeface="Malgun Gothic"/>
                <a:cs typeface="Malgun Gothic"/>
              </a:rPr>
              <a:t>— 침묵이 곧 동의다</a:t>
            </a:r>
          </a:p>
        </p:txBody>
      </p:sp>
      <p:sp>
        <p:nvSpPr>
          <p:cNvPr id="14" name="TextBox 14"/>
          <p:cNvSpPr txBox="1"/>
          <p:nvPr/>
        </p:nvSpPr>
        <p:spPr>
          <a:xfrm>
            <a:off x="8885109" y="3982402"/>
            <a:ext cx="517781" cy="213360"/>
          </a:xfrm>
          <a:prstGeom prst="rect">
            <a:avLst/>
          </a:prstGeom>
          <a:noFill/>
          <a:ln>
            <a:noFill/>
          </a:ln>
        </p:spPr>
        <p:txBody>
          <a:bodyPr wrap="none" lIns="0" tIns="0" rIns="0" bIns="0" anchor="t" anchorCtr="0">
            <a:spAutoFit/>
          </a:bodyPr>
          <a:lstStyle/>
          <a:p>
            <a:pPr algn="ctr"/>
            <a:r>
              <a:rPr lang="en-US" sz="1200" b="1" dirty="0">
                <a:solidFill>
                  <a:srgbClr val="27AE60"/>
                </a:solidFill>
                <a:latin typeface="Malgun Gothic"/>
                <a:ea typeface="Malgun Gothic"/>
                <a:cs typeface="Malgun Gothic"/>
              </a:rPr>
              <a:t>PATH B</a:t>
            </a:r>
          </a:p>
        </p:txBody>
      </p:sp>
      <p:sp>
        <p:nvSpPr>
          <p:cNvPr id="15" name="TextBox 15"/>
          <p:cNvSpPr txBox="1"/>
          <p:nvPr/>
        </p:nvSpPr>
        <p:spPr>
          <a:xfrm>
            <a:off x="8795290" y="4297680"/>
            <a:ext cx="697420" cy="426720"/>
          </a:xfrm>
          <a:prstGeom prst="rect">
            <a:avLst/>
          </a:prstGeom>
          <a:noFill/>
          <a:ln>
            <a:noFill/>
          </a:ln>
        </p:spPr>
        <p:txBody>
          <a:bodyPr wrap="none" lIns="0" tIns="0" rIns="0" bIns="0" anchor="t" anchorCtr="0">
            <a:spAutoFit/>
          </a:bodyPr>
          <a:lstStyle/>
          <a:p>
            <a:pPr algn="ctr"/>
            <a:r>
              <a:rPr lang="ko-KR" sz="2100" b="1" dirty="0">
                <a:solidFill>
                  <a:srgbClr val="E5E7EB"/>
                </a:solidFill>
                <a:latin typeface="Malgun Gothic"/>
                <a:ea typeface="Malgun Gothic"/>
                <a:cs typeface="Malgun Gothic"/>
              </a:rPr>
              <a:t>행동</a:t>
            </a:r>
          </a:p>
        </p:txBody>
      </p:sp>
      <p:sp>
        <p:nvSpPr>
          <p:cNvPr id="16" name="TextBox 16"/>
          <p:cNvSpPr txBox="1"/>
          <p:nvPr/>
        </p:nvSpPr>
        <p:spPr>
          <a:xfrm>
            <a:off x="8345150" y="4736306"/>
            <a:ext cx="1597700" cy="228600"/>
          </a:xfrm>
          <a:prstGeom prst="rect">
            <a:avLst/>
          </a:prstGeom>
          <a:noFill/>
          <a:ln>
            <a:noFill/>
          </a:ln>
        </p:spPr>
        <p:txBody>
          <a:bodyPr wrap="none" lIns="0" tIns="0" rIns="0" bIns="0" anchor="t" anchorCtr="0">
            <a:spAutoFit/>
          </a:bodyPr>
          <a:lstStyle/>
          <a:p>
            <a:pPr algn="ctr"/>
            <a:r>
              <a:rPr lang="ko-KR" sz="1200" dirty="0">
                <a:solidFill>
                  <a:srgbClr val="6B7280"/>
                </a:solidFill>
                <a:latin typeface="Malgun Gothic"/>
                <a:ea typeface="Malgun Gothic"/>
                <a:cs typeface="Malgun Gothic"/>
              </a:rPr>
              <a:t>— 오늘, 지금, 여기서</a:t>
            </a:r>
          </a:p>
        </p:txBody>
      </p:sp>
      <p:sp>
        <p:nvSpPr>
          <p:cNvPr id="17" name="Line 17"/>
          <p:cNvSpPr/>
          <p:nvPr/>
        </p:nvSpPr>
        <p:spPr>
          <a:xfrm>
            <a:off x="5143500" y="5638800"/>
            <a:ext cx="1905000" cy="9525"/>
          </a:xfrm>
          <a:custGeom>
            <a:avLst/>
            <a:gdLst/>
            <a:ahLst/>
            <a:cxnLst/>
            <a:rect l="l" t="t" r="r" b="b"/>
            <a:pathLst>
              <a:path w="1905000" h="9525">
                <a:moveTo>
                  <a:pt x="0" y="0"/>
                </a:moveTo>
                <a:lnTo>
                  <a:pt x="1905000" y="0"/>
                </a:lnTo>
              </a:path>
            </a:pathLst>
          </a:custGeom>
          <a:noFill/>
          <a:ln w="9525">
            <a:solidFill>
              <a:srgbClr val="374151"/>
            </a:solidFill>
          </a:ln>
        </p:spPr>
      </p:sp>
      <p:sp>
        <p:nvSpPr>
          <p:cNvPr id="18" name="TextBox 18"/>
          <p:cNvSpPr txBox="1"/>
          <p:nvPr/>
        </p:nvSpPr>
        <p:spPr>
          <a:xfrm>
            <a:off x="5472589" y="5870258"/>
            <a:ext cx="1246822" cy="335280"/>
          </a:xfrm>
          <a:prstGeom prst="rect">
            <a:avLst/>
          </a:prstGeom>
          <a:noFill/>
          <a:ln>
            <a:noFill/>
          </a:ln>
        </p:spPr>
        <p:txBody>
          <a:bodyPr wrap="none" lIns="0" tIns="0" rIns="0" bIns="0" anchor="t" anchorCtr="0">
            <a:spAutoFit/>
          </a:bodyPr>
          <a:lstStyle/>
          <a:p>
            <a:pPr algn="ctr"/>
            <a:r>
              <a:rPr lang="ko-KR" sz="1650" dirty="0">
                <a:solidFill>
                  <a:srgbClr val="FFFFFF"/>
                </a:solidFill>
                <a:latin typeface="Malgun Gothic"/>
                <a:ea typeface="Malgun Gothic"/>
                <a:cs typeface="Malgun Gothic"/>
              </a:rPr>
              <a:t>감사합니다</a:t>
            </a:r>
          </a:p>
        </p:txBody>
      </p:sp>
      <p:sp>
        <p:nvSpPr>
          <p:cNvPr id="19" name="TextBox 19"/>
          <p:cNvSpPr txBox="1"/>
          <p:nvPr/>
        </p:nvSpPr>
        <p:spPr>
          <a:xfrm>
            <a:off x="5909179" y="6228874"/>
            <a:ext cx="373642" cy="198120"/>
          </a:xfrm>
          <a:prstGeom prst="rect">
            <a:avLst/>
          </a:prstGeom>
          <a:noFill/>
          <a:ln>
            <a:noFill/>
          </a:ln>
        </p:spPr>
        <p:txBody>
          <a:bodyPr wrap="none" lIns="0" tIns="0" rIns="0" bIns="0" anchor="t" anchorCtr="0">
            <a:spAutoFit/>
          </a:bodyPr>
          <a:lstStyle/>
          <a:p>
            <a:pPr algn="ctr"/>
            <a:r>
              <a:rPr lang="en-US" sz="1200" dirty="0">
                <a:solidFill>
                  <a:srgbClr val="6B7280"/>
                </a:solidFill>
                <a:latin typeface="Malgun Gothic"/>
                <a:ea typeface="Malgun Gothic"/>
                <a:cs typeface="Malgun Gothic"/>
              </a:rPr>
              <a:t>Q &amp; A</a:t>
            </a:r>
          </a:p>
        </p:txBody>
      </p:sp>
    </p:spTree>
  </p:cSld>
  <p:clrMapOvr>
    <a:masterClrMapping/>
  </p:clrMapOvr>
  <p:transition xmlns:p14="http://schemas.microsoft.com/office/powerpoint/2010/main" p14:dur="5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