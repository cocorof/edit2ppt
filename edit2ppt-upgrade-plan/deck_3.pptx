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01_개발자의_종말</a:t>
            </a:r>
          </a:p>
          <a:p>
            <a:endParaRPr lang="ko-KR" dirty="0"/>
          </a:p>
          <a:p>
            <a:r>
              <a:rPr lang="ko-KR" dirty="0"/>
              <a:t>안녕하십니까. 오늘 우리는 조금 무거운 질문 하나를 함께 꺼내 보려고 합니다. 정말로 개발자라는 직업에 종말이 오고 있는 것인지, 아니면 새로운 시대의 시작 앞에 서 있는 것인지에 관한 이야기입니다. 화면에 보이시는 이 문장, "개발자의 종말"은 도발적인 제목이지만 사실 그 안에는 하나의 질문이 숨어 있습니다. AI의 시대, 살아남는 자는 누구인가. 지금부터 약 한 시간 동안 이 질문에 대한 답을 데이터와 사례를 통해 함께 찾아 보겠습니다.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02_문제제기</a:t>
            </a:r>
          </a:p>
          <a:p>
            <a:endParaRPr lang="ko-KR" dirty="0"/>
          </a:p>
          <a:p>
            <a:r>
              <a:rPr lang="ko-KR" dirty="0"/>
              <a:t>질문 하나로 시작하겠습니다. 여러분은 아직도 2년 전과 같은 방식으로 코딩하고 계십니까. 2022년 11월 ChatGPT가 등장하면서 코드 생성의 패러다임이 바뀌었고, 2024년에는 Cursor, Copilot, Claude Code 같은 도구들이 등장하면서 AI는 더 이상 보조 수단이 아니게 되었습니다. 그리고 2025년 현재, AI를 쓰는 개발자와 거부하는 개발자 사이의 격차는 매주 벌어지고 있습니다. 오른쪽 그래프가 보여주는 것은 단순한 생산성 차이가 아니라, 학습 속도와 시장 가치의 누적 격차입니다. 오늘 이 자리는 그 격차의 어느 편에 설 것인지를 결정하는 시간입니다.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02_이미_일어난_일</a:t>
            </a:r>
          </a:p>
          <a:p>
            <a:endParaRPr lang="ko-KR" dirty="0"/>
          </a:p>
          <a:p>
            <a:r>
              <a:rPr lang="ko-KR" dirty="0"/>
              <a:t>AI 코딩 도구가 미래의 이야기라고 생각하신다면, 이미 한 발 늦으신 겁니다. 2024년 깃허브 개발자 서베이에 따르면, 깃허브에 올라오는 코드의 약 70퍼센트가 AI의 도움을 받아 작성되고 있습니다. 그리고 더 흥미로운 건 오른쪽 숫자입니다. 시니어 개발자의 55퍼센트, 그러니까 절반이 넘는 경력자들이 AI 코드 도구를 일상적으로 쓰고 있다는 사실입니다. "AI는 초보자나 쓰는 거 아니냐"는 통념과는 정반대의 결과죠. 우리가 논의해야 할 질문은 이제 '도입할 것인가'가 아니라, '어떻게 적응할 것인가'입니다.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03_ai_evolution</a:t>
            </a:r>
          </a:p>
          <a:p>
            <a:endParaRPr lang="ko-KR" dirty="0"/>
          </a:p>
          <a:p>
            <a:r>
              <a:rPr lang="ko-KR" dirty="0"/>
              <a:t>방금 시장의 압력을 보셨다면, 이제 그 압력이 어디서 왔는지 살펴보겠습니다. AI 코딩 능력은 단 3년 만에 세 번의 세대 교체를 압축적으로 거쳤습니다. 2022년의 Copilot은 자동완성 수준이었습니다. 짧은 스니펫을 제안하지만 신뢰도가 낮아서 개발자가 일일이 검수해야 했죠. 2024년에는 함수와 모듈 단위로 도약했습니다. 디버깅을 돕고 코드 리뷰까지 수행하는, 사실상 협업 파트너가 된 겁니다. 그리고 지금 2025년, 에이전트는 전체 기능을 스스로 구현하고 멀티파일을 동시에 편집하며 자율적으로 풀 리퀘스트를 만들어 냅니다. 핵심은 자율성의 이동입니다. 개발자의 역할이 코드를 직접 쓰는 사람에서, 목표를 정의하고 결과를 검수하는 디렉터로 바뀌고 있다는 점, 이것이 오늘 우리가 다뤄야 할 진짜 변화입니다.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06_ai_coding_timeline</a:t>
            </a:r>
          </a:p>
          <a:p>
            <a:endParaRPr lang="ko-KR" dirty="0"/>
          </a:p>
          <a:p>
            <a:r>
              <a:rPr lang="ko-KR" dirty="0"/>
              <a:t>이 페이지는 단순한 연표가 아니라 가속의 모양을 보여드리려고 만들었습니다. 왼쪽부터 보시면 2022년 11월 ChatGPT, 2023년 3월 Copilot Chat, 7월 Code Llama까지는 보라색 구간입니다. 이때까지는 "AI가 코드를 도와준다" 수준이었습니다. 그런데 2024년부터 색이 바뀝니다. 3월에 Devin이 등장하면서 처음으로 에이전트라는 단어가 진지하게 쓰이기 시작했고, 6월에는 Cursor가 폭발적으로 성장했습니다. 그리고 2025년에 들어와서 Claude Sonnet 3.7과 4가 에이전틱 코딩의 기준점을 다시 그었고, 3분기에는 IDE 자체에 에이전트가 통합되는 것이 보편화되었습니다. 핵심은 오른쪽 아래 숫자 하나입니다. 6개월. 능력이 두 배가 되는 주기가 6개월이라는 뜻입니다. 무어의 법칙이 18개월이었던 걸 생각하면, 우리는 그보다 세 배 빠른 곡선 위에 있습니다. 이 곡선 위에 올라타지 않으면, 가만히 있어도 곡선 아래로 떨어집니다.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05_분기점</a:t>
            </a:r>
          </a:p>
          <a:p>
            <a:endParaRPr lang="ko-KR" dirty="0"/>
          </a:p>
          <a:p>
            <a:r>
              <a:rPr lang="ko-KR" dirty="0"/>
              <a:t>잠시 숨을 고르고, 이 문장을 함께 보시죠. AI는 개발자를 대체하지 않는다, AI를 쓰는 개발자가 그렇지 않은 개발자를 대체할 뿐이다. 올해 들어 가장 자주 인용되는 격언입니다. 핵심은 도구의 위협이 아니라, 도구를 손에 쥔 사람과 그렇지 않은 사람 사이의 격차가 빠르게 벌어지고 있다는 점입니다. 다음 페이지부터는 그 격차가 실제 현장에서 어떻게 나타나고 있는지, 구체적인 데이터로 확인해 보겠습니다.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06_developer_quadrant</a:t>
            </a:r>
          </a:p>
          <a:p>
            <a:endParaRPr lang="ko-KR" dirty="0"/>
          </a:p>
          <a:p>
            <a:r>
              <a:rPr lang="ko-KR" dirty="0"/>
              <a:t>자, 그러면 한번 솔직하게 마주해 봅시다. 개발자를 두 축으로 나눠보면, 가로축은 AI 활용도, 세로축은 기술적 깊이입니다. 이 두 축이 만드는 네 개의 사분면 중에 지금 여러분은 어디에 서 있습니까. 우상단 가속자는 깊은 기본기 위에 AI를 레버리지로 얹어 10배의 생산성을 내는 사람입니다. 시장이 가장 원하는 자리죠. 우하단 의존자는 위험합니다. AI가 뱉어낸 코드를 검증할 능력이 없어서 빠른 속도가 곧 기술 부채로 쌓입니다. 좌상단 장인은 코드 품질은 최고지만 도구를 거부하다가 곧 추월당하고, 좌하단 멸종 위험군은 깊이도 도구도 없이 자동화 1순위에 놓여 있습니다. 다음 슬라이드부터는 가속자로 이동하는 구체적인 경로를 함께 따라가 보겠습니다.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07_액션 프레임워크</a:t>
            </a:r>
          </a:p>
          <a:p>
            <a:endParaRPr lang="ko-KR" dirty="0"/>
          </a:p>
          <a:p>
            <a:r>
              <a:rPr lang="ko-KR" dirty="0"/>
              <a:t>자, 그래서 무엇을 해야 할까요. 가속자가 되기 위한 네 가지 행동을 제안합니다. 중심에는 우리가 되어야 할 모습, AI-Native Developer가 있고, 그 주위에 네 개의 실천 항목이 놓입니다.</a:t>
            </a:r>
          </a:p>
          <a:p>
            <a:endParaRPr lang="ko-KR" dirty="0"/>
          </a:p>
          <a:p>
            <a:r>
              <a:rPr lang="ko-KR" dirty="0"/>
              <a:t>첫째, 활용입니다. 매일 사용하세요. 손에 익을 때까지, 망설임 없이. 도구는 써야 자기 것이 됩니다.</a:t>
            </a:r>
          </a:p>
          <a:p>
            <a:endParaRPr lang="ko-KR" dirty="0"/>
          </a:p>
          <a:p>
            <a:r>
              <a:rPr lang="ko-KR" dirty="0"/>
              <a:t>둘째, 검증입니다. AI의 출력을 그대로 받아들이지 말고, 읽고, 의심하세요. 신뢰는 검증 다음에 옵니다.</a:t>
            </a:r>
          </a:p>
          <a:p>
            <a:endParaRPr lang="ko-KR" dirty="0"/>
          </a:p>
          <a:p>
            <a:r>
              <a:rPr lang="ko-KR" dirty="0"/>
              <a:t>셋째, 설계입니다. 이제 시니어리티의 정의가 바뀌고 있습니다. AI에게 좋은 컨텍스트를 주는 능력, 좋은 문제를 정의하는 능력, 그것이 새로운 시니어리티입니다.</a:t>
            </a:r>
          </a:p>
          <a:p>
            <a:endParaRPr lang="ko-KR" dirty="0"/>
          </a:p>
          <a:p>
            <a:r>
              <a:rPr lang="ko-KR" dirty="0"/>
              <a:t>넷째, 학습입니다. AI가 잘하는 영역을 따라가지 마세요. AI가 못하는 영역, 즉 시스템 설계와 도메인 깊이에 시간을 투자하세요. 그곳이 여러분의 해자입니다.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08_현장의_변화_세_가지_시그널</a:t>
            </a:r>
          </a:p>
          <a:p>
            <a:endParaRPr lang="ko-KR" dirty="0"/>
          </a:p>
          <a:p>
            <a:r>
              <a:rPr lang="ko-KR" dirty="0"/>
              <a:t>지금까지의 이야기가 단순한 전망이 아니라는 점을, 현장에서 관찰되는 세 가지 시그널로 확인해 보겠습니다. 첫 번째는 채용 공고입니다. 2024년 후반부터 시니어 엔지니어 JD에 "AI 도구 활용 경험"이 필수 요건으로 등장하기 시작했고, 이제는 흔한 문구가 되었습니다. 두 번째는 생산성 격차입니다. Anthropic 내부 보고에 따르면, Claude Code를 적극적으로 사용하는 엔지니어의 평균 PR 처리 시간이 약 60퍼센트 단축되었습니다. 같은 팀 안에서 두 배 가까운 격차가 벌어지고 있다는 뜻입니다. 세 번째가 가장 인상적인데, 이른바 주니어의 역설입니다. AI를 능숙하게 다루는 주니어가, 도구를 거부하는 시니어를 산출 측면에서 추월하는 사례가 늘고 있습니다. 경력의 길이가 아니라 도구를 다루는 태도가 새로운 변별점이 되고 있다는 신호로 읽어야 합니다.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09_미래 시나리오</a:t>
            </a:r>
          </a:p>
          <a:p>
            <a:endParaRPr lang="ko-KR" dirty="0"/>
          </a:p>
          <a:p>
            <a:r>
              <a:rPr lang="ko-KR" dirty="0"/>
              <a:t>지금까지의 흐름을 토대로, 2027년의 풍경을 두 갈래로 그려보겠습니다. 같은 출발선에 서 있던 두 사람이 단 2년 만에 완전히 다른 자리에 가 있게 됩니다. 왼쪽은 가속자입니다. 이들은 더 이상 코드를 직접 치는 사람이 아니라, 여러 AI 에이전트를 지휘하는 아키텍트로 일합니다. 한 사람의 산출물이 과거 10인 팀의 결과물에 맞먹고, 도메인 지식과 시스템 설계와 AI 오케스트레이션 능력이 결합되어 완전히 새로운 가치 방정식을 만들어냅니다. 오른쪽은 정체자입니다. 같은 자리에 머문 채 임금이 정체되거나 오히려 줄어들고, "AI가 못 하는 일"이라는 안전지대가 매년 손에 잡힐 듯 좁아지는 경험을 합니다. 그리고 정말 두려운 것은 대체가 아닙니다. 시장이 더 이상 당신을 호명하지 않는, 무관심이라는 상태입니다. 이 두 갈래를 가르는 것은 결국 기술 그 자체가 아니라, 변화를 마주하는 자세라는 점을 기억해주시기 바랍니다.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자, 이제 마지막 슬라이드입니다. 화면을 잠시 보아 주십시오.</a:t>
            </a:r>
          </a:p>
          <a:p>
            <a:endParaRPr lang="ko-KR" dirty="0"/>
          </a:p>
          <a:p>
            <a:r>
              <a:rPr lang="ko-KR" dirty="0"/>
              <a:t>저는 오늘 이 시간 내내 위기에 대해 이야기했습니다. 사라지는 직무, 무너지는 가격 구조, 추월당하는 경쟁자. 하지만 제가 정말로 전하고 싶었던 메시지는 이 한 문장에 담겨 있습니다. 종말이 아니라, 전환입니다.</a:t>
            </a:r>
          </a:p>
          <a:p>
            <a:endParaRPr lang="ko-KR" dirty="0"/>
          </a:p>
          <a:p>
            <a:r>
              <a:rPr lang="ko-KR" dirty="0"/>
              <a:t>산업혁명은 마부의 일자리를 빼앗았지만, 동시에 자동차 산업 전체를 만들어 냈습니다. 인터넷은 신문 가판대를 닫게 했지만, 그 자리에 수십 배 큰 디지털 경제를 세웠습니다. AI도 다르지 않습니다. 다만 차이가 하나 있습니다. 이번 전환은 우리에게 십 년을 주지 않습니다. 십팔 개월입니다.</a:t>
            </a:r>
          </a:p>
          <a:p>
            <a:endParaRPr lang="ko-KR" dirty="0"/>
          </a:p>
          <a:p>
            <a:r>
              <a:rPr lang="ko-KR" dirty="0"/>
              <a:t>그래서 여러분께 마지막으로 묻고 싶습니다. 오늘 이 방을 나가시면, 가장 먼저 무엇을 하시겠습니까? 보고서를 한 줄 더 쓰시겠습니까, 아니면 AI 도구를 하나 여시겠습니까? 저는 후자를 선택하시기를 권합니다. 거창한 전략보다 오늘의 작은 한 번이 여러분의 위치를 바꿉니다.</a:t>
            </a:r>
          </a:p>
          <a:p>
            <a:endParaRPr lang="ko-KR" dirty="0"/>
          </a:p>
          <a:p>
            <a:r>
              <a:rPr lang="ko-KR" dirty="0"/>
              <a:t>오늘 AI 도구를 하나 켜십시오. 내일은 늦습니다. 감사합니다. 지금부터 질문 받겠습니다.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_1"/>
          <p:cNvSpPr txBox="1"/>
          <p:nvPr/>
        </p:nvSpPr>
        <p:spPr>
          <a:xfrm>
            <a:off x="914400" y="2286000"/>
            <a:ext cx="10363200" cy="2286000"/>
          </a:xfrm>
          <a:prstGeom prst="rect">
            <a:avLst/>
          </a:prstGeom>
        </p:spPr>
        <p:txBody>
          <a:bodyPr wrap="square" anchor="ctr"/>
          <a:lstStyle/>
          <a:p>
            <a:pPr algn="ctr"/>
            <a:r>
              <a:rPr lang="ko-KR" sz="2800" b="1">
                <a:latin typeface="Malgun Gothic"/>
                <a:ea typeface="Malgun Gothic"/>
              </a:rPr>
              <a:t>슬라이드 1 렌더링 실패</a:t>
            </a:r>
          </a:p>
          <a:p>
            <a:pPr algn="ctr"/>
            <a:r>
              <a:rPr lang="en-US" sz="1400">
                <a:latin typeface="Malgun Gothic"/>
                <a:ea typeface="Malgun Gothic"/>
              </a:rPr>
              <a:t>Slide 1 could not be rendered.</a:t>
            </a:r>
          </a:p>
          <a:p>
            <a:pPr algn="ctr"/>
            <a:r>
              <a:rPr lang="en-US" sz="900" i="0">
                <a:latin typeface="Consolas"/>
              </a:rPr>
              <a:t>Failed to convert &lt;image&gt;: External image not found: 01_cover_bg.png</a:t>
            </a:r>
          </a:p>
        </p:txBody>
      </p:sp>
    </p:spTree>
  </p:cSld>
  <p:clrMapOvr>
    <a:masterClrMapping/>
  </p:clrMapOvr>
  <p:transition xmlns:p14="http://schemas.microsoft.com/office/powerpoint/2010/main" p14:dur="5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Line 3"/>
          <p:cNvSpPr/>
          <p:nvPr/>
        </p:nvSpPr>
        <p:spPr>
          <a:xfrm>
            <a:off x="0" y="1143000"/>
            <a:ext cx="12192000" cy="9525"/>
          </a:xfrm>
          <a:custGeom>
            <a:avLst/>
            <a:gdLst/>
            <a:ahLst/>
            <a:cxnLst/>
            <a:rect l="l" t="t" r="r" b="b"/>
            <a:pathLst>
              <a:path w="12192000" h="9525">
                <a:moveTo>
                  <a:pt x="0" y="0"/>
                </a:moveTo>
                <a:lnTo>
                  <a:pt x="12192000" y="0"/>
                </a:lnTo>
              </a:path>
            </a:pathLst>
          </a:custGeom>
          <a:noFill/>
          <a:ln w="9525">
            <a:solidFill>
              <a:srgbClr val="2A3454">
                <a:alpha val="30000"/>
              </a:srgbClr>
            </a:solidFill>
          </a:ln>
        </p:spPr>
      </p:sp>
      <p:sp>
        <p:nvSpPr>
          <p:cNvPr id="4" name="Line 4"/>
          <p:cNvSpPr/>
          <p:nvPr/>
        </p:nvSpPr>
        <p:spPr>
          <a:xfrm>
            <a:off x="0" y="5715000"/>
            <a:ext cx="12192000" cy="9525"/>
          </a:xfrm>
          <a:custGeom>
            <a:avLst/>
            <a:gdLst/>
            <a:ahLst/>
            <a:cxnLst/>
            <a:rect l="l" t="t" r="r" b="b"/>
            <a:pathLst>
              <a:path w="12192000" h="9525">
                <a:moveTo>
                  <a:pt x="0" y="0"/>
                </a:moveTo>
                <a:lnTo>
                  <a:pt x="12192000" y="0"/>
                </a:lnTo>
              </a:path>
            </a:pathLst>
          </a:custGeom>
          <a:noFill/>
          <a:ln w="9525">
            <a:solidFill>
              <a:srgbClr val="2A3454">
                <a:alpha val="30000"/>
              </a:srgbClr>
            </a:solidFill>
          </a:ln>
        </p:spPr>
      </p:sp>
      <p:sp>
        <p:nvSpPr>
          <p:cNvPr id="5" name="TextBox 5"/>
          <p:cNvSpPr txBox="1"/>
          <p:nvPr/>
        </p:nvSpPr>
        <p:spPr>
          <a:xfrm>
            <a:off x="747712" y="450056"/>
            <a:ext cx="218349" cy="228600"/>
          </a:xfrm>
          <a:prstGeom prst="rect">
            <a:avLst/>
          </a:prstGeom>
          <a:noFill/>
          <a:ln>
            <a:noFill/>
          </a:ln>
        </p:spPr>
        <p:txBody>
          <a:bodyPr wrap="none" lIns="0" tIns="0" rIns="0" bIns="0" anchor="t" anchorCtr="0">
            <a:spAutoFit/>
          </a:bodyPr>
          <a:lstStyle/>
          <a:p>
            <a:pPr algn="l"/>
            <a:r>
              <a:rPr lang="en-US" sz="1200" b="1" dirty="0">
                <a:solidFill>
                  <a:srgbClr val="00D9FF"/>
                </a:solidFill>
                <a:latin typeface="Malgun Gothic"/>
                <a:ea typeface="Malgun Gothic"/>
                <a:cs typeface="Malgun Gothic"/>
              </a:rPr>
              <a:t>02</a:t>
            </a:r>
          </a:p>
        </p:txBody>
      </p:sp>
      <p:sp>
        <p:nvSpPr>
          <p:cNvPr id="6" name="Line 6"/>
          <p:cNvSpPr/>
          <p:nvPr/>
        </p:nvSpPr>
        <p:spPr>
          <a:xfrm>
            <a:off x="1047750" y="523875"/>
            <a:ext cx="476250" cy="9525"/>
          </a:xfrm>
          <a:custGeom>
            <a:avLst/>
            <a:gdLst/>
            <a:ahLst/>
            <a:cxnLst/>
            <a:rect l="l" t="t" r="r" b="b"/>
            <a:pathLst>
              <a:path w="476250" h="9525">
                <a:moveTo>
                  <a:pt x="0" y="0"/>
                </a:moveTo>
                <a:lnTo>
                  <a:pt x="476250" y="0"/>
                </a:lnTo>
              </a:path>
            </a:pathLst>
          </a:custGeom>
          <a:noFill/>
          <a:ln w="19050">
            <a:solidFill>
              <a:srgbClr val="00D9FF"/>
            </a:solidFill>
          </a:ln>
        </p:spPr>
      </p:sp>
      <p:sp>
        <p:nvSpPr>
          <p:cNvPr id="7" name="TextBox 7"/>
          <p:cNvSpPr txBox="1"/>
          <p:nvPr/>
        </p:nvSpPr>
        <p:spPr>
          <a:xfrm>
            <a:off x="1604962" y="450056"/>
            <a:ext cx="735092"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문제 제기</a:t>
            </a:r>
          </a:p>
        </p:txBody>
      </p:sp>
      <p:sp>
        <p:nvSpPr>
          <p:cNvPr id="8" name="TextBox 8"/>
          <p:cNvSpPr txBox="1"/>
          <p:nvPr/>
        </p:nvSpPr>
        <p:spPr>
          <a:xfrm>
            <a:off x="9053894" y="483870"/>
            <a:ext cx="1692212" cy="182880"/>
          </a:xfrm>
          <a:prstGeom prst="rect">
            <a:avLst/>
          </a:prstGeom>
          <a:noFill/>
          <a:ln>
            <a:noFill/>
          </a:ln>
        </p:spPr>
        <p:txBody>
          <a:bodyPr wrap="none" lIns="0" tIns="0" rIns="0" bIns="0" anchor="t" anchorCtr="0">
            <a:spAutoFit/>
          </a:bodyPr>
          <a:lstStyle/>
          <a:p>
            <a:pPr algn="r"/>
            <a:r>
              <a:rPr lang="ko-KR" sz="1200" dirty="0">
                <a:solidFill>
                  <a:srgbClr val="6B7280"/>
                </a:solidFill>
                <a:latin typeface="Malgun Gothic"/>
                <a:ea typeface="Malgun Gothic"/>
                <a:cs typeface="Malgun Gothic"/>
              </a:rPr>
              <a:t>CHAPTER 02 · 가속하는 현실</a:t>
            </a:r>
          </a:p>
        </p:txBody>
      </p:sp>
      <p:sp>
        <p:nvSpPr>
          <p:cNvPr id="9" name="Rectangle 9"/>
          <p:cNvSpPr/>
          <p:nvPr/>
        </p:nvSpPr>
        <p:spPr>
          <a:xfrm>
            <a:off x="762000" y="1524000"/>
            <a:ext cx="57150" cy="571500"/>
          </a:xfrm>
          <a:prstGeom prst="rect">
            <a:avLst/>
          </a:prstGeom>
          <a:solidFill>
            <a:srgbClr val="00D9FF"/>
          </a:solidFill>
          <a:ln>
            <a:noFill/>
          </a:ln>
        </p:spPr>
      </p:sp>
      <p:sp>
        <p:nvSpPr>
          <p:cNvPr id="10" name="TextBox 10"/>
          <p:cNvSpPr txBox="1"/>
          <p:nvPr/>
        </p:nvSpPr>
        <p:spPr>
          <a:xfrm>
            <a:off x="1013460" y="1565910"/>
            <a:ext cx="5409848"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당신은 아직도 같은 방식으로</a:t>
            </a:r>
          </a:p>
        </p:txBody>
      </p:sp>
      <p:sp>
        <p:nvSpPr>
          <p:cNvPr id="11" name="TextBox 11"/>
          <p:cNvSpPr txBox="1"/>
          <p:nvPr/>
        </p:nvSpPr>
        <p:spPr>
          <a:xfrm>
            <a:off x="1013460" y="1994535"/>
            <a:ext cx="3318886" cy="548640"/>
          </a:xfrm>
          <a:prstGeom prst="rect">
            <a:avLst/>
          </a:prstGeom>
          <a:noFill/>
          <a:ln>
            <a:noFill/>
          </a:ln>
        </p:spPr>
        <p:txBody>
          <a:bodyPr wrap="none" lIns="0" tIns="0" rIns="0" bIns="0" anchor="t" anchorCtr="0">
            <a:spAutoFit/>
          </a:bodyPr>
          <a:lstStyle/>
          <a:p>
            <a:pPr algn="l"/>
            <a:r>
              <a:rPr lang="ko-KR" sz="2700" b="1" dirty="0">
                <a:solidFill>
                  <a:srgbClr val="00D9FF"/>
                </a:solidFill>
                <a:latin typeface="Malgun Gothic"/>
                <a:ea typeface="Malgun Gothic"/>
                <a:cs typeface="Malgun Gothic"/>
              </a:rPr>
              <a:t>코딩하고 있는가?</a:t>
            </a:r>
          </a:p>
        </p:txBody>
      </p:sp>
      <p:sp>
        <p:nvSpPr>
          <p:cNvPr id="12" name="Line 12"/>
          <p:cNvSpPr/>
          <p:nvPr/>
        </p:nvSpPr>
        <p:spPr>
          <a:xfrm>
            <a:off x="1047750" y="2667000"/>
            <a:ext cx="857250" cy="9525"/>
          </a:xfrm>
          <a:custGeom>
            <a:avLst/>
            <a:gdLst/>
            <a:ahLst/>
            <a:cxnLst/>
            <a:rect l="l" t="t" r="r" b="b"/>
            <a:pathLst>
              <a:path w="857250" h="9525">
                <a:moveTo>
                  <a:pt x="0" y="0"/>
                </a:moveTo>
                <a:lnTo>
                  <a:pt x="857250" y="0"/>
                </a:lnTo>
              </a:path>
            </a:pathLst>
          </a:custGeom>
          <a:noFill/>
          <a:ln w="19050">
            <a:solidFill>
              <a:srgbClr val="7B61FF"/>
            </a:solidFill>
          </a:ln>
        </p:spPr>
      </p:sp>
      <p:sp>
        <p:nvSpPr>
          <p:cNvPr id="13" name="Rectangle 13"/>
          <p:cNvSpPr/>
          <p:nvPr/>
        </p:nvSpPr>
        <p:spPr>
          <a:xfrm>
            <a:off x="1047750" y="3048000"/>
            <a:ext cx="742950" cy="304800"/>
          </a:xfrm>
          <a:prstGeom prst="roundRect">
            <a:avLst>
              <a:gd name="adj" fmla="val 12500"/>
            </a:avLst>
          </a:prstGeom>
          <a:solidFill>
            <a:srgbClr val="1C2440"/>
          </a:solidFill>
          <a:ln w="9525">
            <a:solidFill>
              <a:srgbClr val="00D9FF"/>
            </a:solidFill>
          </a:ln>
        </p:spPr>
      </p:sp>
      <p:sp>
        <p:nvSpPr>
          <p:cNvPr id="14" name="TextBox 14"/>
          <p:cNvSpPr txBox="1"/>
          <p:nvPr/>
        </p:nvSpPr>
        <p:spPr>
          <a:xfrm>
            <a:off x="1115964" y="3136106"/>
            <a:ext cx="606522" cy="228600"/>
          </a:xfrm>
          <a:prstGeom prst="rect">
            <a:avLst/>
          </a:prstGeom>
          <a:noFill/>
          <a:ln>
            <a:noFill/>
          </a:ln>
        </p:spPr>
        <p:txBody>
          <a:bodyPr wrap="none" lIns="0" tIns="0" rIns="0" bIns="0" anchor="t" anchorCtr="0">
            <a:spAutoFit/>
          </a:bodyPr>
          <a:lstStyle/>
          <a:p>
            <a:pPr algn="ctr"/>
            <a:r>
              <a:rPr lang="en-US" sz="1200" b="1" dirty="0">
                <a:solidFill>
                  <a:srgbClr val="00D9FF"/>
                </a:solidFill>
                <a:latin typeface="Malgun Gothic"/>
                <a:ea typeface="Malgun Gothic"/>
                <a:cs typeface="Malgun Gothic"/>
              </a:rPr>
              <a:t>2022.11</a:t>
            </a:r>
          </a:p>
        </p:txBody>
      </p:sp>
      <p:sp>
        <p:nvSpPr>
          <p:cNvPr id="15" name="TextBox 15"/>
          <p:cNvSpPr txBox="1"/>
          <p:nvPr/>
        </p:nvSpPr>
        <p:spPr>
          <a:xfrm>
            <a:off x="1933575" y="3095625"/>
            <a:ext cx="158591" cy="304800"/>
          </a:xfrm>
          <a:prstGeom prst="rect">
            <a:avLst/>
          </a:prstGeom>
          <a:noFill/>
          <a:ln>
            <a:noFill/>
          </a:ln>
        </p:spPr>
        <p:txBody>
          <a:bodyPr wrap="none" lIns="0" tIns="0" rIns="0" bIns="0" anchor="t" anchorCtr="0">
            <a:spAutoFit/>
          </a:bodyPr>
          <a:lstStyle/>
          <a:p>
            <a:pPr algn="l"/>
            <a:r>
              <a:rPr lang="en-US" sz="1500" dirty="0">
                <a:solidFill>
                  <a:srgbClr val="6B7280"/>
                </a:solidFill>
                <a:latin typeface="Malgun Gothic"/>
                <a:ea typeface="Malgun Gothic"/>
                <a:cs typeface="Malgun Gothic"/>
              </a:rPr>
              <a:t>→</a:t>
            </a:r>
          </a:p>
        </p:txBody>
      </p:sp>
      <p:sp>
        <p:nvSpPr>
          <p:cNvPr id="16" name="TextBox 16"/>
          <p:cNvSpPr txBox="1"/>
          <p:nvPr/>
        </p:nvSpPr>
        <p:spPr>
          <a:xfrm>
            <a:off x="2219325" y="3095625"/>
            <a:ext cx="4385643" cy="304800"/>
          </a:xfrm>
          <a:prstGeom prst="rect">
            <a:avLst/>
          </a:prstGeom>
          <a:noFill/>
          <a:ln>
            <a:noFill/>
          </a:ln>
        </p:spPr>
        <p:txBody>
          <a:bodyPr wrap="none" lIns="0" tIns="0" rIns="0" bIns="0" anchor="t" anchorCtr="0">
            <a:spAutoFit/>
          </a:bodyPr>
          <a:lstStyle/>
          <a:p>
            <a:pPr algn="l"/>
            <a:r>
              <a:rPr lang="ko-KR" sz="1500" b="1" dirty="0">
                <a:solidFill>
                  <a:srgbClr val="F5F7FA"/>
                </a:solidFill>
                <a:latin typeface="Malgun Gothic"/>
                <a:ea typeface="Malgun Gothic"/>
                <a:cs typeface="Malgun Gothic"/>
              </a:rPr>
              <a:t>ChatGPT 출시, 코드 생성의 패러다임 전환</a:t>
            </a:r>
          </a:p>
        </p:txBody>
      </p:sp>
      <p:sp>
        <p:nvSpPr>
          <p:cNvPr id="17" name="Rectangle 17"/>
          <p:cNvSpPr/>
          <p:nvPr/>
        </p:nvSpPr>
        <p:spPr>
          <a:xfrm>
            <a:off x="1047750" y="3619500"/>
            <a:ext cx="742950" cy="304800"/>
          </a:xfrm>
          <a:prstGeom prst="roundRect">
            <a:avLst>
              <a:gd name="adj" fmla="val 12500"/>
            </a:avLst>
          </a:prstGeom>
          <a:solidFill>
            <a:srgbClr val="1C2440"/>
          </a:solidFill>
          <a:ln w="9525">
            <a:solidFill>
              <a:srgbClr val="7B61FF"/>
            </a:solidFill>
          </a:ln>
        </p:spPr>
      </p:sp>
      <p:sp>
        <p:nvSpPr>
          <p:cNvPr id="18" name="TextBox 18"/>
          <p:cNvSpPr txBox="1"/>
          <p:nvPr/>
        </p:nvSpPr>
        <p:spPr>
          <a:xfrm>
            <a:off x="1215164" y="3707606"/>
            <a:ext cx="408122" cy="228600"/>
          </a:xfrm>
          <a:prstGeom prst="rect">
            <a:avLst/>
          </a:prstGeom>
          <a:noFill/>
          <a:ln>
            <a:noFill/>
          </a:ln>
        </p:spPr>
        <p:txBody>
          <a:bodyPr wrap="none" lIns="0" tIns="0" rIns="0" bIns="0" anchor="t" anchorCtr="0">
            <a:spAutoFit/>
          </a:bodyPr>
          <a:lstStyle/>
          <a:p>
            <a:pPr algn="ctr"/>
            <a:r>
              <a:rPr lang="en-US" sz="1200" b="1" dirty="0">
                <a:solidFill>
                  <a:srgbClr val="7B61FF"/>
                </a:solidFill>
                <a:latin typeface="Malgun Gothic"/>
                <a:ea typeface="Malgun Gothic"/>
                <a:cs typeface="Malgun Gothic"/>
              </a:rPr>
              <a:t>2024</a:t>
            </a:r>
          </a:p>
        </p:txBody>
      </p:sp>
      <p:sp>
        <p:nvSpPr>
          <p:cNvPr id="19" name="TextBox 19"/>
          <p:cNvSpPr txBox="1"/>
          <p:nvPr/>
        </p:nvSpPr>
        <p:spPr>
          <a:xfrm>
            <a:off x="1933575" y="3667125"/>
            <a:ext cx="158591" cy="304800"/>
          </a:xfrm>
          <a:prstGeom prst="rect">
            <a:avLst/>
          </a:prstGeom>
          <a:noFill/>
          <a:ln>
            <a:noFill/>
          </a:ln>
        </p:spPr>
        <p:txBody>
          <a:bodyPr wrap="none" lIns="0" tIns="0" rIns="0" bIns="0" anchor="t" anchorCtr="0">
            <a:spAutoFit/>
          </a:bodyPr>
          <a:lstStyle/>
          <a:p>
            <a:pPr algn="l"/>
            <a:r>
              <a:rPr lang="en-US" sz="1500" dirty="0">
                <a:solidFill>
                  <a:srgbClr val="6B7280"/>
                </a:solidFill>
                <a:latin typeface="Malgun Gothic"/>
                <a:ea typeface="Malgun Gothic"/>
                <a:cs typeface="Malgun Gothic"/>
              </a:rPr>
              <a:t>→</a:t>
            </a:r>
          </a:p>
        </p:txBody>
      </p:sp>
      <p:sp>
        <p:nvSpPr>
          <p:cNvPr id="20" name="TextBox 20"/>
          <p:cNvSpPr txBox="1"/>
          <p:nvPr/>
        </p:nvSpPr>
        <p:spPr>
          <a:xfrm>
            <a:off x="2219325" y="3667125"/>
            <a:ext cx="3373517" cy="304800"/>
          </a:xfrm>
          <a:prstGeom prst="rect">
            <a:avLst/>
          </a:prstGeom>
          <a:noFill/>
          <a:ln>
            <a:noFill/>
          </a:ln>
        </p:spPr>
        <p:txBody>
          <a:bodyPr wrap="none" lIns="0" tIns="0" rIns="0" bIns="0" anchor="t" anchorCtr="0">
            <a:spAutoFit/>
          </a:bodyPr>
          <a:lstStyle/>
          <a:p>
            <a:pPr algn="l"/>
            <a:r>
              <a:rPr lang="en-US" sz="1500" b="1" dirty="0">
                <a:solidFill>
                  <a:srgbClr val="F5F7FA"/>
                </a:solidFill>
                <a:latin typeface="Malgun Gothic"/>
                <a:ea typeface="Malgun Gothic"/>
                <a:cs typeface="Malgun Gothic"/>
              </a:rPr>
              <a:t>Cursor · Copilot · Claude Code</a:t>
            </a:r>
          </a:p>
        </p:txBody>
      </p:sp>
      <p:sp>
        <p:nvSpPr>
          <p:cNvPr id="21" name="TextBox 21"/>
          <p:cNvSpPr txBox="1"/>
          <p:nvPr/>
        </p:nvSpPr>
        <p:spPr>
          <a:xfrm>
            <a:off x="2222182" y="3920014"/>
            <a:ext cx="2481096" cy="259080"/>
          </a:xfrm>
          <a:prstGeom prst="rect">
            <a:avLst/>
          </a:prstGeom>
          <a:noFill/>
          <a:ln>
            <a:noFill/>
          </a:ln>
        </p:spPr>
        <p:txBody>
          <a:bodyPr wrap="none" lIns="0" tIns="0" rIns="0" bIns="0" anchor="t" anchorCtr="0">
            <a:spAutoFit/>
          </a:bodyPr>
          <a:lstStyle/>
          <a:p>
            <a:pPr algn="l"/>
            <a:r>
              <a:rPr lang="ko-KR" sz="1275" dirty="0">
                <a:solidFill>
                  <a:srgbClr val="9CA3AF"/>
                </a:solidFill>
                <a:latin typeface="Malgun Gothic"/>
                <a:ea typeface="Malgun Gothic"/>
                <a:cs typeface="Malgun Gothic"/>
              </a:rPr>
              <a:t>AI는 더 이상 "보조"가 아니다</a:t>
            </a:r>
          </a:p>
        </p:txBody>
      </p:sp>
      <p:sp>
        <p:nvSpPr>
          <p:cNvPr id="22" name="Rectangle 22"/>
          <p:cNvSpPr/>
          <p:nvPr/>
        </p:nvSpPr>
        <p:spPr>
          <a:xfrm>
            <a:off x="1047750" y="4429125"/>
            <a:ext cx="742950" cy="304800"/>
          </a:xfrm>
          <a:prstGeom prst="roundRect">
            <a:avLst>
              <a:gd name="adj" fmla="val 12500"/>
            </a:avLst>
          </a:prstGeom>
          <a:solidFill>
            <a:srgbClr val="FF6B35"/>
          </a:solidFill>
          <a:ln>
            <a:noFill/>
          </a:ln>
        </p:spPr>
      </p:sp>
      <p:sp>
        <p:nvSpPr>
          <p:cNvPr id="23" name="TextBox 23"/>
          <p:cNvSpPr txBox="1"/>
          <p:nvPr/>
        </p:nvSpPr>
        <p:spPr>
          <a:xfrm>
            <a:off x="1215164" y="4517231"/>
            <a:ext cx="408122" cy="228600"/>
          </a:xfrm>
          <a:prstGeom prst="rect">
            <a:avLst/>
          </a:prstGeom>
          <a:noFill/>
          <a:ln>
            <a:noFill/>
          </a:ln>
        </p:spPr>
        <p:txBody>
          <a:bodyPr wrap="none" lIns="0" tIns="0" rIns="0" bIns="0" anchor="t" anchorCtr="0">
            <a:spAutoFit/>
          </a:bodyPr>
          <a:lstStyle/>
          <a:p>
            <a:pPr algn="ctr"/>
            <a:r>
              <a:rPr lang="en-US" sz="1200" b="1" dirty="0">
                <a:solidFill>
                  <a:srgbClr val="0A0E1A"/>
                </a:solidFill>
                <a:latin typeface="Malgun Gothic"/>
                <a:ea typeface="Malgun Gothic"/>
                <a:cs typeface="Malgun Gothic"/>
              </a:rPr>
              <a:t>2025</a:t>
            </a:r>
          </a:p>
        </p:txBody>
      </p:sp>
      <p:sp>
        <p:nvSpPr>
          <p:cNvPr id="24" name="TextBox 24"/>
          <p:cNvSpPr txBox="1"/>
          <p:nvPr/>
        </p:nvSpPr>
        <p:spPr>
          <a:xfrm>
            <a:off x="1933575" y="4476750"/>
            <a:ext cx="158591" cy="304800"/>
          </a:xfrm>
          <a:prstGeom prst="rect">
            <a:avLst/>
          </a:prstGeom>
          <a:noFill/>
          <a:ln>
            <a:noFill/>
          </a:ln>
        </p:spPr>
        <p:txBody>
          <a:bodyPr wrap="none" lIns="0" tIns="0" rIns="0" bIns="0" anchor="t" anchorCtr="0">
            <a:spAutoFit/>
          </a:bodyPr>
          <a:lstStyle/>
          <a:p>
            <a:pPr algn="l"/>
            <a:r>
              <a:rPr lang="en-US" sz="1500" dirty="0">
                <a:solidFill>
                  <a:srgbClr val="FF6B35"/>
                </a:solidFill>
                <a:latin typeface="Malgun Gothic"/>
                <a:ea typeface="Malgun Gothic"/>
                <a:cs typeface="Malgun Gothic"/>
              </a:rPr>
              <a:t>→</a:t>
            </a:r>
          </a:p>
        </p:txBody>
      </p:sp>
      <p:sp>
        <p:nvSpPr>
          <p:cNvPr id="25" name="TextBox 25"/>
          <p:cNvSpPr txBox="1"/>
          <p:nvPr/>
        </p:nvSpPr>
        <p:spPr>
          <a:xfrm>
            <a:off x="2219325" y="4476750"/>
            <a:ext cx="2775442" cy="304800"/>
          </a:xfrm>
          <a:prstGeom prst="rect">
            <a:avLst/>
          </a:prstGeom>
          <a:noFill/>
          <a:ln>
            <a:noFill/>
          </a:ln>
        </p:spPr>
        <p:txBody>
          <a:bodyPr wrap="none" lIns="0" tIns="0" rIns="0" bIns="0" anchor="t" anchorCtr="0">
            <a:spAutoFit/>
          </a:bodyPr>
          <a:lstStyle/>
          <a:p>
            <a:pPr algn="l"/>
            <a:r>
              <a:rPr lang="ko-KR" sz="1500" b="1" dirty="0">
                <a:solidFill>
                  <a:srgbClr val="F5F7FA"/>
                </a:solidFill>
                <a:latin typeface="Malgun Gothic"/>
                <a:ea typeface="Malgun Gothic"/>
                <a:cs typeface="Malgun Gothic"/>
              </a:rPr>
              <a:t>격차는 매주 벌어지고 있다</a:t>
            </a:r>
          </a:p>
        </p:txBody>
      </p:sp>
      <p:sp>
        <p:nvSpPr>
          <p:cNvPr id="26" name="Rectangle 26"/>
          <p:cNvSpPr/>
          <p:nvPr/>
        </p:nvSpPr>
        <p:spPr>
          <a:xfrm>
            <a:off x="2238375" y="4810125"/>
            <a:ext cx="4762500" cy="609600"/>
          </a:xfrm>
          <a:prstGeom prst="roundRect">
            <a:avLst>
              <a:gd name="adj" fmla="val 9375"/>
            </a:avLst>
          </a:prstGeom>
          <a:solidFill>
            <a:srgbClr val="1C2440">
              <a:alpha val="90000"/>
            </a:srgbClr>
          </a:solidFill>
          <a:ln w="9525">
            <a:solidFill>
              <a:srgbClr val="FF6B35">
                <a:alpha val="90000"/>
              </a:srgbClr>
            </a:solidFill>
          </a:ln>
        </p:spPr>
      </p:sp>
      <p:sp>
        <p:nvSpPr>
          <p:cNvPr id="27" name="TextBox 27"/>
          <p:cNvSpPr txBox="1"/>
          <p:nvPr/>
        </p:nvSpPr>
        <p:spPr>
          <a:xfrm>
            <a:off x="2375535" y="4918710"/>
            <a:ext cx="1401451" cy="243840"/>
          </a:xfrm>
          <a:prstGeom prst="rect">
            <a:avLst/>
          </a:prstGeom>
          <a:noFill/>
          <a:ln>
            <a:noFill/>
          </a:ln>
        </p:spPr>
        <p:txBody>
          <a:bodyPr wrap="none" lIns="0" tIns="0" rIns="0" bIns="0" anchor="t" anchorCtr="0">
            <a:spAutoFit/>
          </a:bodyPr>
          <a:lstStyle/>
          <a:p>
            <a:pPr algn="l"/>
            <a:r>
              <a:rPr lang="ko-KR" sz="1200" b="1" dirty="0">
                <a:solidFill>
                  <a:srgbClr val="FF6B35"/>
                </a:solidFill>
                <a:latin typeface="Malgun Gothic"/>
                <a:ea typeface="Malgun Gothic"/>
                <a:cs typeface="Malgun Gothic"/>
              </a:rPr>
              <a:t>AI를 쓰는 개발자</a:t>
            </a:r>
          </a:p>
        </p:txBody>
      </p:sp>
      <p:sp>
        <p:nvSpPr>
          <p:cNvPr id="28" name="TextBox 28"/>
          <p:cNvSpPr txBox="1"/>
          <p:nvPr/>
        </p:nvSpPr>
        <p:spPr>
          <a:xfrm>
            <a:off x="3585210" y="4918710"/>
            <a:ext cx="223266" cy="243840"/>
          </a:xfrm>
          <a:prstGeom prst="rect">
            <a:avLst/>
          </a:prstGeom>
          <a:noFill/>
          <a:ln>
            <a:noFill/>
          </a:ln>
        </p:spPr>
        <p:txBody>
          <a:bodyPr wrap="none" lIns="0" tIns="0" rIns="0" bIns="0" anchor="t" anchorCtr="0">
            <a:spAutoFit/>
          </a:bodyPr>
          <a:lstStyle/>
          <a:p>
            <a:pPr algn="l"/>
            <a:r>
              <a:rPr lang="en-US" sz="1200" dirty="0">
                <a:solidFill>
                  <a:srgbClr val="9CA3AF"/>
                </a:solidFill>
                <a:latin typeface="Malgun Gothic"/>
                <a:ea typeface="Malgun Gothic"/>
                <a:cs typeface="Malgun Gothic"/>
              </a:rPr>
              <a:t>vs</a:t>
            </a:r>
          </a:p>
        </p:txBody>
      </p:sp>
      <p:sp>
        <p:nvSpPr>
          <p:cNvPr id="29" name="TextBox 29"/>
          <p:cNvSpPr txBox="1"/>
          <p:nvPr/>
        </p:nvSpPr>
        <p:spPr>
          <a:xfrm>
            <a:off x="3851910" y="4918710"/>
            <a:ext cx="1769497" cy="243840"/>
          </a:xfrm>
          <a:prstGeom prst="rect">
            <a:avLst/>
          </a:prstGeom>
          <a:noFill/>
          <a:ln>
            <a:noFill/>
          </a:ln>
        </p:spPr>
        <p:txBody>
          <a:bodyPr wrap="none" lIns="0" tIns="0" rIns="0" bIns="0" anchor="t" anchorCtr="0">
            <a:spAutoFit/>
          </a:bodyPr>
          <a:lstStyle/>
          <a:p>
            <a:pPr algn="l"/>
            <a:r>
              <a:rPr lang="ko-KR" sz="1200" b="1" dirty="0">
                <a:solidFill>
                  <a:srgbClr val="6B7280"/>
                </a:solidFill>
                <a:latin typeface="Malgun Gothic"/>
                <a:ea typeface="Malgun Gothic"/>
                <a:cs typeface="Malgun Gothic"/>
              </a:rPr>
              <a:t>AI를 거부하는 개발자</a:t>
            </a:r>
          </a:p>
        </p:txBody>
      </p:sp>
      <p:sp>
        <p:nvSpPr>
          <p:cNvPr id="30" name="TextBox 30"/>
          <p:cNvSpPr txBox="1"/>
          <p:nvPr/>
        </p:nvSpPr>
        <p:spPr>
          <a:xfrm>
            <a:off x="2377440" y="5173028"/>
            <a:ext cx="3584448" cy="21336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매주 벌어지는 생산성 · 학습속도 · 시장가치의 격차</a:t>
            </a:r>
          </a:p>
        </p:txBody>
      </p:sp>
      <p:sp>
        <p:nvSpPr>
          <p:cNvPr id="31" name="Rectangle 31"/>
          <p:cNvSpPr/>
          <p:nvPr/>
        </p:nvSpPr>
        <p:spPr>
          <a:xfrm>
            <a:off x="7810500" y="1524000"/>
            <a:ext cx="3619500" cy="4191000"/>
          </a:xfrm>
          <a:prstGeom prst="roundRect">
            <a:avLst>
              <a:gd name="adj" fmla="val 2105"/>
            </a:avLst>
          </a:prstGeom>
          <a:solidFill>
            <a:srgbClr val="141A2E"/>
          </a:solidFill>
          <a:ln w="9525">
            <a:solidFill>
              <a:srgbClr val="2A3454"/>
            </a:solidFill>
          </a:ln>
        </p:spPr>
      </p:sp>
      <p:sp>
        <p:nvSpPr>
          <p:cNvPr id="32" name="TextBox 32"/>
          <p:cNvSpPr txBox="1"/>
          <p:nvPr/>
        </p:nvSpPr>
        <p:spPr>
          <a:xfrm>
            <a:off x="7990522" y="1720691"/>
            <a:ext cx="1039407" cy="167640"/>
          </a:xfrm>
          <a:prstGeom prst="rect">
            <a:avLst/>
          </a:prstGeom>
          <a:noFill/>
          <a:ln>
            <a:noFill/>
          </a:ln>
        </p:spPr>
        <p:txBody>
          <a:bodyPr wrap="none" lIns="0" tIns="0" rIns="0" bIns="0" anchor="t" anchorCtr="0">
            <a:spAutoFit/>
          </a:bodyPr>
          <a:lstStyle/>
          <a:p>
            <a:pPr algn="l"/>
            <a:r>
              <a:rPr lang="en-US" sz="1200" b="1" dirty="0">
                <a:solidFill>
                  <a:srgbClr val="6B7280"/>
                </a:solidFill>
                <a:latin typeface="Malgun Gothic"/>
                <a:ea typeface="Malgun Gothic"/>
                <a:cs typeface="Malgun Gothic"/>
              </a:rPr>
              <a:t>DIVERGENCE INDEX</a:t>
            </a:r>
          </a:p>
        </p:txBody>
      </p:sp>
      <p:sp>
        <p:nvSpPr>
          <p:cNvPr id="33" name="Line 33"/>
          <p:cNvSpPr/>
          <p:nvPr/>
        </p:nvSpPr>
        <p:spPr>
          <a:xfrm>
            <a:off x="8001000" y="2095500"/>
            <a:ext cx="9525" cy="2667000"/>
          </a:xfrm>
          <a:custGeom>
            <a:avLst/>
            <a:gdLst/>
            <a:ahLst/>
            <a:cxnLst/>
            <a:rect l="l" t="t" r="r" b="b"/>
            <a:pathLst>
              <a:path w="9525" h="2667000">
                <a:moveTo>
                  <a:pt x="0" y="0"/>
                </a:moveTo>
                <a:lnTo>
                  <a:pt x="0" y="2667000"/>
                </a:lnTo>
              </a:path>
            </a:pathLst>
          </a:custGeom>
          <a:noFill/>
          <a:ln w="9525">
            <a:solidFill>
              <a:srgbClr val="2A3454"/>
            </a:solidFill>
          </a:ln>
        </p:spPr>
      </p:sp>
      <p:sp>
        <p:nvSpPr>
          <p:cNvPr id="34" name="Line 34"/>
          <p:cNvSpPr/>
          <p:nvPr/>
        </p:nvSpPr>
        <p:spPr>
          <a:xfrm>
            <a:off x="8001000" y="4762500"/>
            <a:ext cx="3238500" cy="9525"/>
          </a:xfrm>
          <a:custGeom>
            <a:avLst/>
            <a:gdLst/>
            <a:ahLst/>
            <a:cxnLst/>
            <a:rect l="l" t="t" r="r" b="b"/>
            <a:pathLst>
              <a:path w="3238500" h="9525">
                <a:moveTo>
                  <a:pt x="0" y="0"/>
                </a:moveTo>
                <a:lnTo>
                  <a:pt x="3238500" y="0"/>
                </a:lnTo>
              </a:path>
            </a:pathLst>
          </a:custGeom>
          <a:noFill/>
          <a:ln w="9525">
            <a:solidFill>
              <a:srgbClr val="2A3454"/>
            </a:solidFill>
          </a:ln>
        </p:spPr>
      </p:sp>
      <p:sp>
        <p:nvSpPr>
          <p:cNvPr id="35" name="Line 35"/>
          <p:cNvSpPr/>
          <p:nvPr/>
        </p:nvSpPr>
        <p:spPr>
          <a:xfrm>
            <a:off x="7962900" y="2476500"/>
            <a:ext cx="38100" cy="9525"/>
          </a:xfrm>
          <a:custGeom>
            <a:avLst/>
            <a:gdLst/>
            <a:ahLst/>
            <a:cxnLst/>
            <a:rect l="l" t="t" r="r" b="b"/>
            <a:pathLst>
              <a:path w="38100" h="9525">
                <a:moveTo>
                  <a:pt x="0" y="0"/>
                </a:moveTo>
                <a:lnTo>
                  <a:pt x="38100" y="0"/>
                </a:lnTo>
              </a:path>
            </a:pathLst>
          </a:custGeom>
          <a:noFill/>
          <a:ln w="9525">
            <a:solidFill>
              <a:srgbClr val="2A3454"/>
            </a:solidFill>
          </a:ln>
        </p:spPr>
      </p:sp>
      <p:sp>
        <p:nvSpPr>
          <p:cNvPr id="36" name="Line 36"/>
          <p:cNvSpPr/>
          <p:nvPr/>
        </p:nvSpPr>
        <p:spPr>
          <a:xfrm>
            <a:off x="7962900" y="3238500"/>
            <a:ext cx="38100" cy="9525"/>
          </a:xfrm>
          <a:custGeom>
            <a:avLst/>
            <a:gdLst/>
            <a:ahLst/>
            <a:cxnLst/>
            <a:rect l="l" t="t" r="r" b="b"/>
            <a:pathLst>
              <a:path w="38100" h="9525">
                <a:moveTo>
                  <a:pt x="0" y="0"/>
                </a:moveTo>
                <a:lnTo>
                  <a:pt x="38100" y="0"/>
                </a:lnTo>
              </a:path>
            </a:pathLst>
          </a:custGeom>
          <a:noFill/>
          <a:ln w="9525">
            <a:solidFill>
              <a:srgbClr val="2A3454"/>
            </a:solidFill>
          </a:ln>
        </p:spPr>
      </p:sp>
      <p:sp>
        <p:nvSpPr>
          <p:cNvPr id="37" name="Line 37"/>
          <p:cNvSpPr/>
          <p:nvPr/>
        </p:nvSpPr>
        <p:spPr>
          <a:xfrm>
            <a:off x="7962900" y="4000500"/>
            <a:ext cx="38100" cy="9525"/>
          </a:xfrm>
          <a:custGeom>
            <a:avLst/>
            <a:gdLst/>
            <a:ahLst/>
            <a:cxnLst/>
            <a:rect l="l" t="t" r="r" b="b"/>
            <a:pathLst>
              <a:path w="38100" h="9525">
                <a:moveTo>
                  <a:pt x="0" y="0"/>
                </a:moveTo>
                <a:lnTo>
                  <a:pt x="38100" y="0"/>
                </a:lnTo>
              </a:path>
            </a:pathLst>
          </a:custGeom>
          <a:noFill/>
          <a:ln w="9525">
            <a:solidFill>
              <a:srgbClr val="2A3454"/>
            </a:solidFill>
          </a:ln>
        </p:spPr>
      </p:sp>
      <p:sp>
        <p:nvSpPr>
          <p:cNvPr id="38" name="TextBox 38"/>
          <p:cNvSpPr txBox="1"/>
          <p:nvPr/>
        </p:nvSpPr>
        <p:spPr>
          <a:xfrm>
            <a:off x="8161972" y="4844891"/>
            <a:ext cx="286036" cy="167640"/>
          </a:xfrm>
          <a:prstGeom prst="rect">
            <a:avLst/>
          </a:prstGeom>
          <a:noFill/>
          <a:ln>
            <a:noFill/>
          </a:ln>
        </p:spPr>
        <p:txBody>
          <a:bodyPr wrap="none" lIns="0" tIns="0" rIns="0" bIns="0" anchor="t" anchorCtr="0">
            <a:spAutoFit/>
          </a:bodyPr>
          <a:lstStyle/>
          <a:p>
            <a:pPr algn="l"/>
            <a:r>
              <a:rPr lang="en-US" sz="1200" dirty="0">
                <a:solidFill>
                  <a:srgbClr val="6B7280"/>
                </a:solidFill>
                <a:latin typeface="Malgun Gothic"/>
                <a:ea typeface="Malgun Gothic"/>
                <a:cs typeface="Malgun Gothic"/>
              </a:rPr>
              <a:t>2022</a:t>
            </a:r>
          </a:p>
        </p:txBody>
      </p:sp>
      <p:sp>
        <p:nvSpPr>
          <p:cNvPr id="39" name="TextBox 39"/>
          <p:cNvSpPr txBox="1"/>
          <p:nvPr/>
        </p:nvSpPr>
        <p:spPr>
          <a:xfrm>
            <a:off x="9096232" y="4844891"/>
            <a:ext cx="286036" cy="167640"/>
          </a:xfrm>
          <a:prstGeom prst="rect">
            <a:avLst/>
          </a:prstGeom>
          <a:noFill/>
          <a:ln>
            <a:noFill/>
          </a:ln>
        </p:spPr>
        <p:txBody>
          <a:bodyPr wrap="none" lIns="0" tIns="0" rIns="0" bIns="0" anchor="t" anchorCtr="0">
            <a:spAutoFit/>
          </a:bodyPr>
          <a:lstStyle/>
          <a:p>
            <a:pPr algn="ctr"/>
            <a:r>
              <a:rPr lang="en-US" sz="1200" dirty="0">
                <a:solidFill>
                  <a:srgbClr val="6B7280"/>
                </a:solidFill>
                <a:latin typeface="Malgun Gothic"/>
                <a:ea typeface="Malgun Gothic"/>
                <a:cs typeface="Malgun Gothic"/>
              </a:rPr>
              <a:t>2024</a:t>
            </a:r>
          </a:p>
        </p:txBody>
      </p:sp>
      <p:sp>
        <p:nvSpPr>
          <p:cNvPr id="40" name="TextBox 40"/>
          <p:cNvSpPr txBox="1"/>
          <p:nvPr/>
        </p:nvSpPr>
        <p:spPr>
          <a:xfrm>
            <a:off x="10855438" y="4844891"/>
            <a:ext cx="299290" cy="167640"/>
          </a:xfrm>
          <a:prstGeom prst="rect">
            <a:avLst/>
          </a:prstGeom>
          <a:noFill/>
          <a:ln>
            <a:noFill/>
          </a:ln>
        </p:spPr>
        <p:txBody>
          <a:bodyPr wrap="none" lIns="0" tIns="0" rIns="0" bIns="0" anchor="t" anchorCtr="0">
            <a:spAutoFit/>
          </a:bodyPr>
          <a:lstStyle/>
          <a:p>
            <a:pPr algn="r"/>
            <a:r>
              <a:rPr lang="en-US" sz="1200" b="1" dirty="0">
                <a:solidFill>
                  <a:srgbClr val="FF6B35"/>
                </a:solidFill>
                <a:latin typeface="Malgun Gothic"/>
                <a:ea typeface="Malgun Gothic"/>
                <a:cs typeface="Malgun Gothic"/>
              </a:rPr>
              <a:t>2025</a:t>
            </a:r>
          </a:p>
        </p:txBody>
      </p:sp>
      <p:sp>
        <p:nvSpPr>
          <p:cNvPr id="41" name="Polyline 41"/>
          <p:cNvSpPr/>
          <p:nvPr/>
        </p:nvSpPr>
        <p:spPr>
          <a:xfrm>
            <a:off x="8172450" y="2000250"/>
            <a:ext cx="2971800" cy="2381250"/>
          </a:xfrm>
          <a:custGeom>
            <a:avLst/>
            <a:gdLst/>
            <a:ahLst/>
            <a:cxnLst/>
            <a:rect l="l" t="t" r="r" b="b"/>
            <a:pathLst>
              <a:path w="2971800" h="2381250">
                <a:moveTo>
                  <a:pt x="0" y="2381250"/>
                </a:moveTo>
                <a:lnTo>
                  <a:pt x="590550" y="2190750"/>
                </a:lnTo>
                <a:lnTo>
                  <a:pt x="1066800" y="1809750"/>
                </a:lnTo>
                <a:lnTo>
                  <a:pt x="1638300" y="1143000"/>
                </a:lnTo>
                <a:lnTo>
                  <a:pt x="2209800" y="381000"/>
                </a:lnTo>
                <a:lnTo>
                  <a:pt x="2971800" y="0"/>
                </a:lnTo>
              </a:path>
            </a:pathLst>
          </a:custGeom>
          <a:noFill/>
          <a:ln w="23812">
            <a:solidFill>
              <a:srgbClr val="00D9FF"/>
            </a:solidFill>
          </a:ln>
        </p:spPr>
      </p:sp>
      <p:sp>
        <p:nvSpPr>
          <p:cNvPr id="42" name="Ellipse 42"/>
          <p:cNvSpPr/>
          <p:nvPr/>
        </p:nvSpPr>
        <p:spPr>
          <a:xfrm>
            <a:off x="8143875" y="4352925"/>
            <a:ext cx="57150" cy="57150"/>
          </a:xfrm>
          <a:prstGeom prst="ellipse">
            <a:avLst/>
          </a:prstGeom>
          <a:solidFill>
            <a:srgbClr val="00D9FF"/>
          </a:solidFill>
          <a:ln>
            <a:noFill/>
          </a:ln>
        </p:spPr>
      </p:sp>
      <p:sp>
        <p:nvSpPr>
          <p:cNvPr id="43" name="Ellipse 43"/>
          <p:cNvSpPr/>
          <p:nvPr/>
        </p:nvSpPr>
        <p:spPr>
          <a:xfrm>
            <a:off x="9210675" y="3781425"/>
            <a:ext cx="57150" cy="57150"/>
          </a:xfrm>
          <a:prstGeom prst="ellipse">
            <a:avLst/>
          </a:prstGeom>
          <a:solidFill>
            <a:srgbClr val="00D9FF"/>
          </a:solidFill>
          <a:ln>
            <a:noFill/>
          </a:ln>
        </p:spPr>
      </p:sp>
      <p:sp>
        <p:nvSpPr>
          <p:cNvPr id="44" name="Ellipse 44"/>
          <p:cNvSpPr/>
          <p:nvPr/>
        </p:nvSpPr>
        <p:spPr>
          <a:xfrm>
            <a:off x="11106150" y="1962150"/>
            <a:ext cx="76200" cy="76200"/>
          </a:xfrm>
          <a:prstGeom prst="ellipse">
            <a:avLst/>
          </a:prstGeom>
          <a:solidFill>
            <a:srgbClr val="00D9FF"/>
          </a:solidFill>
          <a:ln>
            <a:noFill/>
          </a:ln>
        </p:spPr>
      </p:sp>
      <p:sp>
        <p:nvSpPr>
          <p:cNvPr id="45" name="Ellipse 45"/>
          <p:cNvSpPr/>
          <p:nvPr/>
        </p:nvSpPr>
        <p:spPr>
          <a:xfrm>
            <a:off x="11068050" y="1924050"/>
            <a:ext cx="152400" cy="152400"/>
          </a:xfrm>
          <a:prstGeom prst="ellipse">
            <a:avLst/>
          </a:prstGeom>
          <a:solidFill>
            <a:srgbClr val="00D9FF">
              <a:alpha val="25000"/>
            </a:srgbClr>
          </a:solidFill>
          <a:ln>
            <a:noFill/>
          </a:ln>
        </p:spPr>
      </p:sp>
      <p:sp>
        <p:nvSpPr>
          <p:cNvPr id="46" name="Polyline 46"/>
          <p:cNvSpPr/>
          <p:nvPr/>
        </p:nvSpPr>
        <p:spPr>
          <a:xfrm>
            <a:off x="8172450" y="4381500"/>
            <a:ext cx="2971800" cy="238125"/>
          </a:xfrm>
          <a:custGeom>
            <a:avLst/>
            <a:gdLst/>
            <a:ahLst/>
            <a:cxnLst/>
            <a:rect l="l" t="t" r="r" b="b"/>
            <a:pathLst>
              <a:path w="2971800" h="238125">
                <a:moveTo>
                  <a:pt x="0" y="0"/>
                </a:moveTo>
                <a:lnTo>
                  <a:pt x="590550" y="47625"/>
                </a:lnTo>
                <a:lnTo>
                  <a:pt x="1066800" y="95250"/>
                </a:lnTo>
                <a:lnTo>
                  <a:pt x="1638300" y="142875"/>
                </a:lnTo>
                <a:lnTo>
                  <a:pt x="2209800" y="190500"/>
                </a:lnTo>
                <a:lnTo>
                  <a:pt x="2971800" y="238125"/>
                </a:lnTo>
              </a:path>
            </a:pathLst>
          </a:custGeom>
          <a:noFill/>
          <a:ln w="19050">
            <a:solidFill>
              <a:srgbClr val="6B7280"/>
            </a:solidFill>
            <a:custDash>
              <a:ds d="200000" sp="150000"/>
            </a:custDash>
          </a:ln>
        </p:spPr>
      </p:sp>
      <p:sp>
        <p:nvSpPr>
          <p:cNvPr id="47" name="Ellipse 47"/>
          <p:cNvSpPr/>
          <p:nvPr/>
        </p:nvSpPr>
        <p:spPr>
          <a:xfrm>
            <a:off x="8143875" y="4352925"/>
            <a:ext cx="57150" cy="57150"/>
          </a:xfrm>
          <a:prstGeom prst="ellipse">
            <a:avLst/>
          </a:prstGeom>
          <a:solidFill>
            <a:srgbClr val="6B7280"/>
          </a:solidFill>
          <a:ln>
            <a:noFill/>
          </a:ln>
        </p:spPr>
      </p:sp>
      <p:sp>
        <p:nvSpPr>
          <p:cNvPr id="48" name="Ellipse 48"/>
          <p:cNvSpPr/>
          <p:nvPr/>
        </p:nvSpPr>
        <p:spPr>
          <a:xfrm>
            <a:off x="9210675" y="4448175"/>
            <a:ext cx="57150" cy="57150"/>
          </a:xfrm>
          <a:prstGeom prst="ellipse">
            <a:avLst/>
          </a:prstGeom>
          <a:solidFill>
            <a:srgbClr val="6B7280"/>
          </a:solidFill>
          <a:ln>
            <a:noFill/>
          </a:ln>
        </p:spPr>
      </p:sp>
      <p:sp>
        <p:nvSpPr>
          <p:cNvPr id="49" name="Ellipse 49"/>
          <p:cNvSpPr/>
          <p:nvPr/>
        </p:nvSpPr>
        <p:spPr>
          <a:xfrm>
            <a:off x="11115675" y="4591050"/>
            <a:ext cx="57150" cy="57150"/>
          </a:xfrm>
          <a:prstGeom prst="ellipse">
            <a:avLst/>
          </a:prstGeom>
          <a:solidFill>
            <a:srgbClr val="6B7280"/>
          </a:solidFill>
          <a:ln>
            <a:noFill/>
          </a:ln>
        </p:spPr>
      </p:sp>
      <p:sp>
        <p:nvSpPr>
          <p:cNvPr id="50" name="Line 50"/>
          <p:cNvSpPr/>
          <p:nvPr/>
        </p:nvSpPr>
        <p:spPr>
          <a:xfrm>
            <a:off x="10858500" y="2095500"/>
            <a:ext cx="9525" cy="2457450"/>
          </a:xfrm>
          <a:custGeom>
            <a:avLst/>
            <a:gdLst/>
            <a:ahLst/>
            <a:cxnLst/>
            <a:rect l="l" t="t" r="r" b="b"/>
            <a:pathLst>
              <a:path w="9525" h="2457450">
                <a:moveTo>
                  <a:pt x="0" y="0"/>
                </a:moveTo>
                <a:lnTo>
                  <a:pt x="0" y="2457450"/>
                </a:lnTo>
              </a:path>
            </a:pathLst>
          </a:custGeom>
          <a:noFill/>
          <a:ln w="9525">
            <a:solidFill>
              <a:srgbClr val="FF6B35"/>
            </a:solidFill>
            <a:prstDash val="sysDot"/>
          </a:ln>
        </p:spPr>
      </p:sp>
      <p:sp>
        <p:nvSpPr>
          <p:cNvPr id="51" name="Polygon 51"/>
          <p:cNvSpPr/>
          <p:nvPr/>
        </p:nvSpPr>
        <p:spPr>
          <a:xfrm>
            <a:off x="10820400" y="2057400"/>
            <a:ext cx="76200" cy="76200"/>
          </a:xfrm>
          <a:custGeom>
            <a:avLst/>
            <a:gdLst/>
            <a:ahLst/>
            <a:cxnLst/>
            <a:rect l="l" t="t" r="r" b="b"/>
            <a:pathLst>
              <a:path w="76200" h="76200">
                <a:moveTo>
                  <a:pt x="0" y="76200"/>
                </a:moveTo>
                <a:lnTo>
                  <a:pt x="38100" y="0"/>
                </a:lnTo>
                <a:lnTo>
                  <a:pt x="76200" y="76200"/>
                </a:lnTo>
                <a:close/>
              </a:path>
            </a:pathLst>
          </a:custGeom>
          <a:solidFill>
            <a:srgbClr val="FF6B35"/>
          </a:solidFill>
          <a:ln>
            <a:noFill/>
          </a:ln>
        </p:spPr>
      </p:sp>
      <p:sp>
        <p:nvSpPr>
          <p:cNvPr id="52" name="Polygon 52"/>
          <p:cNvSpPr/>
          <p:nvPr/>
        </p:nvSpPr>
        <p:spPr>
          <a:xfrm>
            <a:off x="10820400" y="4514850"/>
            <a:ext cx="76200" cy="76200"/>
          </a:xfrm>
          <a:custGeom>
            <a:avLst/>
            <a:gdLst/>
            <a:ahLst/>
            <a:cxnLst/>
            <a:rect l="l" t="t" r="r" b="b"/>
            <a:pathLst>
              <a:path w="76200" h="76200">
                <a:moveTo>
                  <a:pt x="0" y="0"/>
                </a:moveTo>
                <a:lnTo>
                  <a:pt x="38100" y="76200"/>
                </a:lnTo>
                <a:lnTo>
                  <a:pt x="76200" y="0"/>
                </a:lnTo>
                <a:close/>
              </a:path>
            </a:pathLst>
          </a:custGeom>
          <a:solidFill>
            <a:srgbClr val="FF6B35"/>
          </a:solidFill>
          <a:ln>
            <a:noFill/>
          </a:ln>
        </p:spPr>
      </p:sp>
      <p:sp>
        <p:nvSpPr>
          <p:cNvPr id="53" name="Rectangle 53"/>
          <p:cNvSpPr/>
          <p:nvPr/>
        </p:nvSpPr>
        <p:spPr>
          <a:xfrm>
            <a:off x="10096500" y="3238500"/>
            <a:ext cx="609600" cy="209550"/>
          </a:xfrm>
          <a:prstGeom prst="roundRect">
            <a:avLst>
              <a:gd name="adj" fmla="val 13636"/>
            </a:avLst>
          </a:prstGeom>
          <a:solidFill>
            <a:srgbClr val="FF6B35"/>
          </a:solidFill>
          <a:ln>
            <a:noFill/>
          </a:ln>
        </p:spPr>
      </p:sp>
      <p:sp>
        <p:nvSpPr>
          <p:cNvPr id="54" name="TextBox 54"/>
          <p:cNvSpPr txBox="1"/>
          <p:nvPr/>
        </p:nvSpPr>
        <p:spPr>
          <a:xfrm>
            <a:off x="10232678" y="3301841"/>
            <a:ext cx="337245" cy="167640"/>
          </a:xfrm>
          <a:prstGeom prst="rect">
            <a:avLst/>
          </a:prstGeom>
          <a:noFill/>
          <a:ln>
            <a:noFill/>
          </a:ln>
        </p:spPr>
        <p:txBody>
          <a:bodyPr wrap="none" lIns="0" tIns="0" rIns="0" bIns="0" anchor="t" anchorCtr="0">
            <a:spAutoFit/>
          </a:bodyPr>
          <a:lstStyle/>
          <a:p>
            <a:pPr algn="ctr"/>
            <a:r>
              <a:rPr lang="en-US" sz="1200" b="1" dirty="0">
                <a:solidFill>
                  <a:srgbClr val="0A0E1A"/>
                </a:solidFill>
                <a:latin typeface="Malgun Gothic"/>
                <a:ea typeface="Malgun Gothic"/>
                <a:cs typeface="Malgun Gothic"/>
              </a:rPr>
              <a:t>GAP ↑</a:t>
            </a:r>
          </a:p>
        </p:txBody>
      </p:sp>
      <p:sp>
        <p:nvSpPr>
          <p:cNvPr id="55" name="Line 55"/>
          <p:cNvSpPr/>
          <p:nvPr/>
        </p:nvSpPr>
        <p:spPr>
          <a:xfrm>
            <a:off x="8001000" y="5286375"/>
            <a:ext cx="228600" cy="9525"/>
          </a:xfrm>
          <a:custGeom>
            <a:avLst/>
            <a:gdLst/>
            <a:ahLst/>
            <a:cxnLst/>
            <a:rect l="l" t="t" r="r" b="b"/>
            <a:pathLst>
              <a:path w="228600" h="9525">
                <a:moveTo>
                  <a:pt x="0" y="0"/>
                </a:moveTo>
                <a:lnTo>
                  <a:pt x="228600" y="0"/>
                </a:lnTo>
              </a:path>
            </a:pathLst>
          </a:custGeom>
          <a:noFill/>
          <a:ln w="23812">
            <a:solidFill>
              <a:srgbClr val="00D9FF"/>
            </a:solidFill>
          </a:ln>
        </p:spPr>
      </p:sp>
      <p:sp>
        <p:nvSpPr>
          <p:cNvPr id="56" name="Ellipse 56"/>
          <p:cNvSpPr/>
          <p:nvPr/>
        </p:nvSpPr>
        <p:spPr>
          <a:xfrm>
            <a:off x="8086725" y="5257800"/>
            <a:ext cx="57150" cy="57150"/>
          </a:xfrm>
          <a:prstGeom prst="ellipse">
            <a:avLst/>
          </a:prstGeom>
          <a:solidFill>
            <a:srgbClr val="00D9FF"/>
          </a:solidFill>
          <a:ln>
            <a:noFill/>
          </a:ln>
        </p:spPr>
      </p:sp>
      <p:sp>
        <p:nvSpPr>
          <p:cNvPr id="57" name="TextBox 57"/>
          <p:cNvSpPr txBox="1"/>
          <p:nvPr/>
        </p:nvSpPr>
        <p:spPr>
          <a:xfrm>
            <a:off x="8294370" y="5227320"/>
            <a:ext cx="913071" cy="182880"/>
          </a:xfrm>
          <a:prstGeom prst="rect">
            <a:avLst/>
          </a:prstGeom>
          <a:noFill/>
          <a:ln>
            <a:noFill/>
          </a:ln>
        </p:spPr>
        <p:txBody>
          <a:bodyPr wrap="none" lIns="0" tIns="0" rIns="0" bIns="0" anchor="t" anchorCtr="0">
            <a:spAutoFit/>
          </a:bodyPr>
          <a:lstStyle/>
          <a:p>
            <a:pPr algn="l"/>
            <a:r>
              <a:rPr lang="ko-KR" sz="1200" b="1" dirty="0">
                <a:solidFill>
                  <a:srgbClr val="F5F7FA"/>
                </a:solidFill>
                <a:latin typeface="Malgun Gothic"/>
                <a:ea typeface="Malgun Gothic"/>
                <a:cs typeface="Malgun Gothic"/>
              </a:rPr>
              <a:t>AI 채택 개발자</a:t>
            </a:r>
          </a:p>
        </p:txBody>
      </p:sp>
      <p:sp>
        <p:nvSpPr>
          <p:cNvPr id="58" name="Line 58"/>
          <p:cNvSpPr/>
          <p:nvPr/>
        </p:nvSpPr>
        <p:spPr>
          <a:xfrm>
            <a:off x="8001000" y="5524500"/>
            <a:ext cx="228600" cy="9525"/>
          </a:xfrm>
          <a:custGeom>
            <a:avLst/>
            <a:gdLst/>
            <a:ahLst/>
            <a:cxnLst/>
            <a:rect l="l" t="t" r="r" b="b"/>
            <a:pathLst>
              <a:path w="228600" h="9525">
                <a:moveTo>
                  <a:pt x="0" y="0"/>
                </a:moveTo>
                <a:lnTo>
                  <a:pt x="228600" y="0"/>
                </a:lnTo>
              </a:path>
            </a:pathLst>
          </a:custGeom>
          <a:noFill/>
          <a:ln w="19050">
            <a:solidFill>
              <a:srgbClr val="6B7280"/>
            </a:solidFill>
            <a:custDash>
              <a:ds d="200000" sp="150000"/>
            </a:custDash>
          </a:ln>
        </p:spPr>
      </p:sp>
      <p:sp>
        <p:nvSpPr>
          <p:cNvPr id="59" name="TextBox 59"/>
          <p:cNvSpPr txBox="1"/>
          <p:nvPr/>
        </p:nvSpPr>
        <p:spPr>
          <a:xfrm>
            <a:off x="8294370" y="5465445"/>
            <a:ext cx="870680" cy="18288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AI 거부 개발자</a:t>
            </a:r>
          </a:p>
        </p:txBody>
      </p:sp>
      <p:sp>
        <p:nvSpPr>
          <p:cNvPr id="60" name="TextBox 60"/>
          <p:cNvSpPr txBox="1"/>
          <p:nvPr/>
        </p:nvSpPr>
        <p:spPr>
          <a:xfrm>
            <a:off x="750570" y="6475095"/>
            <a:ext cx="1619917"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CHAPTER 2 · 가속하는 현실</a:t>
            </a:r>
          </a:p>
        </p:txBody>
      </p:sp>
      <p:sp>
        <p:nvSpPr>
          <p:cNvPr id="61" name="TextBox 61"/>
          <p:cNvSpPr txBox="1"/>
          <p:nvPr/>
        </p:nvSpPr>
        <p:spPr>
          <a:xfrm>
            <a:off x="11273980" y="6475095"/>
            <a:ext cx="167449" cy="18288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02</a:t>
            </a:r>
          </a:p>
        </p:txBody>
      </p:sp>
    </p:spTree>
  </p:cSld>
  <p:clrMapOvr>
    <a:masterClrMapping/>
  </p:clrMapOvr>
  <p:transition xmlns:p14="http://schemas.microsoft.com/office/powerpoint/2010/main" p14:dur="5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41A2E"/>
              </a:gs>
              <a:gs pos="100000">
                <a:srgbClr val="0A0E1A"/>
              </a:gs>
            </a:gsLst>
            <a:lin ang="5400000" scaled="1"/>
          </a:gradFill>
          <a:ln>
            <a:noFill/>
          </a:ln>
        </p:spPr>
      </p:sp>
      <p:sp>
        <p:nvSpPr>
          <p:cNvPr id="3" name="Rectangle 3"/>
          <p:cNvSpPr/>
          <p:nvPr/>
        </p:nvSpPr>
        <p:spPr>
          <a:xfrm>
            <a:off x="609600" y="533400"/>
            <a:ext cx="381000" cy="28575"/>
          </a:xfrm>
          <a:prstGeom prst="rect">
            <a:avLst/>
          </a:prstGeom>
          <a:solidFill>
            <a:srgbClr val="00D9FF"/>
          </a:solidFill>
          <a:ln>
            <a:noFill/>
          </a:ln>
        </p:spPr>
      </p:sp>
      <p:sp>
        <p:nvSpPr>
          <p:cNvPr id="4" name="TextBox 4"/>
          <p:cNvSpPr txBox="1"/>
          <p:nvPr/>
        </p:nvSpPr>
        <p:spPr>
          <a:xfrm>
            <a:off x="1052512" y="526256"/>
            <a:ext cx="1737360"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SECTION 01 · 현실 진단</a:t>
            </a:r>
          </a:p>
        </p:txBody>
      </p:sp>
      <p:sp>
        <p:nvSpPr>
          <p:cNvPr id="5" name="TextBox 5"/>
          <p:cNvSpPr txBox="1"/>
          <p:nvPr/>
        </p:nvSpPr>
        <p:spPr>
          <a:xfrm>
            <a:off x="575310" y="832485"/>
            <a:ext cx="2801322"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이미 일어난 일</a:t>
            </a:r>
          </a:p>
        </p:txBody>
      </p:sp>
      <p:sp>
        <p:nvSpPr>
          <p:cNvPr id="6" name="TextBox 6"/>
          <p:cNvSpPr txBox="1"/>
          <p:nvPr/>
        </p:nvSpPr>
        <p:spPr>
          <a:xfrm>
            <a:off x="592455" y="1283018"/>
            <a:ext cx="5436679" cy="274320"/>
          </a:xfrm>
          <a:prstGeom prst="rect">
            <a:avLst/>
          </a:prstGeom>
          <a:noFill/>
          <a:ln>
            <a:noFill/>
          </a:ln>
        </p:spPr>
        <p:txBody>
          <a:bodyPr wrap="none" lIns="0" tIns="0" rIns="0" bIns="0" anchor="t" anchorCtr="0">
            <a:spAutoFit/>
          </a:bodyPr>
          <a:lstStyle/>
          <a:p>
            <a:pPr algn="l"/>
            <a:r>
              <a:rPr lang="ko-KR" sz="1350" dirty="0">
                <a:solidFill>
                  <a:srgbClr val="9CA3AF"/>
                </a:solidFill>
                <a:latin typeface="Malgun Gothic"/>
                <a:ea typeface="Malgun Gothic"/>
                <a:cs typeface="Malgun Gothic"/>
              </a:rPr>
              <a:t>AI 코딩 도구는 더 이상 '미래'가 아닙니다 — 2024년의 데이터</a:t>
            </a:r>
          </a:p>
        </p:txBody>
      </p:sp>
      <p:sp>
        <p:nvSpPr>
          <p:cNvPr id="7" name="Line 7"/>
          <p:cNvSpPr/>
          <p:nvPr/>
        </p:nvSpPr>
        <p:spPr>
          <a:xfrm>
            <a:off x="6096000" y="2095500"/>
            <a:ext cx="9525" cy="3619500"/>
          </a:xfrm>
          <a:custGeom>
            <a:avLst/>
            <a:gdLst/>
            <a:ahLst/>
            <a:cxnLst/>
            <a:rect l="l" t="t" r="r" b="b"/>
            <a:pathLst>
              <a:path w="9525" h="3619500">
                <a:moveTo>
                  <a:pt x="0" y="0"/>
                </a:moveTo>
                <a:lnTo>
                  <a:pt x="0" y="3619500"/>
                </a:lnTo>
              </a:path>
            </a:pathLst>
          </a:custGeom>
          <a:noFill/>
          <a:ln w="9525">
            <a:solidFill>
              <a:srgbClr val="2A3454"/>
            </a:solidFill>
          </a:ln>
        </p:spPr>
      </p:sp>
      <p:sp>
        <p:nvSpPr>
          <p:cNvPr id="8" name="TextBox 8"/>
          <p:cNvSpPr txBox="1"/>
          <p:nvPr/>
        </p:nvSpPr>
        <p:spPr>
          <a:xfrm>
            <a:off x="1129665" y="2363152"/>
            <a:ext cx="163537" cy="213360"/>
          </a:xfrm>
          <a:prstGeom prst="rect">
            <a:avLst/>
          </a:prstGeom>
          <a:noFill/>
          <a:ln>
            <a:noFill/>
          </a:ln>
        </p:spPr>
        <p:txBody>
          <a:bodyPr wrap="none" lIns="0" tIns="0" rIns="0" bIns="0" anchor="t" anchorCtr="0">
            <a:spAutoFit/>
          </a:bodyPr>
          <a:lstStyle/>
          <a:p>
            <a:pPr algn="l"/>
            <a:r>
              <a:rPr lang="en-US" sz="1200" b="1" dirty="0">
                <a:solidFill>
                  <a:srgbClr val="00D9FF"/>
                </a:solidFill>
                <a:latin typeface="Malgun Gothic"/>
                <a:ea typeface="Malgun Gothic"/>
                <a:cs typeface="Malgun Gothic"/>
              </a:rPr>
              <a:t>01</a:t>
            </a:r>
          </a:p>
        </p:txBody>
      </p:sp>
      <p:sp>
        <p:nvSpPr>
          <p:cNvPr id="9" name="Line 9"/>
          <p:cNvSpPr/>
          <p:nvPr/>
        </p:nvSpPr>
        <p:spPr>
          <a:xfrm>
            <a:off x="1476375" y="2428875"/>
            <a:ext cx="428625" cy="9525"/>
          </a:xfrm>
          <a:custGeom>
            <a:avLst/>
            <a:gdLst/>
            <a:ahLst/>
            <a:cxnLst/>
            <a:rect l="l" t="t" r="r" b="b"/>
            <a:pathLst>
              <a:path w="428625" h="9525">
                <a:moveTo>
                  <a:pt x="0" y="0"/>
                </a:moveTo>
                <a:lnTo>
                  <a:pt x="428625" y="0"/>
                </a:lnTo>
              </a:path>
            </a:pathLst>
          </a:custGeom>
          <a:noFill/>
          <a:ln w="9525">
            <a:solidFill>
              <a:srgbClr val="00D9FF"/>
            </a:solidFill>
          </a:ln>
        </p:spPr>
      </p:sp>
      <p:sp>
        <p:nvSpPr>
          <p:cNvPr id="10" name="TextBox 10"/>
          <p:cNvSpPr txBox="1"/>
          <p:nvPr/>
        </p:nvSpPr>
        <p:spPr>
          <a:xfrm>
            <a:off x="952500" y="2476500"/>
            <a:ext cx="2911316" cy="3048000"/>
          </a:xfrm>
          <a:prstGeom prst="rect">
            <a:avLst/>
          </a:prstGeom>
          <a:noFill/>
          <a:ln>
            <a:noFill/>
          </a:ln>
        </p:spPr>
        <p:txBody>
          <a:bodyPr wrap="none" lIns="0" tIns="0" rIns="0" bIns="0" anchor="t" anchorCtr="0">
            <a:spAutoFit/>
          </a:bodyPr>
          <a:lstStyle/>
          <a:p>
            <a:pPr algn="l"/>
            <a:r>
              <a:rPr lang="en-US" sz="15000" b="1" dirty="0">
                <a:gradFill>
                  <a:gsLst>
                    <a:gs pos="0">
                      <a:srgbClr val="00D9FF"/>
                    </a:gs>
                    <a:gs pos="100000">
                      <a:srgbClr val="7B61FF"/>
                    </a:gs>
                  </a:gsLst>
                  <a:lin ang="2700000" scaled="1"/>
                </a:gradFill>
                <a:latin typeface="Arial Black"/>
                <a:ea typeface="Malgun Gothic"/>
                <a:cs typeface="Arial Black"/>
              </a:rPr>
              <a:t>70</a:t>
            </a:r>
          </a:p>
        </p:txBody>
      </p:sp>
      <p:sp>
        <p:nvSpPr>
          <p:cNvPr id="11" name="TextBox 11"/>
          <p:cNvSpPr txBox="1"/>
          <p:nvPr/>
        </p:nvSpPr>
        <p:spPr>
          <a:xfrm>
            <a:off x="4027170" y="2941320"/>
            <a:ext cx="592617" cy="1097280"/>
          </a:xfrm>
          <a:prstGeom prst="rect">
            <a:avLst/>
          </a:prstGeom>
          <a:noFill/>
          <a:ln>
            <a:noFill/>
          </a:ln>
        </p:spPr>
        <p:txBody>
          <a:bodyPr wrap="none" lIns="0" tIns="0" rIns="0" bIns="0" anchor="t" anchorCtr="0">
            <a:spAutoFit/>
          </a:bodyPr>
          <a:lstStyle/>
          <a:p>
            <a:pPr algn="l"/>
            <a:r>
              <a:rPr lang="en-US" sz="5400" b="1" dirty="0">
                <a:gradFill>
                  <a:gsLst>
                    <a:gs pos="0">
                      <a:srgbClr val="00D9FF"/>
                    </a:gs>
                    <a:gs pos="100000">
                      <a:srgbClr val="7B61FF"/>
                    </a:gs>
                  </a:gsLst>
                  <a:lin ang="2700000" scaled="1"/>
                </a:gradFill>
                <a:latin typeface="Arial Black"/>
                <a:ea typeface="Malgun Gothic"/>
                <a:cs typeface="Arial Black"/>
              </a:rPr>
              <a:t>%</a:t>
            </a:r>
          </a:p>
        </p:txBody>
      </p:sp>
      <p:sp>
        <p:nvSpPr>
          <p:cNvPr id="12" name="TextBox 12"/>
          <p:cNvSpPr txBox="1"/>
          <p:nvPr/>
        </p:nvSpPr>
        <p:spPr>
          <a:xfrm>
            <a:off x="1122045" y="4393882"/>
            <a:ext cx="2395104"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GitHub 코드의 70%가</a:t>
            </a:r>
          </a:p>
        </p:txBody>
      </p:sp>
      <p:sp>
        <p:nvSpPr>
          <p:cNvPr id="13" name="TextBox 13"/>
          <p:cNvSpPr txBox="1"/>
          <p:nvPr/>
        </p:nvSpPr>
        <p:spPr>
          <a:xfrm>
            <a:off x="1122045" y="4679632"/>
            <a:ext cx="2686090"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AI 도움으로 작성됩니다</a:t>
            </a:r>
          </a:p>
        </p:txBody>
      </p:sp>
      <p:sp>
        <p:nvSpPr>
          <p:cNvPr id="14" name="TextBox 14"/>
          <p:cNvSpPr txBox="1"/>
          <p:nvPr/>
        </p:nvSpPr>
        <p:spPr>
          <a:xfrm>
            <a:off x="1127760" y="5128260"/>
            <a:ext cx="2878455" cy="24384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Copilot, Cursor 등 AI 어시스턴트가</a:t>
            </a:r>
          </a:p>
        </p:txBody>
      </p:sp>
      <p:sp>
        <p:nvSpPr>
          <p:cNvPr id="15" name="TextBox 15"/>
          <p:cNvSpPr txBox="1"/>
          <p:nvPr/>
        </p:nvSpPr>
        <p:spPr>
          <a:xfrm>
            <a:off x="1127760" y="5337810"/>
            <a:ext cx="2957322" cy="24384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초안 작성·자동완성·리팩터링을 주도</a:t>
            </a:r>
          </a:p>
        </p:txBody>
      </p:sp>
      <p:sp>
        <p:nvSpPr>
          <p:cNvPr id="16" name="TextBox 16"/>
          <p:cNvSpPr txBox="1"/>
          <p:nvPr/>
        </p:nvSpPr>
        <p:spPr>
          <a:xfrm>
            <a:off x="1340168" y="5895499"/>
            <a:ext cx="2118027" cy="198120"/>
          </a:xfrm>
          <a:prstGeom prst="rect">
            <a:avLst/>
          </a:prstGeom>
          <a:noFill/>
          <a:ln>
            <a:noFill/>
          </a:ln>
        </p:spPr>
        <p:txBody>
          <a:bodyPr wrap="none" lIns="0" tIns="0" rIns="0" bIns="0" anchor="t" anchorCtr="0">
            <a:spAutoFit/>
          </a:bodyPr>
          <a:lstStyle/>
          <a:p>
            <a:pPr algn="l"/>
            <a:r>
              <a:rPr lang="en-US" sz="1200" dirty="0">
                <a:solidFill>
                  <a:srgbClr val="6B7280"/>
                </a:solidFill>
                <a:latin typeface="Malgun Gothic"/>
                <a:ea typeface="Malgun Gothic"/>
                <a:cs typeface="Malgun Gothic"/>
              </a:rPr>
              <a:t>GitHub Developer Survey, 2024</a:t>
            </a:r>
          </a:p>
        </p:txBody>
      </p:sp>
      <p:sp>
        <p:nvSpPr>
          <p:cNvPr id="17" name="TextBox 17"/>
          <p:cNvSpPr txBox="1"/>
          <p:nvPr/>
        </p:nvSpPr>
        <p:spPr>
          <a:xfrm>
            <a:off x="6616065" y="2363152"/>
            <a:ext cx="203792" cy="213360"/>
          </a:xfrm>
          <a:prstGeom prst="rect">
            <a:avLst/>
          </a:prstGeom>
          <a:noFill/>
          <a:ln>
            <a:noFill/>
          </a:ln>
        </p:spPr>
        <p:txBody>
          <a:bodyPr wrap="none" lIns="0" tIns="0" rIns="0" bIns="0" anchor="t" anchorCtr="0">
            <a:spAutoFit/>
          </a:bodyPr>
          <a:lstStyle/>
          <a:p>
            <a:pPr algn="l"/>
            <a:r>
              <a:rPr lang="en-US" sz="1200" b="1" dirty="0">
                <a:solidFill>
                  <a:srgbClr val="7B61FF"/>
                </a:solidFill>
                <a:latin typeface="Malgun Gothic"/>
                <a:ea typeface="Malgun Gothic"/>
                <a:cs typeface="Malgun Gothic"/>
              </a:rPr>
              <a:t>02</a:t>
            </a:r>
          </a:p>
        </p:txBody>
      </p:sp>
      <p:sp>
        <p:nvSpPr>
          <p:cNvPr id="18" name="Line 18"/>
          <p:cNvSpPr/>
          <p:nvPr/>
        </p:nvSpPr>
        <p:spPr>
          <a:xfrm>
            <a:off x="6905625" y="2428875"/>
            <a:ext cx="428625" cy="9525"/>
          </a:xfrm>
          <a:custGeom>
            <a:avLst/>
            <a:gdLst/>
            <a:ahLst/>
            <a:cxnLst/>
            <a:rect l="l" t="t" r="r" b="b"/>
            <a:pathLst>
              <a:path w="428625" h="9525">
                <a:moveTo>
                  <a:pt x="0" y="0"/>
                </a:moveTo>
                <a:lnTo>
                  <a:pt x="428625" y="0"/>
                </a:lnTo>
              </a:path>
            </a:pathLst>
          </a:custGeom>
          <a:noFill/>
          <a:ln w="9525">
            <a:solidFill>
              <a:srgbClr val="7B61FF"/>
            </a:solidFill>
          </a:ln>
        </p:spPr>
      </p:sp>
      <p:sp>
        <p:nvSpPr>
          <p:cNvPr id="19" name="TextBox 19"/>
          <p:cNvSpPr txBox="1"/>
          <p:nvPr/>
        </p:nvSpPr>
        <p:spPr>
          <a:xfrm>
            <a:off x="6438900" y="2476500"/>
            <a:ext cx="2911316" cy="3048000"/>
          </a:xfrm>
          <a:prstGeom prst="rect">
            <a:avLst/>
          </a:prstGeom>
          <a:noFill/>
          <a:ln>
            <a:noFill/>
          </a:ln>
        </p:spPr>
        <p:txBody>
          <a:bodyPr wrap="none" lIns="0" tIns="0" rIns="0" bIns="0" anchor="t" anchorCtr="0">
            <a:spAutoFit/>
          </a:bodyPr>
          <a:lstStyle/>
          <a:p>
            <a:pPr algn="l"/>
            <a:r>
              <a:rPr lang="en-US" sz="15000" b="1" dirty="0">
                <a:gradFill>
                  <a:gsLst>
                    <a:gs pos="0">
                      <a:srgbClr val="00D9FF"/>
                    </a:gs>
                    <a:gs pos="100000">
                      <a:srgbClr val="7B61FF"/>
                    </a:gs>
                  </a:gsLst>
                  <a:lin ang="2700000" scaled="1"/>
                </a:gradFill>
                <a:latin typeface="Arial Black"/>
                <a:ea typeface="Malgun Gothic"/>
                <a:cs typeface="Arial Black"/>
              </a:rPr>
              <a:t>55</a:t>
            </a:r>
          </a:p>
        </p:txBody>
      </p:sp>
      <p:sp>
        <p:nvSpPr>
          <p:cNvPr id="20" name="TextBox 20"/>
          <p:cNvSpPr txBox="1"/>
          <p:nvPr/>
        </p:nvSpPr>
        <p:spPr>
          <a:xfrm>
            <a:off x="9513570" y="2941320"/>
            <a:ext cx="592617" cy="1097280"/>
          </a:xfrm>
          <a:prstGeom prst="rect">
            <a:avLst/>
          </a:prstGeom>
          <a:noFill/>
          <a:ln>
            <a:noFill/>
          </a:ln>
        </p:spPr>
        <p:txBody>
          <a:bodyPr wrap="none" lIns="0" tIns="0" rIns="0" bIns="0" anchor="t" anchorCtr="0">
            <a:spAutoFit/>
          </a:bodyPr>
          <a:lstStyle/>
          <a:p>
            <a:pPr algn="l"/>
            <a:r>
              <a:rPr lang="en-US" sz="5400" b="1" dirty="0">
                <a:gradFill>
                  <a:gsLst>
                    <a:gs pos="0">
                      <a:srgbClr val="00D9FF"/>
                    </a:gs>
                    <a:gs pos="100000">
                      <a:srgbClr val="7B61FF"/>
                    </a:gs>
                  </a:gsLst>
                  <a:lin ang="2700000" scaled="1"/>
                </a:gradFill>
                <a:latin typeface="Arial Black"/>
                <a:ea typeface="Malgun Gothic"/>
                <a:cs typeface="Arial Black"/>
              </a:rPr>
              <a:t>%</a:t>
            </a:r>
          </a:p>
        </p:txBody>
      </p:sp>
      <p:sp>
        <p:nvSpPr>
          <p:cNvPr id="21" name="TextBox 21"/>
          <p:cNvSpPr txBox="1"/>
          <p:nvPr/>
        </p:nvSpPr>
        <p:spPr>
          <a:xfrm>
            <a:off x="6608445" y="5022532"/>
            <a:ext cx="2635484"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시니어 개발자의 55%가</a:t>
            </a:r>
          </a:p>
        </p:txBody>
      </p:sp>
      <p:sp>
        <p:nvSpPr>
          <p:cNvPr id="22" name="TextBox 22"/>
          <p:cNvSpPr txBox="1"/>
          <p:nvPr/>
        </p:nvSpPr>
        <p:spPr>
          <a:xfrm>
            <a:off x="6608445" y="4679632"/>
            <a:ext cx="3597004"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AI 코드 도구를 일상적으로 사용</a:t>
            </a:r>
          </a:p>
        </p:txBody>
      </p:sp>
      <p:sp>
        <p:nvSpPr>
          <p:cNvPr id="23" name="TextBox 23"/>
          <p:cNvSpPr txBox="1"/>
          <p:nvPr/>
        </p:nvSpPr>
        <p:spPr>
          <a:xfrm>
            <a:off x="6614160" y="5328285"/>
            <a:ext cx="2931033" cy="24384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"초보자만 쓴다"는 통념과 정반대로,</a:t>
            </a:r>
          </a:p>
        </p:txBody>
      </p:sp>
      <p:sp>
        <p:nvSpPr>
          <p:cNvPr id="24" name="TextBox 24"/>
          <p:cNvSpPr txBox="1"/>
          <p:nvPr/>
        </p:nvSpPr>
        <p:spPr>
          <a:xfrm>
            <a:off x="6614160" y="5337810"/>
            <a:ext cx="2641854" cy="24384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경력자일수록 더 적극적으로 도입</a:t>
            </a:r>
          </a:p>
        </p:txBody>
      </p:sp>
      <p:sp>
        <p:nvSpPr>
          <p:cNvPr id="25" name="TextBox 25"/>
          <p:cNvSpPr txBox="1"/>
          <p:nvPr/>
        </p:nvSpPr>
        <p:spPr>
          <a:xfrm>
            <a:off x="6826568" y="5895499"/>
            <a:ext cx="2765941" cy="198120"/>
          </a:xfrm>
          <a:prstGeom prst="rect">
            <a:avLst/>
          </a:prstGeom>
          <a:noFill/>
          <a:ln>
            <a:noFill/>
          </a:ln>
        </p:spPr>
        <p:txBody>
          <a:bodyPr wrap="none" lIns="0" tIns="0" rIns="0" bIns="0" anchor="t" anchorCtr="0">
            <a:spAutoFit/>
          </a:bodyPr>
          <a:lstStyle/>
          <a:p>
            <a:pPr algn="l"/>
            <a:r>
              <a:rPr lang="en-US" sz="1200" dirty="0">
                <a:solidFill>
                  <a:srgbClr val="6B7280"/>
                </a:solidFill>
                <a:latin typeface="Malgun Gothic"/>
                <a:ea typeface="Malgun Gothic"/>
                <a:cs typeface="Malgun Gothic"/>
              </a:rPr>
              <a:t>Stack Overflow Developer Survey, 2024</a:t>
            </a:r>
          </a:p>
        </p:txBody>
      </p:sp>
      <p:sp>
        <p:nvSpPr>
          <p:cNvPr id="26" name="Line 26"/>
          <p:cNvSpPr/>
          <p:nvPr/>
        </p:nvSpPr>
        <p:spPr>
          <a:xfrm>
            <a:off x="609600" y="6457950"/>
            <a:ext cx="533400" cy="9525"/>
          </a:xfrm>
          <a:custGeom>
            <a:avLst/>
            <a:gdLst/>
            <a:ahLst/>
            <a:cxnLst/>
            <a:rect l="l" t="t" r="r" b="b"/>
            <a:pathLst>
              <a:path w="533400" h="9525">
                <a:moveTo>
                  <a:pt x="0" y="0"/>
                </a:moveTo>
                <a:lnTo>
                  <a:pt x="533400" y="0"/>
                </a:lnTo>
              </a:path>
            </a:pathLst>
          </a:custGeom>
          <a:noFill/>
          <a:ln w="19050">
            <a:solidFill>
              <a:srgbClr val="00D9FF"/>
            </a:solidFill>
          </a:ln>
        </p:spPr>
      </p:sp>
      <p:sp>
        <p:nvSpPr>
          <p:cNvPr id="27" name="TextBox 27"/>
          <p:cNvSpPr txBox="1"/>
          <p:nvPr/>
        </p:nvSpPr>
        <p:spPr>
          <a:xfrm>
            <a:off x="598170" y="6551295"/>
            <a:ext cx="1297876"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02 / AI 시대의 개발자</a:t>
            </a:r>
          </a:p>
        </p:txBody>
      </p:sp>
      <p:sp>
        <p:nvSpPr>
          <p:cNvPr id="28" name="TextBox 28"/>
          <p:cNvSpPr txBox="1"/>
          <p:nvPr/>
        </p:nvSpPr>
        <p:spPr>
          <a:xfrm>
            <a:off x="11242358" y="6551295"/>
            <a:ext cx="351472" cy="18288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P. 02</a:t>
            </a:r>
          </a:p>
        </p:txBody>
      </p:sp>
    </p:spTree>
  </p:cSld>
  <p:clrMapOvr>
    <a:masterClrMapping/>
  </p:clrMapOvr>
  <p:transition xmlns:p14="http://schemas.microsoft.com/office/powerpoint/2010/main" p14:dur="5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41A2E"/>
              </a:gs>
              <a:gs pos="100000">
                <a:srgbClr val="0A0E1A"/>
              </a:gs>
            </a:gsLst>
            <a:lin ang="5400000" scaled="1"/>
          </a:gradFill>
          <a:ln>
            <a:noFill/>
          </a:ln>
        </p:spPr>
      </p:sp>
      <p:sp>
        <p:nvSpPr>
          <p:cNvPr id="3" name="Rectangle 3"/>
          <p:cNvSpPr/>
          <p:nvPr/>
        </p:nvSpPr>
        <p:spPr>
          <a:xfrm>
            <a:off x="0" y="0"/>
            <a:ext cx="12192000" cy="28575"/>
          </a:xfrm>
          <a:prstGeom prst="rect">
            <a:avLst/>
          </a:prstGeom>
          <a:gradFill>
            <a:gsLst>
              <a:gs pos="0">
                <a:srgbClr val="7B61FF">
                  <a:alpha val="60000"/>
                </a:srgbClr>
              </a:gs>
              <a:gs pos="100000">
                <a:srgbClr val="00D9FF">
                  <a:alpha val="60000"/>
                </a:srgbClr>
              </a:gs>
            </a:gsLst>
            <a:lin ang="0" scaled="1"/>
          </a:gradFill>
          <a:ln>
            <a:noFill/>
          </a:ln>
        </p:spPr>
      </p:sp>
      <p:sp>
        <p:nvSpPr>
          <p:cNvPr id="4" name="TextBox 4"/>
          <p:cNvSpPr txBox="1"/>
          <p:nvPr/>
        </p:nvSpPr>
        <p:spPr>
          <a:xfrm>
            <a:off x="575310" y="451485"/>
            <a:ext cx="5099309"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AI 코딩의 진화: 3년의 압축</a:t>
            </a:r>
          </a:p>
        </p:txBody>
      </p:sp>
      <p:sp>
        <p:nvSpPr>
          <p:cNvPr id="5" name="TextBox 5"/>
          <p:cNvSpPr txBox="1"/>
          <p:nvPr/>
        </p:nvSpPr>
        <p:spPr>
          <a:xfrm>
            <a:off x="592455" y="902018"/>
            <a:ext cx="6925294" cy="274320"/>
          </a:xfrm>
          <a:prstGeom prst="rect">
            <a:avLst/>
          </a:prstGeom>
          <a:noFill/>
          <a:ln>
            <a:noFill/>
          </a:ln>
        </p:spPr>
        <p:txBody>
          <a:bodyPr wrap="none" lIns="0" tIns="0" rIns="0" bIns="0" anchor="t" anchorCtr="0">
            <a:spAutoFit/>
          </a:bodyPr>
          <a:lstStyle/>
          <a:p>
            <a:pPr algn="l"/>
            <a:r>
              <a:rPr lang="ko-KR" sz="1350" dirty="0">
                <a:solidFill>
                  <a:srgbClr val="9CA3AF"/>
                </a:solidFill>
                <a:latin typeface="Malgun Gothic"/>
                <a:ea typeface="Malgun Gothic"/>
                <a:cs typeface="Malgun Gothic"/>
              </a:rPr>
              <a:t>자동완성에서 자율 에이전트까지, 매 세대마다 능력이 한 단계씩 도약했습니다</a:t>
            </a:r>
          </a:p>
        </p:txBody>
      </p:sp>
      <p:sp>
        <p:nvSpPr>
          <p:cNvPr id="6" name="Line 6"/>
          <p:cNvSpPr/>
          <p:nvPr/>
        </p:nvSpPr>
        <p:spPr>
          <a:xfrm>
            <a:off x="1619250" y="1981200"/>
            <a:ext cx="8953500" cy="9525"/>
          </a:xfrm>
          <a:custGeom>
            <a:avLst/>
            <a:gdLst/>
            <a:ahLst/>
            <a:cxnLst/>
            <a:rect l="l" t="t" r="r" b="b"/>
            <a:pathLst>
              <a:path w="8953500" h="9525">
                <a:moveTo>
                  <a:pt x="0" y="0"/>
                </a:moveTo>
                <a:lnTo>
                  <a:pt x="8953500" y="0"/>
                </a:lnTo>
              </a:path>
            </a:pathLst>
          </a:custGeom>
          <a:noFill/>
          <a:ln w="19050">
            <a:solidFill>
              <a:srgbClr val="2A3454"/>
            </a:solidFill>
          </a:ln>
        </p:spPr>
      </p:sp>
      <p:sp>
        <p:nvSpPr>
          <p:cNvPr id="7" name="Line 7"/>
          <p:cNvSpPr/>
          <p:nvPr/>
        </p:nvSpPr>
        <p:spPr>
          <a:xfrm>
            <a:off x="1619250" y="1981200"/>
            <a:ext cx="8953500" cy="9525"/>
          </a:xfrm>
          <a:custGeom>
            <a:avLst/>
            <a:gdLst/>
            <a:ahLst/>
            <a:cxnLst/>
            <a:rect l="l" t="t" r="r" b="b"/>
            <a:pathLst>
              <a:path w="8953500" h="9525">
                <a:moveTo>
                  <a:pt x="0" y="0"/>
                </a:moveTo>
                <a:lnTo>
                  <a:pt x="8953500" y="0"/>
                </a:lnTo>
              </a:path>
            </a:pathLst>
          </a:custGeom>
          <a:noFill/>
          <a:ln w="19050">
            <a:gradFill>
              <a:gsLst>
                <a:gs pos="0">
                  <a:srgbClr val="7B61FF">
                    <a:alpha val="50000"/>
                  </a:srgbClr>
                </a:gs>
                <a:gs pos="100000">
                  <a:srgbClr val="00D9FF">
                    <a:alpha val="50000"/>
                  </a:srgbClr>
                </a:gs>
              </a:gsLst>
              <a:lin ang="0" scaled="1"/>
            </a:gradFill>
          </a:ln>
        </p:spPr>
      </p:sp>
      <p:sp>
        <p:nvSpPr>
          <p:cNvPr id="8" name="Ellipse 8"/>
          <p:cNvSpPr/>
          <p:nvPr/>
        </p:nvSpPr>
        <p:spPr>
          <a:xfrm>
            <a:off x="2019300" y="1905000"/>
            <a:ext cx="152400" cy="152400"/>
          </a:xfrm>
          <a:prstGeom prst="ellipse">
            <a:avLst/>
          </a:prstGeom>
          <a:solidFill>
            <a:srgbClr val="0A0E1A"/>
          </a:solidFill>
          <a:ln w="19050">
            <a:solidFill>
              <a:srgbClr val="7B61FF"/>
            </a:solidFill>
          </a:ln>
        </p:spPr>
      </p:sp>
      <p:sp>
        <p:nvSpPr>
          <p:cNvPr id="9" name="Ellipse 9"/>
          <p:cNvSpPr/>
          <p:nvPr/>
        </p:nvSpPr>
        <p:spPr>
          <a:xfrm>
            <a:off x="6019800" y="1905000"/>
            <a:ext cx="152400" cy="152400"/>
          </a:xfrm>
          <a:prstGeom prst="ellipse">
            <a:avLst/>
          </a:prstGeom>
          <a:solidFill>
            <a:srgbClr val="0A0E1A"/>
          </a:solidFill>
          <a:ln w="19050">
            <a:solidFill>
              <a:srgbClr val="9CA3AF"/>
            </a:solidFill>
          </a:ln>
        </p:spPr>
      </p:sp>
      <p:sp>
        <p:nvSpPr>
          <p:cNvPr id="10" name="Ellipse 10"/>
          <p:cNvSpPr/>
          <p:nvPr/>
        </p:nvSpPr>
        <p:spPr>
          <a:xfrm>
            <a:off x="10001250" y="1885950"/>
            <a:ext cx="190500" cy="190500"/>
          </a:xfrm>
          <a:prstGeom prst="ellipse">
            <a:avLst/>
          </a:prstGeom>
          <a:solidFill>
            <a:srgbClr val="00D9FF"/>
          </a:solidFill>
          <a:ln>
            <a:noFill/>
          </a:ln>
        </p:spPr>
      </p:sp>
      <p:sp>
        <p:nvSpPr>
          <p:cNvPr id="11" name="Ellipse 11"/>
          <p:cNvSpPr/>
          <p:nvPr/>
        </p:nvSpPr>
        <p:spPr>
          <a:xfrm>
            <a:off x="9925050" y="1809750"/>
            <a:ext cx="342900" cy="342900"/>
          </a:xfrm>
          <a:prstGeom prst="ellipse">
            <a:avLst/>
          </a:prstGeom>
          <a:noFill/>
          <a:ln w="14288">
            <a:solidFill>
              <a:srgbClr val="00D9FF">
                <a:alpha val="40000"/>
              </a:srgbClr>
            </a:solidFill>
          </a:ln>
        </p:spPr>
      </p:sp>
      <p:grpSp>
        <p:nvGrpSpPr>
          <p:cNvPr id="25" name="Group 25"/>
          <p:cNvGrpSpPr/>
          <p:nvPr/>
        </p:nvGrpSpPr>
        <p:grpSpPr>
          <a:xfrm>
            <a:off x="762000" y="1339215"/>
            <a:ext cx="2667000" cy="4642485"/>
            <a:chOff x="762000" y="1339215"/>
            <a:chExt cx="2667000" cy="4642485"/>
          </a:xfrm>
        </p:grpSpPr>
        <p:sp>
          <p:nvSpPr>
            <p:cNvPr id="12" name="TextBox 12"/>
            <p:cNvSpPr txBox="1"/>
            <p:nvPr/>
          </p:nvSpPr>
          <p:spPr>
            <a:xfrm>
              <a:off x="1496920" y="1339215"/>
              <a:ext cx="1197159" cy="670560"/>
            </a:xfrm>
            <a:prstGeom prst="rect">
              <a:avLst/>
            </a:prstGeom>
            <a:noFill/>
            <a:ln>
              <a:noFill/>
            </a:ln>
          </p:spPr>
          <p:txBody>
            <a:bodyPr wrap="none" lIns="0" tIns="0" rIns="0" bIns="0" anchor="t" anchorCtr="0">
              <a:spAutoFit/>
            </a:bodyPr>
            <a:lstStyle/>
            <a:p>
              <a:pPr algn="ctr"/>
              <a:r>
                <a:rPr lang="en-US" sz="3300" b="1" dirty="0">
                  <a:solidFill>
                    <a:srgbClr val="6B7280"/>
                  </a:solidFill>
                  <a:latin typeface="Arial Black"/>
                  <a:ea typeface="Malgun Gothic"/>
                  <a:cs typeface="Arial Black"/>
                </a:rPr>
                <a:t>2022</a:t>
              </a:r>
            </a:p>
          </p:txBody>
        </p:sp>
        <p:sp>
          <p:nvSpPr>
            <p:cNvPr id="13" name="Rectangle 13"/>
            <p:cNvSpPr/>
            <p:nvPr/>
          </p:nvSpPr>
          <p:spPr>
            <a:xfrm>
              <a:off x="762000" y="2362200"/>
              <a:ext cx="2667000" cy="3619500"/>
            </a:xfrm>
            <a:prstGeom prst="roundRect">
              <a:avLst>
                <a:gd name="adj" fmla="val 5000"/>
              </a:avLst>
            </a:prstGeom>
            <a:solidFill>
              <a:srgbClr val="141A2E"/>
            </a:solidFill>
            <a:ln w="9525">
              <a:solidFill>
                <a:srgbClr val="2A3454"/>
              </a:solidFill>
            </a:ln>
          </p:spPr>
        </p:sp>
        <p:sp>
          <p:nvSpPr>
            <p:cNvPr id="14" name="Rectangle 14"/>
            <p:cNvSpPr/>
            <p:nvPr/>
          </p:nvSpPr>
          <p:spPr>
            <a:xfrm>
              <a:off x="762000" y="2362200"/>
              <a:ext cx="2667000" cy="28575"/>
            </a:xfrm>
            <a:prstGeom prst="roundRect">
              <a:avLst>
                <a:gd name="adj" fmla="val 50000"/>
              </a:avLst>
            </a:prstGeom>
            <a:solidFill>
              <a:srgbClr val="6B7280">
                <a:alpha val="50000"/>
              </a:srgbClr>
            </a:solidFill>
            <a:ln>
              <a:noFill/>
            </a:ln>
          </p:spPr>
        </p:sp>
        <p:sp>
          <p:nvSpPr>
            <p:cNvPr id="15" name="Rectangle 15"/>
            <p:cNvSpPr/>
            <p:nvPr/>
          </p:nvSpPr>
          <p:spPr>
            <a:xfrm>
              <a:off x="952500" y="2590800"/>
              <a:ext cx="800100" cy="247650"/>
            </a:xfrm>
            <a:prstGeom prst="roundRect">
              <a:avLst>
                <a:gd name="adj" fmla="val 50000"/>
              </a:avLst>
            </a:prstGeom>
            <a:solidFill>
              <a:srgbClr val="2A3454"/>
            </a:solidFill>
            <a:ln>
              <a:noFill/>
            </a:ln>
          </p:spPr>
        </p:sp>
        <p:sp>
          <p:nvSpPr>
            <p:cNvPr id="16" name="TextBox 16"/>
            <p:cNvSpPr txBox="1"/>
            <p:nvPr/>
          </p:nvSpPr>
          <p:spPr>
            <a:xfrm>
              <a:off x="1168221" y="2656999"/>
              <a:ext cx="368658" cy="198120"/>
            </a:xfrm>
            <a:prstGeom prst="rect">
              <a:avLst/>
            </a:prstGeom>
            <a:noFill/>
            <a:ln>
              <a:noFill/>
            </a:ln>
          </p:spPr>
          <p:txBody>
            <a:bodyPr wrap="none" lIns="0" tIns="0" rIns="0" bIns="0" anchor="t" anchorCtr="0">
              <a:spAutoFit/>
            </a:bodyPr>
            <a:lstStyle/>
            <a:p>
              <a:pPr algn="ctr"/>
              <a:r>
                <a:rPr lang="ko-KR" sz="1200" b="1" dirty="0">
                  <a:solidFill>
                    <a:srgbClr val="9CA3AF"/>
                  </a:solidFill>
                  <a:latin typeface="Malgun Gothic"/>
                  <a:ea typeface="Malgun Gothic"/>
                  <a:cs typeface="Malgun Gothic"/>
                </a:rPr>
                <a:t>1세대</a:t>
              </a:r>
            </a:p>
          </p:txBody>
        </p:sp>
        <p:sp>
          <p:nvSpPr>
            <p:cNvPr id="17" name="TextBox 17"/>
            <p:cNvSpPr txBox="1"/>
            <p:nvPr/>
          </p:nvSpPr>
          <p:spPr>
            <a:xfrm>
              <a:off x="931545" y="2984182"/>
              <a:ext cx="1129946" cy="335280"/>
            </a:xfrm>
            <a:prstGeom prst="rect">
              <a:avLst/>
            </a:prstGeom>
            <a:noFill/>
            <a:ln>
              <a:noFill/>
            </a:ln>
          </p:spPr>
          <p:txBody>
            <a:bodyPr wrap="none" lIns="0" tIns="0" rIns="0" bIns="0" anchor="t" anchorCtr="0">
              <a:spAutoFit/>
            </a:bodyPr>
            <a:lstStyle/>
            <a:p>
              <a:pPr algn="l"/>
              <a:r>
                <a:rPr lang="ko-KR" sz="1650" b="1" dirty="0">
                  <a:solidFill>
                    <a:srgbClr val="9CA3AF"/>
                  </a:solidFill>
                  <a:latin typeface="Malgun Gothic"/>
                  <a:ea typeface="Malgun Gothic"/>
                  <a:cs typeface="Malgun Gothic"/>
                </a:rPr>
                <a:t>보조 도구</a:t>
              </a:r>
            </a:p>
          </p:txBody>
        </p:sp>
        <p:sp>
          <p:nvSpPr>
            <p:cNvPr id="18" name="TextBox 18"/>
            <p:cNvSpPr txBox="1"/>
            <p:nvPr/>
          </p:nvSpPr>
          <p:spPr>
            <a:xfrm>
              <a:off x="940118" y="3304699"/>
              <a:ext cx="1156835" cy="19812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Copilot 초기 세대</a:t>
              </a:r>
            </a:p>
          </p:txBody>
        </p:sp>
        <p:sp>
          <p:nvSpPr>
            <p:cNvPr id="19" name="Line 19"/>
            <p:cNvSpPr/>
            <p:nvPr/>
          </p:nvSpPr>
          <p:spPr>
            <a:xfrm>
              <a:off x="952500" y="3676650"/>
              <a:ext cx="533400" cy="9525"/>
            </a:xfrm>
            <a:custGeom>
              <a:avLst/>
              <a:gdLst/>
              <a:ahLst/>
              <a:cxnLst/>
              <a:rect l="l" t="t" r="r" b="b"/>
              <a:pathLst>
                <a:path w="533400" h="9525">
                  <a:moveTo>
                    <a:pt x="0" y="0"/>
                  </a:moveTo>
                  <a:lnTo>
                    <a:pt x="533400" y="0"/>
                  </a:lnTo>
                </a:path>
              </a:pathLst>
            </a:custGeom>
            <a:noFill/>
            <a:ln w="19050">
              <a:solidFill>
                <a:srgbClr val="2A3454"/>
              </a:solidFill>
            </a:ln>
          </p:spPr>
        </p:sp>
        <p:sp>
          <p:nvSpPr>
            <p:cNvPr id="20" name="TextBox 20"/>
            <p:cNvSpPr txBox="1"/>
            <p:nvPr/>
          </p:nvSpPr>
          <p:spPr>
            <a:xfrm>
              <a:off x="1223010" y="3937635"/>
              <a:ext cx="731520" cy="24384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자동완성</a:t>
              </a:r>
            </a:p>
          </p:txBody>
        </p:sp>
        <p:sp>
          <p:nvSpPr>
            <p:cNvPr id="21" name="TextBox 21"/>
            <p:cNvSpPr txBox="1"/>
            <p:nvPr/>
          </p:nvSpPr>
          <p:spPr>
            <a:xfrm>
              <a:off x="1223010" y="4356735"/>
              <a:ext cx="959358" cy="24384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짧은 스니펫</a:t>
              </a:r>
            </a:p>
          </p:txBody>
        </p:sp>
        <p:sp>
          <p:nvSpPr>
            <p:cNvPr id="22" name="TextBox 22"/>
            <p:cNvSpPr txBox="1"/>
            <p:nvPr/>
          </p:nvSpPr>
          <p:spPr>
            <a:xfrm>
              <a:off x="1223010" y="4775835"/>
              <a:ext cx="959358" cy="24384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신뢰도 낮음</a:t>
              </a:r>
            </a:p>
          </p:txBody>
        </p:sp>
        <p:sp>
          <p:nvSpPr>
            <p:cNvPr id="23" name="TextBox 23"/>
            <p:cNvSpPr txBox="1"/>
            <p:nvPr/>
          </p:nvSpPr>
          <p:spPr>
            <a:xfrm>
              <a:off x="940118" y="5533549"/>
              <a:ext cx="1206675" cy="19812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개발자가 검수해야</a:t>
              </a:r>
            </a:p>
          </p:txBody>
        </p:sp>
        <p:sp>
          <p:nvSpPr>
            <p:cNvPr id="24" name="TextBox 24"/>
            <p:cNvSpPr txBox="1"/>
            <p:nvPr/>
          </p:nvSpPr>
          <p:spPr>
            <a:xfrm>
              <a:off x="940118" y="5704999"/>
              <a:ext cx="1106996" cy="19812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사용 가능한 수준</a:t>
              </a:r>
            </a:p>
          </p:txBody>
        </p:sp>
      </p:grpSp>
      <p:grpSp>
        <p:nvGrpSpPr>
          <p:cNvPr id="39" name="Group 39"/>
          <p:cNvGrpSpPr/>
          <p:nvPr/>
        </p:nvGrpSpPr>
        <p:grpSpPr>
          <a:xfrm>
            <a:off x="4762500" y="1306830"/>
            <a:ext cx="2667000" cy="4674870"/>
            <a:chOff x="4762500" y="1306830"/>
            <a:chExt cx="2667000" cy="4674870"/>
          </a:xfrm>
        </p:grpSpPr>
        <p:sp>
          <p:nvSpPr>
            <p:cNvPr id="26" name="TextBox 26"/>
            <p:cNvSpPr txBox="1"/>
            <p:nvPr/>
          </p:nvSpPr>
          <p:spPr>
            <a:xfrm>
              <a:off x="5443004" y="1306830"/>
              <a:ext cx="1305992" cy="731520"/>
            </a:xfrm>
            <a:prstGeom prst="rect">
              <a:avLst/>
            </a:prstGeom>
            <a:noFill/>
            <a:ln>
              <a:noFill/>
            </a:ln>
          </p:spPr>
          <p:txBody>
            <a:bodyPr wrap="none" lIns="0" tIns="0" rIns="0" bIns="0" anchor="t" anchorCtr="0">
              <a:spAutoFit/>
            </a:bodyPr>
            <a:lstStyle/>
            <a:p>
              <a:pPr algn="ctr"/>
              <a:r>
                <a:rPr lang="en-US" sz="3600" b="1" dirty="0">
                  <a:solidFill>
                    <a:srgbClr val="F5F7FA"/>
                  </a:solidFill>
                  <a:latin typeface="Arial Black"/>
                  <a:ea typeface="Malgun Gothic"/>
                  <a:cs typeface="Arial Black"/>
                </a:rPr>
                <a:t>2024</a:t>
              </a:r>
            </a:p>
          </p:txBody>
        </p:sp>
        <p:sp>
          <p:nvSpPr>
            <p:cNvPr id="27" name="Rectangle 27"/>
            <p:cNvSpPr/>
            <p:nvPr/>
          </p:nvSpPr>
          <p:spPr>
            <a:xfrm>
              <a:off x="4762500" y="2362200"/>
              <a:ext cx="2667000" cy="3619500"/>
            </a:xfrm>
            <a:prstGeom prst="roundRect">
              <a:avLst>
                <a:gd name="adj" fmla="val 5000"/>
              </a:avLst>
            </a:prstGeom>
            <a:solidFill>
              <a:srgbClr val="141A2E">
                <a:alpha val="95000"/>
              </a:srgbClr>
            </a:solidFill>
            <a:ln w="9525">
              <a:solidFill>
                <a:srgbClr val="7B61FF">
                  <a:alpha val="95000"/>
                </a:srgbClr>
              </a:solidFill>
            </a:ln>
          </p:spPr>
        </p:sp>
        <p:sp>
          <p:nvSpPr>
            <p:cNvPr id="28" name="Rectangle 28"/>
            <p:cNvSpPr/>
            <p:nvPr/>
          </p:nvSpPr>
          <p:spPr>
            <a:xfrm>
              <a:off x="4762500" y="2362200"/>
              <a:ext cx="2667000" cy="28575"/>
            </a:xfrm>
            <a:prstGeom prst="roundRect">
              <a:avLst>
                <a:gd name="adj" fmla="val 50000"/>
              </a:avLst>
            </a:prstGeom>
            <a:solidFill>
              <a:srgbClr val="7B61FF"/>
            </a:solidFill>
            <a:ln>
              <a:noFill/>
            </a:ln>
          </p:spPr>
        </p:sp>
        <p:sp>
          <p:nvSpPr>
            <p:cNvPr id="29" name="Rectangle 29"/>
            <p:cNvSpPr/>
            <p:nvPr/>
          </p:nvSpPr>
          <p:spPr>
            <a:xfrm>
              <a:off x="4953000" y="2590800"/>
              <a:ext cx="800100" cy="247650"/>
            </a:xfrm>
            <a:prstGeom prst="roundRect">
              <a:avLst>
                <a:gd name="adj" fmla="val 50000"/>
              </a:avLst>
            </a:prstGeom>
            <a:solidFill>
              <a:srgbClr val="7B61FF">
                <a:alpha val="18000"/>
              </a:srgbClr>
            </a:solidFill>
            <a:ln>
              <a:noFill/>
            </a:ln>
          </p:spPr>
        </p:sp>
        <p:sp>
          <p:nvSpPr>
            <p:cNvPr id="30" name="TextBox 30"/>
            <p:cNvSpPr txBox="1"/>
            <p:nvPr/>
          </p:nvSpPr>
          <p:spPr>
            <a:xfrm>
              <a:off x="5150031" y="2656999"/>
              <a:ext cx="406038" cy="198120"/>
            </a:xfrm>
            <a:prstGeom prst="rect">
              <a:avLst/>
            </a:prstGeom>
            <a:noFill/>
            <a:ln>
              <a:noFill/>
            </a:ln>
          </p:spPr>
          <p:txBody>
            <a:bodyPr wrap="none" lIns="0" tIns="0" rIns="0" bIns="0" anchor="t" anchorCtr="0">
              <a:spAutoFit/>
            </a:bodyPr>
            <a:lstStyle/>
            <a:p>
              <a:pPr algn="ctr"/>
              <a:r>
                <a:rPr lang="ko-KR" sz="1200" b="1" dirty="0">
                  <a:solidFill>
                    <a:srgbClr val="7B61FF"/>
                  </a:solidFill>
                  <a:latin typeface="Malgun Gothic"/>
                  <a:ea typeface="Malgun Gothic"/>
                  <a:cs typeface="Malgun Gothic"/>
                </a:rPr>
                <a:t>2세대</a:t>
              </a:r>
            </a:p>
          </p:txBody>
        </p:sp>
        <p:sp>
          <p:nvSpPr>
            <p:cNvPr id="31" name="TextBox 31"/>
            <p:cNvSpPr txBox="1"/>
            <p:nvPr/>
          </p:nvSpPr>
          <p:spPr>
            <a:xfrm>
              <a:off x="4932045" y="2984182"/>
              <a:ext cx="1382978"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협업 파트너</a:t>
              </a:r>
            </a:p>
          </p:txBody>
        </p:sp>
        <p:sp>
          <p:nvSpPr>
            <p:cNvPr id="32" name="TextBox 32"/>
            <p:cNvSpPr txBox="1"/>
            <p:nvPr/>
          </p:nvSpPr>
          <p:spPr>
            <a:xfrm>
              <a:off x="4940618" y="3304699"/>
              <a:ext cx="1697950" cy="19812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Cursor · Claude 3.5 시대</a:t>
              </a:r>
            </a:p>
          </p:txBody>
        </p:sp>
        <p:sp>
          <p:nvSpPr>
            <p:cNvPr id="33" name="Line 33"/>
            <p:cNvSpPr/>
            <p:nvPr/>
          </p:nvSpPr>
          <p:spPr>
            <a:xfrm>
              <a:off x="4953000" y="3676650"/>
              <a:ext cx="533400" cy="9525"/>
            </a:xfrm>
            <a:custGeom>
              <a:avLst/>
              <a:gdLst/>
              <a:ahLst/>
              <a:cxnLst/>
              <a:rect l="l" t="t" r="r" b="b"/>
              <a:pathLst>
                <a:path w="533400" h="9525">
                  <a:moveTo>
                    <a:pt x="0" y="0"/>
                  </a:moveTo>
                  <a:lnTo>
                    <a:pt x="533400" y="0"/>
                  </a:lnTo>
                </a:path>
              </a:pathLst>
            </a:custGeom>
            <a:noFill/>
            <a:ln w="19050">
              <a:solidFill>
                <a:srgbClr val="7B61FF"/>
              </a:solidFill>
            </a:ln>
          </p:spPr>
        </p:sp>
        <p:sp>
          <p:nvSpPr>
            <p:cNvPr id="34" name="TextBox 34"/>
            <p:cNvSpPr txBox="1"/>
            <p:nvPr/>
          </p:nvSpPr>
          <p:spPr>
            <a:xfrm>
              <a:off x="5223510" y="3937635"/>
              <a:ext cx="1231011" cy="24384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함수·모듈 생성</a:t>
              </a:r>
            </a:p>
          </p:txBody>
        </p:sp>
        <p:sp>
          <p:nvSpPr>
            <p:cNvPr id="35" name="TextBox 35"/>
            <p:cNvSpPr txBox="1"/>
            <p:nvPr/>
          </p:nvSpPr>
          <p:spPr>
            <a:xfrm>
              <a:off x="5223510" y="4356735"/>
              <a:ext cx="959358" cy="24384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디버깅 지원</a:t>
              </a:r>
            </a:p>
          </p:txBody>
        </p:sp>
        <p:sp>
          <p:nvSpPr>
            <p:cNvPr id="36" name="TextBox 36"/>
            <p:cNvSpPr txBox="1"/>
            <p:nvPr/>
          </p:nvSpPr>
          <p:spPr>
            <a:xfrm>
              <a:off x="5223510" y="4775835"/>
              <a:ext cx="784098" cy="24384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코드 리뷰</a:t>
              </a:r>
            </a:p>
          </p:txBody>
        </p:sp>
        <p:sp>
          <p:nvSpPr>
            <p:cNvPr id="37" name="TextBox 37"/>
            <p:cNvSpPr txBox="1"/>
            <p:nvPr/>
          </p:nvSpPr>
          <p:spPr>
            <a:xfrm>
              <a:off x="4940618" y="5533549"/>
              <a:ext cx="1206675" cy="19812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개발자가 지시하고</a:t>
              </a:r>
            </a:p>
          </p:txBody>
        </p:sp>
        <p:sp>
          <p:nvSpPr>
            <p:cNvPr id="38" name="TextBox 38"/>
            <p:cNvSpPr txBox="1"/>
            <p:nvPr/>
          </p:nvSpPr>
          <p:spPr>
            <a:xfrm>
              <a:off x="4940618" y="5704999"/>
              <a:ext cx="1228034" cy="19812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AI가 실행하는 단계</a:t>
              </a:r>
            </a:p>
          </p:txBody>
        </p:sp>
      </p:grpSp>
      <p:grpSp>
        <p:nvGrpSpPr>
          <p:cNvPr id="54" name="Group 54"/>
          <p:cNvGrpSpPr/>
          <p:nvPr/>
        </p:nvGrpSpPr>
        <p:grpSpPr>
          <a:xfrm>
            <a:off x="8763000" y="1274445"/>
            <a:ext cx="2667000" cy="4783455"/>
            <a:chOff x="8763000" y="1274445"/>
            <a:chExt cx="2667000" cy="4783455"/>
          </a:xfrm>
        </p:grpSpPr>
        <p:sp>
          <p:nvSpPr>
            <p:cNvPr id="40" name="TextBox 40"/>
            <p:cNvSpPr txBox="1"/>
            <p:nvPr/>
          </p:nvSpPr>
          <p:spPr>
            <a:xfrm>
              <a:off x="9389088" y="1274445"/>
              <a:ext cx="1414824" cy="792480"/>
            </a:xfrm>
            <a:prstGeom prst="rect">
              <a:avLst/>
            </a:prstGeom>
            <a:noFill/>
            <a:ln>
              <a:noFill/>
            </a:ln>
          </p:spPr>
          <p:txBody>
            <a:bodyPr wrap="none" lIns="0" tIns="0" rIns="0" bIns="0" anchor="t" anchorCtr="0">
              <a:spAutoFit/>
            </a:bodyPr>
            <a:lstStyle/>
            <a:p>
              <a:pPr algn="ctr"/>
              <a:r>
                <a:rPr lang="en-US" sz="3900" b="1" dirty="0">
                  <a:solidFill>
                    <a:srgbClr val="00D9FF"/>
                  </a:solidFill>
                  <a:latin typeface="Arial Black"/>
                  <a:ea typeface="Malgun Gothic"/>
                  <a:cs typeface="Arial Black"/>
                </a:rPr>
                <a:t>2025</a:t>
              </a:r>
            </a:p>
          </p:txBody>
        </p:sp>
        <p:sp>
          <p:nvSpPr>
            <p:cNvPr id="41" name="Rectangle 41"/>
            <p:cNvSpPr/>
            <p:nvPr/>
          </p:nvSpPr>
          <p:spPr>
            <a:xfrm>
              <a:off x="8763000" y="2286000"/>
              <a:ext cx="2667000" cy="3771900"/>
            </a:xfrm>
            <a:prstGeom prst="roundRect">
              <a:avLst>
                <a:gd name="adj" fmla="val 5000"/>
              </a:avLst>
            </a:prstGeom>
            <a:solidFill>
              <a:srgbClr val="000000">
                <a:alpha val="40000"/>
              </a:srgbClr>
            </a:solidFill>
            <a:ln>
              <a:noFill/>
            </a:ln>
          </p:spPr>
        </p:sp>
        <p:sp>
          <p:nvSpPr>
            <p:cNvPr id="42" name="Rectangle 42"/>
            <p:cNvSpPr/>
            <p:nvPr/>
          </p:nvSpPr>
          <p:spPr>
            <a:xfrm>
              <a:off x="8763000" y="2324100"/>
              <a:ext cx="2667000" cy="3733800"/>
            </a:xfrm>
            <a:prstGeom prst="roundRect">
              <a:avLst>
                <a:gd name="adj" fmla="val 5000"/>
              </a:avLst>
            </a:prstGeom>
            <a:gradFill>
              <a:gsLst>
                <a:gs pos="0">
                  <a:srgbClr val="1C2440"/>
                </a:gs>
                <a:gs pos="100000">
                  <a:srgbClr val="141A2E"/>
                </a:gs>
              </a:gsLst>
              <a:lin ang="5400000" scaled="1"/>
            </a:gradFill>
            <a:ln w="14288">
              <a:solidFill>
                <a:srgbClr val="00D9FF"/>
              </a:solidFill>
            </a:ln>
          </p:spPr>
        </p:sp>
        <p:sp>
          <p:nvSpPr>
            <p:cNvPr id="43" name="Rectangle 43"/>
            <p:cNvSpPr/>
            <p:nvPr/>
          </p:nvSpPr>
          <p:spPr>
            <a:xfrm>
              <a:off x="8763000" y="2324100"/>
              <a:ext cx="2667000" cy="38100"/>
            </a:xfrm>
            <a:prstGeom prst="roundRect">
              <a:avLst>
                <a:gd name="adj" fmla="val 50000"/>
              </a:avLst>
            </a:prstGeom>
            <a:gradFill>
              <a:gsLst>
                <a:gs pos="0">
                  <a:srgbClr val="00D9FF"/>
                </a:gs>
                <a:gs pos="100000">
                  <a:srgbClr val="7B61FF"/>
                </a:gs>
              </a:gsLst>
              <a:lin ang="0" scaled="1"/>
            </a:gradFill>
            <a:ln>
              <a:noFill/>
            </a:ln>
          </p:spPr>
        </p:sp>
        <p:sp>
          <p:nvSpPr>
            <p:cNvPr id="44" name="Rectangle 44"/>
            <p:cNvSpPr/>
            <p:nvPr/>
          </p:nvSpPr>
          <p:spPr>
            <a:xfrm>
              <a:off x="8953500" y="2590800"/>
              <a:ext cx="876300" cy="247650"/>
            </a:xfrm>
            <a:prstGeom prst="roundRect">
              <a:avLst>
                <a:gd name="adj" fmla="val 50000"/>
              </a:avLst>
            </a:prstGeom>
            <a:solidFill>
              <a:srgbClr val="00D9FF">
                <a:alpha val="18000"/>
              </a:srgbClr>
            </a:solidFill>
            <a:ln>
              <a:noFill/>
            </a:ln>
          </p:spPr>
        </p:sp>
        <p:sp>
          <p:nvSpPr>
            <p:cNvPr id="45" name="TextBox 45"/>
            <p:cNvSpPr txBox="1"/>
            <p:nvPr/>
          </p:nvSpPr>
          <p:spPr>
            <a:xfrm>
              <a:off x="8949401" y="3314224"/>
              <a:ext cx="884497" cy="198120"/>
            </a:xfrm>
            <a:prstGeom prst="rect">
              <a:avLst/>
            </a:prstGeom>
            <a:noFill/>
            <a:ln>
              <a:noFill/>
            </a:ln>
          </p:spPr>
          <p:txBody>
            <a:bodyPr wrap="none" lIns="0" tIns="0" rIns="0" bIns="0" anchor="t" anchorCtr="0">
              <a:spAutoFit/>
            </a:bodyPr>
            <a:lstStyle/>
            <a:p>
              <a:pPr algn="ctr"/>
              <a:r>
                <a:rPr lang="ko-KR" sz="1200" b="1" dirty="0">
                  <a:solidFill>
                    <a:srgbClr val="00D9FF"/>
                  </a:solidFill>
                  <a:latin typeface="Malgun Gothic"/>
                  <a:ea typeface="Malgun Gothic"/>
                  <a:cs typeface="Malgun Gothic"/>
                </a:rPr>
                <a:t>3세대 · NOW</a:t>
              </a:r>
            </a:p>
          </p:txBody>
        </p:sp>
        <p:sp>
          <p:nvSpPr>
            <p:cNvPr id="46" name="TextBox 46"/>
            <p:cNvSpPr txBox="1"/>
            <p:nvPr/>
          </p:nvSpPr>
          <p:spPr>
            <a:xfrm>
              <a:off x="8932545" y="2984182"/>
              <a:ext cx="1636009"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자율 에이전트</a:t>
              </a:r>
            </a:p>
          </p:txBody>
        </p:sp>
        <p:sp>
          <p:nvSpPr>
            <p:cNvPr id="47" name="TextBox 47"/>
            <p:cNvSpPr txBox="1"/>
            <p:nvPr/>
          </p:nvSpPr>
          <p:spPr>
            <a:xfrm>
              <a:off x="8941118" y="3304699"/>
              <a:ext cx="1890189" cy="198120"/>
            </a:xfrm>
            <a:prstGeom prst="rect">
              <a:avLst/>
            </a:prstGeom>
            <a:noFill/>
            <a:ln>
              <a:noFill/>
            </a:ln>
          </p:spPr>
          <p:txBody>
            <a:bodyPr wrap="none" lIns="0" tIns="0" rIns="0" bIns="0" anchor="t" anchorCtr="0">
              <a:spAutoFit/>
            </a:bodyPr>
            <a:lstStyle/>
            <a:p>
              <a:pPr algn="l"/>
              <a:r>
                <a:rPr lang="en-US" sz="1200" dirty="0">
                  <a:solidFill>
                    <a:srgbClr val="9CA3AF"/>
                  </a:solidFill>
                  <a:latin typeface="Malgun Gothic"/>
                  <a:ea typeface="Malgun Gothic"/>
                  <a:cs typeface="Malgun Gothic"/>
                </a:rPr>
                <a:t>Devin · Claude Code · Codex</a:t>
              </a:r>
            </a:p>
          </p:txBody>
        </p:sp>
        <p:sp>
          <p:nvSpPr>
            <p:cNvPr id="48" name="Line 48"/>
            <p:cNvSpPr/>
            <p:nvPr/>
          </p:nvSpPr>
          <p:spPr>
            <a:xfrm>
              <a:off x="8953500" y="3676650"/>
              <a:ext cx="533400" cy="9525"/>
            </a:xfrm>
            <a:custGeom>
              <a:avLst/>
              <a:gdLst/>
              <a:ahLst/>
              <a:cxnLst/>
              <a:rect l="l" t="t" r="r" b="b"/>
              <a:pathLst>
                <a:path w="533400" h="9525">
                  <a:moveTo>
                    <a:pt x="0" y="0"/>
                  </a:moveTo>
                  <a:lnTo>
                    <a:pt x="533400" y="0"/>
                  </a:lnTo>
                </a:path>
              </a:pathLst>
            </a:custGeom>
            <a:noFill/>
            <a:ln w="19050">
              <a:gradFill>
                <a:gsLst>
                  <a:gs pos="0">
                    <a:srgbClr val="00D9FF"/>
                  </a:gs>
                  <a:gs pos="100000">
                    <a:srgbClr val="7B61FF"/>
                  </a:gs>
                </a:gsLst>
                <a:lin ang="0" scaled="1"/>
              </a:gradFill>
            </a:ln>
          </p:spPr>
        </p:sp>
        <p:sp>
          <p:nvSpPr>
            <p:cNvPr id="49" name="TextBox 49"/>
            <p:cNvSpPr txBox="1"/>
            <p:nvPr/>
          </p:nvSpPr>
          <p:spPr>
            <a:xfrm>
              <a:off x="9224010" y="3937635"/>
              <a:ext cx="1245032" cy="243840"/>
            </a:xfrm>
            <a:prstGeom prst="rect">
              <a:avLst/>
            </a:prstGeom>
            <a:noFill/>
            <a:ln>
              <a:noFill/>
            </a:ln>
          </p:spPr>
          <p:txBody>
            <a:bodyPr wrap="none" lIns="0" tIns="0" rIns="0" bIns="0" anchor="t" anchorCtr="0">
              <a:spAutoFit/>
            </a:bodyPr>
            <a:lstStyle/>
            <a:p>
              <a:pPr algn="l"/>
              <a:r>
                <a:rPr lang="ko-KR" sz="1200" b="1" dirty="0">
                  <a:solidFill>
                    <a:srgbClr val="F5F7FA"/>
                  </a:solidFill>
                  <a:latin typeface="Malgun Gothic"/>
                  <a:ea typeface="Malgun Gothic"/>
                  <a:cs typeface="Malgun Gothic"/>
                </a:rPr>
                <a:t>전체 기능 구현</a:t>
              </a:r>
            </a:p>
          </p:txBody>
        </p:sp>
        <p:sp>
          <p:nvSpPr>
            <p:cNvPr id="50" name="TextBox 50"/>
            <p:cNvSpPr txBox="1"/>
            <p:nvPr/>
          </p:nvSpPr>
          <p:spPr>
            <a:xfrm>
              <a:off x="9224010" y="4356735"/>
              <a:ext cx="1189825" cy="243840"/>
            </a:xfrm>
            <a:prstGeom prst="rect">
              <a:avLst/>
            </a:prstGeom>
            <a:noFill/>
            <a:ln>
              <a:noFill/>
            </a:ln>
          </p:spPr>
          <p:txBody>
            <a:bodyPr wrap="none" lIns="0" tIns="0" rIns="0" bIns="0" anchor="t" anchorCtr="0">
              <a:spAutoFit/>
            </a:bodyPr>
            <a:lstStyle/>
            <a:p>
              <a:pPr algn="l"/>
              <a:r>
                <a:rPr lang="ko-KR" sz="1200" b="1" dirty="0">
                  <a:solidFill>
                    <a:srgbClr val="F5F7FA"/>
                  </a:solidFill>
                  <a:latin typeface="Malgun Gothic"/>
                  <a:ea typeface="Malgun Gothic"/>
                  <a:cs typeface="Malgun Gothic"/>
                </a:rPr>
                <a:t>멀티파일 편집</a:t>
              </a:r>
            </a:p>
          </p:txBody>
        </p:sp>
        <p:sp>
          <p:nvSpPr>
            <p:cNvPr id="51" name="TextBox 51"/>
            <p:cNvSpPr txBox="1"/>
            <p:nvPr/>
          </p:nvSpPr>
          <p:spPr>
            <a:xfrm>
              <a:off x="9224010" y="4775835"/>
              <a:ext cx="1079411" cy="243840"/>
            </a:xfrm>
            <a:prstGeom prst="rect">
              <a:avLst/>
            </a:prstGeom>
            <a:noFill/>
            <a:ln>
              <a:noFill/>
            </a:ln>
          </p:spPr>
          <p:txBody>
            <a:bodyPr wrap="none" lIns="0" tIns="0" rIns="0" bIns="0" anchor="t" anchorCtr="0">
              <a:spAutoFit/>
            </a:bodyPr>
            <a:lstStyle/>
            <a:p>
              <a:pPr algn="l"/>
              <a:r>
                <a:rPr lang="ko-KR" sz="1200" b="1" dirty="0">
                  <a:solidFill>
                    <a:srgbClr val="F5F7FA"/>
                  </a:solidFill>
                  <a:latin typeface="Malgun Gothic"/>
                  <a:ea typeface="Malgun Gothic"/>
                  <a:cs typeface="Malgun Gothic"/>
                </a:rPr>
                <a:t>자율 PR 생성</a:t>
              </a:r>
            </a:p>
          </p:txBody>
        </p:sp>
        <p:sp>
          <p:nvSpPr>
            <p:cNvPr id="52" name="TextBox 52"/>
            <p:cNvSpPr txBox="1"/>
            <p:nvPr/>
          </p:nvSpPr>
          <p:spPr>
            <a:xfrm>
              <a:off x="8941118" y="5533549"/>
              <a:ext cx="1391793" cy="198120"/>
            </a:xfrm>
            <a:prstGeom prst="rect">
              <a:avLst/>
            </a:prstGeom>
            <a:noFill/>
            <a:ln>
              <a:noFill/>
            </a:ln>
          </p:spPr>
          <p:txBody>
            <a:bodyPr wrap="none" lIns="0" tIns="0" rIns="0" bIns="0" anchor="t" anchorCtr="0">
              <a:spAutoFit/>
            </a:bodyPr>
            <a:lstStyle/>
            <a:p>
              <a:pPr algn="l"/>
              <a:r>
                <a:rPr lang="ko-KR" sz="1200" dirty="0">
                  <a:solidFill>
                    <a:srgbClr val="00D9FF"/>
                  </a:solidFill>
                  <a:latin typeface="Malgun Gothic"/>
                  <a:ea typeface="Malgun Gothic"/>
                  <a:cs typeface="Malgun Gothic"/>
                </a:rPr>
                <a:t>개발자가 목표만 주면</a:t>
              </a:r>
            </a:p>
          </p:txBody>
        </p:sp>
        <p:sp>
          <p:nvSpPr>
            <p:cNvPr id="53" name="TextBox 53"/>
            <p:cNvSpPr txBox="1"/>
            <p:nvPr/>
          </p:nvSpPr>
          <p:spPr>
            <a:xfrm>
              <a:off x="8941118" y="5704999"/>
              <a:ext cx="1085636" cy="198120"/>
            </a:xfrm>
            <a:prstGeom prst="rect">
              <a:avLst/>
            </a:prstGeom>
            <a:noFill/>
            <a:ln>
              <a:noFill/>
            </a:ln>
          </p:spPr>
          <p:txBody>
            <a:bodyPr wrap="none" lIns="0" tIns="0" rIns="0" bIns="0" anchor="t" anchorCtr="0">
              <a:spAutoFit/>
            </a:bodyPr>
            <a:lstStyle/>
            <a:p>
              <a:pPr algn="l"/>
              <a:r>
                <a:rPr lang="ko-KR" sz="1200" dirty="0">
                  <a:solidFill>
                    <a:srgbClr val="00D9FF"/>
                  </a:solidFill>
                  <a:latin typeface="Malgun Gothic"/>
                  <a:ea typeface="Malgun Gothic"/>
                  <a:cs typeface="Malgun Gothic"/>
                </a:rPr>
                <a:t>AI가 스스로 완수</a:t>
              </a:r>
            </a:p>
          </p:txBody>
        </p:sp>
      </p:grpSp>
      <p:sp>
        <p:nvSpPr>
          <p:cNvPr id="55" name="Rectangle 55"/>
          <p:cNvSpPr/>
          <p:nvPr/>
        </p:nvSpPr>
        <p:spPr>
          <a:xfrm>
            <a:off x="609600" y="6362700"/>
            <a:ext cx="38100" cy="190500"/>
          </a:xfrm>
          <a:prstGeom prst="roundRect">
            <a:avLst>
              <a:gd name="adj" fmla="val 50000"/>
            </a:avLst>
          </a:prstGeom>
          <a:gradFill>
            <a:gsLst>
              <a:gs pos="0">
                <a:srgbClr val="7B61FF"/>
              </a:gs>
              <a:gs pos="100000">
                <a:srgbClr val="00D9FF"/>
              </a:gs>
            </a:gsLst>
            <a:lin ang="0" scaled="1"/>
          </a:gradFill>
          <a:ln>
            <a:noFill/>
          </a:ln>
        </p:spPr>
      </p:sp>
      <p:sp>
        <p:nvSpPr>
          <p:cNvPr id="56" name="TextBox 56"/>
          <p:cNvSpPr txBox="1"/>
          <p:nvPr/>
        </p:nvSpPr>
        <p:spPr>
          <a:xfrm>
            <a:off x="748665" y="6401752"/>
            <a:ext cx="5708380"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 xml:space="preserve">자율성 곡선: 보조 → 협업 → 위임. 인간의 역할은 </a:t>
            </a:r>
            <a:r>
              <a:rPr lang="ko-KR" sz="1200" b="1" dirty="0">
                <a:solidFill>
                  <a:srgbClr val="F5F7FA"/>
                </a:solidFill>
                <a:latin typeface="Malgun Gothic"/>
                <a:ea typeface="Malgun Gothic"/>
                <a:cs typeface="Malgun Gothic"/>
              </a:rPr>
              <a:t>코더에서 디렉터로</a:t>
            </a:r>
            <a:r>
              <a:rPr lang="ko-KR" sz="1200" dirty="0">
                <a:solidFill>
                  <a:srgbClr val="9CA3AF"/>
                </a:solidFill>
                <a:latin typeface="Malgun Gothic"/>
                <a:ea typeface="Malgun Gothic"/>
                <a:cs typeface="Malgun Gothic"/>
              </a:rPr>
              <a:t xml:space="preserve"> 이동했습니다.</a:t>
            </a:r>
          </a:p>
        </p:txBody>
      </p:sp>
      <p:sp>
        <p:nvSpPr>
          <p:cNvPr id="57" name="TextBox 57"/>
          <p:cNvSpPr txBox="1"/>
          <p:nvPr/>
        </p:nvSpPr>
        <p:spPr>
          <a:xfrm>
            <a:off x="11426380" y="6417945"/>
            <a:ext cx="167449" cy="18288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03</a:t>
            </a:r>
          </a:p>
        </p:txBody>
      </p:sp>
    </p:spTree>
  </p:cSld>
  <p:clrMapOvr>
    <a:masterClrMapping/>
  </p:clrMapOvr>
  <p:transition xmlns:p14="http://schemas.microsoft.com/office/powerpoint/2010/main" p14:dur="5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Line 3"/>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2A3454">
                <a:alpha val="30000"/>
              </a:srgbClr>
            </a:solidFill>
          </a:ln>
        </p:spPr>
      </p:sp>
      <p:sp>
        <p:nvSpPr>
          <p:cNvPr id="4" name="Line 4"/>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2A3454">
                <a:alpha val="30000"/>
              </a:srgbClr>
            </a:solidFill>
          </a:ln>
        </p:spPr>
      </p:sp>
      <p:sp>
        <p:nvSpPr>
          <p:cNvPr id="5" name="Rectangle 5"/>
          <p:cNvSpPr/>
          <p:nvPr/>
        </p:nvSpPr>
        <p:spPr>
          <a:xfrm>
            <a:off x="571500" y="457200"/>
            <a:ext cx="38100" cy="266700"/>
          </a:xfrm>
          <a:prstGeom prst="rect">
            <a:avLst/>
          </a:prstGeom>
          <a:solidFill>
            <a:srgbClr val="00D9FF"/>
          </a:solidFill>
          <a:ln>
            <a:noFill/>
          </a:ln>
        </p:spPr>
      </p:sp>
      <p:sp>
        <p:nvSpPr>
          <p:cNvPr id="6" name="TextBox 6"/>
          <p:cNvSpPr txBox="1"/>
          <p:nvPr/>
        </p:nvSpPr>
        <p:spPr>
          <a:xfrm>
            <a:off x="747712" y="535781"/>
            <a:ext cx="1162288" cy="228600"/>
          </a:xfrm>
          <a:prstGeom prst="rect">
            <a:avLst/>
          </a:prstGeom>
          <a:noFill/>
          <a:ln>
            <a:noFill/>
          </a:ln>
        </p:spPr>
        <p:txBody>
          <a:bodyPr wrap="none" lIns="0" tIns="0" rIns="0" bIns="0" anchor="t" anchorCtr="0">
            <a:spAutoFit/>
          </a:bodyPr>
          <a:lstStyle/>
          <a:p>
            <a:pPr algn="l"/>
            <a:r>
              <a:rPr lang="en-US" sz="1200" dirty="0">
                <a:solidFill>
                  <a:srgbClr val="9CA3AF"/>
                </a:solidFill>
                <a:latin typeface="Malgun Gothic"/>
                <a:ea typeface="Malgun Gothic"/>
                <a:cs typeface="Malgun Gothic"/>
              </a:rPr>
              <a:t>P06 · TIMELINE</a:t>
            </a:r>
          </a:p>
        </p:txBody>
      </p:sp>
      <p:sp>
        <p:nvSpPr>
          <p:cNvPr id="7" name="TextBox 7"/>
          <p:cNvSpPr txBox="1"/>
          <p:nvPr/>
        </p:nvSpPr>
        <p:spPr>
          <a:xfrm>
            <a:off x="537210" y="946785"/>
            <a:ext cx="4726662"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2022 → 2025: 가속의 3년</a:t>
            </a:r>
          </a:p>
        </p:txBody>
      </p:sp>
      <p:sp>
        <p:nvSpPr>
          <p:cNvPr id="8" name="TextBox 8"/>
          <p:cNvSpPr txBox="1"/>
          <p:nvPr/>
        </p:nvSpPr>
        <p:spPr>
          <a:xfrm>
            <a:off x="554355" y="1397318"/>
            <a:ext cx="6057757" cy="274320"/>
          </a:xfrm>
          <a:prstGeom prst="rect">
            <a:avLst/>
          </a:prstGeom>
          <a:noFill/>
          <a:ln>
            <a:noFill/>
          </a:ln>
        </p:spPr>
        <p:txBody>
          <a:bodyPr wrap="none" lIns="0" tIns="0" rIns="0" bIns="0" anchor="t" anchorCtr="0">
            <a:spAutoFit/>
          </a:bodyPr>
          <a:lstStyle/>
          <a:p>
            <a:pPr algn="l"/>
            <a:r>
              <a:rPr lang="ko-KR" sz="1350" dirty="0">
                <a:solidFill>
                  <a:srgbClr val="9CA3AF"/>
                </a:solidFill>
                <a:latin typeface="Malgun Gothic"/>
                <a:ea typeface="Malgun Gothic"/>
                <a:cs typeface="Malgun Gothic"/>
              </a:rPr>
              <a:t>AI 코딩 도구의 주요 변곡점 — 매 6개월마다 능력이 두 배가 되는 곡선</a:t>
            </a:r>
          </a:p>
        </p:txBody>
      </p:sp>
      <p:sp>
        <p:nvSpPr>
          <p:cNvPr id="9" name="Line 9"/>
          <p:cNvSpPr/>
          <p:nvPr/>
        </p:nvSpPr>
        <p:spPr>
          <a:xfrm>
            <a:off x="952500" y="3143250"/>
            <a:ext cx="10287000" cy="9525"/>
          </a:xfrm>
          <a:custGeom>
            <a:avLst/>
            <a:gdLst/>
            <a:ahLst/>
            <a:cxnLst/>
            <a:rect l="l" t="t" r="r" b="b"/>
            <a:pathLst>
              <a:path w="10287000" h="9525">
                <a:moveTo>
                  <a:pt x="0" y="0"/>
                </a:moveTo>
                <a:lnTo>
                  <a:pt x="10287000" y="0"/>
                </a:lnTo>
              </a:path>
            </a:pathLst>
          </a:custGeom>
          <a:noFill/>
          <a:ln w="19050">
            <a:solidFill>
              <a:srgbClr val="2A3454"/>
            </a:solidFill>
          </a:ln>
        </p:spPr>
      </p:sp>
      <p:sp>
        <p:nvSpPr>
          <p:cNvPr id="10" name="Line 10"/>
          <p:cNvSpPr/>
          <p:nvPr/>
        </p:nvSpPr>
        <p:spPr>
          <a:xfrm>
            <a:off x="952500" y="3143250"/>
            <a:ext cx="1714500" cy="9525"/>
          </a:xfrm>
          <a:custGeom>
            <a:avLst/>
            <a:gdLst/>
            <a:ahLst/>
            <a:cxnLst/>
            <a:rect l="l" t="t" r="r" b="b"/>
            <a:pathLst>
              <a:path w="1714500" h="9525">
                <a:moveTo>
                  <a:pt x="0" y="0"/>
                </a:moveTo>
                <a:lnTo>
                  <a:pt x="1714500" y="0"/>
                </a:lnTo>
              </a:path>
            </a:pathLst>
          </a:custGeom>
          <a:noFill/>
          <a:ln w="28575">
            <a:solidFill>
              <a:srgbClr val="7B61FF">
                <a:alpha val="40000"/>
              </a:srgbClr>
            </a:solidFill>
          </a:ln>
        </p:spPr>
      </p:sp>
      <p:sp>
        <p:nvSpPr>
          <p:cNvPr id="11" name="Line 11"/>
          <p:cNvSpPr/>
          <p:nvPr/>
        </p:nvSpPr>
        <p:spPr>
          <a:xfrm>
            <a:off x="2667000" y="3143250"/>
            <a:ext cx="2476500" cy="9525"/>
          </a:xfrm>
          <a:custGeom>
            <a:avLst/>
            <a:gdLst/>
            <a:ahLst/>
            <a:cxnLst/>
            <a:rect l="l" t="t" r="r" b="b"/>
            <a:pathLst>
              <a:path w="2476500" h="9525">
                <a:moveTo>
                  <a:pt x="0" y="0"/>
                </a:moveTo>
                <a:lnTo>
                  <a:pt x="2476500" y="0"/>
                </a:lnTo>
              </a:path>
            </a:pathLst>
          </a:custGeom>
          <a:noFill/>
          <a:ln w="28575">
            <a:solidFill>
              <a:srgbClr val="7B61FF">
                <a:alpha val="60000"/>
              </a:srgbClr>
            </a:solidFill>
          </a:ln>
        </p:spPr>
      </p:sp>
      <p:sp>
        <p:nvSpPr>
          <p:cNvPr id="12" name="Line 12"/>
          <p:cNvSpPr/>
          <p:nvPr/>
        </p:nvSpPr>
        <p:spPr>
          <a:xfrm>
            <a:off x="5143500" y="3143250"/>
            <a:ext cx="2476500" cy="9525"/>
          </a:xfrm>
          <a:custGeom>
            <a:avLst/>
            <a:gdLst/>
            <a:ahLst/>
            <a:cxnLst/>
            <a:rect l="l" t="t" r="r" b="b"/>
            <a:pathLst>
              <a:path w="2476500" h="9525">
                <a:moveTo>
                  <a:pt x="0" y="0"/>
                </a:moveTo>
                <a:lnTo>
                  <a:pt x="2476500" y="0"/>
                </a:lnTo>
              </a:path>
            </a:pathLst>
          </a:custGeom>
          <a:noFill/>
          <a:ln w="28575">
            <a:solidFill>
              <a:srgbClr val="00D9FF">
                <a:alpha val="75000"/>
              </a:srgbClr>
            </a:solidFill>
          </a:ln>
        </p:spPr>
      </p:sp>
      <p:sp>
        <p:nvSpPr>
          <p:cNvPr id="13" name="Line 13"/>
          <p:cNvSpPr/>
          <p:nvPr/>
        </p:nvSpPr>
        <p:spPr>
          <a:xfrm>
            <a:off x="7620000" y="3143250"/>
            <a:ext cx="3619500" cy="9525"/>
          </a:xfrm>
          <a:custGeom>
            <a:avLst/>
            <a:gdLst/>
            <a:ahLst/>
            <a:cxnLst/>
            <a:rect l="l" t="t" r="r" b="b"/>
            <a:pathLst>
              <a:path w="3619500" h="9525">
                <a:moveTo>
                  <a:pt x="0" y="0"/>
                </a:moveTo>
                <a:lnTo>
                  <a:pt x="3619500" y="0"/>
                </a:lnTo>
              </a:path>
            </a:pathLst>
          </a:custGeom>
          <a:noFill/>
          <a:ln w="33338">
            <a:solidFill>
              <a:srgbClr val="00D9FF"/>
            </a:solidFill>
          </a:ln>
        </p:spPr>
      </p:sp>
      <p:sp>
        <p:nvSpPr>
          <p:cNvPr id="14" name="TextBox 14"/>
          <p:cNvSpPr txBox="1"/>
          <p:nvPr/>
        </p:nvSpPr>
        <p:spPr>
          <a:xfrm>
            <a:off x="1306830" y="2583180"/>
            <a:ext cx="761829" cy="426720"/>
          </a:xfrm>
          <a:prstGeom prst="rect">
            <a:avLst/>
          </a:prstGeom>
          <a:noFill/>
          <a:ln>
            <a:noFill/>
          </a:ln>
        </p:spPr>
        <p:txBody>
          <a:bodyPr wrap="none" lIns="0" tIns="0" rIns="0" bIns="0" anchor="t" anchorCtr="0">
            <a:spAutoFit/>
          </a:bodyPr>
          <a:lstStyle/>
          <a:p>
            <a:pPr algn="l"/>
            <a:r>
              <a:rPr lang="en-US" sz="2100" b="1" dirty="0">
                <a:solidFill>
                  <a:srgbClr val="6B7280"/>
                </a:solidFill>
                <a:latin typeface="Arial Black"/>
                <a:ea typeface="Malgun Gothic"/>
                <a:cs typeface="Arial Black"/>
              </a:rPr>
              <a:t>2022</a:t>
            </a:r>
          </a:p>
        </p:txBody>
      </p:sp>
      <p:sp>
        <p:nvSpPr>
          <p:cNvPr id="15" name="TextBox 15"/>
          <p:cNvSpPr txBox="1"/>
          <p:nvPr/>
        </p:nvSpPr>
        <p:spPr>
          <a:xfrm>
            <a:off x="3592830" y="2583180"/>
            <a:ext cx="761829" cy="426720"/>
          </a:xfrm>
          <a:prstGeom prst="rect">
            <a:avLst/>
          </a:prstGeom>
          <a:noFill/>
          <a:ln>
            <a:noFill/>
          </a:ln>
        </p:spPr>
        <p:txBody>
          <a:bodyPr wrap="none" lIns="0" tIns="0" rIns="0" bIns="0" anchor="t" anchorCtr="0">
            <a:spAutoFit/>
          </a:bodyPr>
          <a:lstStyle/>
          <a:p>
            <a:pPr algn="l"/>
            <a:r>
              <a:rPr lang="en-US" sz="2100" b="1" dirty="0">
                <a:solidFill>
                  <a:srgbClr val="6B7280"/>
                </a:solidFill>
                <a:latin typeface="Arial Black"/>
                <a:ea typeface="Malgun Gothic"/>
                <a:cs typeface="Arial Black"/>
              </a:rPr>
              <a:t>2023</a:t>
            </a:r>
          </a:p>
        </p:txBody>
      </p:sp>
      <p:sp>
        <p:nvSpPr>
          <p:cNvPr id="16" name="TextBox 16"/>
          <p:cNvSpPr txBox="1"/>
          <p:nvPr/>
        </p:nvSpPr>
        <p:spPr>
          <a:xfrm>
            <a:off x="6259830" y="2583180"/>
            <a:ext cx="761829" cy="426720"/>
          </a:xfrm>
          <a:prstGeom prst="rect">
            <a:avLst/>
          </a:prstGeom>
          <a:noFill/>
          <a:ln>
            <a:noFill/>
          </a:ln>
        </p:spPr>
        <p:txBody>
          <a:bodyPr wrap="none" lIns="0" tIns="0" rIns="0" bIns="0" anchor="t" anchorCtr="0">
            <a:spAutoFit/>
          </a:bodyPr>
          <a:lstStyle/>
          <a:p>
            <a:pPr algn="l"/>
            <a:r>
              <a:rPr lang="en-US" sz="2100" b="1" dirty="0">
                <a:solidFill>
                  <a:srgbClr val="9CA3AF"/>
                </a:solidFill>
                <a:latin typeface="Arial Black"/>
                <a:ea typeface="Malgun Gothic"/>
                <a:cs typeface="Arial Black"/>
              </a:rPr>
              <a:t>2024</a:t>
            </a:r>
          </a:p>
        </p:txBody>
      </p:sp>
      <p:sp>
        <p:nvSpPr>
          <p:cNvPr id="17" name="TextBox 17"/>
          <p:cNvSpPr txBox="1"/>
          <p:nvPr/>
        </p:nvSpPr>
        <p:spPr>
          <a:xfrm>
            <a:off x="9307830" y="2583180"/>
            <a:ext cx="761829" cy="426720"/>
          </a:xfrm>
          <a:prstGeom prst="rect">
            <a:avLst/>
          </a:prstGeom>
          <a:noFill/>
          <a:ln>
            <a:noFill/>
          </a:ln>
        </p:spPr>
        <p:txBody>
          <a:bodyPr wrap="none" lIns="0" tIns="0" rIns="0" bIns="0" anchor="t" anchorCtr="0">
            <a:spAutoFit/>
          </a:bodyPr>
          <a:lstStyle/>
          <a:p>
            <a:pPr algn="l"/>
            <a:r>
              <a:rPr lang="en-US" sz="2100" b="1" dirty="0">
                <a:solidFill>
                  <a:srgbClr val="F5F7FA"/>
                </a:solidFill>
                <a:latin typeface="Arial Black"/>
                <a:ea typeface="Malgun Gothic"/>
                <a:cs typeface="Arial Black"/>
              </a:rPr>
              <a:t>2025</a:t>
            </a:r>
          </a:p>
        </p:txBody>
      </p:sp>
      <p:sp>
        <p:nvSpPr>
          <p:cNvPr id="18" name="Ellipse 18"/>
          <p:cNvSpPr/>
          <p:nvPr/>
        </p:nvSpPr>
        <p:spPr>
          <a:xfrm>
            <a:off x="1457325" y="3076575"/>
            <a:ext cx="133350" cy="133350"/>
          </a:xfrm>
          <a:prstGeom prst="ellipse">
            <a:avLst/>
          </a:prstGeom>
          <a:solidFill>
            <a:srgbClr val="0A0E1A"/>
          </a:solidFill>
          <a:ln w="23812">
            <a:solidFill>
              <a:srgbClr val="7B61FF"/>
            </a:solidFill>
          </a:ln>
        </p:spPr>
      </p:sp>
      <p:sp>
        <p:nvSpPr>
          <p:cNvPr id="19" name="Line 19"/>
          <p:cNvSpPr/>
          <p:nvPr/>
        </p:nvSpPr>
        <p:spPr>
          <a:xfrm>
            <a:off x="1524000" y="3209925"/>
            <a:ext cx="9525" cy="409575"/>
          </a:xfrm>
          <a:custGeom>
            <a:avLst/>
            <a:gdLst/>
            <a:ahLst/>
            <a:cxnLst/>
            <a:rect l="l" t="t" r="r" b="b"/>
            <a:pathLst>
              <a:path w="9525" h="409575">
                <a:moveTo>
                  <a:pt x="0" y="0"/>
                </a:moveTo>
                <a:lnTo>
                  <a:pt x="0" y="409575"/>
                </a:lnTo>
              </a:path>
            </a:pathLst>
          </a:custGeom>
          <a:noFill/>
          <a:ln w="14288">
            <a:solidFill>
              <a:srgbClr val="7B61FF">
                <a:alpha val="50000"/>
              </a:srgbClr>
            </a:solidFill>
          </a:ln>
        </p:spPr>
      </p:sp>
      <p:sp>
        <p:nvSpPr>
          <p:cNvPr id="20" name="TextBox 20"/>
          <p:cNvSpPr txBox="1"/>
          <p:nvPr/>
        </p:nvSpPr>
        <p:spPr>
          <a:xfrm>
            <a:off x="1261174" y="3723799"/>
            <a:ext cx="525653" cy="198120"/>
          </a:xfrm>
          <a:prstGeom prst="rect">
            <a:avLst/>
          </a:prstGeom>
          <a:noFill/>
          <a:ln>
            <a:noFill/>
          </a:ln>
        </p:spPr>
        <p:txBody>
          <a:bodyPr wrap="none" lIns="0" tIns="0" rIns="0" bIns="0" anchor="t" anchorCtr="0">
            <a:spAutoFit/>
          </a:bodyPr>
          <a:lstStyle/>
          <a:p>
            <a:pPr algn="ctr"/>
            <a:r>
              <a:rPr lang="en-US" sz="1200" b="1" dirty="0">
                <a:solidFill>
                  <a:srgbClr val="7B61FF"/>
                </a:solidFill>
                <a:latin typeface="Malgun Gothic"/>
                <a:ea typeface="Malgun Gothic"/>
                <a:cs typeface="Malgun Gothic"/>
              </a:rPr>
              <a:t>2022.11</a:t>
            </a:r>
          </a:p>
        </p:txBody>
      </p:sp>
      <p:sp>
        <p:nvSpPr>
          <p:cNvPr id="21" name="TextBox 21"/>
          <p:cNvSpPr txBox="1"/>
          <p:nvPr/>
        </p:nvSpPr>
        <p:spPr>
          <a:xfrm>
            <a:off x="1177608" y="3898106"/>
            <a:ext cx="692783" cy="228600"/>
          </a:xfrm>
          <a:prstGeom prst="rect">
            <a:avLst/>
          </a:prstGeom>
          <a:noFill/>
          <a:ln>
            <a:noFill/>
          </a:ln>
        </p:spPr>
        <p:txBody>
          <a:bodyPr wrap="none" lIns="0" tIns="0" rIns="0" bIns="0" anchor="t" anchorCtr="0">
            <a:spAutoFit/>
          </a:bodyPr>
          <a:lstStyle/>
          <a:p>
            <a:pPr algn="ctr"/>
            <a:r>
              <a:rPr lang="en-US" sz="1200" b="1" dirty="0">
                <a:solidFill>
                  <a:srgbClr val="F5F7FA"/>
                </a:solidFill>
                <a:latin typeface="Malgun Gothic"/>
                <a:ea typeface="Malgun Gothic"/>
                <a:cs typeface="Malgun Gothic"/>
              </a:rPr>
              <a:t>ChatGPT</a:t>
            </a:r>
          </a:p>
        </p:txBody>
      </p:sp>
      <p:sp>
        <p:nvSpPr>
          <p:cNvPr id="22" name="Ellipse 22"/>
          <p:cNvSpPr/>
          <p:nvPr/>
        </p:nvSpPr>
        <p:spPr>
          <a:xfrm>
            <a:off x="2981325" y="3076575"/>
            <a:ext cx="133350" cy="133350"/>
          </a:xfrm>
          <a:prstGeom prst="ellipse">
            <a:avLst/>
          </a:prstGeom>
          <a:solidFill>
            <a:srgbClr val="0A0E1A"/>
          </a:solidFill>
          <a:ln w="23812">
            <a:solidFill>
              <a:srgbClr val="7B61FF"/>
            </a:solidFill>
          </a:ln>
        </p:spPr>
      </p:sp>
      <p:sp>
        <p:nvSpPr>
          <p:cNvPr id="23" name="Line 23"/>
          <p:cNvSpPr/>
          <p:nvPr/>
        </p:nvSpPr>
        <p:spPr>
          <a:xfrm>
            <a:off x="3048000" y="2333625"/>
            <a:ext cx="9525" cy="742950"/>
          </a:xfrm>
          <a:custGeom>
            <a:avLst/>
            <a:gdLst/>
            <a:ahLst/>
            <a:cxnLst/>
            <a:rect l="l" t="t" r="r" b="b"/>
            <a:pathLst>
              <a:path w="9525" h="742950">
                <a:moveTo>
                  <a:pt x="0" y="742950"/>
                </a:moveTo>
                <a:lnTo>
                  <a:pt x="0" y="0"/>
                </a:lnTo>
              </a:path>
            </a:pathLst>
          </a:custGeom>
          <a:noFill/>
          <a:ln w="14288">
            <a:solidFill>
              <a:srgbClr val="7B61FF">
                <a:alpha val="50000"/>
              </a:srgbClr>
            </a:solidFill>
          </a:ln>
        </p:spPr>
      </p:sp>
      <p:sp>
        <p:nvSpPr>
          <p:cNvPr id="24" name="TextBox 24"/>
          <p:cNvSpPr txBox="1"/>
          <p:nvPr/>
        </p:nvSpPr>
        <p:spPr>
          <a:xfrm>
            <a:off x="2747794" y="2104549"/>
            <a:ext cx="600412" cy="198120"/>
          </a:xfrm>
          <a:prstGeom prst="rect">
            <a:avLst/>
          </a:prstGeom>
          <a:noFill/>
          <a:ln>
            <a:noFill/>
          </a:ln>
        </p:spPr>
        <p:txBody>
          <a:bodyPr wrap="none" lIns="0" tIns="0" rIns="0" bIns="0" anchor="t" anchorCtr="0">
            <a:spAutoFit/>
          </a:bodyPr>
          <a:lstStyle/>
          <a:p>
            <a:pPr algn="ctr"/>
            <a:r>
              <a:rPr lang="en-US" sz="1200" b="1" dirty="0">
                <a:solidFill>
                  <a:srgbClr val="7B61FF"/>
                </a:solidFill>
                <a:latin typeface="Malgun Gothic"/>
                <a:ea typeface="Malgun Gothic"/>
                <a:cs typeface="Malgun Gothic"/>
              </a:rPr>
              <a:t>2023.03</a:t>
            </a:r>
          </a:p>
        </p:txBody>
      </p:sp>
      <p:sp>
        <p:nvSpPr>
          <p:cNvPr id="25" name="TextBox 25"/>
          <p:cNvSpPr txBox="1"/>
          <p:nvPr/>
        </p:nvSpPr>
        <p:spPr>
          <a:xfrm>
            <a:off x="2529087" y="1907381"/>
            <a:ext cx="1037826" cy="228600"/>
          </a:xfrm>
          <a:prstGeom prst="rect">
            <a:avLst/>
          </a:prstGeom>
          <a:noFill/>
          <a:ln>
            <a:noFill/>
          </a:ln>
        </p:spPr>
        <p:txBody>
          <a:bodyPr wrap="none" lIns="0" tIns="0" rIns="0" bIns="0" anchor="t" anchorCtr="0">
            <a:spAutoFit/>
          </a:bodyPr>
          <a:lstStyle/>
          <a:p>
            <a:pPr algn="ctr"/>
            <a:r>
              <a:rPr lang="en-US" sz="1200" b="1" dirty="0">
                <a:solidFill>
                  <a:srgbClr val="F5F7FA"/>
                </a:solidFill>
                <a:latin typeface="Malgun Gothic"/>
                <a:ea typeface="Malgun Gothic"/>
                <a:cs typeface="Malgun Gothic"/>
              </a:rPr>
              <a:t>Copilot Chat</a:t>
            </a:r>
          </a:p>
        </p:txBody>
      </p:sp>
      <p:sp>
        <p:nvSpPr>
          <p:cNvPr id="26" name="Ellipse 26"/>
          <p:cNvSpPr/>
          <p:nvPr/>
        </p:nvSpPr>
        <p:spPr>
          <a:xfrm>
            <a:off x="4505325" y="3076575"/>
            <a:ext cx="133350" cy="133350"/>
          </a:xfrm>
          <a:prstGeom prst="ellipse">
            <a:avLst/>
          </a:prstGeom>
          <a:solidFill>
            <a:srgbClr val="0A0E1A"/>
          </a:solidFill>
          <a:ln w="23812">
            <a:solidFill>
              <a:srgbClr val="7B61FF"/>
            </a:solidFill>
          </a:ln>
        </p:spPr>
      </p:sp>
      <p:sp>
        <p:nvSpPr>
          <p:cNvPr id="27" name="Line 27"/>
          <p:cNvSpPr/>
          <p:nvPr/>
        </p:nvSpPr>
        <p:spPr>
          <a:xfrm>
            <a:off x="4572000" y="3209925"/>
            <a:ext cx="9525" cy="409575"/>
          </a:xfrm>
          <a:custGeom>
            <a:avLst/>
            <a:gdLst/>
            <a:ahLst/>
            <a:cxnLst/>
            <a:rect l="l" t="t" r="r" b="b"/>
            <a:pathLst>
              <a:path w="9525" h="409575">
                <a:moveTo>
                  <a:pt x="0" y="0"/>
                </a:moveTo>
                <a:lnTo>
                  <a:pt x="0" y="409575"/>
                </a:lnTo>
              </a:path>
            </a:pathLst>
          </a:custGeom>
          <a:noFill/>
          <a:ln w="14288">
            <a:solidFill>
              <a:srgbClr val="7B61FF">
                <a:alpha val="50000"/>
              </a:srgbClr>
            </a:solidFill>
          </a:ln>
        </p:spPr>
      </p:sp>
      <p:sp>
        <p:nvSpPr>
          <p:cNvPr id="28" name="TextBox 28"/>
          <p:cNvSpPr txBox="1"/>
          <p:nvPr/>
        </p:nvSpPr>
        <p:spPr>
          <a:xfrm>
            <a:off x="4271794" y="3723799"/>
            <a:ext cx="600412" cy="198120"/>
          </a:xfrm>
          <a:prstGeom prst="rect">
            <a:avLst/>
          </a:prstGeom>
          <a:noFill/>
          <a:ln>
            <a:noFill/>
          </a:ln>
        </p:spPr>
        <p:txBody>
          <a:bodyPr wrap="none" lIns="0" tIns="0" rIns="0" bIns="0" anchor="t" anchorCtr="0">
            <a:spAutoFit/>
          </a:bodyPr>
          <a:lstStyle/>
          <a:p>
            <a:pPr algn="ctr"/>
            <a:r>
              <a:rPr lang="en-US" sz="1200" b="1" dirty="0">
                <a:solidFill>
                  <a:srgbClr val="7B61FF"/>
                </a:solidFill>
                <a:latin typeface="Malgun Gothic"/>
                <a:ea typeface="Malgun Gothic"/>
                <a:cs typeface="Malgun Gothic"/>
              </a:rPr>
              <a:t>2023.07</a:t>
            </a:r>
          </a:p>
        </p:txBody>
      </p:sp>
      <p:sp>
        <p:nvSpPr>
          <p:cNvPr id="29" name="TextBox 29"/>
          <p:cNvSpPr txBox="1"/>
          <p:nvPr/>
        </p:nvSpPr>
        <p:spPr>
          <a:xfrm>
            <a:off x="4109156" y="3898106"/>
            <a:ext cx="925687" cy="228600"/>
          </a:xfrm>
          <a:prstGeom prst="rect">
            <a:avLst/>
          </a:prstGeom>
          <a:noFill/>
          <a:ln>
            <a:noFill/>
          </a:ln>
        </p:spPr>
        <p:txBody>
          <a:bodyPr wrap="none" lIns="0" tIns="0" rIns="0" bIns="0" anchor="t" anchorCtr="0">
            <a:spAutoFit/>
          </a:bodyPr>
          <a:lstStyle/>
          <a:p>
            <a:pPr algn="ctr"/>
            <a:r>
              <a:rPr lang="en-US" sz="1200" b="1" dirty="0">
                <a:solidFill>
                  <a:srgbClr val="F5F7FA"/>
                </a:solidFill>
                <a:latin typeface="Malgun Gothic"/>
                <a:ea typeface="Malgun Gothic"/>
                <a:cs typeface="Malgun Gothic"/>
              </a:rPr>
              <a:t>Code Llama</a:t>
            </a:r>
          </a:p>
        </p:txBody>
      </p:sp>
      <p:sp>
        <p:nvSpPr>
          <p:cNvPr id="30" name="Ellipse 30"/>
          <p:cNvSpPr/>
          <p:nvPr/>
        </p:nvSpPr>
        <p:spPr>
          <a:xfrm>
            <a:off x="6400800" y="3067050"/>
            <a:ext cx="152400" cy="152400"/>
          </a:xfrm>
          <a:prstGeom prst="ellipse">
            <a:avLst/>
          </a:prstGeom>
          <a:solidFill>
            <a:srgbClr val="0A0E1A"/>
          </a:solidFill>
          <a:ln w="23812">
            <a:solidFill>
              <a:srgbClr val="00D9FF"/>
            </a:solidFill>
          </a:ln>
        </p:spPr>
      </p:sp>
      <p:sp>
        <p:nvSpPr>
          <p:cNvPr id="31" name="Line 31"/>
          <p:cNvSpPr/>
          <p:nvPr/>
        </p:nvSpPr>
        <p:spPr>
          <a:xfrm>
            <a:off x="6477000" y="2333625"/>
            <a:ext cx="9525" cy="742950"/>
          </a:xfrm>
          <a:custGeom>
            <a:avLst/>
            <a:gdLst/>
            <a:ahLst/>
            <a:cxnLst/>
            <a:rect l="l" t="t" r="r" b="b"/>
            <a:pathLst>
              <a:path w="9525" h="742950">
                <a:moveTo>
                  <a:pt x="0" y="742950"/>
                </a:moveTo>
                <a:lnTo>
                  <a:pt x="0" y="0"/>
                </a:lnTo>
              </a:path>
            </a:pathLst>
          </a:custGeom>
          <a:noFill/>
          <a:ln w="14288">
            <a:solidFill>
              <a:srgbClr val="00D9FF">
                <a:alpha val="60000"/>
              </a:srgbClr>
            </a:solidFill>
          </a:ln>
        </p:spPr>
      </p:sp>
      <p:sp>
        <p:nvSpPr>
          <p:cNvPr id="32" name="TextBox 32"/>
          <p:cNvSpPr txBox="1"/>
          <p:nvPr/>
        </p:nvSpPr>
        <p:spPr>
          <a:xfrm>
            <a:off x="6176794" y="2104549"/>
            <a:ext cx="600412" cy="198120"/>
          </a:xfrm>
          <a:prstGeom prst="rect">
            <a:avLst/>
          </a:prstGeom>
          <a:noFill/>
          <a:ln>
            <a:noFill/>
          </a:ln>
        </p:spPr>
        <p:txBody>
          <a:bodyPr wrap="none" lIns="0" tIns="0" rIns="0" bIns="0" anchor="t" anchorCtr="0">
            <a:spAutoFit/>
          </a:bodyPr>
          <a:lstStyle/>
          <a:p>
            <a:pPr algn="ctr"/>
            <a:r>
              <a:rPr lang="en-US" sz="1200" b="1" dirty="0">
                <a:solidFill>
                  <a:srgbClr val="00D9FF"/>
                </a:solidFill>
                <a:latin typeface="Malgun Gothic"/>
                <a:ea typeface="Malgun Gothic"/>
                <a:cs typeface="Malgun Gothic"/>
              </a:rPr>
              <a:t>2024.03</a:t>
            </a:r>
          </a:p>
        </p:txBody>
      </p:sp>
      <p:sp>
        <p:nvSpPr>
          <p:cNvPr id="33" name="TextBox 33"/>
          <p:cNvSpPr txBox="1"/>
          <p:nvPr/>
        </p:nvSpPr>
        <p:spPr>
          <a:xfrm>
            <a:off x="6247061" y="1907381"/>
            <a:ext cx="459879" cy="228600"/>
          </a:xfrm>
          <a:prstGeom prst="rect">
            <a:avLst/>
          </a:prstGeom>
          <a:noFill/>
          <a:ln>
            <a:noFill/>
          </a:ln>
        </p:spPr>
        <p:txBody>
          <a:bodyPr wrap="none" lIns="0" tIns="0" rIns="0" bIns="0" anchor="t" anchorCtr="0">
            <a:spAutoFit/>
          </a:bodyPr>
          <a:lstStyle/>
          <a:p>
            <a:pPr algn="ctr"/>
            <a:r>
              <a:rPr lang="en-US" sz="1200" b="1" dirty="0">
                <a:solidFill>
                  <a:srgbClr val="F5F7FA"/>
                </a:solidFill>
                <a:latin typeface="Malgun Gothic"/>
                <a:ea typeface="Malgun Gothic"/>
                <a:cs typeface="Malgun Gothic"/>
              </a:rPr>
              <a:t>Devin</a:t>
            </a:r>
          </a:p>
        </p:txBody>
      </p:sp>
      <p:sp>
        <p:nvSpPr>
          <p:cNvPr id="34" name="TextBox 34"/>
          <p:cNvSpPr txBox="1"/>
          <p:nvPr/>
        </p:nvSpPr>
        <p:spPr>
          <a:xfrm>
            <a:off x="6173105" y="2103120"/>
            <a:ext cx="607790" cy="182880"/>
          </a:xfrm>
          <a:prstGeom prst="rect">
            <a:avLst/>
          </a:prstGeom>
          <a:noFill/>
          <a:ln>
            <a:noFill/>
          </a:ln>
        </p:spPr>
        <p:txBody>
          <a:bodyPr wrap="none" lIns="0" tIns="0" rIns="0" bIns="0" anchor="t" anchorCtr="0">
            <a:spAutoFit/>
          </a:bodyPr>
          <a:lstStyle/>
          <a:p>
            <a:pPr algn="ctr"/>
            <a:r>
              <a:rPr lang="en-US" sz="1200" dirty="0">
                <a:solidFill>
                  <a:srgbClr val="9CA3AF"/>
                </a:solidFill>
                <a:latin typeface="Malgun Gothic"/>
                <a:ea typeface="Malgun Gothic"/>
                <a:cs typeface="Malgun Gothic"/>
              </a:rPr>
              <a:t>Cognition</a:t>
            </a:r>
          </a:p>
        </p:txBody>
      </p:sp>
      <p:sp>
        <p:nvSpPr>
          <p:cNvPr id="35" name="Ellipse 35"/>
          <p:cNvSpPr/>
          <p:nvPr/>
        </p:nvSpPr>
        <p:spPr>
          <a:xfrm>
            <a:off x="7734300" y="3067050"/>
            <a:ext cx="152400" cy="152400"/>
          </a:xfrm>
          <a:prstGeom prst="ellipse">
            <a:avLst/>
          </a:prstGeom>
          <a:solidFill>
            <a:srgbClr val="0A0E1A"/>
          </a:solidFill>
          <a:ln w="23812">
            <a:solidFill>
              <a:srgbClr val="00D9FF"/>
            </a:solidFill>
          </a:ln>
        </p:spPr>
      </p:sp>
      <p:sp>
        <p:nvSpPr>
          <p:cNvPr id="36" name="Line 36"/>
          <p:cNvSpPr/>
          <p:nvPr/>
        </p:nvSpPr>
        <p:spPr>
          <a:xfrm>
            <a:off x="7810500" y="3209925"/>
            <a:ext cx="9525" cy="409575"/>
          </a:xfrm>
          <a:custGeom>
            <a:avLst/>
            <a:gdLst/>
            <a:ahLst/>
            <a:cxnLst/>
            <a:rect l="l" t="t" r="r" b="b"/>
            <a:pathLst>
              <a:path w="9525" h="409575">
                <a:moveTo>
                  <a:pt x="0" y="0"/>
                </a:moveTo>
                <a:lnTo>
                  <a:pt x="0" y="409575"/>
                </a:lnTo>
              </a:path>
            </a:pathLst>
          </a:custGeom>
          <a:noFill/>
          <a:ln w="14288">
            <a:solidFill>
              <a:srgbClr val="00D9FF">
                <a:alpha val="60000"/>
              </a:srgbClr>
            </a:solidFill>
          </a:ln>
        </p:spPr>
      </p:sp>
      <p:sp>
        <p:nvSpPr>
          <p:cNvPr id="37" name="TextBox 37"/>
          <p:cNvSpPr txBox="1"/>
          <p:nvPr/>
        </p:nvSpPr>
        <p:spPr>
          <a:xfrm>
            <a:off x="7510294" y="3723799"/>
            <a:ext cx="600412" cy="198120"/>
          </a:xfrm>
          <a:prstGeom prst="rect">
            <a:avLst/>
          </a:prstGeom>
          <a:noFill/>
          <a:ln>
            <a:noFill/>
          </a:ln>
        </p:spPr>
        <p:txBody>
          <a:bodyPr wrap="none" lIns="0" tIns="0" rIns="0" bIns="0" anchor="t" anchorCtr="0">
            <a:spAutoFit/>
          </a:bodyPr>
          <a:lstStyle/>
          <a:p>
            <a:pPr algn="ctr"/>
            <a:r>
              <a:rPr lang="en-US" sz="1200" b="1" dirty="0">
                <a:solidFill>
                  <a:srgbClr val="00D9FF"/>
                </a:solidFill>
                <a:latin typeface="Malgun Gothic"/>
                <a:ea typeface="Malgun Gothic"/>
                <a:cs typeface="Malgun Gothic"/>
              </a:rPr>
              <a:t>2024.06</a:t>
            </a:r>
          </a:p>
        </p:txBody>
      </p:sp>
      <p:sp>
        <p:nvSpPr>
          <p:cNvPr id="38" name="TextBox 38"/>
          <p:cNvSpPr txBox="1"/>
          <p:nvPr/>
        </p:nvSpPr>
        <p:spPr>
          <a:xfrm>
            <a:off x="7511552" y="3898106"/>
            <a:ext cx="597896" cy="228600"/>
          </a:xfrm>
          <a:prstGeom prst="rect">
            <a:avLst/>
          </a:prstGeom>
          <a:noFill/>
          <a:ln>
            <a:noFill/>
          </a:ln>
        </p:spPr>
        <p:txBody>
          <a:bodyPr wrap="none" lIns="0" tIns="0" rIns="0" bIns="0" anchor="t" anchorCtr="0">
            <a:spAutoFit/>
          </a:bodyPr>
          <a:lstStyle/>
          <a:p>
            <a:pPr algn="ctr"/>
            <a:r>
              <a:rPr lang="en-US" sz="1200" b="1" dirty="0">
                <a:solidFill>
                  <a:srgbClr val="F5F7FA"/>
                </a:solidFill>
                <a:latin typeface="Malgun Gothic"/>
                <a:ea typeface="Malgun Gothic"/>
                <a:cs typeface="Malgun Gothic"/>
              </a:rPr>
              <a:t>Cursor</a:t>
            </a:r>
          </a:p>
        </p:txBody>
      </p:sp>
      <p:sp>
        <p:nvSpPr>
          <p:cNvPr id="39" name="TextBox 39"/>
          <p:cNvSpPr txBox="1"/>
          <p:nvPr/>
        </p:nvSpPr>
        <p:spPr>
          <a:xfrm>
            <a:off x="7450741" y="4093845"/>
            <a:ext cx="719519" cy="182880"/>
          </a:xfrm>
          <a:prstGeom prst="rect">
            <a:avLst/>
          </a:prstGeom>
          <a:noFill/>
          <a:ln>
            <a:noFill/>
          </a:ln>
        </p:spPr>
        <p:txBody>
          <a:bodyPr wrap="none" lIns="0" tIns="0" rIns="0" bIns="0" anchor="t" anchorCtr="0">
            <a:spAutoFit/>
          </a:bodyPr>
          <a:lstStyle/>
          <a:p>
            <a:pPr algn="ctr"/>
            <a:r>
              <a:rPr lang="ko-KR" sz="1200" dirty="0">
                <a:solidFill>
                  <a:srgbClr val="9CA3AF"/>
                </a:solidFill>
                <a:latin typeface="Malgun Gothic"/>
                <a:ea typeface="Malgun Gothic"/>
                <a:cs typeface="Malgun Gothic"/>
              </a:rPr>
              <a:t>폭발적 성장</a:t>
            </a:r>
          </a:p>
        </p:txBody>
      </p:sp>
      <p:sp>
        <p:nvSpPr>
          <p:cNvPr id="40" name="Ellipse 40"/>
          <p:cNvSpPr/>
          <p:nvPr/>
        </p:nvSpPr>
        <p:spPr>
          <a:xfrm>
            <a:off x="9439275" y="3057525"/>
            <a:ext cx="171450" cy="171450"/>
          </a:xfrm>
          <a:prstGeom prst="ellipse">
            <a:avLst/>
          </a:prstGeom>
          <a:solidFill>
            <a:srgbClr val="00D9FF"/>
          </a:solidFill>
          <a:ln w="23812">
            <a:solidFill>
              <a:srgbClr val="00D9FF"/>
            </a:solidFill>
          </a:ln>
        </p:spPr>
      </p:sp>
      <p:sp>
        <p:nvSpPr>
          <p:cNvPr id="41" name="Ellipse 41"/>
          <p:cNvSpPr/>
          <p:nvPr/>
        </p:nvSpPr>
        <p:spPr>
          <a:xfrm>
            <a:off x="9391650" y="3009900"/>
            <a:ext cx="266700" cy="266700"/>
          </a:xfrm>
          <a:prstGeom prst="ellipse">
            <a:avLst/>
          </a:prstGeom>
          <a:noFill/>
          <a:ln w="9525">
            <a:solidFill>
              <a:srgbClr val="00D9FF">
                <a:alpha val="40000"/>
              </a:srgbClr>
            </a:solidFill>
          </a:ln>
        </p:spPr>
      </p:sp>
      <p:sp>
        <p:nvSpPr>
          <p:cNvPr id="42" name="Line 42"/>
          <p:cNvSpPr/>
          <p:nvPr/>
        </p:nvSpPr>
        <p:spPr>
          <a:xfrm>
            <a:off x="9525000" y="2333625"/>
            <a:ext cx="9525" cy="723900"/>
          </a:xfrm>
          <a:custGeom>
            <a:avLst/>
            <a:gdLst/>
            <a:ahLst/>
            <a:cxnLst/>
            <a:rect l="l" t="t" r="r" b="b"/>
            <a:pathLst>
              <a:path w="9525" h="723900">
                <a:moveTo>
                  <a:pt x="0" y="723900"/>
                </a:moveTo>
                <a:lnTo>
                  <a:pt x="0" y="0"/>
                </a:lnTo>
              </a:path>
            </a:pathLst>
          </a:custGeom>
          <a:noFill/>
          <a:ln w="19050">
            <a:solidFill>
              <a:srgbClr val="00D9FF">
                <a:alpha val="80000"/>
              </a:srgbClr>
            </a:solidFill>
          </a:ln>
        </p:spPr>
      </p:sp>
      <p:sp>
        <p:nvSpPr>
          <p:cNvPr id="43" name="TextBox 43"/>
          <p:cNvSpPr txBox="1"/>
          <p:nvPr/>
        </p:nvSpPr>
        <p:spPr>
          <a:xfrm>
            <a:off x="9243484" y="2104549"/>
            <a:ext cx="563032" cy="198120"/>
          </a:xfrm>
          <a:prstGeom prst="rect">
            <a:avLst/>
          </a:prstGeom>
          <a:noFill/>
          <a:ln>
            <a:noFill/>
          </a:ln>
        </p:spPr>
        <p:txBody>
          <a:bodyPr wrap="none" lIns="0" tIns="0" rIns="0" bIns="0" anchor="t" anchorCtr="0">
            <a:spAutoFit/>
          </a:bodyPr>
          <a:lstStyle/>
          <a:p>
            <a:pPr algn="ctr"/>
            <a:r>
              <a:rPr lang="en-US" sz="1200" b="1" dirty="0">
                <a:solidFill>
                  <a:srgbClr val="00D9FF"/>
                </a:solidFill>
                <a:latin typeface="Malgun Gothic"/>
                <a:ea typeface="Malgun Gothic"/>
                <a:cs typeface="Malgun Gothic"/>
              </a:rPr>
              <a:t>2025.01</a:t>
            </a:r>
          </a:p>
        </p:txBody>
      </p:sp>
      <p:sp>
        <p:nvSpPr>
          <p:cNvPr id="44" name="TextBox 44"/>
          <p:cNvSpPr txBox="1"/>
          <p:nvPr/>
        </p:nvSpPr>
        <p:spPr>
          <a:xfrm>
            <a:off x="8562042" y="1899285"/>
            <a:ext cx="1925917" cy="243840"/>
          </a:xfrm>
          <a:prstGeom prst="rect">
            <a:avLst/>
          </a:prstGeom>
          <a:noFill/>
          <a:ln>
            <a:noFill/>
          </a:ln>
        </p:spPr>
        <p:txBody>
          <a:bodyPr wrap="none" lIns="0" tIns="0" rIns="0" bIns="0" anchor="t" anchorCtr="0">
            <a:spAutoFit/>
          </a:bodyPr>
          <a:lstStyle/>
          <a:p>
            <a:pPr algn="ctr"/>
            <a:r>
              <a:rPr lang="en-US" sz="1200" b="1" dirty="0">
                <a:solidFill>
                  <a:srgbClr val="F5F7FA"/>
                </a:solidFill>
                <a:latin typeface="Malgun Gothic"/>
                <a:ea typeface="Malgun Gothic"/>
                <a:cs typeface="Malgun Gothic"/>
              </a:rPr>
              <a:t>Claude Sonnet 3.7 / 4</a:t>
            </a:r>
          </a:p>
        </p:txBody>
      </p:sp>
      <p:sp>
        <p:nvSpPr>
          <p:cNvPr id="45" name="TextBox 45"/>
          <p:cNvSpPr txBox="1"/>
          <p:nvPr/>
        </p:nvSpPr>
        <p:spPr>
          <a:xfrm>
            <a:off x="9056799" y="1741170"/>
            <a:ext cx="936403" cy="182880"/>
          </a:xfrm>
          <a:prstGeom prst="rect">
            <a:avLst/>
          </a:prstGeom>
          <a:noFill/>
          <a:ln>
            <a:noFill/>
          </a:ln>
        </p:spPr>
        <p:txBody>
          <a:bodyPr wrap="none" lIns="0" tIns="0" rIns="0" bIns="0" anchor="t" anchorCtr="0">
            <a:spAutoFit/>
          </a:bodyPr>
          <a:lstStyle/>
          <a:p>
            <a:pPr algn="ctr"/>
            <a:r>
              <a:rPr lang="en-US" sz="1200" dirty="0">
                <a:solidFill>
                  <a:srgbClr val="00D9FF"/>
                </a:solidFill>
                <a:latin typeface="Malgun Gothic"/>
                <a:ea typeface="Malgun Gothic"/>
                <a:cs typeface="Malgun Gothic"/>
              </a:rPr>
              <a:t>agentic coding</a:t>
            </a:r>
          </a:p>
        </p:txBody>
      </p:sp>
      <p:sp>
        <p:nvSpPr>
          <p:cNvPr id="46" name="Ellipse 46"/>
          <p:cNvSpPr/>
          <p:nvPr/>
        </p:nvSpPr>
        <p:spPr>
          <a:xfrm>
            <a:off x="10772775" y="3057525"/>
            <a:ext cx="171450" cy="171450"/>
          </a:xfrm>
          <a:prstGeom prst="ellipse">
            <a:avLst/>
          </a:prstGeom>
          <a:solidFill>
            <a:srgbClr val="00D9FF"/>
          </a:solidFill>
          <a:ln w="23812">
            <a:solidFill>
              <a:srgbClr val="00D9FF"/>
            </a:solidFill>
          </a:ln>
        </p:spPr>
      </p:sp>
      <p:sp>
        <p:nvSpPr>
          <p:cNvPr id="47" name="Ellipse 47"/>
          <p:cNvSpPr/>
          <p:nvPr/>
        </p:nvSpPr>
        <p:spPr>
          <a:xfrm>
            <a:off x="10725150" y="3009900"/>
            <a:ext cx="266700" cy="266700"/>
          </a:xfrm>
          <a:prstGeom prst="ellipse">
            <a:avLst/>
          </a:prstGeom>
          <a:noFill/>
          <a:ln w="9525">
            <a:solidFill>
              <a:srgbClr val="00D9FF">
                <a:alpha val="40000"/>
              </a:srgbClr>
            </a:solidFill>
          </a:ln>
        </p:spPr>
      </p:sp>
      <p:sp>
        <p:nvSpPr>
          <p:cNvPr id="48" name="Line 48"/>
          <p:cNvSpPr/>
          <p:nvPr/>
        </p:nvSpPr>
        <p:spPr>
          <a:xfrm>
            <a:off x="10858500" y="3228975"/>
            <a:ext cx="9525" cy="390525"/>
          </a:xfrm>
          <a:custGeom>
            <a:avLst/>
            <a:gdLst/>
            <a:ahLst/>
            <a:cxnLst/>
            <a:rect l="l" t="t" r="r" b="b"/>
            <a:pathLst>
              <a:path w="9525" h="390525">
                <a:moveTo>
                  <a:pt x="0" y="0"/>
                </a:moveTo>
                <a:lnTo>
                  <a:pt x="0" y="390525"/>
                </a:lnTo>
              </a:path>
            </a:pathLst>
          </a:custGeom>
          <a:noFill/>
          <a:ln w="19050">
            <a:solidFill>
              <a:srgbClr val="00D9FF">
                <a:alpha val="80000"/>
              </a:srgbClr>
            </a:solidFill>
          </a:ln>
        </p:spPr>
      </p:sp>
      <p:sp>
        <p:nvSpPr>
          <p:cNvPr id="49" name="TextBox 49"/>
          <p:cNvSpPr txBox="1"/>
          <p:nvPr/>
        </p:nvSpPr>
        <p:spPr>
          <a:xfrm>
            <a:off x="10543342" y="3723799"/>
            <a:ext cx="630316" cy="198120"/>
          </a:xfrm>
          <a:prstGeom prst="rect">
            <a:avLst/>
          </a:prstGeom>
          <a:noFill/>
          <a:ln>
            <a:noFill/>
          </a:ln>
        </p:spPr>
        <p:txBody>
          <a:bodyPr wrap="none" lIns="0" tIns="0" rIns="0" bIns="0" anchor="t" anchorCtr="0">
            <a:spAutoFit/>
          </a:bodyPr>
          <a:lstStyle/>
          <a:p>
            <a:pPr algn="ctr"/>
            <a:r>
              <a:rPr lang="en-US" sz="1200" b="1" dirty="0">
                <a:solidFill>
                  <a:srgbClr val="00D9FF"/>
                </a:solidFill>
                <a:latin typeface="Malgun Gothic"/>
                <a:ea typeface="Malgun Gothic"/>
                <a:cs typeface="Malgun Gothic"/>
              </a:rPr>
              <a:t>2025.Q3</a:t>
            </a:r>
          </a:p>
        </p:txBody>
      </p:sp>
      <p:sp>
        <p:nvSpPr>
          <p:cNvPr id="50" name="TextBox 50"/>
          <p:cNvSpPr txBox="1"/>
          <p:nvPr/>
        </p:nvSpPr>
        <p:spPr>
          <a:xfrm>
            <a:off x="10525048" y="3898106"/>
            <a:ext cx="666905" cy="228600"/>
          </a:xfrm>
          <a:prstGeom prst="rect">
            <a:avLst/>
          </a:prstGeom>
          <a:noFill/>
          <a:ln>
            <a:noFill/>
          </a:ln>
        </p:spPr>
        <p:txBody>
          <a:bodyPr wrap="none" lIns="0" tIns="0" rIns="0" bIns="0" anchor="t" anchorCtr="0">
            <a:spAutoFit/>
          </a:bodyPr>
          <a:lstStyle/>
          <a:p>
            <a:pPr algn="ctr"/>
            <a:r>
              <a:rPr lang="ko-KR" sz="1200" b="1" dirty="0">
                <a:solidFill>
                  <a:srgbClr val="F5F7FA"/>
                </a:solidFill>
                <a:latin typeface="Malgun Gothic"/>
                <a:ea typeface="Malgun Gothic"/>
                <a:cs typeface="Malgun Gothic"/>
              </a:rPr>
              <a:t>IDE 통합</a:t>
            </a:r>
          </a:p>
        </p:txBody>
      </p:sp>
      <p:sp>
        <p:nvSpPr>
          <p:cNvPr id="51" name="TextBox 51"/>
          <p:cNvSpPr txBox="1"/>
          <p:nvPr/>
        </p:nvSpPr>
        <p:spPr>
          <a:xfrm>
            <a:off x="10367296" y="4093845"/>
            <a:ext cx="982408" cy="182880"/>
          </a:xfrm>
          <a:prstGeom prst="rect">
            <a:avLst/>
          </a:prstGeom>
          <a:noFill/>
          <a:ln>
            <a:noFill/>
          </a:ln>
        </p:spPr>
        <p:txBody>
          <a:bodyPr wrap="none" lIns="0" tIns="0" rIns="0" bIns="0" anchor="t" anchorCtr="0">
            <a:spAutoFit/>
          </a:bodyPr>
          <a:lstStyle/>
          <a:p>
            <a:pPr algn="ctr"/>
            <a:r>
              <a:rPr lang="ko-KR" sz="1200" dirty="0">
                <a:solidFill>
                  <a:srgbClr val="9CA3AF"/>
                </a:solidFill>
                <a:latin typeface="Malgun Gothic"/>
                <a:ea typeface="Malgun Gothic"/>
                <a:cs typeface="Malgun Gothic"/>
              </a:rPr>
              <a:t>에이전트 보편화</a:t>
            </a:r>
          </a:p>
        </p:txBody>
      </p:sp>
      <p:sp>
        <p:nvSpPr>
          <p:cNvPr id="52" name="Rectangle 52"/>
          <p:cNvSpPr/>
          <p:nvPr/>
        </p:nvSpPr>
        <p:spPr>
          <a:xfrm>
            <a:off x="571500" y="5143500"/>
            <a:ext cx="11049000" cy="9525"/>
          </a:xfrm>
          <a:prstGeom prst="rect">
            <a:avLst/>
          </a:prstGeom>
          <a:solidFill>
            <a:srgbClr val="2A3454"/>
          </a:solidFill>
          <a:ln>
            <a:noFill/>
          </a:ln>
        </p:spPr>
      </p:sp>
      <p:sp>
        <p:nvSpPr>
          <p:cNvPr id="53" name="TextBox 53"/>
          <p:cNvSpPr txBox="1"/>
          <p:nvPr/>
        </p:nvSpPr>
        <p:spPr>
          <a:xfrm>
            <a:off x="502920" y="5227320"/>
            <a:ext cx="2248824" cy="1097280"/>
          </a:xfrm>
          <a:prstGeom prst="rect">
            <a:avLst/>
          </a:prstGeom>
          <a:noFill/>
          <a:ln>
            <a:noFill/>
          </a:ln>
        </p:spPr>
        <p:txBody>
          <a:bodyPr wrap="none" lIns="0" tIns="0" rIns="0" bIns="0" anchor="t" anchorCtr="0">
            <a:spAutoFit/>
          </a:bodyPr>
          <a:lstStyle/>
          <a:p>
            <a:pPr algn="l"/>
            <a:r>
              <a:rPr lang="ko-KR" sz="5400" b="1" dirty="0">
                <a:solidFill>
                  <a:srgbClr val="00D9FF"/>
                </a:solidFill>
                <a:latin typeface="Arial Black"/>
                <a:ea typeface="Malgun Gothic"/>
                <a:cs typeface="Arial Black"/>
              </a:rPr>
              <a:t>6개월</a:t>
            </a:r>
          </a:p>
        </p:txBody>
      </p:sp>
      <p:sp>
        <p:nvSpPr>
          <p:cNvPr id="54" name="TextBox 54"/>
          <p:cNvSpPr txBox="1"/>
          <p:nvPr/>
        </p:nvSpPr>
        <p:spPr>
          <a:xfrm>
            <a:off x="557212" y="5974556"/>
            <a:ext cx="1868805"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능력이 두 배가 되는 주기</a:t>
            </a:r>
          </a:p>
        </p:txBody>
      </p:sp>
      <p:sp>
        <p:nvSpPr>
          <p:cNvPr id="55" name="Rectangle 55"/>
          <p:cNvSpPr/>
          <p:nvPr/>
        </p:nvSpPr>
        <p:spPr>
          <a:xfrm>
            <a:off x="3619500" y="5572125"/>
            <a:ext cx="9525" cy="762000"/>
          </a:xfrm>
          <a:prstGeom prst="rect">
            <a:avLst/>
          </a:prstGeom>
          <a:solidFill>
            <a:srgbClr val="2A3454"/>
          </a:solidFill>
          <a:ln>
            <a:noFill/>
          </a:ln>
        </p:spPr>
      </p:sp>
      <p:sp>
        <p:nvSpPr>
          <p:cNvPr id="56" name="TextBox 56"/>
          <p:cNvSpPr txBox="1"/>
          <p:nvPr/>
        </p:nvSpPr>
        <p:spPr>
          <a:xfrm>
            <a:off x="3979545" y="5536882"/>
            <a:ext cx="2964425"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매 6개월마다 능력이 2배.</a:t>
            </a:r>
          </a:p>
        </p:txBody>
      </p:sp>
      <p:sp>
        <p:nvSpPr>
          <p:cNvPr id="57" name="TextBox 57"/>
          <p:cNvSpPr txBox="1"/>
          <p:nvPr/>
        </p:nvSpPr>
        <p:spPr>
          <a:xfrm>
            <a:off x="3981450" y="5886450"/>
            <a:ext cx="2612231" cy="304800"/>
          </a:xfrm>
          <a:prstGeom prst="rect">
            <a:avLst/>
          </a:prstGeom>
          <a:noFill/>
          <a:ln>
            <a:noFill/>
          </a:ln>
        </p:spPr>
        <p:txBody>
          <a:bodyPr wrap="none" lIns="0" tIns="0" rIns="0" bIns="0" anchor="t" anchorCtr="0">
            <a:spAutoFit/>
          </a:bodyPr>
          <a:lstStyle/>
          <a:p>
            <a:pPr algn="l"/>
            <a:r>
              <a:rPr lang="ko-KR" sz="1500" dirty="0">
                <a:solidFill>
                  <a:srgbClr val="FF6B35"/>
                </a:solidFill>
                <a:latin typeface="Malgun Gothic"/>
                <a:ea typeface="Malgun Gothic"/>
                <a:cs typeface="Malgun Gothic"/>
              </a:rPr>
              <a:t>이 곡선 위에 있지 않으면,</a:t>
            </a:r>
          </a:p>
        </p:txBody>
      </p:sp>
      <p:sp>
        <p:nvSpPr>
          <p:cNvPr id="58" name="TextBox 58"/>
          <p:cNvSpPr txBox="1"/>
          <p:nvPr/>
        </p:nvSpPr>
        <p:spPr>
          <a:xfrm>
            <a:off x="3981450" y="6153150"/>
            <a:ext cx="2372892" cy="304800"/>
          </a:xfrm>
          <a:prstGeom prst="rect">
            <a:avLst/>
          </a:prstGeom>
          <a:noFill/>
          <a:ln>
            <a:noFill/>
          </a:ln>
        </p:spPr>
        <p:txBody>
          <a:bodyPr wrap="none" lIns="0" tIns="0" rIns="0" bIns="0" anchor="t" anchorCtr="0">
            <a:spAutoFit/>
          </a:bodyPr>
          <a:lstStyle/>
          <a:p>
            <a:pPr algn="l"/>
            <a:r>
              <a:rPr lang="ko-KR" sz="1500" b="1" dirty="0">
                <a:solidFill>
                  <a:srgbClr val="FF3860"/>
                </a:solidFill>
                <a:latin typeface="Malgun Gothic"/>
                <a:ea typeface="Malgun Gothic"/>
                <a:cs typeface="Malgun Gothic"/>
              </a:rPr>
              <a:t>곡선 아래로 떨어진다.</a:t>
            </a:r>
          </a:p>
        </p:txBody>
      </p:sp>
      <p:sp>
        <p:nvSpPr>
          <p:cNvPr id="59" name="TextBox 59"/>
          <p:cNvSpPr txBox="1"/>
          <p:nvPr/>
        </p:nvSpPr>
        <p:spPr>
          <a:xfrm>
            <a:off x="11464480" y="6570345"/>
            <a:ext cx="167449" cy="18288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06</a:t>
            </a:r>
          </a:p>
        </p:txBody>
      </p:sp>
    </p:spTree>
  </p:cSld>
  <p:clrMapOvr>
    <a:masterClrMapping/>
  </p:clrMapOvr>
  <p:transition xmlns:p14="http://schemas.microsoft.com/office/powerpoint/2010/main" p14:dur="5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50000">
                <a:srgbClr val="141A2E"/>
              </a:gs>
              <a:gs pos="100000">
                <a:srgbClr val="1C2440"/>
              </a:gs>
            </a:gsLst>
            <a:lin ang="2700000" scaled="1"/>
          </a:gradFill>
          <a:ln>
            <a:noFill/>
          </a:ln>
        </p:spPr>
      </p:sp>
      <p:sp>
        <p:nvSpPr>
          <p:cNvPr id="3" name="Ellipse 3"/>
          <p:cNvSpPr/>
          <p:nvPr/>
        </p:nvSpPr>
        <p:spPr>
          <a:xfrm>
            <a:off x="-571500" y="-381000"/>
            <a:ext cx="13335000" cy="7620000"/>
          </a:xfrm>
          <a:prstGeom prst="ellipse">
            <a:avLst/>
          </a:prstGeom>
          <a:gradFill>
            <a:gsLst>
              <a:gs pos="0">
                <a:srgbClr val="00D9FF">
                  <a:alpha val="15000"/>
                </a:srgbClr>
              </a:gs>
              <a:gs pos="50000">
                <a:srgbClr val="7B61FF">
                  <a:alpha val="8000"/>
                </a:srgbClr>
              </a:gs>
              <a:gs pos="100000">
                <a:srgbClr val="0A0E1A">
                  <a:alpha val="0"/>
                </a:srgbClr>
              </a:gs>
            </a:gsLst>
            <a:path path="circle">
              <a:fillToRect l="50000" t="50000" r="50000" b="50000"/>
            </a:path>
          </a:gradFill>
          <a:ln>
            <a:noFill/>
          </a:ln>
        </p:spPr>
      </p:sp>
      <p:sp>
        <p:nvSpPr>
          <p:cNvPr id="4" name="Ellipse 4"/>
          <p:cNvSpPr/>
          <p:nvPr/>
        </p:nvSpPr>
        <p:spPr>
          <a:xfrm>
            <a:off x="1128712" y="1128712"/>
            <a:ext cx="28575" cy="28575"/>
          </a:xfrm>
          <a:prstGeom prst="ellipse">
            <a:avLst/>
          </a:prstGeom>
          <a:solidFill>
            <a:srgbClr val="2A3454">
              <a:alpha val="60000"/>
            </a:srgbClr>
          </a:solidFill>
          <a:ln>
            <a:noFill/>
          </a:ln>
        </p:spPr>
      </p:sp>
      <p:sp>
        <p:nvSpPr>
          <p:cNvPr id="5" name="Ellipse 5"/>
          <p:cNvSpPr/>
          <p:nvPr/>
        </p:nvSpPr>
        <p:spPr>
          <a:xfrm>
            <a:off x="2271712" y="1700212"/>
            <a:ext cx="28575" cy="28575"/>
          </a:xfrm>
          <a:prstGeom prst="ellipse">
            <a:avLst/>
          </a:prstGeom>
          <a:solidFill>
            <a:srgbClr val="2A3454">
              <a:alpha val="40000"/>
            </a:srgbClr>
          </a:solidFill>
          <a:ln>
            <a:noFill/>
          </a:ln>
        </p:spPr>
      </p:sp>
      <p:sp>
        <p:nvSpPr>
          <p:cNvPr id="6" name="Ellipse 6"/>
          <p:cNvSpPr/>
          <p:nvPr/>
        </p:nvSpPr>
        <p:spPr>
          <a:xfrm>
            <a:off x="1700212" y="5700712"/>
            <a:ext cx="28575" cy="28575"/>
          </a:xfrm>
          <a:prstGeom prst="ellipse">
            <a:avLst/>
          </a:prstGeom>
          <a:solidFill>
            <a:srgbClr val="2A3454">
              <a:alpha val="50000"/>
            </a:srgbClr>
          </a:solidFill>
          <a:ln>
            <a:noFill/>
          </a:ln>
        </p:spPr>
      </p:sp>
      <p:sp>
        <p:nvSpPr>
          <p:cNvPr id="7" name="Ellipse 7"/>
          <p:cNvSpPr/>
          <p:nvPr/>
        </p:nvSpPr>
        <p:spPr>
          <a:xfrm>
            <a:off x="10463212" y="1319212"/>
            <a:ext cx="28575" cy="28575"/>
          </a:xfrm>
          <a:prstGeom prst="ellipse">
            <a:avLst/>
          </a:prstGeom>
          <a:solidFill>
            <a:srgbClr val="2A3454">
              <a:alpha val="50000"/>
            </a:srgbClr>
          </a:solidFill>
          <a:ln>
            <a:noFill/>
          </a:ln>
        </p:spPr>
      </p:sp>
      <p:sp>
        <p:nvSpPr>
          <p:cNvPr id="8" name="Ellipse 8"/>
          <p:cNvSpPr/>
          <p:nvPr/>
        </p:nvSpPr>
        <p:spPr>
          <a:xfrm>
            <a:off x="11034712" y="5510212"/>
            <a:ext cx="28575" cy="28575"/>
          </a:xfrm>
          <a:prstGeom prst="ellipse">
            <a:avLst/>
          </a:prstGeom>
          <a:solidFill>
            <a:srgbClr val="2A3454">
              <a:alpha val="60000"/>
            </a:srgbClr>
          </a:solidFill>
          <a:ln>
            <a:noFill/>
          </a:ln>
        </p:spPr>
      </p:sp>
      <p:sp>
        <p:nvSpPr>
          <p:cNvPr id="9" name="Ellipse 9"/>
          <p:cNvSpPr/>
          <p:nvPr/>
        </p:nvSpPr>
        <p:spPr>
          <a:xfrm>
            <a:off x="9891712" y="6081712"/>
            <a:ext cx="28575" cy="28575"/>
          </a:xfrm>
          <a:prstGeom prst="ellipse">
            <a:avLst/>
          </a:prstGeom>
          <a:solidFill>
            <a:srgbClr val="2A3454">
              <a:alpha val="40000"/>
            </a:srgbClr>
          </a:solidFill>
          <a:ln>
            <a:noFill/>
          </a:ln>
        </p:spPr>
      </p:sp>
      <p:sp>
        <p:nvSpPr>
          <p:cNvPr id="10" name="TextBox 10"/>
          <p:cNvSpPr txBox="1"/>
          <p:nvPr/>
        </p:nvSpPr>
        <p:spPr>
          <a:xfrm>
            <a:off x="1866900" y="533400"/>
            <a:ext cx="1975390" cy="3657600"/>
          </a:xfrm>
          <a:prstGeom prst="rect">
            <a:avLst/>
          </a:prstGeom>
          <a:noFill/>
          <a:ln>
            <a:noFill/>
          </a:ln>
        </p:spPr>
        <p:txBody>
          <a:bodyPr wrap="none" lIns="0" tIns="0" rIns="0" bIns="0" anchor="t" anchorCtr="0">
            <a:spAutoFit/>
          </a:bodyPr>
          <a:lstStyle/>
          <a:p>
            <a:pPr algn="l"/>
            <a:r>
              <a:rPr lang="en-US" sz="18000" b="1" dirty="0">
                <a:gradFill>
                  <a:gsLst>
                    <a:gs pos="0">
                      <a:srgbClr val="00D9FF">
                        <a:alpha val="18000"/>
                      </a:srgbClr>
                    </a:gs>
                    <a:gs pos="100000">
                      <a:srgbClr val="7B61FF">
                        <a:alpha val="18000"/>
                      </a:srgbClr>
                    </a:gs>
                  </a:gsLst>
                  <a:lin ang="2700000" scaled="1"/>
                </a:gradFill>
                <a:latin typeface="Arial Black"/>
                <a:ea typeface="Malgun Gothic"/>
                <a:cs typeface="Arial Black"/>
              </a:rPr>
              <a:t>"</a:t>
            </a:r>
          </a:p>
        </p:txBody>
      </p:sp>
      <p:sp>
        <p:nvSpPr>
          <p:cNvPr id="11" name="TextBox 11"/>
          <p:cNvSpPr txBox="1"/>
          <p:nvPr/>
        </p:nvSpPr>
        <p:spPr>
          <a:xfrm>
            <a:off x="9391650" y="3771900"/>
            <a:ext cx="1975390" cy="3657600"/>
          </a:xfrm>
          <a:prstGeom prst="rect">
            <a:avLst/>
          </a:prstGeom>
          <a:noFill/>
          <a:ln>
            <a:noFill/>
          </a:ln>
        </p:spPr>
        <p:txBody>
          <a:bodyPr wrap="none" lIns="0" tIns="0" rIns="0" bIns="0" anchor="t" anchorCtr="0">
            <a:spAutoFit/>
          </a:bodyPr>
          <a:lstStyle/>
          <a:p>
            <a:pPr algn="l"/>
            <a:r>
              <a:rPr lang="en-US" sz="18000" b="1" dirty="0">
                <a:gradFill>
                  <a:gsLst>
                    <a:gs pos="0">
                      <a:srgbClr val="00D9FF">
                        <a:alpha val="18000"/>
                      </a:srgbClr>
                    </a:gs>
                    <a:gs pos="100000">
                      <a:srgbClr val="7B61FF">
                        <a:alpha val="18000"/>
                      </a:srgbClr>
                    </a:gs>
                  </a:gsLst>
                  <a:lin ang="2700000" scaled="1"/>
                </a:gradFill>
                <a:latin typeface="Arial Black"/>
                <a:ea typeface="Malgun Gothic"/>
                <a:cs typeface="Arial Black"/>
              </a:rPr>
              <a:t>"</a:t>
            </a:r>
          </a:p>
        </p:txBody>
      </p:sp>
      <p:sp>
        <p:nvSpPr>
          <p:cNvPr id="12" name="Rectangle 12"/>
          <p:cNvSpPr/>
          <p:nvPr/>
        </p:nvSpPr>
        <p:spPr>
          <a:xfrm>
            <a:off x="4191000" y="1905000"/>
            <a:ext cx="3810000" cy="19050"/>
          </a:xfrm>
          <a:prstGeom prst="rect">
            <a:avLst/>
          </a:prstGeom>
          <a:gradFill>
            <a:gsLst>
              <a:gs pos="0">
                <a:srgbClr val="00D9FF">
                  <a:alpha val="0"/>
                </a:srgbClr>
              </a:gs>
              <a:gs pos="50000">
                <a:srgbClr val="00D9FF">
                  <a:alpha val="80000"/>
                </a:srgbClr>
              </a:gs>
              <a:gs pos="100000">
                <a:srgbClr val="7B61FF">
                  <a:alpha val="0"/>
                </a:srgbClr>
              </a:gs>
            </a:gsLst>
            <a:lin ang="0" scaled="1"/>
          </a:gradFill>
          <a:ln>
            <a:noFill/>
          </a:ln>
        </p:spPr>
      </p:sp>
      <p:sp>
        <p:nvSpPr>
          <p:cNvPr id="13" name="TextBox 13"/>
          <p:cNvSpPr txBox="1"/>
          <p:nvPr/>
        </p:nvSpPr>
        <p:spPr>
          <a:xfrm>
            <a:off x="912943" y="2907030"/>
            <a:ext cx="8289665" cy="731520"/>
          </a:xfrm>
          <a:prstGeom prst="rect">
            <a:avLst/>
          </a:prstGeom>
          <a:noFill/>
          <a:ln>
            <a:noFill/>
          </a:ln>
        </p:spPr>
        <p:txBody>
          <a:bodyPr wrap="none" lIns="0" tIns="0" rIns="0" bIns="0" anchor="t" anchorCtr="0">
            <a:spAutoFit/>
          </a:bodyPr>
          <a:lstStyle/>
          <a:p>
            <a:pPr algn="ctr"/>
            <a:r>
              <a:rPr lang="ko-KR" sz="3600" b="1" dirty="0">
                <a:solidFill>
                  <a:srgbClr val="F5F7FA"/>
                </a:solidFill>
                <a:latin typeface="Malgun Gothic"/>
                <a:ea typeface="Malgun Gothic"/>
                <a:cs typeface="Malgun Gothic"/>
              </a:rPr>
              <a:t>"AI는 개발자를 대체하지 않는다.</a:t>
            </a:r>
          </a:p>
        </p:txBody>
      </p:sp>
      <p:sp>
        <p:nvSpPr>
          <p:cNvPr id="14" name="TextBox 14"/>
          <p:cNvSpPr txBox="1"/>
          <p:nvPr/>
        </p:nvSpPr>
        <p:spPr>
          <a:xfrm>
            <a:off x="3565970" y="3516630"/>
            <a:ext cx="5060061" cy="731520"/>
          </a:xfrm>
          <a:prstGeom prst="rect">
            <a:avLst/>
          </a:prstGeom>
          <a:noFill/>
          <a:ln>
            <a:noFill/>
          </a:ln>
        </p:spPr>
        <p:txBody>
          <a:bodyPr wrap="none" lIns="0" tIns="0" rIns="0" bIns="0" anchor="t" anchorCtr="0">
            <a:spAutoFit/>
          </a:bodyPr>
          <a:lstStyle/>
          <a:p>
            <a:pPr algn="ctr"/>
            <a:r>
              <a:rPr lang="ko-KR" sz="3600" b="1" dirty="0">
                <a:solidFill>
                  <a:srgbClr val="F5F7FA"/>
                </a:solidFill>
                <a:latin typeface="Malgun Gothic"/>
                <a:ea typeface="Malgun Gothic"/>
                <a:cs typeface="Malgun Gothic"/>
              </a:rPr>
              <a:t>AI를 쓰는 개발자가,</a:t>
            </a:r>
          </a:p>
        </p:txBody>
      </p:sp>
      <p:sp>
        <p:nvSpPr>
          <p:cNvPr id="15" name="TextBox 15"/>
          <p:cNvSpPr txBox="1"/>
          <p:nvPr/>
        </p:nvSpPr>
        <p:spPr>
          <a:xfrm>
            <a:off x="-934917" y="4240530"/>
            <a:ext cx="9642234" cy="731520"/>
          </a:xfrm>
          <a:prstGeom prst="rect">
            <a:avLst/>
          </a:prstGeom>
          <a:noFill/>
          <a:ln>
            <a:noFill/>
          </a:ln>
        </p:spPr>
        <p:txBody>
          <a:bodyPr wrap="none" lIns="0" tIns="0" rIns="0" bIns="0" anchor="t" anchorCtr="0">
            <a:spAutoFit/>
          </a:bodyPr>
          <a:lstStyle/>
          <a:p>
            <a:pPr algn="ctr"/>
            <a:r>
              <a:rPr lang="ko-KR" sz="3600" b="1" dirty="0">
                <a:solidFill>
                  <a:srgbClr val="00D9FF"/>
                </a:solidFill>
                <a:latin typeface="Malgun Gothic"/>
                <a:ea typeface="Malgun Gothic"/>
                <a:cs typeface="Malgun Gothic"/>
              </a:rPr>
              <a:t>그렇지 않은 개발자를 대체할 뿐이다."</a:t>
            </a:r>
          </a:p>
        </p:txBody>
      </p:sp>
      <p:sp>
        <p:nvSpPr>
          <p:cNvPr id="16" name="Rectangle 16"/>
          <p:cNvSpPr/>
          <p:nvPr/>
        </p:nvSpPr>
        <p:spPr>
          <a:xfrm>
            <a:off x="5143500" y="5143500"/>
            <a:ext cx="1905000" cy="9525"/>
          </a:xfrm>
          <a:prstGeom prst="rect">
            <a:avLst/>
          </a:prstGeom>
          <a:solidFill>
            <a:srgbClr val="2A3454"/>
          </a:solidFill>
          <a:ln>
            <a:noFill/>
          </a:ln>
        </p:spPr>
      </p:sp>
      <p:sp>
        <p:nvSpPr>
          <p:cNvPr id="17" name="TextBox 17"/>
          <p:cNvSpPr txBox="1"/>
          <p:nvPr/>
        </p:nvSpPr>
        <p:spPr>
          <a:xfrm>
            <a:off x="4791813" y="5394008"/>
            <a:ext cx="2608374" cy="335280"/>
          </a:xfrm>
          <a:prstGeom prst="rect">
            <a:avLst/>
          </a:prstGeom>
          <a:noFill/>
          <a:ln>
            <a:noFill/>
          </a:ln>
        </p:spPr>
        <p:txBody>
          <a:bodyPr wrap="none" lIns="0" tIns="0" rIns="0" bIns="0" anchor="t" anchorCtr="0">
            <a:spAutoFit/>
          </a:bodyPr>
          <a:lstStyle/>
          <a:p>
            <a:pPr algn="ctr"/>
            <a:r>
              <a:rPr lang="ko-KR" sz="1650" dirty="0">
                <a:solidFill>
                  <a:srgbClr val="9CA3AF"/>
                </a:solidFill>
                <a:latin typeface="Malgun Gothic"/>
                <a:ea typeface="Malgun Gothic"/>
                <a:cs typeface="Malgun Gothic"/>
              </a:rPr>
              <a:t>— 2025년의 새로운 격언</a:t>
            </a:r>
          </a:p>
        </p:txBody>
      </p:sp>
      <p:sp>
        <p:nvSpPr>
          <p:cNvPr id="18" name="TextBox 18"/>
          <p:cNvSpPr txBox="1"/>
          <p:nvPr/>
        </p:nvSpPr>
        <p:spPr>
          <a:xfrm>
            <a:off x="11654980" y="6475095"/>
            <a:ext cx="167449" cy="18288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05</a:t>
            </a:r>
          </a:p>
        </p:txBody>
      </p:sp>
    </p:spTree>
  </p:cSld>
  <p:clrMapOvr>
    <a:masterClrMapping/>
  </p:clrMapOvr>
  <p:transition xmlns:p14="http://schemas.microsoft.com/office/powerpoint/2010/main" p14:dur="5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100000">
                <a:srgbClr val="141A2E"/>
              </a:gs>
            </a:gsLst>
            <a:lin ang="2700000" scaled="1"/>
          </a:gradFill>
          <a:ln>
            <a:noFill/>
          </a:ln>
        </p:spPr>
      </p:sp>
      <p:sp>
        <p:nvSpPr>
          <p:cNvPr id="3" name="TextBox 3"/>
          <p:cNvSpPr txBox="1"/>
          <p:nvPr/>
        </p:nvSpPr>
        <p:spPr>
          <a:xfrm>
            <a:off x="537210" y="299085"/>
            <a:ext cx="5637576"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당신은 어느 사분면에 있는가?</a:t>
            </a:r>
          </a:p>
        </p:txBody>
      </p:sp>
      <p:sp>
        <p:nvSpPr>
          <p:cNvPr id="4" name="TextBox 4"/>
          <p:cNvSpPr txBox="1"/>
          <p:nvPr/>
        </p:nvSpPr>
        <p:spPr>
          <a:xfrm>
            <a:off x="557212" y="754856"/>
            <a:ext cx="4243030"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AI 활용도 × 기술적 깊이 — 지금 당신의 좌표를 확인하세요</a:t>
            </a:r>
          </a:p>
        </p:txBody>
      </p:sp>
      <p:sp>
        <p:nvSpPr>
          <p:cNvPr id="5" name="TextBox 5"/>
          <p:cNvSpPr txBox="1"/>
          <p:nvPr/>
        </p:nvSpPr>
        <p:spPr>
          <a:xfrm>
            <a:off x="11201590" y="493395"/>
            <a:ext cx="430340" cy="18288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06 / 14</a:t>
            </a:r>
          </a:p>
        </p:txBody>
      </p:sp>
      <p:sp>
        <p:nvSpPr>
          <p:cNvPr id="6" name="Rectangle 6"/>
          <p:cNvSpPr/>
          <p:nvPr/>
        </p:nvSpPr>
        <p:spPr>
          <a:xfrm>
            <a:off x="571500" y="1047750"/>
            <a:ext cx="11049000" cy="9525"/>
          </a:xfrm>
          <a:prstGeom prst="rect">
            <a:avLst/>
          </a:prstGeom>
          <a:solidFill>
            <a:srgbClr val="2A3454"/>
          </a:solidFill>
          <a:ln>
            <a:noFill/>
          </a:ln>
        </p:spPr>
      </p:sp>
      <p:grpSp>
        <p:nvGrpSpPr>
          <p:cNvPr id="8" name="Group 8"/>
          <p:cNvGrpSpPr/>
          <p:nvPr/>
        </p:nvGrpSpPr>
        <p:grpSpPr>
          <a:xfrm rot="-5400000">
            <a:off x="-117231" y="3914299"/>
            <a:ext cx="1796561" cy="198120"/>
            <a:chOff x="-117231" y="3914299"/>
            <a:chExt cx="1796561" cy="198120"/>
          </a:xfrm>
        </p:grpSpPr>
        <p:sp>
          <p:nvSpPr>
            <p:cNvPr id="7" name="TextBox 7"/>
            <p:cNvSpPr txBox="1"/>
            <p:nvPr/>
          </p:nvSpPr>
          <p:spPr>
            <a:xfrm>
              <a:off x="-117231" y="3914299"/>
              <a:ext cx="1796561" cy="198120"/>
            </a:xfrm>
            <a:prstGeom prst="rect">
              <a:avLst/>
            </a:prstGeom>
            <a:noFill/>
            <a:ln>
              <a:noFill/>
            </a:ln>
          </p:spPr>
          <p:txBody>
            <a:bodyPr wrap="none" lIns="0" tIns="0" rIns="0" bIns="0" anchor="t" anchorCtr="0">
              <a:spAutoFit/>
            </a:bodyPr>
            <a:lstStyle/>
            <a:p>
              <a:pPr algn="ctr"/>
              <a:r>
                <a:rPr lang="ko-KR" sz="1200" b="1" dirty="0">
                  <a:solidFill>
                    <a:srgbClr val="9CA3AF"/>
                  </a:solidFill>
                  <a:latin typeface="Malgun Gothic"/>
                  <a:ea typeface="Malgun Gothic"/>
                  <a:cs typeface="Malgun Gothic"/>
                </a:rPr>
                <a:t>기술적 깊이 (낮음 → 높음)</a:t>
              </a:r>
            </a:p>
          </p:txBody>
        </p:sp>
      </p:grpSp>
      <p:sp>
        <p:nvSpPr>
          <p:cNvPr id="9" name="Line 9"/>
          <p:cNvSpPr/>
          <p:nvPr/>
        </p:nvSpPr>
        <p:spPr>
          <a:xfrm>
            <a:off x="1095375" y="1524000"/>
            <a:ext cx="9525" cy="4667250"/>
          </a:xfrm>
          <a:custGeom>
            <a:avLst/>
            <a:gdLst/>
            <a:ahLst/>
            <a:cxnLst/>
            <a:rect l="l" t="t" r="r" b="b"/>
            <a:pathLst>
              <a:path w="9525" h="4667250">
                <a:moveTo>
                  <a:pt x="0" y="4667250"/>
                </a:moveTo>
                <a:lnTo>
                  <a:pt x="0" y="0"/>
                </a:lnTo>
              </a:path>
            </a:pathLst>
          </a:custGeom>
          <a:noFill/>
          <a:ln w="14288">
            <a:solidFill>
              <a:srgbClr val="2A3454"/>
            </a:solidFill>
          </a:ln>
        </p:spPr>
      </p:sp>
      <p:sp>
        <p:nvSpPr>
          <p:cNvPr id="10" name="Polygon 10"/>
          <p:cNvSpPr/>
          <p:nvPr/>
        </p:nvSpPr>
        <p:spPr>
          <a:xfrm>
            <a:off x="1047750" y="1466850"/>
            <a:ext cx="95250" cy="95250"/>
          </a:xfrm>
          <a:custGeom>
            <a:avLst/>
            <a:gdLst/>
            <a:ahLst/>
            <a:cxnLst/>
            <a:rect l="l" t="t" r="r" b="b"/>
            <a:pathLst>
              <a:path w="95250" h="95250">
                <a:moveTo>
                  <a:pt x="47625" y="0"/>
                </a:moveTo>
                <a:lnTo>
                  <a:pt x="0" y="95250"/>
                </a:lnTo>
                <a:lnTo>
                  <a:pt x="95250" y="95250"/>
                </a:lnTo>
                <a:close/>
              </a:path>
            </a:pathLst>
          </a:custGeom>
          <a:solidFill>
            <a:srgbClr val="2A3454"/>
          </a:solidFill>
          <a:ln>
            <a:noFill/>
          </a:ln>
        </p:spPr>
      </p:sp>
      <p:sp>
        <p:nvSpPr>
          <p:cNvPr id="11" name="Line 11"/>
          <p:cNvSpPr/>
          <p:nvPr/>
        </p:nvSpPr>
        <p:spPr>
          <a:xfrm>
            <a:off x="1095375" y="6191250"/>
            <a:ext cx="10620375" cy="9525"/>
          </a:xfrm>
          <a:custGeom>
            <a:avLst/>
            <a:gdLst/>
            <a:ahLst/>
            <a:cxnLst/>
            <a:rect l="l" t="t" r="r" b="b"/>
            <a:pathLst>
              <a:path w="10620375" h="9525">
                <a:moveTo>
                  <a:pt x="0" y="0"/>
                </a:moveTo>
                <a:lnTo>
                  <a:pt x="10620375" y="0"/>
                </a:lnTo>
              </a:path>
            </a:pathLst>
          </a:custGeom>
          <a:noFill/>
          <a:ln w="14288">
            <a:solidFill>
              <a:srgbClr val="2A3454"/>
            </a:solidFill>
          </a:ln>
        </p:spPr>
      </p:sp>
      <p:sp>
        <p:nvSpPr>
          <p:cNvPr id="12" name="Polygon 12"/>
          <p:cNvSpPr/>
          <p:nvPr/>
        </p:nvSpPr>
        <p:spPr>
          <a:xfrm>
            <a:off x="11677650" y="6143625"/>
            <a:ext cx="95250" cy="95250"/>
          </a:xfrm>
          <a:custGeom>
            <a:avLst/>
            <a:gdLst/>
            <a:ahLst/>
            <a:cxnLst/>
            <a:rect l="l" t="t" r="r" b="b"/>
            <a:pathLst>
              <a:path w="95250" h="95250">
                <a:moveTo>
                  <a:pt x="95250" y="47625"/>
                </a:moveTo>
                <a:lnTo>
                  <a:pt x="0" y="0"/>
                </a:lnTo>
                <a:lnTo>
                  <a:pt x="0" y="95250"/>
                </a:lnTo>
                <a:close/>
              </a:path>
            </a:pathLst>
          </a:custGeom>
          <a:solidFill>
            <a:srgbClr val="2A3454"/>
          </a:solidFill>
          <a:ln>
            <a:noFill/>
          </a:ln>
        </p:spPr>
      </p:sp>
      <p:sp>
        <p:nvSpPr>
          <p:cNvPr id="13" name="TextBox 13"/>
          <p:cNvSpPr txBox="1"/>
          <p:nvPr/>
        </p:nvSpPr>
        <p:spPr>
          <a:xfrm>
            <a:off x="5588493" y="6438424"/>
            <a:ext cx="1624615" cy="198120"/>
          </a:xfrm>
          <a:prstGeom prst="rect">
            <a:avLst/>
          </a:prstGeom>
          <a:noFill/>
          <a:ln>
            <a:noFill/>
          </a:ln>
        </p:spPr>
        <p:txBody>
          <a:bodyPr wrap="none" lIns="0" tIns="0" rIns="0" bIns="0" anchor="t" anchorCtr="0">
            <a:spAutoFit/>
          </a:bodyPr>
          <a:lstStyle/>
          <a:p>
            <a:pPr algn="ctr"/>
            <a:r>
              <a:rPr lang="ko-KR" sz="1200" b="1" dirty="0">
                <a:solidFill>
                  <a:srgbClr val="9CA3AF"/>
                </a:solidFill>
                <a:latin typeface="Malgun Gothic"/>
                <a:ea typeface="Malgun Gothic"/>
                <a:cs typeface="Malgun Gothic"/>
              </a:rPr>
              <a:t>AI 활용도 (낮음 → 높음)</a:t>
            </a:r>
          </a:p>
        </p:txBody>
      </p:sp>
      <p:sp>
        <p:nvSpPr>
          <p:cNvPr id="14" name="Line 14"/>
          <p:cNvSpPr/>
          <p:nvPr/>
        </p:nvSpPr>
        <p:spPr>
          <a:xfrm>
            <a:off x="6400800" y="1524000"/>
            <a:ext cx="9525" cy="4667250"/>
          </a:xfrm>
          <a:custGeom>
            <a:avLst/>
            <a:gdLst/>
            <a:ahLst/>
            <a:cxnLst/>
            <a:rect l="l" t="t" r="r" b="b"/>
            <a:pathLst>
              <a:path w="9525" h="4667250">
                <a:moveTo>
                  <a:pt x="0" y="0"/>
                </a:moveTo>
                <a:lnTo>
                  <a:pt x="0" y="4667250"/>
                </a:lnTo>
              </a:path>
            </a:pathLst>
          </a:custGeom>
          <a:noFill/>
          <a:ln w="9525">
            <a:solidFill>
              <a:srgbClr val="2A3454">
                <a:alpha val="60000"/>
              </a:srgbClr>
            </a:solidFill>
            <a:prstDash val="dash"/>
          </a:ln>
        </p:spPr>
      </p:sp>
      <p:sp>
        <p:nvSpPr>
          <p:cNvPr id="15" name="Line 15"/>
          <p:cNvSpPr/>
          <p:nvPr/>
        </p:nvSpPr>
        <p:spPr>
          <a:xfrm>
            <a:off x="1095375" y="3857625"/>
            <a:ext cx="10620375" cy="9525"/>
          </a:xfrm>
          <a:custGeom>
            <a:avLst/>
            <a:gdLst/>
            <a:ahLst/>
            <a:cxnLst/>
            <a:rect l="l" t="t" r="r" b="b"/>
            <a:pathLst>
              <a:path w="10620375" h="9525">
                <a:moveTo>
                  <a:pt x="0" y="0"/>
                </a:moveTo>
                <a:lnTo>
                  <a:pt x="10620375" y="0"/>
                </a:lnTo>
              </a:path>
            </a:pathLst>
          </a:custGeom>
          <a:noFill/>
          <a:ln w="9525">
            <a:solidFill>
              <a:srgbClr val="2A3454">
                <a:alpha val="60000"/>
              </a:srgbClr>
            </a:solidFill>
            <a:prstDash val="dash"/>
          </a:ln>
        </p:spPr>
      </p:sp>
      <p:sp>
        <p:nvSpPr>
          <p:cNvPr id="16" name="Rectangle 16"/>
          <p:cNvSpPr/>
          <p:nvPr/>
        </p:nvSpPr>
        <p:spPr>
          <a:xfrm>
            <a:off x="1285875" y="1666875"/>
            <a:ext cx="4924425" cy="2047875"/>
          </a:xfrm>
          <a:prstGeom prst="roundRect">
            <a:avLst>
              <a:gd name="adj" fmla="val 6512"/>
            </a:avLst>
          </a:prstGeom>
          <a:solidFill>
            <a:srgbClr val="1C2440">
              <a:alpha val="95000"/>
            </a:srgbClr>
          </a:solidFill>
          <a:ln w="14288">
            <a:solidFill>
              <a:srgbClr val="7B61FF">
                <a:alpha val="95000"/>
              </a:srgbClr>
            </a:solidFill>
          </a:ln>
        </p:spPr>
      </p:sp>
      <p:sp>
        <p:nvSpPr>
          <p:cNvPr id="17" name="Rectangle 17"/>
          <p:cNvSpPr/>
          <p:nvPr/>
        </p:nvSpPr>
        <p:spPr>
          <a:xfrm>
            <a:off x="1285875" y="1666875"/>
            <a:ext cx="38100" cy="2047875"/>
          </a:xfrm>
          <a:prstGeom prst="roundRect">
            <a:avLst>
              <a:gd name="adj" fmla="val 50000"/>
            </a:avLst>
          </a:prstGeom>
          <a:gradFill>
            <a:gsLst>
              <a:gs pos="0">
                <a:srgbClr val="7B61FF"/>
              </a:gs>
              <a:gs pos="100000">
                <a:srgbClr val="4A3F8C"/>
              </a:gs>
            </a:gsLst>
            <a:lin ang="2700000" scaled="1"/>
          </a:gradFill>
          <a:ln>
            <a:noFill/>
          </a:ln>
        </p:spPr>
      </p:sp>
      <p:grpSp>
        <p:nvGrpSpPr>
          <p:cNvPr id="19" name="Group 19"/>
          <p:cNvGrpSpPr/>
          <p:nvPr/>
        </p:nvGrpSpPr>
        <p:grpSpPr>
          <a:xfrm>
            <a:off x="1524000" y="1952625"/>
            <a:ext cx="419100" cy="419100"/>
            <a:chOff x="1524000" y="1952625"/>
            <a:chExt cx="419100" cy="419100"/>
          </a:xfrm>
        </p:grpSpPr>
        <p:sp>
          <p:nvSpPr>
            <p:cNvPr id="18" name="Ellipse 18"/>
            <p:cNvSpPr/>
            <p:nvPr/>
          </p:nvSpPr>
          <p:spPr>
            <a:xfrm>
              <a:off x="1524000" y="1952625"/>
              <a:ext cx="419100" cy="419100"/>
            </a:xfrm>
            <a:prstGeom prst="ellipse">
              <a:avLst/>
            </a:prstGeom>
            <a:solidFill>
              <a:srgbClr val="7B61FF">
                <a:alpha val="15000"/>
              </a:srgbClr>
            </a:solidFill>
            <a:ln>
              <a:noFill/>
            </a:ln>
          </p:spPr>
        </p:sp>
      </p:grpSp>
      <p:sp>
        <p:nvSpPr>
          <p:cNvPr id="20" name="TextBox 20"/>
          <p:cNvSpPr txBox="1"/>
          <p:nvPr/>
        </p:nvSpPr>
        <p:spPr>
          <a:xfrm>
            <a:off x="2065972" y="2025491"/>
            <a:ext cx="672511" cy="167640"/>
          </a:xfrm>
          <a:prstGeom prst="rect">
            <a:avLst/>
          </a:prstGeom>
          <a:noFill/>
          <a:ln>
            <a:noFill/>
          </a:ln>
        </p:spPr>
        <p:txBody>
          <a:bodyPr wrap="none" lIns="0" tIns="0" rIns="0" bIns="0" anchor="t" anchorCtr="0">
            <a:spAutoFit/>
          </a:bodyPr>
          <a:lstStyle/>
          <a:p>
            <a:pPr algn="l"/>
            <a:r>
              <a:rPr lang="en-US" sz="1200" b="1" dirty="0">
                <a:solidFill>
                  <a:srgbClr val="7B61FF"/>
                </a:solidFill>
                <a:latin typeface="Malgun Gothic"/>
                <a:ea typeface="Malgun Gothic"/>
                <a:cs typeface="Malgun Gothic"/>
              </a:rPr>
              <a:t>CRAFTSMAN</a:t>
            </a:r>
          </a:p>
        </p:txBody>
      </p:sp>
      <p:sp>
        <p:nvSpPr>
          <p:cNvPr id="21" name="TextBox 21"/>
          <p:cNvSpPr txBox="1"/>
          <p:nvPr/>
        </p:nvSpPr>
        <p:spPr>
          <a:xfrm>
            <a:off x="2051685" y="2151698"/>
            <a:ext cx="647605" cy="396240"/>
          </a:xfrm>
          <a:prstGeom prst="rect">
            <a:avLst/>
          </a:prstGeom>
          <a:noFill/>
          <a:ln>
            <a:noFill/>
          </a:ln>
        </p:spPr>
        <p:txBody>
          <a:bodyPr wrap="none" lIns="0" tIns="0" rIns="0" bIns="0" anchor="t" anchorCtr="0">
            <a:spAutoFit/>
          </a:bodyPr>
          <a:lstStyle/>
          <a:p>
            <a:pPr algn="l"/>
            <a:r>
              <a:rPr lang="ko-KR" sz="1950" b="1" dirty="0">
                <a:solidFill>
                  <a:srgbClr val="F5F7FA"/>
                </a:solidFill>
                <a:latin typeface="Arial Black"/>
                <a:ea typeface="Malgun Gothic"/>
                <a:cs typeface="Arial Black"/>
              </a:rPr>
              <a:t>장인</a:t>
            </a:r>
          </a:p>
        </p:txBody>
      </p:sp>
      <p:sp>
        <p:nvSpPr>
          <p:cNvPr id="22" name="TextBox 22"/>
          <p:cNvSpPr txBox="1"/>
          <p:nvPr/>
        </p:nvSpPr>
        <p:spPr>
          <a:xfrm>
            <a:off x="1508760" y="2680335"/>
            <a:ext cx="2116074" cy="24384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깊이는 있지만 도구는 거부</a:t>
            </a:r>
          </a:p>
        </p:txBody>
      </p:sp>
      <p:sp>
        <p:nvSpPr>
          <p:cNvPr id="23" name="TextBox 23"/>
          <p:cNvSpPr txBox="1"/>
          <p:nvPr/>
        </p:nvSpPr>
        <p:spPr>
          <a:xfrm>
            <a:off x="1510665" y="2972752"/>
            <a:ext cx="2572322"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10년차 시니어. 코드 품질은 최고지만</a:t>
            </a:r>
          </a:p>
        </p:txBody>
      </p:sp>
      <p:sp>
        <p:nvSpPr>
          <p:cNvPr id="24" name="TextBox 24"/>
          <p:cNvSpPr txBox="1"/>
          <p:nvPr/>
        </p:nvSpPr>
        <p:spPr>
          <a:xfrm>
            <a:off x="1510665" y="3172778"/>
            <a:ext cx="2081593"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AI 도구는 "치트키"라며 외면.</a:t>
            </a:r>
          </a:p>
        </p:txBody>
      </p:sp>
      <p:sp>
        <p:nvSpPr>
          <p:cNvPr id="25" name="TextBox 25"/>
          <p:cNvSpPr txBox="1"/>
          <p:nvPr/>
        </p:nvSpPr>
        <p:spPr>
          <a:xfrm>
            <a:off x="1511618" y="3466624"/>
            <a:ext cx="944305" cy="198120"/>
          </a:xfrm>
          <a:prstGeom prst="rect">
            <a:avLst/>
          </a:prstGeom>
          <a:noFill/>
          <a:ln>
            <a:noFill/>
          </a:ln>
        </p:spPr>
        <p:txBody>
          <a:bodyPr wrap="none" lIns="0" tIns="0" rIns="0" bIns="0" anchor="t" anchorCtr="0">
            <a:spAutoFit/>
          </a:bodyPr>
          <a:lstStyle/>
          <a:p>
            <a:pPr algn="l"/>
            <a:r>
              <a:rPr lang="ko-KR" sz="1200" b="1" dirty="0">
                <a:solidFill>
                  <a:srgbClr val="FF6B35"/>
                </a:solidFill>
                <a:latin typeface="Malgun Gothic"/>
                <a:ea typeface="Malgun Gothic"/>
                <a:cs typeface="Malgun Gothic"/>
              </a:rPr>
              <a:t>→ 곧 뒤처진다</a:t>
            </a:r>
          </a:p>
        </p:txBody>
      </p:sp>
      <p:sp>
        <p:nvSpPr>
          <p:cNvPr id="26" name="Rectangle 26"/>
          <p:cNvSpPr/>
          <p:nvPr/>
        </p:nvSpPr>
        <p:spPr>
          <a:xfrm>
            <a:off x="6591300" y="1666875"/>
            <a:ext cx="4924425" cy="2047875"/>
          </a:xfrm>
          <a:prstGeom prst="roundRect">
            <a:avLst>
              <a:gd name="adj" fmla="val 6512"/>
            </a:avLst>
          </a:prstGeom>
          <a:solidFill>
            <a:srgbClr val="1C2440"/>
          </a:solidFill>
          <a:ln w="19050">
            <a:solidFill>
              <a:srgbClr val="00D9FF"/>
            </a:solidFill>
          </a:ln>
        </p:spPr>
      </p:sp>
      <p:sp>
        <p:nvSpPr>
          <p:cNvPr id="27" name="Rectangle 27"/>
          <p:cNvSpPr/>
          <p:nvPr/>
        </p:nvSpPr>
        <p:spPr>
          <a:xfrm>
            <a:off x="6591300" y="1666875"/>
            <a:ext cx="38100" cy="2047875"/>
          </a:xfrm>
          <a:prstGeom prst="roundRect">
            <a:avLst>
              <a:gd name="adj" fmla="val 50000"/>
            </a:avLst>
          </a:prstGeom>
          <a:gradFill>
            <a:gsLst>
              <a:gs pos="0">
                <a:srgbClr val="00D9FF"/>
              </a:gs>
              <a:gs pos="100000">
                <a:srgbClr val="7B61FF"/>
              </a:gs>
            </a:gsLst>
            <a:lin ang="2700000" scaled="1"/>
          </a:gradFill>
          <a:ln>
            <a:noFill/>
          </a:ln>
        </p:spPr>
      </p:sp>
      <p:sp>
        <p:nvSpPr>
          <p:cNvPr id="28" name="Rectangle 28"/>
          <p:cNvSpPr/>
          <p:nvPr/>
        </p:nvSpPr>
        <p:spPr>
          <a:xfrm>
            <a:off x="10763250" y="1809750"/>
            <a:ext cx="609600" cy="209550"/>
          </a:xfrm>
          <a:prstGeom prst="roundRect">
            <a:avLst>
              <a:gd name="adj" fmla="val 50000"/>
            </a:avLst>
          </a:prstGeom>
          <a:gradFill>
            <a:gsLst>
              <a:gs pos="0">
                <a:srgbClr val="00D9FF"/>
              </a:gs>
              <a:gs pos="100000">
                <a:srgbClr val="7B61FF"/>
              </a:gs>
            </a:gsLst>
            <a:lin ang="2700000" scaled="1"/>
          </a:gradFill>
          <a:ln>
            <a:noFill/>
          </a:ln>
        </p:spPr>
      </p:sp>
      <p:sp>
        <p:nvSpPr>
          <p:cNvPr id="29" name="TextBox 29"/>
          <p:cNvSpPr txBox="1"/>
          <p:nvPr/>
        </p:nvSpPr>
        <p:spPr>
          <a:xfrm>
            <a:off x="10931057" y="1863566"/>
            <a:ext cx="273987" cy="167640"/>
          </a:xfrm>
          <a:prstGeom prst="rect">
            <a:avLst/>
          </a:prstGeom>
          <a:noFill/>
          <a:ln>
            <a:noFill/>
          </a:ln>
        </p:spPr>
        <p:txBody>
          <a:bodyPr wrap="none" lIns="0" tIns="0" rIns="0" bIns="0" anchor="t" anchorCtr="0">
            <a:spAutoFit/>
          </a:bodyPr>
          <a:lstStyle/>
          <a:p>
            <a:pPr algn="ctr"/>
            <a:r>
              <a:rPr lang="ko-KR" sz="1200" b="1" dirty="0">
                <a:solidFill>
                  <a:srgbClr val="0A0E1A"/>
                </a:solidFill>
                <a:latin typeface="Malgun Gothic"/>
                <a:ea typeface="Malgun Gothic"/>
                <a:cs typeface="Malgun Gothic"/>
              </a:rPr>
              <a:t>목표</a:t>
            </a:r>
          </a:p>
        </p:txBody>
      </p:sp>
      <p:grpSp>
        <p:nvGrpSpPr>
          <p:cNvPr id="31" name="Group 31"/>
          <p:cNvGrpSpPr/>
          <p:nvPr/>
        </p:nvGrpSpPr>
        <p:grpSpPr>
          <a:xfrm>
            <a:off x="6829425" y="1952625"/>
            <a:ext cx="419100" cy="419100"/>
            <a:chOff x="6829425" y="1952625"/>
            <a:chExt cx="419100" cy="419100"/>
          </a:xfrm>
        </p:grpSpPr>
        <p:sp>
          <p:nvSpPr>
            <p:cNvPr id="30" name="Ellipse 30"/>
            <p:cNvSpPr/>
            <p:nvPr/>
          </p:nvSpPr>
          <p:spPr>
            <a:xfrm>
              <a:off x="6829425" y="1952625"/>
              <a:ext cx="419100" cy="419100"/>
            </a:xfrm>
            <a:prstGeom prst="ellipse">
              <a:avLst/>
            </a:prstGeom>
            <a:solidFill>
              <a:srgbClr val="00D9FF">
                <a:alpha val="18000"/>
              </a:srgbClr>
            </a:solidFill>
            <a:ln>
              <a:noFill/>
            </a:ln>
          </p:spPr>
        </p:sp>
      </p:grpSp>
      <p:sp>
        <p:nvSpPr>
          <p:cNvPr id="32" name="TextBox 32"/>
          <p:cNvSpPr txBox="1"/>
          <p:nvPr/>
        </p:nvSpPr>
        <p:spPr>
          <a:xfrm>
            <a:off x="7371398" y="2025491"/>
            <a:ext cx="811679" cy="167640"/>
          </a:xfrm>
          <a:prstGeom prst="rect">
            <a:avLst/>
          </a:prstGeom>
          <a:noFill/>
          <a:ln>
            <a:noFill/>
          </a:ln>
        </p:spPr>
        <p:txBody>
          <a:bodyPr wrap="none" lIns="0" tIns="0" rIns="0" bIns="0" anchor="t" anchorCtr="0">
            <a:spAutoFit/>
          </a:bodyPr>
          <a:lstStyle/>
          <a:p>
            <a:pPr algn="l"/>
            <a:r>
              <a:rPr lang="en-US" sz="1200" b="1" dirty="0">
                <a:solidFill>
                  <a:srgbClr val="00D9FF"/>
                </a:solidFill>
                <a:latin typeface="Malgun Gothic"/>
                <a:ea typeface="Malgun Gothic"/>
                <a:cs typeface="Malgun Gothic"/>
              </a:rPr>
              <a:t>ACCELERATOR</a:t>
            </a:r>
          </a:p>
        </p:txBody>
      </p:sp>
      <p:sp>
        <p:nvSpPr>
          <p:cNvPr id="33" name="TextBox 33"/>
          <p:cNvSpPr txBox="1"/>
          <p:nvPr/>
        </p:nvSpPr>
        <p:spPr>
          <a:xfrm>
            <a:off x="7357110" y="2151698"/>
            <a:ext cx="946642" cy="396240"/>
          </a:xfrm>
          <a:prstGeom prst="rect">
            <a:avLst/>
          </a:prstGeom>
          <a:noFill/>
          <a:ln>
            <a:noFill/>
          </a:ln>
        </p:spPr>
        <p:txBody>
          <a:bodyPr wrap="none" lIns="0" tIns="0" rIns="0" bIns="0" anchor="t" anchorCtr="0">
            <a:spAutoFit/>
          </a:bodyPr>
          <a:lstStyle/>
          <a:p>
            <a:pPr algn="l"/>
            <a:r>
              <a:rPr lang="ko-KR" sz="1950" b="1" dirty="0">
                <a:solidFill>
                  <a:srgbClr val="F5F7FA"/>
                </a:solidFill>
                <a:latin typeface="Arial Black"/>
                <a:ea typeface="Malgun Gothic"/>
                <a:cs typeface="Arial Black"/>
              </a:rPr>
              <a:t>가속자</a:t>
            </a:r>
          </a:p>
        </p:txBody>
      </p:sp>
      <p:sp>
        <p:nvSpPr>
          <p:cNvPr id="34" name="TextBox 34"/>
          <p:cNvSpPr txBox="1"/>
          <p:nvPr/>
        </p:nvSpPr>
        <p:spPr>
          <a:xfrm>
            <a:off x="6814185" y="2680335"/>
            <a:ext cx="2238756" cy="24384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AI를 레버리지로 10배 생산성</a:t>
            </a:r>
          </a:p>
        </p:txBody>
      </p:sp>
      <p:sp>
        <p:nvSpPr>
          <p:cNvPr id="35" name="TextBox 35"/>
          <p:cNvSpPr txBox="1"/>
          <p:nvPr/>
        </p:nvSpPr>
        <p:spPr>
          <a:xfrm>
            <a:off x="6816090" y="2972752"/>
            <a:ext cx="2288619"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깊은 도메인 지식 + AI 도구 숙련.</a:t>
            </a:r>
          </a:p>
        </p:txBody>
      </p:sp>
      <p:sp>
        <p:nvSpPr>
          <p:cNvPr id="36" name="TextBox 36"/>
          <p:cNvSpPr txBox="1"/>
          <p:nvPr/>
        </p:nvSpPr>
        <p:spPr>
          <a:xfrm>
            <a:off x="6816090" y="3172778"/>
            <a:ext cx="2181273"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검증할 줄 알고 확장할 줄 안다.</a:t>
            </a:r>
          </a:p>
        </p:txBody>
      </p:sp>
      <p:sp>
        <p:nvSpPr>
          <p:cNvPr id="37" name="TextBox 37"/>
          <p:cNvSpPr txBox="1"/>
          <p:nvPr/>
        </p:nvSpPr>
        <p:spPr>
          <a:xfrm>
            <a:off x="6817042" y="3466624"/>
            <a:ext cx="1437717" cy="198120"/>
          </a:xfrm>
          <a:prstGeom prst="rect">
            <a:avLst/>
          </a:prstGeom>
          <a:noFill/>
          <a:ln>
            <a:noFill/>
          </a:ln>
        </p:spPr>
        <p:txBody>
          <a:bodyPr wrap="none" lIns="0" tIns="0" rIns="0" bIns="0" anchor="t" anchorCtr="0">
            <a:spAutoFit/>
          </a:bodyPr>
          <a:lstStyle/>
          <a:p>
            <a:pPr algn="l"/>
            <a:r>
              <a:rPr lang="ko-KR" sz="1200" b="1" dirty="0">
                <a:solidFill>
                  <a:srgbClr val="00D9FF"/>
                </a:solidFill>
                <a:latin typeface="Malgun Gothic"/>
                <a:ea typeface="Malgun Gothic"/>
                <a:cs typeface="Malgun Gothic"/>
              </a:rPr>
              <a:t>→ 시장이 원하는 사람</a:t>
            </a:r>
          </a:p>
        </p:txBody>
      </p:sp>
      <p:sp>
        <p:nvSpPr>
          <p:cNvPr id="38" name="Rectangle 38"/>
          <p:cNvSpPr/>
          <p:nvPr/>
        </p:nvSpPr>
        <p:spPr>
          <a:xfrm>
            <a:off x="1285875" y="4000500"/>
            <a:ext cx="4924425" cy="2047875"/>
          </a:xfrm>
          <a:prstGeom prst="roundRect">
            <a:avLst>
              <a:gd name="adj" fmla="val 6512"/>
            </a:avLst>
          </a:prstGeom>
          <a:solidFill>
            <a:srgbClr val="1C2440">
              <a:alpha val="85000"/>
            </a:srgbClr>
          </a:solidFill>
          <a:ln w="14288">
            <a:solidFill>
              <a:srgbClr val="2A3454">
                <a:alpha val="85000"/>
              </a:srgbClr>
            </a:solidFill>
          </a:ln>
        </p:spPr>
      </p:sp>
      <p:sp>
        <p:nvSpPr>
          <p:cNvPr id="39" name="Rectangle 39"/>
          <p:cNvSpPr/>
          <p:nvPr/>
        </p:nvSpPr>
        <p:spPr>
          <a:xfrm>
            <a:off x="1285875" y="4000500"/>
            <a:ext cx="38100" cy="2047875"/>
          </a:xfrm>
          <a:prstGeom prst="roundRect">
            <a:avLst>
              <a:gd name="adj" fmla="val 50000"/>
            </a:avLst>
          </a:prstGeom>
          <a:gradFill>
            <a:gsLst>
              <a:gs pos="0">
                <a:srgbClr val="2A3454"/>
              </a:gs>
              <a:gs pos="100000">
                <a:srgbClr val="1C2440"/>
              </a:gs>
            </a:gsLst>
            <a:lin ang="2700000" scaled="1"/>
          </a:gradFill>
          <a:ln>
            <a:noFill/>
          </a:ln>
        </p:spPr>
      </p:sp>
      <p:grpSp>
        <p:nvGrpSpPr>
          <p:cNvPr id="41" name="Group 41"/>
          <p:cNvGrpSpPr/>
          <p:nvPr/>
        </p:nvGrpSpPr>
        <p:grpSpPr>
          <a:xfrm>
            <a:off x="1524000" y="4286250"/>
            <a:ext cx="419100" cy="419100"/>
            <a:chOff x="1524000" y="4286250"/>
            <a:chExt cx="419100" cy="419100"/>
          </a:xfrm>
        </p:grpSpPr>
        <p:sp>
          <p:nvSpPr>
            <p:cNvPr id="40" name="Ellipse 40"/>
            <p:cNvSpPr/>
            <p:nvPr/>
          </p:nvSpPr>
          <p:spPr>
            <a:xfrm>
              <a:off x="1524000" y="4286250"/>
              <a:ext cx="419100" cy="419100"/>
            </a:xfrm>
            <a:prstGeom prst="ellipse">
              <a:avLst/>
            </a:prstGeom>
            <a:solidFill>
              <a:srgbClr val="6B7280">
                <a:alpha val="18000"/>
              </a:srgbClr>
            </a:solidFill>
            <a:ln>
              <a:noFill/>
            </a:ln>
          </p:spPr>
        </p:sp>
      </p:grpSp>
      <p:sp>
        <p:nvSpPr>
          <p:cNvPr id="42" name="TextBox 42"/>
          <p:cNvSpPr txBox="1"/>
          <p:nvPr/>
        </p:nvSpPr>
        <p:spPr>
          <a:xfrm>
            <a:off x="2065972" y="4359116"/>
            <a:ext cx="444783" cy="167640"/>
          </a:xfrm>
          <a:prstGeom prst="rect">
            <a:avLst/>
          </a:prstGeom>
          <a:noFill/>
          <a:ln>
            <a:noFill/>
          </a:ln>
        </p:spPr>
        <p:txBody>
          <a:bodyPr wrap="none" lIns="0" tIns="0" rIns="0" bIns="0" anchor="t" anchorCtr="0">
            <a:spAutoFit/>
          </a:bodyPr>
          <a:lstStyle/>
          <a:p>
            <a:pPr algn="l"/>
            <a:r>
              <a:rPr lang="en-US" sz="1200" b="1" dirty="0">
                <a:solidFill>
                  <a:srgbClr val="9CA3AF"/>
                </a:solidFill>
                <a:latin typeface="Malgun Gothic"/>
                <a:ea typeface="Malgun Gothic"/>
                <a:cs typeface="Malgun Gothic"/>
              </a:rPr>
              <a:t>AT RISK</a:t>
            </a:r>
          </a:p>
        </p:txBody>
      </p:sp>
      <p:sp>
        <p:nvSpPr>
          <p:cNvPr id="43" name="TextBox 43"/>
          <p:cNvSpPr txBox="1"/>
          <p:nvPr/>
        </p:nvSpPr>
        <p:spPr>
          <a:xfrm>
            <a:off x="2051685" y="4485322"/>
            <a:ext cx="1335391" cy="396240"/>
          </a:xfrm>
          <a:prstGeom prst="rect">
            <a:avLst/>
          </a:prstGeom>
          <a:noFill/>
          <a:ln>
            <a:noFill/>
          </a:ln>
        </p:spPr>
        <p:txBody>
          <a:bodyPr wrap="none" lIns="0" tIns="0" rIns="0" bIns="0" anchor="t" anchorCtr="0">
            <a:spAutoFit/>
          </a:bodyPr>
          <a:lstStyle/>
          <a:p>
            <a:pPr algn="l"/>
            <a:r>
              <a:rPr lang="ko-KR" sz="1950" b="1" dirty="0">
                <a:solidFill>
                  <a:srgbClr val="F5F7FA"/>
                </a:solidFill>
                <a:latin typeface="Arial Black"/>
                <a:ea typeface="Malgun Gothic"/>
                <a:cs typeface="Arial Black"/>
              </a:rPr>
              <a:t>멸종 위험</a:t>
            </a:r>
          </a:p>
        </p:txBody>
      </p:sp>
      <p:sp>
        <p:nvSpPr>
          <p:cNvPr id="44" name="TextBox 44"/>
          <p:cNvSpPr txBox="1"/>
          <p:nvPr/>
        </p:nvSpPr>
        <p:spPr>
          <a:xfrm>
            <a:off x="1508760" y="5013960"/>
            <a:ext cx="1940814" cy="24384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깊이도 없고 도구도 없다</a:t>
            </a:r>
          </a:p>
        </p:txBody>
      </p:sp>
      <p:sp>
        <p:nvSpPr>
          <p:cNvPr id="45" name="TextBox 45"/>
          <p:cNvSpPr txBox="1"/>
          <p:nvPr/>
        </p:nvSpPr>
        <p:spPr>
          <a:xfrm>
            <a:off x="1510665" y="5306378"/>
            <a:ext cx="2618327"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기본기는 흔들리고 AI 도구는 못 쓴다.</a:t>
            </a:r>
          </a:p>
        </p:txBody>
      </p:sp>
      <p:sp>
        <p:nvSpPr>
          <p:cNvPr id="46" name="TextBox 46"/>
          <p:cNvSpPr txBox="1"/>
          <p:nvPr/>
        </p:nvSpPr>
        <p:spPr>
          <a:xfrm>
            <a:off x="1510665" y="5506402"/>
            <a:ext cx="1475851"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자동화 1순위 포지션.</a:t>
            </a:r>
          </a:p>
        </p:txBody>
      </p:sp>
      <p:sp>
        <p:nvSpPr>
          <p:cNvPr id="47" name="TextBox 47"/>
          <p:cNvSpPr txBox="1"/>
          <p:nvPr/>
        </p:nvSpPr>
        <p:spPr>
          <a:xfrm>
            <a:off x="1511618" y="5800249"/>
            <a:ext cx="1437717" cy="198120"/>
          </a:xfrm>
          <a:prstGeom prst="rect">
            <a:avLst/>
          </a:prstGeom>
          <a:noFill/>
          <a:ln>
            <a:noFill/>
          </a:ln>
        </p:spPr>
        <p:txBody>
          <a:bodyPr wrap="none" lIns="0" tIns="0" rIns="0" bIns="0" anchor="t" anchorCtr="0">
            <a:spAutoFit/>
          </a:bodyPr>
          <a:lstStyle/>
          <a:p>
            <a:pPr algn="l"/>
            <a:r>
              <a:rPr lang="ko-KR" sz="1200" b="1" dirty="0">
                <a:solidFill>
                  <a:srgbClr val="FF3860"/>
                </a:solidFill>
                <a:latin typeface="Malgun Gothic"/>
                <a:ea typeface="Malgun Gothic"/>
                <a:cs typeface="Malgun Gothic"/>
              </a:rPr>
              <a:t>→ 가장 먼저 사라진다</a:t>
            </a:r>
          </a:p>
        </p:txBody>
      </p:sp>
      <p:sp>
        <p:nvSpPr>
          <p:cNvPr id="48" name="Rectangle 48"/>
          <p:cNvSpPr/>
          <p:nvPr/>
        </p:nvSpPr>
        <p:spPr>
          <a:xfrm>
            <a:off x="6591300" y="4000500"/>
            <a:ext cx="4924425" cy="2047875"/>
          </a:xfrm>
          <a:prstGeom prst="roundRect">
            <a:avLst>
              <a:gd name="adj" fmla="val 6512"/>
            </a:avLst>
          </a:prstGeom>
          <a:solidFill>
            <a:srgbClr val="1C2440">
              <a:alpha val="95000"/>
            </a:srgbClr>
          </a:solidFill>
          <a:ln w="14288">
            <a:solidFill>
              <a:srgbClr val="FF6B35">
                <a:alpha val="95000"/>
              </a:srgbClr>
            </a:solidFill>
          </a:ln>
        </p:spPr>
      </p:sp>
      <p:sp>
        <p:nvSpPr>
          <p:cNvPr id="49" name="Rectangle 49"/>
          <p:cNvSpPr/>
          <p:nvPr/>
        </p:nvSpPr>
        <p:spPr>
          <a:xfrm>
            <a:off x="6591300" y="4000500"/>
            <a:ext cx="38100" cy="2047875"/>
          </a:xfrm>
          <a:prstGeom prst="roundRect">
            <a:avLst>
              <a:gd name="adj" fmla="val 50000"/>
            </a:avLst>
          </a:prstGeom>
          <a:gradFill>
            <a:gsLst>
              <a:gs pos="0">
                <a:srgbClr val="FF6B35"/>
              </a:gs>
              <a:gs pos="100000">
                <a:srgbClr val="FF3860"/>
              </a:gs>
            </a:gsLst>
            <a:lin ang="2700000" scaled="1"/>
          </a:gradFill>
          <a:ln>
            <a:noFill/>
          </a:ln>
        </p:spPr>
      </p:sp>
      <p:grpSp>
        <p:nvGrpSpPr>
          <p:cNvPr id="51" name="Group 51"/>
          <p:cNvGrpSpPr/>
          <p:nvPr/>
        </p:nvGrpSpPr>
        <p:grpSpPr>
          <a:xfrm>
            <a:off x="6829425" y="4286250"/>
            <a:ext cx="419100" cy="419100"/>
            <a:chOff x="6829425" y="4286250"/>
            <a:chExt cx="419100" cy="419100"/>
          </a:xfrm>
        </p:grpSpPr>
        <p:sp>
          <p:nvSpPr>
            <p:cNvPr id="50" name="Ellipse 50"/>
            <p:cNvSpPr/>
            <p:nvPr/>
          </p:nvSpPr>
          <p:spPr>
            <a:xfrm>
              <a:off x="6829425" y="4286250"/>
              <a:ext cx="419100" cy="419100"/>
            </a:xfrm>
            <a:prstGeom prst="ellipse">
              <a:avLst/>
            </a:prstGeom>
            <a:solidFill>
              <a:srgbClr val="FF6B35">
                <a:alpha val="15000"/>
              </a:srgbClr>
            </a:solidFill>
            <a:ln>
              <a:noFill/>
            </a:ln>
          </p:spPr>
        </p:sp>
      </p:grpSp>
      <p:sp>
        <p:nvSpPr>
          <p:cNvPr id="52" name="TextBox 52"/>
          <p:cNvSpPr txBox="1"/>
          <p:nvPr/>
        </p:nvSpPr>
        <p:spPr>
          <a:xfrm>
            <a:off x="7371398" y="4359116"/>
            <a:ext cx="647208" cy="167640"/>
          </a:xfrm>
          <a:prstGeom prst="rect">
            <a:avLst/>
          </a:prstGeom>
          <a:noFill/>
          <a:ln>
            <a:noFill/>
          </a:ln>
        </p:spPr>
        <p:txBody>
          <a:bodyPr wrap="none" lIns="0" tIns="0" rIns="0" bIns="0" anchor="t" anchorCtr="0">
            <a:spAutoFit/>
          </a:bodyPr>
          <a:lstStyle/>
          <a:p>
            <a:pPr algn="l"/>
            <a:r>
              <a:rPr lang="en-US" sz="1200" b="1" dirty="0">
                <a:solidFill>
                  <a:srgbClr val="FF6B35"/>
                </a:solidFill>
                <a:latin typeface="Malgun Gothic"/>
                <a:ea typeface="Malgun Gothic"/>
                <a:cs typeface="Malgun Gothic"/>
              </a:rPr>
              <a:t>DEPENDENT</a:t>
            </a:r>
          </a:p>
        </p:txBody>
      </p:sp>
      <p:sp>
        <p:nvSpPr>
          <p:cNvPr id="53" name="TextBox 53"/>
          <p:cNvSpPr txBox="1"/>
          <p:nvPr/>
        </p:nvSpPr>
        <p:spPr>
          <a:xfrm>
            <a:off x="7357110" y="4485322"/>
            <a:ext cx="946642" cy="396240"/>
          </a:xfrm>
          <a:prstGeom prst="rect">
            <a:avLst/>
          </a:prstGeom>
          <a:noFill/>
          <a:ln>
            <a:noFill/>
          </a:ln>
        </p:spPr>
        <p:txBody>
          <a:bodyPr wrap="none" lIns="0" tIns="0" rIns="0" bIns="0" anchor="t" anchorCtr="0">
            <a:spAutoFit/>
          </a:bodyPr>
          <a:lstStyle/>
          <a:p>
            <a:pPr algn="l"/>
            <a:r>
              <a:rPr lang="ko-KR" sz="1950" b="1" dirty="0">
                <a:solidFill>
                  <a:srgbClr val="F5F7FA"/>
                </a:solidFill>
                <a:latin typeface="Arial Black"/>
                <a:ea typeface="Malgun Gothic"/>
                <a:cs typeface="Arial Black"/>
              </a:rPr>
              <a:t>의존자</a:t>
            </a:r>
          </a:p>
        </p:txBody>
      </p:sp>
      <p:sp>
        <p:nvSpPr>
          <p:cNvPr id="54" name="TextBox 54"/>
          <p:cNvSpPr txBox="1"/>
          <p:nvPr/>
        </p:nvSpPr>
        <p:spPr>
          <a:xfrm>
            <a:off x="6814185" y="5013960"/>
            <a:ext cx="2089785" cy="24384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AI 출력을 검증하지 못한다</a:t>
            </a:r>
          </a:p>
        </p:txBody>
      </p:sp>
      <p:sp>
        <p:nvSpPr>
          <p:cNvPr id="55" name="TextBox 55"/>
          <p:cNvSpPr txBox="1"/>
          <p:nvPr/>
        </p:nvSpPr>
        <p:spPr>
          <a:xfrm>
            <a:off x="6816090" y="5306378"/>
            <a:ext cx="2595324"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코드는 빨리 찍어내지만 버그도 같이.</a:t>
            </a:r>
          </a:p>
        </p:txBody>
      </p:sp>
      <p:sp>
        <p:nvSpPr>
          <p:cNvPr id="56" name="TextBox 56"/>
          <p:cNvSpPr txBox="1"/>
          <p:nvPr/>
        </p:nvSpPr>
        <p:spPr>
          <a:xfrm>
            <a:off x="6816090" y="5506402"/>
            <a:ext cx="2487978"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기초 없이 빌린 속도는 부채가 된다.</a:t>
            </a:r>
          </a:p>
        </p:txBody>
      </p:sp>
      <p:sp>
        <p:nvSpPr>
          <p:cNvPr id="57" name="TextBox 57"/>
          <p:cNvSpPr txBox="1"/>
          <p:nvPr/>
        </p:nvSpPr>
        <p:spPr>
          <a:xfrm>
            <a:off x="6817042" y="5800249"/>
            <a:ext cx="944305" cy="198120"/>
          </a:xfrm>
          <a:prstGeom prst="rect">
            <a:avLst/>
          </a:prstGeom>
          <a:noFill/>
          <a:ln>
            <a:noFill/>
          </a:ln>
        </p:spPr>
        <p:txBody>
          <a:bodyPr wrap="none" lIns="0" tIns="0" rIns="0" bIns="0" anchor="t" anchorCtr="0">
            <a:spAutoFit/>
          </a:bodyPr>
          <a:lstStyle/>
          <a:p>
            <a:pPr algn="l"/>
            <a:r>
              <a:rPr lang="ko-KR" sz="1200" b="1" dirty="0">
                <a:solidFill>
                  <a:srgbClr val="FF6B35"/>
                </a:solidFill>
                <a:latin typeface="Malgun Gothic"/>
                <a:ea typeface="Malgun Gothic"/>
                <a:cs typeface="Malgun Gothic"/>
              </a:rPr>
              <a:t>→ 위험한 함정</a:t>
            </a:r>
          </a:p>
        </p:txBody>
      </p:sp>
      <p:sp>
        <p:nvSpPr>
          <p:cNvPr id="58" name="TextBox 58"/>
          <p:cNvSpPr txBox="1"/>
          <p:nvPr/>
        </p:nvSpPr>
        <p:spPr>
          <a:xfrm>
            <a:off x="4306776" y="6646545"/>
            <a:ext cx="3578447" cy="182880"/>
          </a:xfrm>
          <a:prstGeom prst="rect">
            <a:avLst/>
          </a:prstGeom>
          <a:noFill/>
          <a:ln>
            <a:noFill/>
          </a:ln>
        </p:spPr>
        <p:txBody>
          <a:bodyPr wrap="none" lIns="0" tIns="0" rIns="0" bIns="0" anchor="t" anchorCtr="0">
            <a:spAutoFit/>
          </a:bodyPr>
          <a:lstStyle/>
          <a:p>
            <a:pPr algn="ctr"/>
            <a:r>
              <a:rPr lang="ko-KR" sz="1200" dirty="0">
                <a:solidFill>
                  <a:srgbClr val="6B7280"/>
                </a:solidFill>
                <a:latin typeface="Malgun Gothic"/>
                <a:ea typeface="Malgun Gothic"/>
                <a:cs typeface="Malgun Gothic"/>
              </a:rPr>
              <a:t>솔직하게 답해보자 — 지금 이 순간, 당신의 좌표는 어디인가?</a:t>
            </a:r>
          </a:p>
        </p:txBody>
      </p:sp>
    </p:spTree>
  </p:cSld>
  <p:clrMapOvr>
    <a:masterClrMapping/>
  </p:clrMapOvr>
  <p:transition xmlns:p14="http://schemas.microsoft.com/office/powerpoint/2010/main" p14:dur="5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Line 3"/>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2A3454">
                <a:alpha val="30000"/>
              </a:srgbClr>
            </a:solidFill>
          </a:ln>
        </p:spPr>
      </p:sp>
      <p:sp>
        <p:nvSpPr>
          <p:cNvPr id="4" name="Line 4"/>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2A3454">
                <a:alpha val="30000"/>
              </a:srgbClr>
            </a:solidFill>
          </a:ln>
        </p:spPr>
      </p:sp>
      <p:sp>
        <p:nvSpPr>
          <p:cNvPr id="5" name="TextBox 5"/>
          <p:cNvSpPr txBox="1"/>
          <p:nvPr/>
        </p:nvSpPr>
        <p:spPr>
          <a:xfrm>
            <a:off x="747712" y="545306"/>
            <a:ext cx="1408747" cy="228600"/>
          </a:xfrm>
          <a:prstGeom prst="rect">
            <a:avLst/>
          </a:prstGeom>
          <a:noFill/>
          <a:ln>
            <a:noFill/>
          </a:ln>
        </p:spPr>
        <p:txBody>
          <a:bodyPr wrap="none" lIns="0" tIns="0" rIns="0" bIns="0" anchor="t" anchorCtr="0">
            <a:spAutoFit/>
          </a:bodyPr>
          <a:lstStyle/>
          <a:p>
            <a:pPr algn="l"/>
            <a:r>
              <a:rPr lang="ko-KR" sz="1200" dirty="0">
                <a:solidFill>
                  <a:srgbClr val="00D9FF"/>
                </a:solidFill>
                <a:latin typeface="Malgun Gothic"/>
                <a:ea typeface="Malgun Gothic"/>
                <a:cs typeface="Malgun Gothic"/>
              </a:rPr>
              <a:t>CHAPTER 04 · 결단</a:t>
            </a:r>
          </a:p>
        </p:txBody>
      </p:sp>
      <p:sp>
        <p:nvSpPr>
          <p:cNvPr id="6" name="TextBox 6"/>
          <p:cNvSpPr txBox="1"/>
          <p:nvPr/>
        </p:nvSpPr>
        <p:spPr>
          <a:xfrm>
            <a:off x="727710" y="851535"/>
            <a:ext cx="4809473"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 xml:space="preserve">가속자가 되는 </a:t>
            </a:r>
            <a:r>
              <a:rPr lang="ko-KR" sz="2700" b="1" dirty="0">
                <a:solidFill>
                  <a:srgbClr val="00D9FF"/>
                </a:solidFill>
                <a:latin typeface="Malgun Gothic"/>
                <a:ea typeface="Malgun Gothic"/>
                <a:cs typeface="Malgun Gothic"/>
              </a:rPr>
              <a:t>4가지 행동</a:t>
            </a:r>
          </a:p>
        </p:txBody>
      </p:sp>
      <p:sp>
        <p:nvSpPr>
          <p:cNvPr id="7" name="TextBox 7"/>
          <p:cNvSpPr txBox="1"/>
          <p:nvPr/>
        </p:nvSpPr>
        <p:spPr>
          <a:xfrm>
            <a:off x="744855" y="1302068"/>
            <a:ext cx="4894469" cy="274320"/>
          </a:xfrm>
          <a:prstGeom prst="rect">
            <a:avLst/>
          </a:prstGeom>
          <a:noFill/>
          <a:ln>
            <a:noFill/>
          </a:ln>
        </p:spPr>
        <p:txBody>
          <a:bodyPr wrap="none" lIns="0" tIns="0" rIns="0" bIns="0" anchor="t" anchorCtr="0">
            <a:spAutoFit/>
          </a:bodyPr>
          <a:lstStyle/>
          <a:p>
            <a:pPr algn="l"/>
            <a:r>
              <a:rPr lang="ko-KR" sz="1350" dirty="0">
                <a:solidFill>
                  <a:srgbClr val="9CA3AF"/>
                </a:solidFill>
                <a:latin typeface="Malgun Gothic"/>
                <a:ea typeface="Malgun Gothic"/>
                <a:cs typeface="Malgun Gothic"/>
              </a:rPr>
              <a:t>AI-Native Developer로 살아남기 위한 실천 프레임워크</a:t>
            </a:r>
          </a:p>
        </p:txBody>
      </p:sp>
      <p:sp>
        <p:nvSpPr>
          <p:cNvPr id="8" name="Line 8"/>
          <p:cNvSpPr/>
          <p:nvPr/>
        </p:nvSpPr>
        <p:spPr>
          <a:xfrm>
            <a:off x="4048125" y="3114675"/>
            <a:ext cx="1238250" cy="533400"/>
          </a:xfrm>
          <a:custGeom>
            <a:avLst/>
            <a:gdLst/>
            <a:ahLst/>
            <a:cxnLst/>
            <a:rect l="l" t="t" r="r" b="b"/>
            <a:pathLst>
              <a:path w="1238250" h="533400">
                <a:moveTo>
                  <a:pt x="1238250" y="533400"/>
                </a:moveTo>
                <a:lnTo>
                  <a:pt x="0" y="0"/>
                </a:lnTo>
              </a:path>
            </a:pathLst>
          </a:custGeom>
          <a:noFill/>
          <a:ln w="14288">
            <a:solidFill>
              <a:srgbClr val="2A3454"/>
            </a:solidFill>
            <a:prstDash val="dash"/>
          </a:ln>
        </p:spPr>
      </p:sp>
      <p:sp>
        <p:nvSpPr>
          <p:cNvPr id="9" name="Line 9"/>
          <p:cNvSpPr/>
          <p:nvPr/>
        </p:nvSpPr>
        <p:spPr>
          <a:xfrm>
            <a:off x="6905625" y="3114675"/>
            <a:ext cx="1238250" cy="533400"/>
          </a:xfrm>
          <a:custGeom>
            <a:avLst/>
            <a:gdLst/>
            <a:ahLst/>
            <a:cxnLst/>
            <a:rect l="l" t="t" r="r" b="b"/>
            <a:pathLst>
              <a:path w="1238250" h="533400">
                <a:moveTo>
                  <a:pt x="0" y="533400"/>
                </a:moveTo>
                <a:lnTo>
                  <a:pt x="1238250" y="0"/>
                </a:lnTo>
              </a:path>
            </a:pathLst>
          </a:custGeom>
          <a:noFill/>
          <a:ln w="14288">
            <a:solidFill>
              <a:srgbClr val="2A3454"/>
            </a:solidFill>
            <a:prstDash val="dash"/>
          </a:ln>
        </p:spPr>
      </p:sp>
      <p:sp>
        <p:nvSpPr>
          <p:cNvPr id="10" name="Line 10"/>
          <p:cNvSpPr/>
          <p:nvPr/>
        </p:nvSpPr>
        <p:spPr>
          <a:xfrm>
            <a:off x="4048125" y="4352925"/>
            <a:ext cx="1238250" cy="533400"/>
          </a:xfrm>
          <a:custGeom>
            <a:avLst/>
            <a:gdLst/>
            <a:ahLst/>
            <a:cxnLst/>
            <a:rect l="l" t="t" r="r" b="b"/>
            <a:pathLst>
              <a:path w="1238250" h="533400">
                <a:moveTo>
                  <a:pt x="1238250" y="0"/>
                </a:moveTo>
                <a:lnTo>
                  <a:pt x="0" y="533400"/>
                </a:lnTo>
              </a:path>
            </a:pathLst>
          </a:custGeom>
          <a:noFill/>
          <a:ln w="14288">
            <a:solidFill>
              <a:srgbClr val="2A3454"/>
            </a:solidFill>
            <a:prstDash val="dash"/>
          </a:ln>
        </p:spPr>
      </p:sp>
      <p:sp>
        <p:nvSpPr>
          <p:cNvPr id="11" name="Line 11"/>
          <p:cNvSpPr/>
          <p:nvPr/>
        </p:nvSpPr>
        <p:spPr>
          <a:xfrm>
            <a:off x="6905625" y="4352925"/>
            <a:ext cx="1238250" cy="533400"/>
          </a:xfrm>
          <a:custGeom>
            <a:avLst/>
            <a:gdLst/>
            <a:ahLst/>
            <a:cxnLst/>
            <a:rect l="l" t="t" r="r" b="b"/>
            <a:pathLst>
              <a:path w="1238250" h="533400">
                <a:moveTo>
                  <a:pt x="0" y="0"/>
                </a:moveTo>
                <a:lnTo>
                  <a:pt x="1238250" y="533400"/>
                </a:lnTo>
              </a:path>
            </a:pathLst>
          </a:custGeom>
          <a:noFill/>
          <a:ln w="14288">
            <a:solidFill>
              <a:srgbClr val="2A3454"/>
            </a:solidFill>
            <a:prstDash val="dash"/>
          </a:ln>
        </p:spPr>
      </p:sp>
      <p:sp>
        <p:nvSpPr>
          <p:cNvPr id="12" name="Ellipse 12"/>
          <p:cNvSpPr/>
          <p:nvPr/>
        </p:nvSpPr>
        <p:spPr>
          <a:xfrm>
            <a:off x="5219700" y="3124200"/>
            <a:ext cx="1752600" cy="1752600"/>
          </a:xfrm>
          <a:prstGeom prst="ellipse">
            <a:avLst/>
          </a:prstGeom>
          <a:solidFill>
            <a:srgbClr val="1C2440"/>
          </a:solidFill>
          <a:ln w="19050">
            <a:solidFill>
              <a:srgbClr val="00D9FF"/>
            </a:solidFill>
          </a:ln>
        </p:spPr>
      </p:sp>
      <p:sp>
        <p:nvSpPr>
          <p:cNvPr id="13" name="Ellipse 13"/>
          <p:cNvSpPr/>
          <p:nvPr/>
        </p:nvSpPr>
        <p:spPr>
          <a:xfrm>
            <a:off x="5295900" y="3200400"/>
            <a:ext cx="1600200" cy="1600200"/>
          </a:xfrm>
          <a:prstGeom prst="ellipse">
            <a:avLst/>
          </a:prstGeom>
          <a:solidFill>
            <a:srgbClr val="141A2E">
              <a:alpha val="60000"/>
            </a:srgbClr>
          </a:solidFill>
          <a:ln w="9525">
            <a:solidFill>
              <a:srgbClr val="7B61FF">
                <a:alpha val="60000"/>
              </a:srgbClr>
            </a:solidFill>
          </a:ln>
        </p:spPr>
      </p:sp>
      <p:sp>
        <p:nvSpPr>
          <p:cNvPr id="14" name="TextBox 14"/>
          <p:cNvSpPr txBox="1"/>
          <p:nvPr/>
        </p:nvSpPr>
        <p:spPr>
          <a:xfrm>
            <a:off x="5613702" y="3780949"/>
            <a:ext cx="964597" cy="198120"/>
          </a:xfrm>
          <a:prstGeom prst="rect">
            <a:avLst/>
          </a:prstGeom>
          <a:noFill/>
          <a:ln>
            <a:noFill/>
          </a:ln>
        </p:spPr>
        <p:txBody>
          <a:bodyPr wrap="none" lIns="0" tIns="0" rIns="0" bIns="0" anchor="t" anchorCtr="0">
            <a:spAutoFit/>
          </a:bodyPr>
          <a:lstStyle/>
          <a:p>
            <a:pPr algn="ctr"/>
            <a:r>
              <a:rPr lang="en-US" sz="1200" dirty="0">
                <a:solidFill>
                  <a:srgbClr val="9CA3AF"/>
                </a:solidFill>
                <a:latin typeface="Malgun Gothic"/>
                <a:ea typeface="Malgun Gothic"/>
                <a:cs typeface="Malgun Gothic"/>
              </a:rPr>
              <a:t>CORE IDENTITY</a:t>
            </a:r>
          </a:p>
        </p:txBody>
      </p:sp>
      <p:sp>
        <p:nvSpPr>
          <p:cNvPr id="15" name="TextBox 15"/>
          <p:cNvSpPr txBox="1"/>
          <p:nvPr/>
        </p:nvSpPr>
        <p:spPr>
          <a:xfrm>
            <a:off x="5512050" y="4974908"/>
            <a:ext cx="1167901" cy="335280"/>
          </a:xfrm>
          <a:prstGeom prst="rect">
            <a:avLst/>
          </a:prstGeom>
          <a:noFill/>
          <a:ln>
            <a:noFill/>
          </a:ln>
        </p:spPr>
        <p:txBody>
          <a:bodyPr wrap="none" lIns="0" tIns="0" rIns="0" bIns="0" anchor="t" anchorCtr="0">
            <a:spAutoFit/>
          </a:bodyPr>
          <a:lstStyle/>
          <a:p>
            <a:pPr algn="ctr"/>
            <a:r>
              <a:rPr lang="en-US" sz="1650" b="1" dirty="0">
                <a:solidFill>
                  <a:srgbClr val="F5F7FA"/>
                </a:solidFill>
                <a:latin typeface="Malgun Gothic"/>
                <a:ea typeface="Malgun Gothic"/>
                <a:cs typeface="Malgun Gothic"/>
              </a:rPr>
              <a:t>AI-Native</a:t>
            </a:r>
          </a:p>
        </p:txBody>
      </p:sp>
      <p:sp>
        <p:nvSpPr>
          <p:cNvPr id="16" name="TextBox 16"/>
          <p:cNvSpPr txBox="1"/>
          <p:nvPr/>
        </p:nvSpPr>
        <p:spPr>
          <a:xfrm>
            <a:off x="5480421" y="4974908"/>
            <a:ext cx="1231159" cy="335280"/>
          </a:xfrm>
          <a:prstGeom prst="rect">
            <a:avLst/>
          </a:prstGeom>
          <a:noFill/>
          <a:ln>
            <a:noFill/>
          </a:ln>
        </p:spPr>
        <p:txBody>
          <a:bodyPr wrap="none" lIns="0" tIns="0" rIns="0" bIns="0" anchor="t" anchorCtr="0">
            <a:spAutoFit/>
          </a:bodyPr>
          <a:lstStyle/>
          <a:p>
            <a:pPr algn="ctr"/>
            <a:r>
              <a:rPr lang="en-US" sz="1650" b="1" dirty="0">
                <a:solidFill>
                  <a:srgbClr val="F5F7FA"/>
                </a:solidFill>
                <a:latin typeface="Malgun Gothic"/>
                <a:ea typeface="Malgun Gothic"/>
                <a:cs typeface="Malgun Gothic"/>
              </a:rPr>
              <a:t>Developer</a:t>
            </a:r>
          </a:p>
        </p:txBody>
      </p:sp>
      <p:sp>
        <p:nvSpPr>
          <p:cNvPr id="17" name="Rectangle 17"/>
          <p:cNvSpPr/>
          <p:nvPr/>
        </p:nvSpPr>
        <p:spPr>
          <a:xfrm>
            <a:off x="1143000" y="2286000"/>
            <a:ext cx="2905125" cy="1143000"/>
          </a:xfrm>
          <a:prstGeom prst="roundRect">
            <a:avLst>
              <a:gd name="adj" fmla="val 11667"/>
            </a:avLst>
          </a:prstGeom>
          <a:solidFill>
            <a:srgbClr val="141A2E"/>
          </a:solidFill>
          <a:ln w="9525">
            <a:solidFill>
              <a:srgbClr val="2A3454"/>
            </a:solidFill>
          </a:ln>
        </p:spPr>
      </p:sp>
      <p:sp>
        <p:nvSpPr>
          <p:cNvPr id="18" name="Rectangle 18"/>
          <p:cNvSpPr/>
          <p:nvPr/>
        </p:nvSpPr>
        <p:spPr>
          <a:xfrm>
            <a:off x="1143000" y="2286000"/>
            <a:ext cx="38100" cy="1143000"/>
          </a:xfrm>
          <a:prstGeom prst="roundRect">
            <a:avLst>
              <a:gd name="adj" fmla="val 50000"/>
            </a:avLst>
          </a:prstGeom>
          <a:solidFill>
            <a:srgbClr val="00D9FF"/>
          </a:solidFill>
          <a:ln>
            <a:noFill/>
          </a:ln>
        </p:spPr>
      </p:sp>
      <p:sp>
        <p:nvSpPr>
          <p:cNvPr id="19" name="Ellipse 19"/>
          <p:cNvSpPr/>
          <p:nvPr/>
        </p:nvSpPr>
        <p:spPr>
          <a:xfrm>
            <a:off x="1295400" y="2457450"/>
            <a:ext cx="381000" cy="381000"/>
          </a:xfrm>
          <a:prstGeom prst="ellipse">
            <a:avLst/>
          </a:prstGeom>
          <a:solidFill>
            <a:srgbClr val="00D9FF">
              <a:alpha val="15000"/>
            </a:srgbClr>
          </a:solidFill>
          <a:ln>
            <a:noFill/>
          </a:ln>
        </p:spPr>
      </p:sp>
      <p:sp>
        <p:nvSpPr>
          <p:cNvPr id="20" name="TextBox 20"/>
          <p:cNvSpPr txBox="1"/>
          <p:nvPr/>
        </p:nvSpPr>
        <p:spPr>
          <a:xfrm>
            <a:off x="1392450" y="2575560"/>
            <a:ext cx="186900" cy="243840"/>
          </a:xfrm>
          <a:prstGeom prst="rect">
            <a:avLst/>
          </a:prstGeom>
          <a:noFill/>
          <a:ln>
            <a:noFill/>
          </a:ln>
        </p:spPr>
        <p:txBody>
          <a:bodyPr wrap="none" lIns="0" tIns="0" rIns="0" bIns="0" anchor="t" anchorCtr="0">
            <a:spAutoFit/>
          </a:bodyPr>
          <a:lstStyle/>
          <a:p>
            <a:pPr algn="ctr"/>
            <a:r>
              <a:rPr lang="en-US" sz="1200" b="1" dirty="0">
                <a:solidFill>
                  <a:srgbClr val="00D9FF"/>
                </a:solidFill>
                <a:latin typeface="Arial Black"/>
                <a:ea typeface="Malgun Gothic"/>
                <a:cs typeface="Arial Black"/>
              </a:rPr>
              <a:t>01</a:t>
            </a:r>
          </a:p>
        </p:txBody>
      </p:sp>
      <p:sp>
        <p:nvSpPr>
          <p:cNvPr id="21" name="TextBox 21"/>
          <p:cNvSpPr txBox="1"/>
          <p:nvPr/>
        </p:nvSpPr>
        <p:spPr>
          <a:xfrm>
            <a:off x="1769745" y="2526982"/>
            <a:ext cx="1041385"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 xml:space="preserve">활용 </a:t>
            </a:r>
            <a:r>
              <a:rPr lang="en-US" sz="1200" dirty="0">
                <a:solidFill>
                  <a:srgbClr val="6B7280"/>
                </a:solidFill>
                <a:latin typeface="Malgun Gothic"/>
                <a:ea typeface="Malgun Gothic"/>
                <a:cs typeface="Malgun Gothic"/>
              </a:rPr>
              <a:t>USE</a:t>
            </a:r>
          </a:p>
        </p:txBody>
      </p:sp>
      <p:sp>
        <p:nvSpPr>
          <p:cNvPr id="22" name="TextBox 22"/>
          <p:cNvSpPr txBox="1"/>
          <p:nvPr/>
        </p:nvSpPr>
        <p:spPr>
          <a:xfrm>
            <a:off x="1319212" y="2926556"/>
            <a:ext cx="1154073"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매일 사용한다.</a:t>
            </a:r>
          </a:p>
        </p:txBody>
      </p:sp>
      <p:sp>
        <p:nvSpPr>
          <p:cNvPr id="23" name="TextBox 23"/>
          <p:cNvSpPr txBox="1"/>
          <p:nvPr/>
        </p:nvSpPr>
        <p:spPr>
          <a:xfrm>
            <a:off x="1319212" y="3136106"/>
            <a:ext cx="2378154"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손에 익을 때까지, 망설임 없이.</a:t>
            </a:r>
          </a:p>
        </p:txBody>
      </p:sp>
      <p:sp>
        <p:nvSpPr>
          <p:cNvPr id="24" name="Rectangle 24"/>
          <p:cNvSpPr/>
          <p:nvPr/>
        </p:nvSpPr>
        <p:spPr>
          <a:xfrm>
            <a:off x="8143875" y="2286000"/>
            <a:ext cx="2905125" cy="1143000"/>
          </a:xfrm>
          <a:prstGeom prst="roundRect">
            <a:avLst>
              <a:gd name="adj" fmla="val 11667"/>
            </a:avLst>
          </a:prstGeom>
          <a:solidFill>
            <a:srgbClr val="141A2E"/>
          </a:solidFill>
          <a:ln w="9525">
            <a:solidFill>
              <a:srgbClr val="2A3454"/>
            </a:solidFill>
          </a:ln>
        </p:spPr>
      </p:sp>
      <p:sp>
        <p:nvSpPr>
          <p:cNvPr id="25" name="Rectangle 25"/>
          <p:cNvSpPr/>
          <p:nvPr/>
        </p:nvSpPr>
        <p:spPr>
          <a:xfrm>
            <a:off x="11010900" y="2286000"/>
            <a:ext cx="38100" cy="1143000"/>
          </a:xfrm>
          <a:prstGeom prst="roundRect">
            <a:avLst>
              <a:gd name="adj" fmla="val 50000"/>
            </a:avLst>
          </a:prstGeom>
          <a:solidFill>
            <a:srgbClr val="7B61FF"/>
          </a:solidFill>
          <a:ln>
            <a:noFill/>
          </a:ln>
        </p:spPr>
      </p:sp>
      <p:sp>
        <p:nvSpPr>
          <p:cNvPr id="26" name="Ellipse 26"/>
          <p:cNvSpPr/>
          <p:nvPr/>
        </p:nvSpPr>
        <p:spPr>
          <a:xfrm>
            <a:off x="8296275" y="2457450"/>
            <a:ext cx="381000" cy="381000"/>
          </a:xfrm>
          <a:prstGeom prst="ellipse">
            <a:avLst/>
          </a:prstGeom>
          <a:solidFill>
            <a:srgbClr val="7B61FF">
              <a:alpha val="15000"/>
            </a:srgbClr>
          </a:solidFill>
          <a:ln>
            <a:noFill/>
          </a:ln>
        </p:spPr>
      </p:sp>
      <p:sp>
        <p:nvSpPr>
          <p:cNvPr id="27" name="TextBox 27"/>
          <p:cNvSpPr txBox="1"/>
          <p:nvPr/>
        </p:nvSpPr>
        <p:spPr>
          <a:xfrm>
            <a:off x="8370322" y="2575560"/>
            <a:ext cx="232905" cy="243840"/>
          </a:xfrm>
          <a:prstGeom prst="rect">
            <a:avLst/>
          </a:prstGeom>
          <a:noFill/>
          <a:ln>
            <a:noFill/>
          </a:ln>
        </p:spPr>
        <p:txBody>
          <a:bodyPr wrap="none" lIns="0" tIns="0" rIns="0" bIns="0" anchor="t" anchorCtr="0">
            <a:spAutoFit/>
          </a:bodyPr>
          <a:lstStyle/>
          <a:p>
            <a:pPr algn="ctr"/>
            <a:r>
              <a:rPr lang="en-US" sz="1200" b="1" dirty="0">
                <a:solidFill>
                  <a:srgbClr val="7B61FF"/>
                </a:solidFill>
                <a:latin typeface="Arial Black"/>
                <a:ea typeface="Malgun Gothic"/>
                <a:cs typeface="Arial Black"/>
              </a:rPr>
              <a:t>02</a:t>
            </a:r>
          </a:p>
        </p:txBody>
      </p:sp>
      <p:sp>
        <p:nvSpPr>
          <p:cNvPr id="28" name="TextBox 28"/>
          <p:cNvSpPr txBox="1"/>
          <p:nvPr/>
        </p:nvSpPr>
        <p:spPr>
          <a:xfrm>
            <a:off x="8770620" y="2526982"/>
            <a:ext cx="1395629"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 xml:space="preserve">검증 </a:t>
            </a:r>
            <a:r>
              <a:rPr lang="en-US" sz="1200" dirty="0">
                <a:solidFill>
                  <a:srgbClr val="6B7280"/>
                </a:solidFill>
                <a:latin typeface="Malgun Gothic"/>
                <a:ea typeface="Malgun Gothic"/>
                <a:cs typeface="Malgun Gothic"/>
              </a:rPr>
              <a:t>VERIFY</a:t>
            </a:r>
          </a:p>
        </p:txBody>
      </p:sp>
      <p:sp>
        <p:nvSpPr>
          <p:cNvPr id="29" name="TextBox 29"/>
          <p:cNvSpPr txBox="1"/>
          <p:nvPr/>
        </p:nvSpPr>
        <p:spPr>
          <a:xfrm>
            <a:off x="8320088" y="2926556"/>
            <a:ext cx="1696283"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출력을 읽고 의심하라.</a:t>
            </a:r>
          </a:p>
        </p:txBody>
      </p:sp>
      <p:sp>
        <p:nvSpPr>
          <p:cNvPr id="30" name="TextBox 30"/>
          <p:cNvSpPr txBox="1"/>
          <p:nvPr/>
        </p:nvSpPr>
        <p:spPr>
          <a:xfrm>
            <a:off x="8320088" y="3136106"/>
            <a:ext cx="1909882"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신뢰는 검증 다음에 온다.</a:t>
            </a:r>
          </a:p>
        </p:txBody>
      </p:sp>
      <p:sp>
        <p:nvSpPr>
          <p:cNvPr id="31" name="Rectangle 31"/>
          <p:cNvSpPr/>
          <p:nvPr/>
        </p:nvSpPr>
        <p:spPr>
          <a:xfrm>
            <a:off x="1143000" y="4572000"/>
            <a:ext cx="2905125" cy="1143000"/>
          </a:xfrm>
          <a:prstGeom prst="roundRect">
            <a:avLst>
              <a:gd name="adj" fmla="val 11667"/>
            </a:avLst>
          </a:prstGeom>
          <a:solidFill>
            <a:srgbClr val="141A2E"/>
          </a:solidFill>
          <a:ln w="9525">
            <a:solidFill>
              <a:srgbClr val="2A3454"/>
            </a:solidFill>
          </a:ln>
        </p:spPr>
      </p:sp>
      <p:sp>
        <p:nvSpPr>
          <p:cNvPr id="32" name="Rectangle 32"/>
          <p:cNvSpPr/>
          <p:nvPr/>
        </p:nvSpPr>
        <p:spPr>
          <a:xfrm>
            <a:off x="1143000" y="4572000"/>
            <a:ext cx="38100" cy="1143000"/>
          </a:xfrm>
          <a:prstGeom prst="roundRect">
            <a:avLst>
              <a:gd name="adj" fmla="val 50000"/>
            </a:avLst>
          </a:prstGeom>
          <a:solidFill>
            <a:srgbClr val="FF6B35"/>
          </a:solidFill>
          <a:ln>
            <a:noFill/>
          </a:ln>
        </p:spPr>
      </p:sp>
      <p:sp>
        <p:nvSpPr>
          <p:cNvPr id="33" name="Ellipse 33"/>
          <p:cNvSpPr/>
          <p:nvPr/>
        </p:nvSpPr>
        <p:spPr>
          <a:xfrm>
            <a:off x="1295400" y="4743450"/>
            <a:ext cx="381000" cy="381000"/>
          </a:xfrm>
          <a:prstGeom prst="ellipse">
            <a:avLst/>
          </a:prstGeom>
          <a:solidFill>
            <a:srgbClr val="FF6B35">
              <a:alpha val="15000"/>
            </a:srgbClr>
          </a:solidFill>
          <a:ln>
            <a:noFill/>
          </a:ln>
        </p:spPr>
      </p:sp>
      <p:sp>
        <p:nvSpPr>
          <p:cNvPr id="34" name="TextBox 34"/>
          <p:cNvSpPr txBox="1"/>
          <p:nvPr/>
        </p:nvSpPr>
        <p:spPr>
          <a:xfrm>
            <a:off x="1369447" y="4861560"/>
            <a:ext cx="232905" cy="243840"/>
          </a:xfrm>
          <a:prstGeom prst="rect">
            <a:avLst/>
          </a:prstGeom>
          <a:noFill/>
          <a:ln>
            <a:noFill/>
          </a:ln>
        </p:spPr>
        <p:txBody>
          <a:bodyPr wrap="none" lIns="0" tIns="0" rIns="0" bIns="0" anchor="t" anchorCtr="0">
            <a:spAutoFit/>
          </a:bodyPr>
          <a:lstStyle/>
          <a:p>
            <a:pPr algn="ctr"/>
            <a:r>
              <a:rPr lang="en-US" sz="1200" b="1" dirty="0">
                <a:solidFill>
                  <a:srgbClr val="FF6B35"/>
                </a:solidFill>
                <a:latin typeface="Arial Black"/>
                <a:ea typeface="Malgun Gothic"/>
                <a:cs typeface="Arial Black"/>
              </a:rPr>
              <a:t>03</a:t>
            </a:r>
          </a:p>
        </p:txBody>
      </p:sp>
      <p:sp>
        <p:nvSpPr>
          <p:cNvPr id="35" name="TextBox 35"/>
          <p:cNvSpPr txBox="1"/>
          <p:nvPr/>
        </p:nvSpPr>
        <p:spPr>
          <a:xfrm>
            <a:off x="1769745" y="4812982"/>
            <a:ext cx="1395629"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 xml:space="preserve">설계 </a:t>
            </a:r>
            <a:r>
              <a:rPr lang="en-US" sz="1200" dirty="0">
                <a:solidFill>
                  <a:srgbClr val="6B7280"/>
                </a:solidFill>
                <a:latin typeface="Malgun Gothic"/>
                <a:ea typeface="Malgun Gothic"/>
                <a:cs typeface="Malgun Gothic"/>
              </a:rPr>
              <a:t>DESIGN</a:t>
            </a:r>
          </a:p>
        </p:txBody>
      </p:sp>
      <p:sp>
        <p:nvSpPr>
          <p:cNvPr id="36" name="TextBox 36"/>
          <p:cNvSpPr txBox="1"/>
          <p:nvPr/>
        </p:nvSpPr>
        <p:spPr>
          <a:xfrm>
            <a:off x="1319212" y="5212556"/>
            <a:ext cx="1983819"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좋은 컨텍스트를 주는 능력</a:t>
            </a:r>
          </a:p>
        </p:txBody>
      </p:sp>
      <p:sp>
        <p:nvSpPr>
          <p:cNvPr id="37" name="TextBox 37"/>
          <p:cNvSpPr txBox="1"/>
          <p:nvPr/>
        </p:nvSpPr>
        <p:spPr>
          <a:xfrm>
            <a:off x="1319212" y="5422106"/>
            <a:ext cx="1607147" cy="228600"/>
          </a:xfrm>
          <a:prstGeom prst="rect">
            <a:avLst/>
          </a:prstGeom>
          <a:noFill/>
          <a:ln>
            <a:noFill/>
          </a:ln>
        </p:spPr>
        <p:txBody>
          <a:bodyPr wrap="none" lIns="0" tIns="0" rIns="0" bIns="0" anchor="t" anchorCtr="0">
            <a:spAutoFit/>
          </a:bodyPr>
          <a:lstStyle/>
          <a:p>
            <a:pPr algn="l"/>
            <a:r>
              <a:rPr lang="ko-KR" sz="1200" b="1" dirty="0">
                <a:solidFill>
                  <a:srgbClr val="FF6B35"/>
                </a:solidFill>
                <a:latin typeface="Malgun Gothic"/>
                <a:ea typeface="Malgun Gothic"/>
                <a:cs typeface="Malgun Gothic"/>
              </a:rPr>
              <a:t>= 새로운 시니어리티</a:t>
            </a:r>
          </a:p>
        </p:txBody>
      </p:sp>
      <p:sp>
        <p:nvSpPr>
          <p:cNvPr id="38" name="Rectangle 38"/>
          <p:cNvSpPr/>
          <p:nvPr/>
        </p:nvSpPr>
        <p:spPr>
          <a:xfrm>
            <a:off x="8143875" y="4572000"/>
            <a:ext cx="2905125" cy="1143000"/>
          </a:xfrm>
          <a:prstGeom prst="roundRect">
            <a:avLst>
              <a:gd name="adj" fmla="val 11667"/>
            </a:avLst>
          </a:prstGeom>
          <a:solidFill>
            <a:srgbClr val="141A2E"/>
          </a:solidFill>
          <a:ln w="9525">
            <a:solidFill>
              <a:srgbClr val="2A3454"/>
            </a:solidFill>
          </a:ln>
        </p:spPr>
      </p:sp>
      <p:sp>
        <p:nvSpPr>
          <p:cNvPr id="39" name="Rectangle 39"/>
          <p:cNvSpPr/>
          <p:nvPr/>
        </p:nvSpPr>
        <p:spPr>
          <a:xfrm>
            <a:off x="11010900" y="4572000"/>
            <a:ext cx="38100" cy="1143000"/>
          </a:xfrm>
          <a:prstGeom prst="roundRect">
            <a:avLst>
              <a:gd name="adj" fmla="val 50000"/>
            </a:avLst>
          </a:prstGeom>
          <a:solidFill>
            <a:srgbClr val="00D9FF"/>
          </a:solidFill>
          <a:ln>
            <a:noFill/>
          </a:ln>
        </p:spPr>
      </p:sp>
      <p:sp>
        <p:nvSpPr>
          <p:cNvPr id="40" name="Ellipse 40"/>
          <p:cNvSpPr/>
          <p:nvPr/>
        </p:nvSpPr>
        <p:spPr>
          <a:xfrm>
            <a:off x="8296275" y="4743450"/>
            <a:ext cx="381000" cy="381000"/>
          </a:xfrm>
          <a:prstGeom prst="ellipse">
            <a:avLst/>
          </a:prstGeom>
          <a:solidFill>
            <a:srgbClr val="00D9FF">
              <a:alpha val="15000"/>
            </a:srgbClr>
          </a:solidFill>
          <a:ln>
            <a:noFill/>
          </a:ln>
        </p:spPr>
      </p:sp>
      <p:sp>
        <p:nvSpPr>
          <p:cNvPr id="41" name="TextBox 41"/>
          <p:cNvSpPr txBox="1"/>
          <p:nvPr/>
        </p:nvSpPr>
        <p:spPr>
          <a:xfrm>
            <a:off x="8370322" y="4861560"/>
            <a:ext cx="232905" cy="243840"/>
          </a:xfrm>
          <a:prstGeom prst="rect">
            <a:avLst/>
          </a:prstGeom>
          <a:noFill/>
          <a:ln>
            <a:noFill/>
          </a:ln>
        </p:spPr>
        <p:txBody>
          <a:bodyPr wrap="none" lIns="0" tIns="0" rIns="0" bIns="0" anchor="t" anchorCtr="0">
            <a:spAutoFit/>
          </a:bodyPr>
          <a:lstStyle/>
          <a:p>
            <a:pPr algn="ctr"/>
            <a:r>
              <a:rPr lang="en-US" sz="1200" b="1" dirty="0">
                <a:solidFill>
                  <a:srgbClr val="00D9FF"/>
                </a:solidFill>
                <a:latin typeface="Arial Black"/>
                <a:ea typeface="Malgun Gothic"/>
                <a:cs typeface="Arial Black"/>
              </a:rPr>
              <a:t>04</a:t>
            </a:r>
          </a:p>
        </p:txBody>
      </p:sp>
      <p:sp>
        <p:nvSpPr>
          <p:cNvPr id="42" name="TextBox 42"/>
          <p:cNvSpPr txBox="1"/>
          <p:nvPr/>
        </p:nvSpPr>
        <p:spPr>
          <a:xfrm>
            <a:off x="8770620" y="4812982"/>
            <a:ext cx="1319720"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 xml:space="preserve">학습 </a:t>
            </a:r>
            <a:r>
              <a:rPr lang="en-US" sz="1200" dirty="0">
                <a:solidFill>
                  <a:srgbClr val="6B7280"/>
                </a:solidFill>
                <a:latin typeface="Malgun Gothic"/>
                <a:ea typeface="Malgun Gothic"/>
                <a:cs typeface="Malgun Gothic"/>
              </a:rPr>
              <a:t>LEARN</a:t>
            </a:r>
          </a:p>
        </p:txBody>
      </p:sp>
      <p:sp>
        <p:nvSpPr>
          <p:cNvPr id="43" name="TextBox 43"/>
          <p:cNvSpPr txBox="1"/>
          <p:nvPr/>
        </p:nvSpPr>
        <p:spPr>
          <a:xfrm>
            <a:off x="8320088" y="5212556"/>
            <a:ext cx="2263140" cy="22860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AI가 못 하는 영역에 투자하라.</a:t>
            </a:r>
          </a:p>
        </p:txBody>
      </p:sp>
      <p:sp>
        <p:nvSpPr>
          <p:cNvPr id="44" name="TextBox 44"/>
          <p:cNvSpPr txBox="1"/>
          <p:nvPr/>
        </p:nvSpPr>
        <p:spPr>
          <a:xfrm>
            <a:off x="8320088" y="5422106"/>
            <a:ext cx="1959173" cy="22860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시스템 설계 · 도메인 깊이</a:t>
            </a:r>
          </a:p>
        </p:txBody>
      </p:sp>
      <p:sp>
        <p:nvSpPr>
          <p:cNvPr id="45" name="Line 45"/>
          <p:cNvSpPr/>
          <p:nvPr/>
        </p:nvSpPr>
        <p:spPr>
          <a:xfrm>
            <a:off x="762000" y="6381750"/>
            <a:ext cx="10668000" cy="9525"/>
          </a:xfrm>
          <a:custGeom>
            <a:avLst/>
            <a:gdLst/>
            <a:ahLst/>
            <a:cxnLst/>
            <a:rect l="l" t="t" r="r" b="b"/>
            <a:pathLst>
              <a:path w="10668000" h="9525">
                <a:moveTo>
                  <a:pt x="0" y="0"/>
                </a:moveTo>
                <a:lnTo>
                  <a:pt x="10668000" y="0"/>
                </a:lnTo>
              </a:path>
            </a:pathLst>
          </a:custGeom>
          <a:noFill/>
          <a:ln w="9525">
            <a:solidFill>
              <a:srgbClr val="2A3454">
                <a:alpha val="50000"/>
              </a:srgbClr>
            </a:solidFill>
          </a:ln>
        </p:spPr>
      </p:sp>
      <p:sp>
        <p:nvSpPr>
          <p:cNvPr id="46" name="TextBox 46"/>
          <p:cNvSpPr txBox="1"/>
          <p:nvPr/>
        </p:nvSpPr>
        <p:spPr>
          <a:xfrm>
            <a:off x="750570" y="6522720"/>
            <a:ext cx="1126998"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CHAPTER 04 · 결단</a:t>
            </a:r>
          </a:p>
        </p:txBody>
      </p:sp>
      <p:sp>
        <p:nvSpPr>
          <p:cNvPr id="47" name="TextBox 47"/>
          <p:cNvSpPr txBox="1"/>
          <p:nvPr/>
        </p:nvSpPr>
        <p:spPr>
          <a:xfrm>
            <a:off x="11043952" y="6522720"/>
            <a:ext cx="397478" cy="182880"/>
          </a:xfrm>
          <a:prstGeom prst="rect">
            <a:avLst/>
          </a:prstGeom>
          <a:noFill/>
          <a:ln>
            <a:noFill/>
          </a:ln>
        </p:spPr>
        <p:txBody>
          <a:bodyPr wrap="none" lIns="0" tIns="0" rIns="0" bIns="0" anchor="t" anchorCtr="0">
            <a:spAutoFit/>
          </a:bodyPr>
          <a:lstStyle/>
          <a:p>
            <a:pPr algn="r"/>
            <a:r>
              <a:rPr lang="en-US" sz="1200" dirty="0">
                <a:solidFill>
                  <a:srgbClr val="9CA3AF"/>
                </a:solidFill>
                <a:latin typeface="Malgun Gothic"/>
                <a:ea typeface="Malgun Gothic"/>
                <a:cs typeface="Malgun Gothic"/>
              </a:rPr>
              <a:t>07 / 11</a:t>
            </a:r>
          </a:p>
        </p:txBody>
      </p:sp>
    </p:spTree>
  </p:cSld>
  <p:clrMapOvr>
    <a:masterClrMapping/>
  </p:clrMapOvr>
  <p:transition xmlns:p14="http://schemas.microsoft.com/office/powerpoint/2010/main" p14:dur="5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41A2E"/>
              </a:gs>
              <a:gs pos="100000">
                <a:srgbClr val="0A0E1A"/>
              </a:gs>
            </a:gsLst>
            <a:lin ang="5400000" scaled="1"/>
          </a:gradFill>
          <a:ln>
            <a:noFill/>
          </a:ln>
        </p:spPr>
      </p:sp>
      <p:grpSp>
        <p:nvGrpSpPr>
          <p:cNvPr id="5" name="Group 5"/>
          <p:cNvGrpSpPr/>
          <p:nvPr/>
        </p:nvGrpSpPr>
        <p:grpSpPr>
          <a:xfrm>
            <a:off x="560070" y="455295"/>
            <a:ext cx="1376743" cy="240030"/>
            <a:chOff x="560070" y="455295"/>
            <a:chExt cx="1376743" cy="240030"/>
          </a:xfrm>
        </p:grpSpPr>
        <p:sp>
          <p:nvSpPr>
            <p:cNvPr id="3" name="TextBox 3"/>
            <p:cNvSpPr txBox="1"/>
            <p:nvPr/>
          </p:nvSpPr>
          <p:spPr>
            <a:xfrm>
              <a:off x="560070" y="455295"/>
              <a:ext cx="1376743" cy="182880"/>
            </a:xfrm>
            <a:prstGeom prst="rect">
              <a:avLst/>
            </a:prstGeom>
            <a:noFill/>
            <a:ln>
              <a:noFill/>
            </a:ln>
          </p:spPr>
          <p:txBody>
            <a:bodyPr wrap="none" lIns="0" tIns="0" rIns="0" bIns="0" anchor="t" anchorCtr="0">
              <a:spAutoFit/>
            </a:bodyPr>
            <a:lstStyle/>
            <a:p>
              <a:pPr algn="l"/>
              <a:r>
                <a:rPr lang="en-US" sz="1200" dirty="0">
                  <a:solidFill>
                    <a:srgbClr val="6B7280"/>
                  </a:solidFill>
                  <a:latin typeface="Malgun Gothic"/>
                  <a:ea typeface="Malgun Gothic"/>
                  <a:cs typeface="Malgun Gothic"/>
                </a:rPr>
                <a:t>SIGNALS · 2024 — 2025</a:t>
              </a:r>
            </a:p>
          </p:txBody>
        </p:sp>
        <p:sp>
          <p:nvSpPr>
            <p:cNvPr id="4" name="Line 4"/>
            <p:cNvSpPr/>
            <p:nvPr/>
          </p:nvSpPr>
          <p:spPr>
            <a:xfrm>
              <a:off x="571500" y="685800"/>
              <a:ext cx="952500" cy="9525"/>
            </a:xfrm>
            <a:custGeom>
              <a:avLst/>
              <a:gdLst/>
              <a:ahLst/>
              <a:cxnLst/>
              <a:rect l="l" t="t" r="r" b="b"/>
              <a:pathLst>
                <a:path w="952500" h="9525">
                  <a:moveTo>
                    <a:pt x="0" y="0"/>
                  </a:moveTo>
                  <a:lnTo>
                    <a:pt x="952500" y="0"/>
                  </a:lnTo>
                </a:path>
              </a:pathLst>
            </a:custGeom>
            <a:noFill/>
            <a:ln w="19050">
              <a:solidFill>
                <a:srgbClr val="00D9FF"/>
              </a:solidFill>
            </a:ln>
          </p:spPr>
        </p:sp>
      </p:grpSp>
      <p:grpSp>
        <p:nvGrpSpPr>
          <p:cNvPr id="8" name="Group 8"/>
          <p:cNvGrpSpPr/>
          <p:nvPr/>
        </p:nvGrpSpPr>
        <p:grpSpPr>
          <a:xfrm>
            <a:off x="537210" y="899160"/>
            <a:ext cx="5347740" cy="753428"/>
            <a:chOff x="537210" y="899160"/>
            <a:chExt cx="5347740" cy="753428"/>
          </a:xfrm>
        </p:grpSpPr>
        <p:sp>
          <p:nvSpPr>
            <p:cNvPr id="6" name="TextBox 6"/>
            <p:cNvSpPr txBox="1"/>
            <p:nvPr/>
          </p:nvSpPr>
          <p:spPr>
            <a:xfrm>
              <a:off x="537210" y="899160"/>
              <a:ext cx="5347740"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현장의 변화: 세 가지 시그널</a:t>
              </a:r>
            </a:p>
          </p:txBody>
        </p:sp>
        <p:sp>
          <p:nvSpPr>
            <p:cNvPr id="7" name="TextBox 7"/>
            <p:cNvSpPr txBox="1"/>
            <p:nvPr/>
          </p:nvSpPr>
          <p:spPr>
            <a:xfrm>
              <a:off x="554355" y="1378268"/>
              <a:ext cx="4470559" cy="274320"/>
            </a:xfrm>
            <a:prstGeom prst="rect">
              <a:avLst/>
            </a:prstGeom>
            <a:noFill/>
            <a:ln>
              <a:noFill/>
            </a:ln>
          </p:spPr>
          <p:txBody>
            <a:bodyPr wrap="none" lIns="0" tIns="0" rIns="0" bIns="0" anchor="t" anchorCtr="0">
              <a:spAutoFit/>
            </a:bodyPr>
            <a:lstStyle/>
            <a:p>
              <a:pPr algn="l"/>
              <a:r>
                <a:rPr lang="ko-KR" sz="1350" dirty="0">
                  <a:solidFill>
                    <a:srgbClr val="9CA3AF"/>
                  </a:solidFill>
                  <a:latin typeface="Malgun Gothic"/>
                  <a:ea typeface="Malgun Gothic"/>
                  <a:cs typeface="Malgun Gothic"/>
                </a:rPr>
                <a:t>채용 공고 · 내부 생산성 · 주니어와 시니어의 역전</a:t>
              </a:r>
            </a:p>
          </p:txBody>
        </p:sp>
      </p:grpSp>
      <p:grpSp>
        <p:nvGrpSpPr>
          <p:cNvPr id="21" name="Group 21"/>
          <p:cNvGrpSpPr/>
          <p:nvPr/>
        </p:nvGrpSpPr>
        <p:grpSpPr>
          <a:xfrm>
            <a:off x="571500" y="2000250"/>
            <a:ext cx="3619500" cy="5024438"/>
            <a:chOff x="571500" y="2000250"/>
            <a:chExt cx="3619500" cy="5024438"/>
          </a:xfrm>
        </p:grpSpPr>
        <p:sp>
          <p:nvSpPr>
            <p:cNvPr id="9" name="Rectangle 9"/>
            <p:cNvSpPr/>
            <p:nvPr/>
          </p:nvSpPr>
          <p:spPr>
            <a:xfrm>
              <a:off x="571500" y="2000250"/>
              <a:ext cx="3619500" cy="4095750"/>
            </a:xfrm>
            <a:prstGeom prst="roundRect">
              <a:avLst>
                <a:gd name="adj" fmla="val 3684"/>
              </a:avLst>
            </a:prstGeom>
            <a:solidFill>
              <a:srgbClr val="141A2E"/>
            </a:solidFill>
            <a:ln w="9525">
              <a:solidFill>
                <a:srgbClr val="2A3454"/>
              </a:solidFill>
            </a:ln>
          </p:spPr>
        </p:sp>
        <p:sp>
          <p:nvSpPr>
            <p:cNvPr id="10" name="Rectangle 10"/>
            <p:cNvSpPr/>
            <p:nvPr/>
          </p:nvSpPr>
          <p:spPr>
            <a:xfrm>
              <a:off x="571500" y="2000250"/>
              <a:ext cx="3619500" cy="28575"/>
            </a:xfrm>
            <a:prstGeom prst="rect">
              <a:avLst/>
            </a:prstGeom>
            <a:gradFill>
              <a:gsLst>
                <a:gs pos="0">
                  <a:srgbClr val="00D9FF"/>
                </a:gs>
                <a:gs pos="100000">
                  <a:srgbClr val="00D9FF">
                    <a:alpha val="0"/>
                  </a:srgbClr>
                </a:gs>
              </a:gsLst>
              <a:lin ang="0" scaled="1"/>
            </a:gradFill>
            <a:ln>
              <a:noFill/>
            </a:ln>
          </p:spPr>
        </p:sp>
        <p:sp>
          <p:nvSpPr>
            <p:cNvPr id="11" name="TextBox 11"/>
            <p:cNvSpPr txBox="1"/>
            <p:nvPr/>
          </p:nvSpPr>
          <p:spPr>
            <a:xfrm>
              <a:off x="788670" y="2265045"/>
              <a:ext cx="686657" cy="182880"/>
            </a:xfrm>
            <a:prstGeom prst="rect">
              <a:avLst/>
            </a:prstGeom>
            <a:noFill/>
            <a:ln>
              <a:noFill/>
            </a:ln>
          </p:spPr>
          <p:txBody>
            <a:bodyPr wrap="none" lIns="0" tIns="0" rIns="0" bIns="0" anchor="t" anchorCtr="0">
              <a:spAutoFit/>
            </a:bodyPr>
            <a:lstStyle/>
            <a:p>
              <a:pPr algn="l"/>
              <a:r>
                <a:rPr lang="en-US" sz="1200" dirty="0">
                  <a:solidFill>
                    <a:srgbClr val="00D9FF"/>
                  </a:solidFill>
                  <a:latin typeface="Malgun Gothic"/>
                  <a:ea typeface="Malgun Gothic"/>
                  <a:cs typeface="Malgun Gothic"/>
                </a:rPr>
                <a:t>SIGNAL · 01</a:t>
              </a:r>
            </a:p>
          </p:txBody>
        </p:sp>
        <p:sp>
          <p:nvSpPr>
            <p:cNvPr id="12" name="TextBox 12"/>
            <p:cNvSpPr txBox="1"/>
            <p:nvPr/>
          </p:nvSpPr>
          <p:spPr>
            <a:xfrm>
              <a:off x="777240" y="3101340"/>
              <a:ext cx="1232668" cy="365760"/>
            </a:xfrm>
            <a:prstGeom prst="rect">
              <a:avLst/>
            </a:prstGeom>
            <a:noFill/>
            <a:ln>
              <a:noFill/>
            </a:ln>
          </p:spPr>
          <p:txBody>
            <a:bodyPr wrap="none" lIns="0" tIns="0" rIns="0" bIns="0" anchor="t" anchorCtr="0">
              <a:spAutoFit/>
            </a:bodyPr>
            <a:lstStyle/>
            <a:p>
              <a:pPr algn="l"/>
              <a:r>
                <a:rPr lang="ko-KR" sz="1800" b="1" dirty="0">
                  <a:solidFill>
                    <a:srgbClr val="F5F7FA"/>
                  </a:solidFill>
                  <a:latin typeface="Malgun Gothic"/>
                  <a:ea typeface="Malgun Gothic"/>
                  <a:cs typeface="Malgun Gothic"/>
                </a:rPr>
                <a:t>채용 공고</a:t>
              </a:r>
            </a:p>
          </p:txBody>
        </p:sp>
        <p:sp>
          <p:nvSpPr>
            <p:cNvPr id="13" name="TextBox 13"/>
            <p:cNvSpPr txBox="1"/>
            <p:nvPr/>
          </p:nvSpPr>
          <p:spPr>
            <a:xfrm>
              <a:off x="783908" y="3539014"/>
              <a:ext cx="1958301"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"AI 도구 활용 경험"이</a:t>
              </a:r>
            </a:p>
          </p:txBody>
        </p:sp>
        <p:sp>
          <p:nvSpPr>
            <p:cNvPr id="14" name="TextBox 14"/>
            <p:cNvSpPr txBox="1"/>
            <p:nvPr/>
          </p:nvSpPr>
          <p:spPr>
            <a:xfrm>
              <a:off x="783908" y="3786664"/>
              <a:ext cx="1713895"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필수 요건으로 등장</a:t>
              </a:r>
            </a:p>
          </p:txBody>
        </p:sp>
        <p:sp>
          <p:nvSpPr>
            <p:cNvPr id="15" name="TextBox 15"/>
            <p:cNvSpPr txBox="1"/>
            <p:nvPr/>
          </p:nvSpPr>
          <p:spPr>
            <a:xfrm>
              <a:off x="786765" y="6182678"/>
              <a:ext cx="2342293"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2024년 후반부터 시니어 엔지니어</a:t>
              </a:r>
            </a:p>
          </p:txBody>
        </p:sp>
        <p:sp>
          <p:nvSpPr>
            <p:cNvPr id="16" name="TextBox 16"/>
            <p:cNvSpPr txBox="1"/>
            <p:nvPr/>
          </p:nvSpPr>
          <p:spPr>
            <a:xfrm>
              <a:off x="786765" y="6392228"/>
              <a:ext cx="2227278"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JD에 "Cursor, Copilot, Claude</a:t>
              </a:r>
            </a:p>
          </p:txBody>
        </p:sp>
        <p:sp>
          <p:nvSpPr>
            <p:cNvPr id="17" name="TextBox 17"/>
            <p:cNvSpPr txBox="1"/>
            <p:nvPr/>
          </p:nvSpPr>
          <p:spPr>
            <a:xfrm>
              <a:off x="786765" y="6601778"/>
              <a:ext cx="2257949"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Code 등 AI 페어 프로그래밍 도구</a:t>
              </a:r>
            </a:p>
          </p:txBody>
        </p:sp>
        <p:sp>
          <p:nvSpPr>
            <p:cNvPr id="18" name="TextBox 18"/>
            <p:cNvSpPr txBox="1"/>
            <p:nvPr/>
          </p:nvSpPr>
          <p:spPr>
            <a:xfrm>
              <a:off x="786765" y="6811328"/>
              <a:ext cx="2326958"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활용 경험"이 명시되기 시작했다.</a:t>
              </a:r>
            </a:p>
          </p:txBody>
        </p:sp>
        <p:sp>
          <p:nvSpPr>
            <p:cNvPr id="19" name="Line 19"/>
            <p:cNvSpPr/>
            <p:nvPr/>
          </p:nvSpPr>
          <p:spPr>
            <a:xfrm>
              <a:off x="800100" y="5543550"/>
              <a:ext cx="3162300" cy="9525"/>
            </a:xfrm>
            <a:custGeom>
              <a:avLst/>
              <a:gdLst/>
              <a:ahLst/>
              <a:cxnLst/>
              <a:rect l="l" t="t" r="r" b="b"/>
              <a:pathLst>
                <a:path w="3162300" h="9525">
                  <a:moveTo>
                    <a:pt x="0" y="0"/>
                  </a:moveTo>
                  <a:lnTo>
                    <a:pt x="3162300" y="0"/>
                  </a:lnTo>
                </a:path>
              </a:pathLst>
            </a:custGeom>
            <a:noFill/>
            <a:ln w="9525">
              <a:solidFill>
                <a:srgbClr val="2A3454"/>
              </a:solidFill>
            </a:ln>
          </p:spPr>
        </p:sp>
        <p:sp>
          <p:nvSpPr>
            <p:cNvPr id="20" name="TextBox 20"/>
            <p:cNvSpPr txBox="1"/>
            <p:nvPr/>
          </p:nvSpPr>
          <p:spPr>
            <a:xfrm>
              <a:off x="787718" y="5724049"/>
              <a:ext cx="1071396" cy="198120"/>
            </a:xfrm>
            <a:prstGeom prst="rect">
              <a:avLst/>
            </a:prstGeom>
            <a:noFill/>
            <a:ln>
              <a:noFill/>
            </a:ln>
          </p:spPr>
          <p:txBody>
            <a:bodyPr wrap="none" lIns="0" tIns="0" rIns="0" bIns="0" anchor="t" anchorCtr="0">
              <a:spAutoFit/>
            </a:bodyPr>
            <a:lstStyle/>
            <a:p>
              <a:pPr algn="l"/>
              <a:r>
                <a:rPr lang="en-US" sz="1200" dirty="0">
                  <a:solidFill>
                    <a:srgbClr val="6B7280"/>
                  </a:solidFill>
                  <a:latin typeface="Arial Black"/>
                  <a:ea typeface="Malgun Gothic"/>
                  <a:cs typeface="Arial Black"/>
                </a:rPr>
                <a:t>FROM 2024 H2 →</a:t>
              </a:r>
            </a:p>
          </p:txBody>
        </p:sp>
      </p:grpSp>
      <p:grpSp>
        <p:nvGrpSpPr>
          <p:cNvPr id="35" name="Group 35"/>
          <p:cNvGrpSpPr/>
          <p:nvPr/>
        </p:nvGrpSpPr>
        <p:grpSpPr>
          <a:xfrm>
            <a:off x="4286250" y="2000250"/>
            <a:ext cx="3619500" cy="5024438"/>
            <a:chOff x="4286250" y="2000250"/>
            <a:chExt cx="3619500" cy="5024438"/>
          </a:xfrm>
        </p:grpSpPr>
        <p:sp>
          <p:nvSpPr>
            <p:cNvPr id="22" name="Rectangle 22"/>
            <p:cNvSpPr/>
            <p:nvPr/>
          </p:nvSpPr>
          <p:spPr>
            <a:xfrm>
              <a:off x="4286250" y="2000250"/>
              <a:ext cx="3619500" cy="4095750"/>
            </a:xfrm>
            <a:prstGeom prst="roundRect">
              <a:avLst>
                <a:gd name="adj" fmla="val 3684"/>
              </a:avLst>
            </a:prstGeom>
            <a:solidFill>
              <a:srgbClr val="141A2E"/>
            </a:solidFill>
            <a:ln w="9525">
              <a:solidFill>
                <a:srgbClr val="2A3454"/>
              </a:solidFill>
            </a:ln>
          </p:spPr>
        </p:sp>
        <p:sp>
          <p:nvSpPr>
            <p:cNvPr id="23" name="Rectangle 23"/>
            <p:cNvSpPr/>
            <p:nvPr/>
          </p:nvSpPr>
          <p:spPr>
            <a:xfrm>
              <a:off x="4286250" y="2000250"/>
              <a:ext cx="3619500" cy="28575"/>
            </a:xfrm>
            <a:prstGeom prst="rect">
              <a:avLst/>
            </a:prstGeom>
            <a:gradFill>
              <a:gsLst>
                <a:gs pos="0">
                  <a:srgbClr val="7B61FF"/>
                </a:gs>
                <a:gs pos="100000">
                  <a:srgbClr val="7B61FF">
                    <a:alpha val="0"/>
                  </a:srgbClr>
                </a:gs>
              </a:gsLst>
              <a:lin ang="0" scaled="1"/>
            </a:gradFill>
            <a:ln>
              <a:noFill/>
            </a:ln>
          </p:spPr>
        </p:sp>
        <p:sp>
          <p:nvSpPr>
            <p:cNvPr id="24" name="TextBox 24"/>
            <p:cNvSpPr txBox="1"/>
            <p:nvPr/>
          </p:nvSpPr>
          <p:spPr>
            <a:xfrm>
              <a:off x="4503420" y="2265045"/>
              <a:ext cx="719519" cy="182880"/>
            </a:xfrm>
            <a:prstGeom prst="rect">
              <a:avLst/>
            </a:prstGeom>
            <a:noFill/>
            <a:ln>
              <a:noFill/>
            </a:ln>
          </p:spPr>
          <p:txBody>
            <a:bodyPr wrap="none" lIns="0" tIns="0" rIns="0" bIns="0" anchor="t" anchorCtr="0">
              <a:spAutoFit/>
            </a:bodyPr>
            <a:lstStyle/>
            <a:p>
              <a:pPr algn="l"/>
              <a:r>
                <a:rPr lang="en-US" sz="1200" dirty="0">
                  <a:solidFill>
                    <a:srgbClr val="7B61FF"/>
                  </a:solidFill>
                  <a:latin typeface="Malgun Gothic"/>
                  <a:ea typeface="Malgun Gothic"/>
                  <a:cs typeface="Malgun Gothic"/>
                </a:rPr>
                <a:t>SIGNAL · 02</a:t>
              </a:r>
            </a:p>
          </p:txBody>
        </p:sp>
        <p:sp>
          <p:nvSpPr>
            <p:cNvPr id="25" name="TextBox 25"/>
            <p:cNvSpPr txBox="1"/>
            <p:nvPr/>
          </p:nvSpPr>
          <p:spPr>
            <a:xfrm>
              <a:off x="4491990" y="3101340"/>
              <a:ext cx="1508703" cy="365760"/>
            </a:xfrm>
            <a:prstGeom prst="rect">
              <a:avLst/>
            </a:prstGeom>
            <a:noFill/>
            <a:ln>
              <a:noFill/>
            </a:ln>
          </p:spPr>
          <p:txBody>
            <a:bodyPr wrap="none" lIns="0" tIns="0" rIns="0" bIns="0" anchor="t" anchorCtr="0">
              <a:spAutoFit/>
            </a:bodyPr>
            <a:lstStyle/>
            <a:p>
              <a:pPr algn="l"/>
              <a:r>
                <a:rPr lang="ko-KR" sz="1800" b="1" dirty="0">
                  <a:solidFill>
                    <a:srgbClr val="F5F7FA"/>
                  </a:solidFill>
                  <a:latin typeface="Malgun Gothic"/>
                  <a:ea typeface="Malgun Gothic"/>
                  <a:cs typeface="Malgun Gothic"/>
                </a:rPr>
                <a:t>생산성 격차</a:t>
              </a:r>
            </a:p>
          </p:txBody>
        </p:sp>
        <p:grpSp>
          <p:nvGrpSpPr>
            <p:cNvPr id="28" name="Group 28"/>
            <p:cNvGrpSpPr/>
            <p:nvPr/>
          </p:nvGrpSpPr>
          <p:grpSpPr>
            <a:xfrm>
              <a:off x="4446270" y="3512820"/>
              <a:ext cx="1661446" cy="1097280"/>
              <a:chOff x="4446270" y="3512820"/>
              <a:chExt cx="1661446" cy="1097280"/>
            </a:xfrm>
          </p:grpSpPr>
          <p:sp>
            <p:nvSpPr>
              <p:cNvPr id="26" name="TextBox 26"/>
              <p:cNvSpPr txBox="1"/>
              <p:nvPr/>
            </p:nvSpPr>
            <p:spPr>
              <a:xfrm>
                <a:off x="4446270" y="3512820"/>
                <a:ext cx="1503531" cy="1097280"/>
              </a:xfrm>
              <a:prstGeom prst="rect">
                <a:avLst/>
              </a:prstGeom>
              <a:noFill/>
              <a:ln>
                <a:noFill/>
              </a:ln>
            </p:spPr>
            <p:txBody>
              <a:bodyPr wrap="none" lIns="0" tIns="0" rIns="0" bIns="0" anchor="t" anchorCtr="0">
                <a:spAutoFit/>
              </a:bodyPr>
              <a:lstStyle/>
              <a:p>
                <a:pPr algn="l"/>
                <a:r>
                  <a:rPr lang="en-US" sz="5400" b="1" dirty="0">
                    <a:solidFill>
                      <a:srgbClr val="7B61FF"/>
                    </a:solidFill>
                    <a:latin typeface="Arial Black"/>
                    <a:ea typeface="Malgun Gothic"/>
                    <a:cs typeface="Arial Black"/>
                  </a:rPr>
                  <a:t>60%</a:t>
                </a:r>
              </a:p>
            </p:txBody>
          </p:sp>
          <p:sp>
            <p:nvSpPr>
              <p:cNvPr id="27" name="TextBox 27"/>
              <p:cNvSpPr txBox="1"/>
              <p:nvPr/>
            </p:nvSpPr>
            <p:spPr>
              <a:xfrm>
                <a:off x="4501515" y="4249102"/>
                <a:ext cx="1606201" cy="213360"/>
              </a:xfrm>
              <a:prstGeom prst="rect">
                <a:avLst/>
              </a:prstGeom>
              <a:noFill/>
              <a:ln>
                <a:noFill/>
              </a:ln>
            </p:spPr>
            <p:txBody>
              <a:bodyPr wrap="none" lIns="0" tIns="0" rIns="0" bIns="0" anchor="t" anchorCtr="0">
                <a:spAutoFit/>
              </a:bodyPr>
              <a:lstStyle/>
              <a:p>
                <a:pPr algn="l"/>
                <a:r>
                  <a:rPr lang="ko-KR" sz="1200" dirty="0">
                    <a:solidFill>
                      <a:srgbClr val="F5F7FA"/>
                    </a:solidFill>
                    <a:latin typeface="Malgun Gothic"/>
                    <a:ea typeface="Malgun Gothic"/>
                    <a:cs typeface="Malgun Gothic"/>
                  </a:rPr>
                  <a:t>평균 PR 처리 시간 단축</a:t>
                </a:r>
              </a:p>
            </p:txBody>
          </p:sp>
        </p:grpSp>
        <p:sp>
          <p:nvSpPr>
            <p:cNvPr id="29" name="TextBox 29"/>
            <p:cNvSpPr txBox="1"/>
            <p:nvPr/>
          </p:nvSpPr>
          <p:spPr>
            <a:xfrm>
              <a:off x="4501515" y="6182678"/>
              <a:ext cx="2112264"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Anthropic 내부 보고에 따르면</a:t>
              </a:r>
            </a:p>
          </p:txBody>
        </p:sp>
        <p:sp>
          <p:nvSpPr>
            <p:cNvPr id="30" name="TextBox 30"/>
            <p:cNvSpPr txBox="1"/>
            <p:nvPr/>
          </p:nvSpPr>
          <p:spPr>
            <a:xfrm>
              <a:off x="4501515" y="6392228"/>
              <a:ext cx="1889903"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Claude Code 적극 사용자의</a:t>
              </a:r>
            </a:p>
          </p:txBody>
        </p:sp>
        <p:sp>
          <p:nvSpPr>
            <p:cNvPr id="31" name="TextBox 31"/>
            <p:cNvSpPr txBox="1"/>
            <p:nvPr/>
          </p:nvSpPr>
          <p:spPr>
            <a:xfrm>
              <a:off x="4501515" y="6601778"/>
              <a:ext cx="1912906"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PR 처리 시간이 절반 이하로</a:t>
              </a:r>
            </a:p>
          </p:txBody>
        </p:sp>
        <p:sp>
          <p:nvSpPr>
            <p:cNvPr id="32" name="TextBox 32"/>
            <p:cNvSpPr txBox="1"/>
            <p:nvPr/>
          </p:nvSpPr>
          <p:spPr>
            <a:xfrm>
              <a:off x="4501515" y="6811328"/>
              <a:ext cx="877776"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줄어들었다.</a:t>
              </a:r>
            </a:p>
          </p:txBody>
        </p:sp>
        <p:sp>
          <p:nvSpPr>
            <p:cNvPr id="33" name="Line 33"/>
            <p:cNvSpPr/>
            <p:nvPr/>
          </p:nvSpPr>
          <p:spPr>
            <a:xfrm>
              <a:off x="4514850" y="5543550"/>
              <a:ext cx="3162300" cy="9525"/>
            </a:xfrm>
            <a:custGeom>
              <a:avLst/>
              <a:gdLst/>
              <a:ahLst/>
              <a:cxnLst/>
              <a:rect l="l" t="t" r="r" b="b"/>
              <a:pathLst>
                <a:path w="3162300" h="9525">
                  <a:moveTo>
                    <a:pt x="0" y="0"/>
                  </a:moveTo>
                  <a:lnTo>
                    <a:pt x="3162300" y="0"/>
                  </a:lnTo>
                </a:path>
              </a:pathLst>
            </a:custGeom>
            <a:noFill/>
            <a:ln w="9525">
              <a:solidFill>
                <a:srgbClr val="2A3454"/>
              </a:solidFill>
            </a:ln>
          </p:spPr>
        </p:sp>
        <p:sp>
          <p:nvSpPr>
            <p:cNvPr id="34" name="TextBox 34"/>
            <p:cNvSpPr txBox="1"/>
            <p:nvPr/>
          </p:nvSpPr>
          <p:spPr>
            <a:xfrm>
              <a:off x="4502468" y="5724049"/>
              <a:ext cx="2018348" cy="198120"/>
            </a:xfrm>
            <a:prstGeom prst="rect">
              <a:avLst/>
            </a:prstGeom>
            <a:noFill/>
            <a:ln>
              <a:noFill/>
            </a:ln>
          </p:spPr>
          <p:txBody>
            <a:bodyPr wrap="none" lIns="0" tIns="0" rIns="0" bIns="0" anchor="t" anchorCtr="0">
              <a:spAutoFit/>
            </a:bodyPr>
            <a:lstStyle/>
            <a:p>
              <a:pPr algn="l"/>
              <a:r>
                <a:rPr lang="en-US" sz="1200" dirty="0">
                  <a:solidFill>
                    <a:srgbClr val="6B7280"/>
                  </a:solidFill>
                  <a:latin typeface="Arial Black"/>
                  <a:ea typeface="Malgun Gothic"/>
                  <a:cs typeface="Arial Black"/>
                </a:rPr>
                <a:t>SOURCE · ANTHROPIC INTERNAL</a:t>
              </a:r>
            </a:p>
          </p:txBody>
        </p:sp>
      </p:grpSp>
      <p:grpSp>
        <p:nvGrpSpPr>
          <p:cNvPr id="56" name="Group 56"/>
          <p:cNvGrpSpPr/>
          <p:nvPr/>
        </p:nvGrpSpPr>
        <p:grpSpPr>
          <a:xfrm>
            <a:off x="8001000" y="2000250"/>
            <a:ext cx="3619500" cy="4814888"/>
            <a:chOff x="8001000" y="2000250"/>
            <a:chExt cx="3619500" cy="4814888"/>
          </a:xfrm>
        </p:grpSpPr>
        <p:sp>
          <p:nvSpPr>
            <p:cNvPr id="36" name="Rectangle 36"/>
            <p:cNvSpPr/>
            <p:nvPr/>
          </p:nvSpPr>
          <p:spPr>
            <a:xfrm>
              <a:off x="8001000" y="2000250"/>
              <a:ext cx="3619500" cy="4095750"/>
            </a:xfrm>
            <a:prstGeom prst="roundRect">
              <a:avLst>
                <a:gd name="adj" fmla="val 3684"/>
              </a:avLst>
            </a:prstGeom>
            <a:solidFill>
              <a:srgbClr val="141A2E"/>
            </a:solidFill>
            <a:ln w="9525">
              <a:solidFill>
                <a:srgbClr val="2A3454"/>
              </a:solidFill>
            </a:ln>
          </p:spPr>
        </p:sp>
        <p:sp>
          <p:nvSpPr>
            <p:cNvPr id="37" name="Rectangle 37"/>
            <p:cNvSpPr/>
            <p:nvPr/>
          </p:nvSpPr>
          <p:spPr>
            <a:xfrm>
              <a:off x="8001000" y="2000250"/>
              <a:ext cx="3619500" cy="28575"/>
            </a:xfrm>
            <a:prstGeom prst="rect">
              <a:avLst/>
            </a:prstGeom>
            <a:gradFill>
              <a:gsLst>
                <a:gs pos="0">
                  <a:srgbClr val="FF6B35"/>
                </a:gs>
                <a:gs pos="100000">
                  <a:srgbClr val="FF6B35">
                    <a:alpha val="0"/>
                  </a:srgbClr>
                </a:gs>
              </a:gsLst>
              <a:lin ang="0" scaled="1"/>
            </a:gradFill>
            <a:ln>
              <a:noFill/>
            </a:ln>
          </p:spPr>
        </p:sp>
        <p:sp>
          <p:nvSpPr>
            <p:cNvPr id="38" name="TextBox 38"/>
            <p:cNvSpPr txBox="1"/>
            <p:nvPr/>
          </p:nvSpPr>
          <p:spPr>
            <a:xfrm>
              <a:off x="8218170" y="2265045"/>
              <a:ext cx="719519" cy="182880"/>
            </a:xfrm>
            <a:prstGeom prst="rect">
              <a:avLst/>
            </a:prstGeom>
            <a:noFill/>
            <a:ln>
              <a:noFill/>
            </a:ln>
          </p:spPr>
          <p:txBody>
            <a:bodyPr wrap="none" lIns="0" tIns="0" rIns="0" bIns="0" anchor="t" anchorCtr="0">
              <a:spAutoFit/>
            </a:bodyPr>
            <a:lstStyle/>
            <a:p>
              <a:pPr algn="l"/>
              <a:r>
                <a:rPr lang="en-US" sz="1200" dirty="0">
                  <a:solidFill>
                    <a:srgbClr val="FF6B35"/>
                  </a:solidFill>
                  <a:latin typeface="Malgun Gothic"/>
                  <a:ea typeface="Malgun Gothic"/>
                  <a:cs typeface="Malgun Gothic"/>
                </a:rPr>
                <a:t>SIGNAL · 03</a:t>
              </a:r>
            </a:p>
          </p:txBody>
        </p:sp>
        <p:sp>
          <p:nvSpPr>
            <p:cNvPr id="39" name="TextBox 39"/>
            <p:cNvSpPr txBox="1"/>
            <p:nvPr/>
          </p:nvSpPr>
          <p:spPr>
            <a:xfrm>
              <a:off x="8206740" y="3101340"/>
              <a:ext cx="1784737" cy="365760"/>
            </a:xfrm>
            <a:prstGeom prst="rect">
              <a:avLst/>
            </a:prstGeom>
            <a:noFill/>
            <a:ln>
              <a:noFill/>
            </a:ln>
          </p:spPr>
          <p:txBody>
            <a:bodyPr wrap="none" lIns="0" tIns="0" rIns="0" bIns="0" anchor="t" anchorCtr="0">
              <a:spAutoFit/>
            </a:bodyPr>
            <a:lstStyle/>
            <a:p>
              <a:pPr algn="l"/>
              <a:r>
                <a:rPr lang="ko-KR" sz="1800" b="1" dirty="0">
                  <a:solidFill>
                    <a:srgbClr val="F5F7FA"/>
                  </a:solidFill>
                  <a:latin typeface="Malgun Gothic"/>
                  <a:ea typeface="Malgun Gothic"/>
                  <a:cs typeface="Malgun Gothic"/>
                </a:rPr>
                <a:t>주니어의 역설</a:t>
              </a:r>
            </a:p>
          </p:txBody>
        </p:sp>
        <p:sp>
          <p:nvSpPr>
            <p:cNvPr id="40" name="TextBox 40"/>
            <p:cNvSpPr txBox="1"/>
            <p:nvPr/>
          </p:nvSpPr>
          <p:spPr>
            <a:xfrm>
              <a:off x="8213408" y="3539014"/>
              <a:ext cx="1743224"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AI 잘 쓰는 주니어가</a:t>
              </a:r>
            </a:p>
          </p:txBody>
        </p:sp>
        <p:sp>
          <p:nvSpPr>
            <p:cNvPr id="41" name="TextBox 41"/>
            <p:cNvSpPr txBox="1"/>
            <p:nvPr/>
          </p:nvSpPr>
          <p:spPr>
            <a:xfrm>
              <a:off x="8213408" y="3786664"/>
              <a:ext cx="1655238"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시니어를 추월한다</a:t>
              </a:r>
            </a:p>
          </p:txBody>
        </p:sp>
        <p:grpSp>
          <p:nvGrpSpPr>
            <p:cNvPr id="50" name="Group 50"/>
            <p:cNvGrpSpPr/>
            <p:nvPr/>
          </p:nvGrpSpPr>
          <p:grpSpPr>
            <a:xfrm>
              <a:off x="8229600" y="4159091"/>
              <a:ext cx="2696051" cy="481965"/>
              <a:chOff x="8229600" y="4159091"/>
              <a:chExt cx="2696051" cy="481965"/>
            </a:xfrm>
          </p:grpSpPr>
          <p:sp>
            <p:nvSpPr>
              <p:cNvPr id="42" name="Line 42"/>
              <p:cNvSpPr/>
              <p:nvPr/>
            </p:nvSpPr>
            <p:spPr>
              <a:xfrm>
                <a:off x="8229600" y="4286250"/>
                <a:ext cx="1104900" cy="47625"/>
              </a:xfrm>
              <a:custGeom>
                <a:avLst/>
                <a:gdLst/>
                <a:ahLst/>
                <a:cxnLst/>
                <a:rect l="l" t="t" r="r" b="b"/>
                <a:pathLst>
                  <a:path w="1104900" h="47625">
                    <a:moveTo>
                      <a:pt x="0" y="0"/>
                    </a:moveTo>
                    <a:lnTo>
                      <a:pt x="1104900" y="47625"/>
                    </a:lnTo>
                  </a:path>
                </a:pathLst>
              </a:custGeom>
              <a:noFill/>
              <a:ln w="19050" cap="rnd">
                <a:solidFill>
                  <a:srgbClr val="6B7280"/>
                </a:solidFill>
              </a:ln>
            </p:spPr>
          </p:sp>
          <p:sp>
            <p:nvSpPr>
              <p:cNvPr id="43" name="Line 43"/>
              <p:cNvSpPr/>
              <p:nvPr/>
            </p:nvSpPr>
            <p:spPr>
              <a:xfrm>
                <a:off x="9334500" y="4333875"/>
                <a:ext cx="1143000" cy="190500"/>
              </a:xfrm>
              <a:custGeom>
                <a:avLst/>
                <a:gdLst/>
                <a:ahLst/>
                <a:cxnLst/>
                <a:rect l="l" t="t" r="r" b="b"/>
                <a:pathLst>
                  <a:path w="1143000" h="190500">
                    <a:moveTo>
                      <a:pt x="0" y="0"/>
                    </a:moveTo>
                    <a:lnTo>
                      <a:pt x="1143000" y="190500"/>
                    </a:lnTo>
                  </a:path>
                </a:pathLst>
              </a:custGeom>
              <a:noFill/>
              <a:ln w="19050" cap="rnd">
                <a:solidFill>
                  <a:srgbClr val="6B7280"/>
                </a:solidFill>
              </a:ln>
            </p:spPr>
          </p:sp>
          <p:sp>
            <p:nvSpPr>
              <p:cNvPr id="44" name="Ellipse 44"/>
              <p:cNvSpPr/>
              <p:nvPr/>
            </p:nvSpPr>
            <p:spPr>
              <a:xfrm>
                <a:off x="10439400" y="4486275"/>
                <a:ext cx="76200" cy="76200"/>
              </a:xfrm>
              <a:prstGeom prst="ellipse">
                <a:avLst/>
              </a:prstGeom>
              <a:solidFill>
                <a:srgbClr val="6B7280"/>
              </a:solidFill>
              <a:ln>
                <a:noFill/>
              </a:ln>
            </p:spPr>
          </p:sp>
          <p:sp>
            <p:nvSpPr>
              <p:cNvPr id="45" name="TextBox 45"/>
              <p:cNvSpPr txBox="1"/>
              <p:nvPr/>
            </p:nvSpPr>
            <p:spPr>
              <a:xfrm>
                <a:off x="10543222" y="4473416"/>
                <a:ext cx="382429" cy="16764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시니어</a:t>
                </a:r>
              </a:p>
            </p:txBody>
          </p:sp>
          <p:sp>
            <p:nvSpPr>
              <p:cNvPr id="46" name="Line 46"/>
              <p:cNvSpPr/>
              <p:nvPr/>
            </p:nvSpPr>
            <p:spPr>
              <a:xfrm>
                <a:off x="8229600" y="4429125"/>
                <a:ext cx="1104900" cy="95250"/>
              </a:xfrm>
              <a:custGeom>
                <a:avLst/>
                <a:gdLst/>
                <a:ahLst/>
                <a:cxnLst/>
                <a:rect l="l" t="t" r="r" b="b"/>
                <a:pathLst>
                  <a:path w="1104900" h="95250">
                    <a:moveTo>
                      <a:pt x="0" y="95250"/>
                    </a:moveTo>
                    <a:lnTo>
                      <a:pt x="1104900" y="0"/>
                    </a:lnTo>
                  </a:path>
                </a:pathLst>
              </a:custGeom>
              <a:noFill/>
              <a:ln w="23812" cap="rnd">
                <a:solidFill>
                  <a:srgbClr val="FF6B35"/>
                </a:solidFill>
              </a:ln>
            </p:spPr>
          </p:sp>
          <p:sp>
            <p:nvSpPr>
              <p:cNvPr id="47" name="Line 47"/>
              <p:cNvSpPr/>
              <p:nvPr/>
            </p:nvSpPr>
            <p:spPr>
              <a:xfrm>
                <a:off x="9334500" y="4210050"/>
                <a:ext cx="1143000" cy="219075"/>
              </a:xfrm>
              <a:custGeom>
                <a:avLst/>
                <a:gdLst/>
                <a:ahLst/>
                <a:cxnLst/>
                <a:rect l="l" t="t" r="r" b="b"/>
                <a:pathLst>
                  <a:path w="1143000" h="219075">
                    <a:moveTo>
                      <a:pt x="0" y="219075"/>
                    </a:moveTo>
                    <a:lnTo>
                      <a:pt x="1143000" y="0"/>
                    </a:lnTo>
                  </a:path>
                </a:pathLst>
              </a:custGeom>
              <a:noFill/>
              <a:ln w="23812" cap="rnd">
                <a:solidFill>
                  <a:srgbClr val="FF6B35"/>
                </a:solidFill>
              </a:ln>
            </p:spPr>
          </p:sp>
          <p:sp>
            <p:nvSpPr>
              <p:cNvPr id="48" name="Ellipse 48"/>
              <p:cNvSpPr/>
              <p:nvPr/>
            </p:nvSpPr>
            <p:spPr>
              <a:xfrm>
                <a:off x="10439400" y="4171950"/>
                <a:ext cx="76200" cy="76200"/>
              </a:xfrm>
              <a:prstGeom prst="ellipse">
                <a:avLst/>
              </a:prstGeom>
              <a:solidFill>
                <a:srgbClr val="FF6B35"/>
              </a:solidFill>
              <a:ln>
                <a:noFill/>
              </a:ln>
            </p:spPr>
          </p:sp>
          <p:sp>
            <p:nvSpPr>
              <p:cNvPr id="49" name="TextBox 49"/>
              <p:cNvSpPr txBox="1"/>
              <p:nvPr/>
            </p:nvSpPr>
            <p:spPr>
              <a:xfrm>
                <a:off x="10543222" y="4159091"/>
                <a:ext cx="382429" cy="167640"/>
              </a:xfrm>
              <a:prstGeom prst="rect">
                <a:avLst/>
              </a:prstGeom>
              <a:noFill/>
              <a:ln>
                <a:noFill/>
              </a:ln>
            </p:spPr>
            <p:txBody>
              <a:bodyPr wrap="none" lIns="0" tIns="0" rIns="0" bIns="0" anchor="t" anchorCtr="0">
                <a:spAutoFit/>
              </a:bodyPr>
              <a:lstStyle/>
              <a:p>
                <a:pPr algn="l"/>
                <a:r>
                  <a:rPr lang="ko-KR" sz="1200" dirty="0">
                    <a:solidFill>
                      <a:srgbClr val="FF6B35"/>
                    </a:solidFill>
                    <a:latin typeface="Malgun Gothic"/>
                    <a:ea typeface="Malgun Gothic"/>
                    <a:cs typeface="Malgun Gothic"/>
                  </a:rPr>
                  <a:t>주니어</a:t>
                </a:r>
              </a:p>
            </p:txBody>
          </p:sp>
        </p:grpSp>
        <p:sp>
          <p:nvSpPr>
            <p:cNvPr id="51" name="TextBox 51"/>
            <p:cNvSpPr txBox="1"/>
            <p:nvPr/>
          </p:nvSpPr>
          <p:spPr>
            <a:xfrm>
              <a:off x="8216265" y="6182678"/>
              <a:ext cx="1828562"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도구 거부 시니어보다 AI를</a:t>
              </a:r>
            </a:p>
          </p:txBody>
        </p:sp>
        <p:sp>
          <p:nvSpPr>
            <p:cNvPr id="52" name="TextBox 52"/>
            <p:cNvSpPr txBox="1"/>
            <p:nvPr/>
          </p:nvSpPr>
          <p:spPr>
            <a:xfrm>
              <a:off x="8216265" y="6392228"/>
              <a:ext cx="2158270"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능숙히 다루는 주니어의 산출이</a:t>
              </a:r>
            </a:p>
          </p:txBody>
        </p:sp>
        <p:sp>
          <p:nvSpPr>
            <p:cNvPr id="53" name="TextBox 53"/>
            <p:cNvSpPr txBox="1"/>
            <p:nvPr/>
          </p:nvSpPr>
          <p:spPr>
            <a:xfrm>
              <a:off x="8216265" y="6601778"/>
              <a:ext cx="2135267"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더 높아지는 사례가 늘고 있다.</a:t>
              </a:r>
            </a:p>
          </p:txBody>
        </p:sp>
        <p:sp>
          <p:nvSpPr>
            <p:cNvPr id="54" name="Line 54"/>
            <p:cNvSpPr/>
            <p:nvPr/>
          </p:nvSpPr>
          <p:spPr>
            <a:xfrm>
              <a:off x="8229600" y="5543550"/>
              <a:ext cx="3162300" cy="9525"/>
            </a:xfrm>
            <a:custGeom>
              <a:avLst/>
              <a:gdLst/>
              <a:ahLst/>
              <a:cxnLst/>
              <a:rect l="l" t="t" r="r" b="b"/>
              <a:pathLst>
                <a:path w="3162300" h="9525">
                  <a:moveTo>
                    <a:pt x="0" y="0"/>
                  </a:moveTo>
                  <a:lnTo>
                    <a:pt x="3162300" y="0"/>
                  </a:lnTo>
                </a:path>
              </a:pathLst>
            </a:custGeom>
            <a:noFill/>
            <a:ln w="9525">
              <a:solidFill>
                <a:srgbClr val="2A3454"/>
              </a:solidFill>
            </a:ln>
          </p:spPr>
        </p:sp>
        <p:sp>
          <p:nvSpPr>
            <p:cNvPr id="55" name="TextBox 55"/>
            <p:cNvSpPr txBox="1"/>
            <p:nvPr/>
          </p:nvSpPr>
          <p:spPr>
            <a:xfrm>
              <a:off x="8217218" y="5724049"/>
              <a:ext cx="1427393" cy="198120"/>
            </a:xfrm>
            <a:prstGeom prst="rect">
              <a:avLst/>
            </a:prstGeom>
            <a:noFill/>
            <a:ln>
              <a:noFill/>
            </a:ln>
          </p:spPr>
          <p:txBody>
            <a:bodyPr wrap="none" lIns="0" tIns="0" rIns="0" bIns="0" anchor="t" anchorCtr="0">
              <a:spAutoFit/>
            </a:bodyPr>
            <a:lstStyle/>
            <a:p>
              <a:pPr algn="l"/>
              <a:r>
                <a:rPr lang="en-US" sz="1200" dirty="0">
                  <a:solidFill>
                    <a:srgbClr val="6B7280"/>
                  </a:solidFill>
                  <a:latin typeface="Arial Black"/>
                  <a:ea typeface="Malgun Gothic"/>
                  <a:cs typeface="Arial Black"/>
                </a:rPr>
                <a:t>FIELD OBSERVATION ↗</a:t>
              </a:r>
            </a:p>
          </p:txBody>
        </p:sp>
      </p:grpSp>
      <p:grpSp>
        <p:nvGrpSpPr>
          <p:cNvPr id="59" name="Group 59"/>
          <p:cNvGrpSpPr/>
          <p:nvPr/>
        </p:nvGrpSpPr>
        <p:grpSpPr>
          <a:xfrm>
            <a:off x="560070" y="6475095"/>
            <a:ext cx="11071859" cy="182880"/>
            <a:chOff x="560070" y="6475095"/>
            <a:chExt cx="11071859" cy="182880"/>
          </a:xfrm>
        </p:grpSpPr>
        <p:sp>
          <p:nvSpPr>
            <p:cNvPr id="57" name="TextBox 57"/>
            <p:cNvSpPr txBox="1"/>
            <p:nvPr/>
          </p:nvSpPr>
          <p:spPr>
            <a:xfrm>
              <a:off x="560070" y="6475095"/>
              <a:ext cx="1738217"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현장의 변화 · 세 가지 시그널</a:t>
              </a:r>
            </a:p>
          </p:txBody>
        </p:sp>
        <p:sp>
          <p:nvSpPr>
            <p:cNvPr id="58" name="TextBox 58"/>
            <p:cNvSpPr txBox="1"/>
            <p:nvPr/>
          </p:nvSpPr>
          <p:spPr>
            <a:xfrm>
              <a:off x="11464480" y="6475095"/>
              <a:ext cx="167449" cy="18288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08</a:t>
              </a:r>
            </a:p>
          </p:txBody>
        </p:sp>
      </p:grpSp>
    </p:spTree>
  </p:cSld>
  <p:clrMapOvr>
    <a:masterClrMapping/>
  </p:clrMapOvr>
  <p:transition xmlns:p14="http://schemas.microsoft.com/office/powerpoint/2010/main" p14:dur="5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100000">
                <a:srgbClr val="141A2E"/>
              </a:gs>
            </a:gsLst>
            <a:lin ang="2700000" scaled="1"/>
          </a:gradFill>
          <a:ln>
            <a:noFill/>
          </a:ln>
        </p:spPr>
      </p:sp>
      <p:grpSp>
        <p:nvGrpSpPr>
          <p:cNvPr id="5" name="Group 5"/>
          <p:cNvGrpSpPr/>
          <p:nvPr/>
        </p:nvGrpSpPr>
        <p:grpSpPr>
          <a:xfrm>
            <a:off x="747712" y="526256"/>
            <a:ext cx="1975604" cy="283369"/>
            <a:chOff x="747712" y="526256"/>
            <a:chExt cx="1975604" cy="283369"/>
          </a:xfrm>
        </p:grpSpPr>
        <p:sp>
          <p:nvSpPr>
            <p:cNvPr id="3" name="TextBox 3"/>
            <p:cNvSpPr txBox="1"/>
            <p:nvPr/>
          </p:nvSpPr>
          <p:spPr>
            <a:xfrm>
              <a:off x="747712" y="526256"/>
              <a:ext cx="1975604" cy="228600"/>
            </a:xfrm>
            <a:prstGeom prst="rect">
              <a:avLst/>
            </a:prstGeom>
            <a:noFill/>
            <a:ln>
              <a:noFill/>
            </a:ln>
          </p:spPr>
          <p:txBody>
            <a:bodyPr wrap="none" lIns="0" tIns="0" rIns="0" bIns="0" anchor="t" anchorCtr="0">
              <a:spAutoFit/>
            </a:bodyPr>
            <a:lstStyle/>
            <a:p>
              <a:pPr algn="l"/>
              <a:r>
                <a:rPr lang="en-US" sz="1200" dirty="0">
                  <a:solidFill>
                    <a:srgbClr val="6B7280"/>
                  </a:solidFill>
                  <a:latin typeface="Malgun Gothic"/>
                  <a:ea typeface="Malgun Gothic"/>
                  <a:cs typeface="Malgun Gothic"/>
                </a:rPr>
                <a:t>FUTURE SCENARIOS · 2027</a:t>
              </a:r>
            </a:p>
          </p:txBody>
        </p:sp>
        <p:sp>
          <p:nvSpPr>
            <p:cNvPr id="4" name="Line 4"/>
            <p:cNvSpPr/>
            <p:nvPr/>
          </p:nvSpPr>
          <p:spPr>
            <a:xfrm>
              <a:off x="762000" y="800100"/>
              <a:ext cx="952500" cy="9525"/>
            </a:xfrm>
            <a:custGeom>
              <a:avLst/>
              <a:gdLst/>
              <a:ahLst/>
              <a:cxnLst/>
              <a:rect l="l" t="t" r="r" b="b"/>
              <a:pathLst>
                <a:path w="952500" h="9525">
                  <a:moveTo>
                    <a:pt x="0" y="0"/>
                  </a:moveTo>
                  <a:lnTo>
                    <a:pt x="952500" y="0"/>
                  </a:lnTo>
                </a:path>
              </a:pathLst>
            </a:custGeom>
            <a:noFill/>
            <a:ln w="19050">
              <a:solidFill>
                <a:srgbClr val="00D9FF"/>
              </a:solidFill>
            </a:ln>
          </p:spPr>
        </p:sp>
      </p:grpSp>
      <p:grpSp>
        <p:nvGrpSpPr>
          <p:cNvPr id="8" name="Group 8"/>
          <p:cNvGrpSpPr/>
          <p:nvPr/>
        </p:nvGrpSpPr>
        <p:grpSpPr>
          <a:xfrm>
            <a:off x="720090" y="958215"/>
            <a:ext cx="4967330" cy="808673"/>
            <a:chOff x="720090" y="958215"/>
            <a:chExt cx="4967330" cy="808673"/>
          </a:xfrm>
        </p:grpSpPr>
        <p:sp>
          <p:nvSpPr>
            <p:cNvPr id="6" name="TextBox 6"/>
            <p:cNvSpPr txBox="1"/>
            <p:nvPr/>
          </p:nvSpPr>
          <p:spPr>
            <a:xfrm>
              <a:off x="720090" y="958215"/>
              <a:ext cx="4967330" cy="670560"/>
            </a:xfrm>
            <a:prstGeom prst="rect">
              <a:avLst/>
            </a:prstGeom>
            <a:noFill/>
            <a:ln>
              <a:noFill/>
            </a:ln>
          </p:spPr>
          <p:txBody>
            <a:bodyPr wrap="none" lIns="0" tIns="0" rIns="0" bIns="0" anchor="t" anchorCtr="0">
              <a:spAutoFit/>
            </a:bodyPr>
            <a:lstStyle/>
            <a:p>
              <a:pPr algn="l"/>
              <a:r>
                <a:rPr lang="ko-KR" sz="3300" b="1" dirty="0">
                  <a:solidFill>
                    <a:srgbClr val="F5F7FA"/>
                  </a:solidFill>
                  <a:latin typeface="Malgun Gothic"/>
                  <a:ea typeface="Malgun Gothic"/>
                  <a:cs typeface="Malgun Gothic"/>
                </a:rPr>
                <a:t>2027년, 두 갈래의 길</a:t>
              </a:r>
            </a:p>
          </p:txBody>
        </p:sp>
        <p:sp>
          <p:nvSpPr>
            <p:cNvPr id="7" name="TextBox 7"/>
            <p:cNvSpPr txBox="1"/>
            <p:nvPr/>
          </p:nvSpPr>
          <p:spPr>
            <a:xfrm>
              <a:off x="744855" y="1492568"/>
              <a:ext cx="2893219" cy="274320"/>
            </a:xfrm>
            <a:prstGeom prst="rect">
              <a:avLst/>
            </a:prstGeom>
            <a:noFill/>
            <a:ln>
              <a:noFill/>
            </a:ln>
          </p:spPr>
          <p:txBody>
            <a:bodyPr wrap="none" lIns="0" tIns="0" rIns="0" bIns="0" anchor="t" anchorCtr="0">
              <a:spAutoFit/>
            </a:bodyPr>
            <a:lstStyle/>
            <a:p>
              <a:pPr algn="l"/>
              <a:r>
                <a:rPr lang="ko-KR" sz="1350" dirty="0">
                  <a:solidFill>
                    <a:srgbClr val="9CA3AF"/>
                  </a:solidFill>
                  <a:latin typeface="Malgun Gothic"/>
                  <a:ea typeface="Malgun Gothic"/>
                  <a:cs typeface="Malgun Gothic"/>
                </a:rPr>
                <a:t>당신은 어느 쪽에 서 있을 것인가</a:t>
              </a:r>
            </a:p>
          </p:txBody>
        </p:sp>
      </p:grpSp>
      <p:sp>
        <p:nvSpPr>
          <p:cNvPr id="9" name="Line 9"/>
          <p:cNvSpPr/>
          <p:nvPr/>
        </p:nvSpPr>
        <p:spPr>
          <a:xfrm>
            <a:off x="6096000" y="2095500"/>
            <a:ext cx="9525" cy="4000500"/>
          </a:xfrm>
          <a:custGeom>
            <a:avLst/>
            <a:gdLst/>
            <a:ahLst/>
            <a:cxnLst/>
            <a:rect l="l" t="t" r="r" b="b"/>
            <a:pathLst>
              <a:path w="9525" h="4000500">
                <a:moveTo>
                  <a:pt x="0" y="0"/>
                </a:moveTo>
                <a:lnTo>
                  <a:pt x="0" y="4000500"/>
                </a:lnTo>
              </a:path>
            </a:pathLst>
          </a:custGeom>
          <a:noFill/>
          <a:ln w="9525">
            <a:solidFill>
              <a:srgbClr val="2A3454"/>
            </a:solidFill>
            <a:custDash>
              <a:ds d="400000" sp="600000"/>
            </a:custDash>
          </a:ln>
        </p:spPr>
      </p:sp>
      <p:grpSp>
        <p:nvGrpSpPr>
          <p:cNvPr id="12" name="Group 12"/>
          <p:cNvGrpSpPr/>
          <p:nvPr/>
        </p:nvGrpSpPr>
        <p:grpSpPr>
          <a:xfrm>
            <a:off x="5829300" y="1828800"/>
            <a:ext cx="533400" cy="533400"/>
            <a:chOff x="5829300" y="1828800"/>
            <a:chExt cx="533400" cy="533400"/>
          </a:xfrm>
        </p:grpSpPr>
        <p:sp>
          <p:nvSpPr>
            <p:cNvPr id="10" name="Ellipse 10"/>
            <p:cNvSpPr/>
            <p:nvPr/>
          </p:nvSpPr>
          <p:spPr>
            <a:xfrm>
              <a:off x="5829300" y="1828800"/>
              <a:ext cx="533400" cy="533400"/>
            </a:xfrm>
            <a:prstGeom prst="ellipse">
              <a:avLst/>
            </a:prstGeom>
            <a:solidFill>
              <a:srgbClr val="141A2E"/>
            </a:solidFill>
            <a:ln w="9525">
              <a:solidFill>
                <a:srgbClr val="2A3454"/>
              </a:solidFill>
            </a:ln>
          </p:spPr>
        </p:sp>
        <p:sp>
          <p:nvSpPr>
            <p:cNvPr id="11" name="TextBox 11"/>
            <p:cNvSpPr txBox="1"/>
            <p:nvPr/>
          </p:nvSpPr>
          <p:spPr>
            <a:xfrm>
              <a:off x="5994104" y="2058352"/>
              <a:ext cx="203792" cy="213360"/>
            </a:xfrm>
            <a:prstGeom prst="rect">
              <a:avLst/>
            </a:prstGeom>
            <a:noFill/>
            <a:ln>
              <a:noFill/>
            </a:ln>
          </p:spPr>
          <p:txBody>
            <a:bodyPr wrap="none" lIns="0" tIns="0" rIns="0" bIns="0" anchor="t" anchorCtr="0">
              <a:spAutoFit/>
            </a:bodyPr>
            <a:lstStyle/>
            <a:p>
              <a:pPr algn="ctr"/>
              <a:r>
                <a:rPr lang="en-US" sz="1200" b="1" dirty="0">
                  <a:solidFill>
                    <a:srgbClr val="6B7280"/>
                  </a:solidFill>
                  <a:latin typeface="Arial Black"/>
                  <a:ea typeface="Malgun Gothic"/>
                  <a:cs typeface="Arial Black"/>
                </a:rPr>
                <a:t>VS</a:t>
              </a:r>
            </a:p>
          </p:txBody>
        </p:sp>
      </p:grpSp>
      <p:grpSp>
        <p:nvGrpSpPr>
          <p:cNvPr id="31" name="Group 31"/>
          <p:cNvGrpSpPr/>
          <p:nvPr/>
        </p:nvGrpSpPr>
        <p:grpSpPr>
          <a:xfrm>
            <a:off x="762000" y="2000250"/>
            <a:ext cx="4953000" cy="4095750"/>
            <a:chOff x="762000" y="2000250"/>
            <a:chExt cx="4953000" cy="4095750"/>
          </a:xfrm>
        </p:grpSpPr>
        <p:sp>
          <p:nvSpPr>
            <p:cNvPr id="13" name="Rectangle 13"/>
            <p:cNvSpPr/>
            <p:nvPr/>
          </p:nvSpPr>
          <p:spPr>
            <a:xfrm>
              <a:off x="762000" y="2000250"/>
              <a:ext cx="4953000" cy="4095750"/>
            </a:xfrm>
            <a:prstGeom prst="roundRect">
              <a:avLst>
                <a:gd name="adj" fmla="val 3721"/>
              </a:avLst>
            </a:prstGeom>
            <a:gradFill>
              <a:gsLst>
                <a:gs pos="0">
                  <a:srgbClr val="00D9FF">
                    <a:alpha val="18000"/>
                  </a:srgbClr>
                </a:gs>
                <a:gs pos="100000">
                  <a:srgbClr val="7B61FF">
                    <a:alpha val="8000"/>
                  </a:srgbClr>
                </a:gs>
              </a:gsLst>
              <a:lin ang="2700000" scaled="1"/>
            </a:gradFill>
            <a:ln w="9525">
              <a:solidFill>
                <a:srgbClr val="00D9FF">
                  <a:alpha val="40000"/>
                </a:srgbClr>
              </a:solidFill>
            </a:ln>
          </p:spPr>
        </p:sp>
        <p:grpSp>
          <p:nvGrpSpPr>
            <p:cNvPr id="16" name="Group 16"/>
            <p:cNvGrpSpPr/>
            <p:nvPr/>
          </p:nvGrpSpPr>
          <p:grpSpPr>
            <a:xfrm>
              <a:off x="990600" y="2266950"/>
              <a:ext cx="876300" cy="550069"/>
              <a:chOff x="990600" y="2266950"/>
              <a:chExt cx="876300" cy="550069"/>
            </a:xfrm>
          </p:grpSpPr>
          <p:sp>
            <p:nvSpPr>
              <p:cNvPr id="14" name="Rectangle 14"/>
              <p:cNvSpPr/>
              <p:nvPr/>
            </p:nvSpPr>
            <p:spPr>
              <a:xfrm>
                <a:off x="990600" y="2266950"/>
                <a:ext cx="876300" cy="266700"/>
              </a:xfrm>
              <a:prstGeom prst="roundRect">
                <a:avLst>
                  <a:gd name="adj" fmla="val 50000"/>
                </a:avLst>
              </a:prstGeom>
              <a:solidFill>
                <a:srgbClr val="00D9FF">
                  <a:alpha val="15000"/>
                </a:srgbClr>
              </a:solidFill>
              <a:ln w="9525">
                <a:solidFill>
                  <a:srgbClr val="00D9FF"/>
                </a:solidFill>
              </a:ln>
            </p:spPr>
          </p:sp>
          <p:sp>
            <p:nvSpPr>
              <p:cNvPr id="15" name="TextBox 15"/>
              <p:cNvSpPr txBox="1"/>
              <p:nvPr/>
            </p:nvSpPr>
            <p:spPr>
              <a:xfrm>
                <a:off x="1027619" y="2618899"/>
                <a:ext cx="802262" cy="198120"/>
              </a:xfrm>
              <a:prstGeom prst="rect">
                <a:avLst/>
              </a:prstGeom>
              <a:noFill/>
              <a:ln>
                <a:noFill/>
              </a:ln>
            </p:spPr>
            <p:txBody>
              <a:bodyPr wrap="none" lIns="0" tIns="0" rIns="0" bIns="0" anchor="t" anchorCtr="0">
                <a:spAutoFit/>
              </a:bodyPr>
              <a:lstStyle/>
              <a:p>
                <a:pPr algn="ctr"/>
                <a:r>
                  <a:rPr lang="en-US" sz="1200" b="1" dirty="0">
                    <a:solidFill>
                      <a:srgbClr val="00D9FF"/>
                    </a:solidFill>
                    <a:latin typeface="Malgun Gothic"/>
                    <a:ea typeface="Malgun Gothic"/>
                    <a:cs typeface="Malgun Gothic"/>
                  </a:rPr>
                  <a:t>SCENARIO A</a:t>
                </a:r>
              </a:p>
            </p:txBody>
          </p:sp>
        </p:grpSp>
        <p:sp>
          <p:nvSpPr>
            <p:cNvPr id="17" name="TextBox 17"/>
            <p:cNvSpPr txBox="1"/>
            <p:nvPr/>
          </p:nvSpPr>
          <p:spPr>
            <a:xfrm>
              <a:off x="960120" y="2712720"/>
              <a:ext cx="1165098" cy="487680"/>
            </a:xfrm>
            <a:prstGeom prst="rect">
              <a:avLst/>
            </a:prstGeom>
            <a:noFill/>
            <a:ln>
              <a:noFill/>
            </a:ln>
          </p:spPr>
          <p:txBody>
            <a:bodyPr wrap="none" lIns="0" tIns="0" rIns="0" bIns="0" anchor="t" anchorCtr="0">
              <a:spAutoFit/>
            </a:bodyPr>
            <a:lstStyle/>
            <a:p>
              <a:pPr algn="l"/>
              <a:r>
                <a:rPr lang="ko-KR" sz="2400" b="1" dirty="0">
                  <a:solidFill>
                    <a:srgbClr val="F5F7FA"/>
                  </a:solidFill>
                  <a:latin typeface="Malgun Gothic"/>
                  <a:ea typeface="Malgun Gothic"/>
                  <a:cs typeface="Malgun Gothic"/>
                </a:rPr>
                <a:t>가속자</a:t>
              </a:r>
            </a:p>
          </p:txBody>
        </p:sp>
        <p:sp>
          <p:nvSpPr>
            <p:cNvPr id="18" name="TextBox 18"/>
            <p:cNvSpPr txBox="1"/>
            <p:nvPr/>
          </p:nvSpPr>
          <p:spPr>
            <a:xfrm>
              <a:off x="974408" y="3138964"/>
              <a:ext cx="1475542" cy="259080"/>
            </a:xfrm>
            <a:prstGeom prst="rect">
              <a:avLst/>
            </a:prstGeom>
            <a:noFill/>
            <a:ln>
              <a:noFill/>
            </a:ln>
          </p:spPr>
          <p:txBody>
            <a:bodyPr wrap="none" lIns="0" tIns="0" rIns="0" bIns="0" anchor="t" anchorCtr="0">
              <a:spAutoFit/>
            </a:bodyPr>
            <a:lstStyle/>
            <a:p>
              <a:pPr algn="l"/>
              <a:r>
                <a:rPr lang="en-US" sz="1275" dirty="0">
                  <a:solidFill>
                    <a:srgbClr val="00D9FF"/>
                  </a:solidFill>
                  <a:latin typeface="Malgun Gothic"/>
                  <a:ea typeface="Malgun Gothic"/>
                  <a:cs typeface="Malgun Gothic"/>
                </a:rPr>
                <a:t>The Accelerator</a:t>
              </a:r>
            </a:p>
          </p:txBody>
        </p:sp>
        <p:sp>
          <p:nvSpPr>
            <p:cNvPr id="19" name="Line 19"/>
            <p:cNvSpPr/>
            <p:nvPr/>
          </p:nvSpPr>
          <p:spPr>
            <a:xfrm>
              <a:off x="990600" y="3505200"/>
              <a:ext cx="4495800" cy="9525"/>
            </a:xfrm>
            <a:custGeom>
              <a:avLst/>
              <a:gdLst/>
              <a:ahLst/>
              <a:cxnLst/>
              <a:rect l="l" t="t" r="r" b="b"/>
              <a:pathLst>
                <a:path w="4495800" h="9525">
                  <a:moveTo>
                    <a:pt x="0" y="0"/>
                  </a:moveTo>
                  <a:lnTo>
                    <a:pt x="4495800" y="0"/>
                  </a:lnTo>
                </a:path>
              </a:pathLst>
            </a:custGeom>
            <a:noFill/>
            <a:ln w="9525">
              <a:solidFill>
                <a:srgbClr val="00D9FF">
                  <a:alpha val="25000"/>
                </a:srgbClr>
              </a:solidFill>
            </a:ln>
          </p:spPr>
        </p:sp>
        <p:grpSp>
          <p:nvGrpSpPr>
            <p:cNvPr id="22" name="Group 22"/>
            <p:cNvGrpSpPr/>
            <p:nvPr/>
          </p:nvGrpSpPr>
          <p:grpSpPr>
            <a:xfrm>
              <a:off x="1278255" y="3740468"/>
              <a:ext cx="3087922" cy="474344"/>
              <a:chOff x="1278255" y="3740468"/>
              <a:chExt cx="3087922" cy="474344"/>
            </a:xfrm>
          </p:grpSpPr>
          <p:sp>
            <p:nvSpPr>
              <p:cNvPr id="20" name="TextBox 20"/>
              <p:cNvSpPr txBox="1"/>
              <p:nvPr/>
            </p:nvSpPr>
            <p:spPr>
              <a:xfrm>
                <a:off x="1278255" y="3740468"/>
                <a:ext cx="3087922"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AI 에이전트를 지휘하는 아키텍트</a:t>
                </a:r>
              </a:p>
            </p:txBody>
          </p:sp>
          <p:sp>
            <p:nvSpPr>
              <p:cNvPr id="21" name="TextBox 21"/>
              <p:cNvSpPr txBox="1"/>
              <p:nvPr/>
            </p:nvSpPr>
            <p:spPr>
              <a:xfrm>
                <a:off x="1282065" y="4001452"/>
                <a:ext cx="2710339"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실행이 아니라 설계와 위임이 핵심 역량</a:t>
                </a:r>
              </a:p>
            </p:txBody>
          </p:sp>
        </p:grpSp>
        <p:grpSp>
          <p:nvGrpSpPr>
            <p:cNvPr id="25" name="Group 25"/>
            <p:cNvGrpSpPr/>
            <p:nvPr/>
          </p:nvGrpSpPr>
          <p:grpSpPr>
            <a:xfrm>
              <a:off x="1278255" y="4426268"/>
              <a:ext cx="2539303" cy="474344"/>
              <a:chOff x="1278255" y="4426268"/>
              <a:chExt cx="2539303" cy="474344"/>
            </a:xfrm>
          </p:grpSpPr>
          <p:sp>
            <p:nvSpPr>
              <p:cNvPr id="23" name="TextBox 23"/>
              <p:cNvSpPr txBox="1"/>
              <p:nvPr/>
            </p:nvSpPr>
            <p:spPr>
              <a:xfrm>
                <a:off x="1278255" y="4426268"/>
                <a:ext cx="2539303" cy="274320"/>
              </a:xfrm>
              <a:prstGeom prst="rect">
                <a:avLst/>
              </a:prstGeom>
              <a:noFill/>
              <a:ln>
                <a:noFill/>
              </a:ln>
            </p:spPr>
            <p:txBody>
              <a:bodyPr wrap="none" lIns="0" tIns="0" rIns="0" bIns="0" anchor="t" anchorCtr="0">
                <a:spAutoFit/>
              </a:bodyPr>
              <a:lstStyle/>
              <a:p>
                <a:pPr algn="l"/>
                <a:r>
                  <a:rPr lang="ko-KR" sz="1650" b="1" dirty="0">
                    <a:solidFill>
                      <a:srgbClr val="00D9FF"/>
                    </a:solidFill>
                    <a:latin typeface="Arial Black"/>
                    <a:ea typeface="Malgun Gothic"/>
                    <a:cs typeface="Arial Black"/>
                  </a:rPr>
                  <a:t>1인</a:t>
                </a:r>
                <a:r>
                  <a:rPr lang="en-US" sz="1350" b="1" dirty="0">
                    <a:solidFill>
                      <a:srgbClr val="F5F7FA"/>
                    </a:solidFill>
                    <a:latin typeface="Malgun Gothic"/>
                    <a:ea typeface="Malgun Gothic"/>
                    <a:cs typeface="Malgun Gothic"/>
                  </a:rPr>
                  <a:t xml:space="preserve"> </a:t>
                </a:r>
                <a:r>
                  <a:rPr lang="ko-KR" sz="1350" b="1" dirty="0">
                    <a:solidFill>
                      <a:srgbClr val="F5F7FA"/>
                    </a:solidFill>
                    <a:latin typeface="Malgun Gothic"/>
                    <a:ea typeface="Malgun Gothic"/>
                    <a:cs typeface="Malgun Gothic"/>
                  </a:rPr>
                  <a:t xml:space="preserve"> = 과거 </a:t>
                </a:r>
                <a:r>
                  <a:rPr lang="en-US" sz="1350" b="1" dirty="0">
                    <a:solidFill>
                      <a:srgbClr val="F5F7FA"/>
                    </a:solidFill>
                    <a:latin typeface="Malgun Gothic"/>
                    <a:ea typeface="Malgun Gothic"/>
                    <a:cs typeface="Malgun Gothic"/>
                  </a:rPr>
                  <a:t xml:space="preserve"> </a:t>
                </a:r>
                <a:r>
                  <a:rPr lang="ko-KR" sz="1650" b="1" dirty="0">
                    <a:solidFill>
                      <a:srgbClr val="00D9FF"/>
                    </a:solidFill>
                    <a:latin typeface="Arial Black"/>
                    <a:ea typeface="Malgun Gothic"/>
                    <a:cs typeface="Arial Black"/>
                  </a:rPr>
                  <a:t>10인</a:t>
                </a:r>
                <a:r>
                  <a:rPr lang="en-US" sz="1350" b="1" dirty="0">
                    <a:solidFill>
                      <a:srgbClr val="F5F7FA"/>
                    </a:solidFill>
                    <a:latin typeface="Malgun Gothic"/>
                    <a:ea typeface="Malgun Gothic"/>
                    <a:cs typeface="Malgun Gothic"/>
                  </a:rPr>
                  <a:t xml:space="preserve"> </a:t>
                </a:r>
                <a:r>
                  <a:rPr lang="ko-KR" sz="1350" b="1" dirty="0">
                    <a:solidFill>
                      <a:srgbClr val="F5F7FA"/>
                    </a:solidFill>
                    <a:latin typeface="Malgun Gothic"/>
                    <a:ea typeface="Malgun Gothic"/>
                    <a:cs typeface="Malgun Gothic"/>
                  </a:rPr>
                  <a:t xml:space="preserve"> 팀의 산출</a:t>
                </a:r>
              </a:p>
            </p:txBody>
          </p:sp>
          <p:sp>
            <p:nvSpPr>
              <p:cNvPr id="24" name="TextBox 24"/>
              <p:cNvSpPr txBox="1"/>
              <p:nvPr/>
            </p:nvSpPr>
            <p:spPr>
              <a:xfrm>
                <a:off x="1282065" y="4687252"/>
                <a:ext cx="2357628"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생산성 곡선이 수직 상승하는 구간</a:t>
                </a:r>
              </a:p>
            </p:txBody>
          </p:sp>
        </p:grpSp>
        <p:grpSp>
          <p:nvGrpSpPr>
            <p:cNvPr id="28" name="Group 28"/>
            <p:cNvGrpSpPr/>
            <p:nvPr/>
          </p:nvGrpSpPr>
          <p:grpSpPr>
            <a:xfrm>
              <a:off x="1278255" y="5112068"/>
              <a:ext cx="2553129" cy="493394"/>
              <a:chOff x="1278255" y="5112068"/>
              <a:chExt cx="2553129" cy="493394"/>
            </a:xfrm>
          </p:grpSpPr>
          <p:sp>
            <p:nvSpPr>
              <p:cNvPr id="26" name="TextBox 26"/>
              <p:cNvSpPr txBox="1"/>
              <p:nvPr/>
            </p:nvSpPr>
            <p:spPr>
              <a:xfrm>
                <a:off x="1278255" y="5112068"/>
                <a:ext cx="1814713"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새로운 가치 방정식</a:t>
                </a:r>
              </a:p>
            </p:txBody>
          </p:sp>
          <p:sp>
            <p:nvSpPr>
              <p:cNvPr id="27" name="TextBox 27"/>
              <p:cNvSpPr txBox="1"/>
              <p:nvPr/>
            </p:nvSpPr>
            <p:spPr>
              <a:xfrm>
                <a:off x="1282065" y="5392102"/>
                <a:ext cx="2549319"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도메인 + 시스템 + AI 오케스트레이션</a:t>
                </a:r>
              </a:p>
            </p:txBody>
          </p:sp>
        </p:grpSp>
        <p:sp>
          <p:nvSpPr>
            <p:cNvPr id="29" name="Rectangle 29"/>
            <p:cNvSpPr/>
            <p:nvPr/>
          </p:nvSpPr>
          <p:spPr>
            <a:xfrm>
              <a:off x="990600" y="5753100"/>
              <a:ext cx="4495800" cy="19050"/>
            </a:xfrm>
            <a:prstGeom prst="rect">
              <a:avLst/>
            </a:prstGeom>
            <a:solidFill>
              <a:srgbClr val="00D9FF">
                <a:alpha val="40000"/>
              </a:srgbClr>
            </a:solidFill>
            <a:ln>
              <a:noFill/>
            </a:ln>
          </p:spPr>
        </p:sp>
        <p:sp>
          <p:nvSpPr>
            <p:cNvPr id="30" name="TextBox 30"/>
            <p:cNvSpPr txBox="1"/>
            <p:nvPr/>
          </p:nvSpPr>
          <p:spPr>
            <a:xfrm>
              <a:off x="978218" y="5857399"/>
              <a:ext cx="2574059" cy="198120"/>
            </a:xfrm>
            <a:prstGeom prst="rect">
              <a:avLst/>
            </a:prstGeom>
            <a:noFill/>
            <a:ln>
              <a:noFill/>
            </a:ln>
          </p:spPr>
          <p:txBody>
            <a:bodyPr wrap="none" lIns="0" tIns="0" rIns="0" bIns="0" anchor="t" anchorCtr="0">
              <a:spAutoFit/>
            </a:bodyPr>
            <a:lstStyle/>
            <a:p>
              <a:pPr algn="l"/>
              <a:r>
                <a:rPr lang="ko-KR" sz="1200" b="1" dirty="0">
                  <a:solidFill>
                    <a:srgbClr val="00D9FF"/>
                  </a:solidFill>
                  <a:latin typeface="Malgun Gothic"/>
                  <a:ea typeface="Malgun Gothic"/>
                  <a:cs typeface="Malgun Gothic"/>
                </a:rPr>
                <a:t>→ 임금 상승 · 영향력 확대 · 옵션 증가</a:t>
              </a:r>
            </a:p>
          </p:txBody>
        </p:sp>
      </p:grpSp>
      <p:grpSp>
        <p:nvGrpSpPr>
          <p:cNvPr id="50" name="Group 50"/>
          <p:cNvGrpSpPr/>
          <p:nvPr/>
        </p:nvGrpSpPr>
        <p:grpSpPr>
          <a:xfrm>
            <a:off x="6477000" y="2000250"/>
            <a:ext cx="4953000" cy="4095750"/>
            <a:chOff x="6477000" y="2000250"/>
            <a:chExt cx="4953000" cy="4095750"/>
          </a:xfrm>
        </p:grpSpPr>
        <p:sp>
          <p:nvSpPr>
            <p:cNvPr id="32" name="Rectangle 32"/>
            <p:cNvSpPr/>
            <p:nvPr/>
          </p:nvSpPr>
          <p:spPr>
            <a:xfrm>
              <a:off x="6477000" y="2000250"/>
              <a:ext cx="4953000" cy="4095750"/>
            </a:xfrm>
            <a:prstGeom prst="roundRect">
              <a:avLst>
                <a:gd name="adj" fmla="val 3721"/>
              </a:avLst>
            </a:prstGeom>
            <a:gradFill>
              <a:gsLst>
                <a:gs pos="0">
                  <a:srgbClr val="FF6B35">
                    <a:alpha val="18000"/>
                  </a:srgbClr>
                </a:gs>
                <a:gs pos="100000">
                  <a:srgbClr val="FF3860">
                    <a:alpha val="8000"/>
                  </a:srgbClr>
                </a:gs>
              </a:gsLst>
              <a:lin ang="2700000" scaled="1"/>
            </a:gradFill>
            <a:ln w="9525">
              <a:solidFill>
                <a:srgbClr val="FF6B35">
                  <a:alpha val="40000"/>
                </a:srgbClr>
              </a:solidFill>
            </a:ln>
          </p:spPr>
        </p:sp>
        <p:grpSp>
          <p:nvGrpSpPr>
            <p:cNvPr id="35" name="Group 35"/>
            <p:cNvGrpSpPr/>
            <p:nvPr/>
          </p:nvGrpSpPr>
          <p:grpSpPr>
            <a:xfrm>
              <a:off x="6705600" y="2266950"/>
              <a:ext cx="876300" cy="550069"/>
              <a:chOff x="6705600" y="2266950"/>
              <a:chExt cx="876300" cy="550069"/>
            </a:xfrm>
          </p:grpSpPr>
          <p:sp>
            <p:nvSpPr>
              <p:cNvPr id="33" name="Rectangle 33"/>
              <p:cNvSpPr/>
              <p:nvPr/>
            </p:nvSpPr>
            <p:spPr>
              <a:xfrm>
                <a:off x="6705600" y="2266950"/>
                <a:ext cx="876300" cy="266700"/>
              </a:xfrm>
              <a:prstGeom prst="roundRect">
                <a:avLst>
                  <a:gd name="adj" fmla="val 50000"/>
                </a:avLst>
              </a:prstGeom>
              <a:solidFill>
                <a:srgbClr val="FF6B35">
                  <a:alpha val="15000"/>
                </a:srgbClr>
              </a:solidFill>
              <a:ln w="9525">
                <a:solidFill>
                  <a:srgbClr val="FF6B35"/>
                </a:solidFill>
              </a:ln>
            </p:spPr>
          </p:sp>
          <p:sp>
            <p:nvSpPr>
              <p:cNvPr id="34" name="TextBox 34"/>
              <p:cNvSpPr txBox="1"/>
              <p:nvPr/>
            </p:nvSpPr>
            <p:spPr>
              <a:xfrm>
                <a:off x="6742619" y="2618899"/>
                <a:ext cx="802262" cy="198120"/>
              </a:xfrm>
              <a:prstGeom prst="rect">
                <a:avLst/>
              </a:prstGeom>
              <a:noFill/>
              <a:ln>
                <a:noFill/>
              </a:ln>
            </p:spPr>
            <p:txBody>
              <a:bodyPr wrap="none" lIns="0" tIns="0" rIns="0" bIns="0" anchor="t" anchorCtr="0">
                <a:spAutoFit/>
              </a:bodyPr>
              <a:lstStyle/>
              <a:p>
                <a:pPr algn="ctr"/>
                <a:r>
                  <a:rPr lang="en-US" sz="1200" b="1" dirty="0">
                    <a:solidFill>
                      <a:srgbClr val="FF6B35"/>
                    </a:solidFill>
                    <a:latin typeface="Malgun Gothic"/>
                    <a:ea typeface="Malgun Gothic"/>
                    <a:cs typeface="Malgun Gothic"/>
                  </a:rPr>
                  <a:t>SCENARIO B</a:t>
                </a:r>
              </a:p>
            </p:txBody>
          </p:sp>
        </p:grpSp>
        <p:sp>
          <p:nvSpPr>
            <p:cNvPr id="36" name="TextBox 36"/>
            <p:cNvSpPr txBox="1"/>
            <p:nvPr/>
          </p:nvSpPr>
          <p:spPr>
            <a:xfrm>
              <a:off x="6675120" y="2712720"/>
              <a:ext cx="1165098" cy="487680"/>
            </a:xfrm>
            <a:prstGeom prst="rect">
              <a:avLst/>
            </a:prstGeom>
            <a:noFill/>
            <a:ln>
              <a:noFill/>
            </a:ln>
          </p:spPr>
          <p:txBody>
            <a:bodyPr wrap="none" lIns="0" tIns="0" rIns="0" bIns="0" anchor="t" anchorCtr="0">
              <a:spAutoFit/>
            </a:bodyPr>
            <a:lstStyle/>
            <a:p>
              <a:pPr algn="l"/>
              <a:r>
                <a:rPr lang="ko-KR" sz="2400" b="1" dirty="0">
                  <a:solidFill>
                    <a:srgbClr val="F5F7FA"/>
                  </a:solidFill>
                  <a:latin typeface="Malgun Gothic"/>
                  <a:ea typeface="Malgun Gothic"/>
                  <a:cs typeface="Malgun Gothic"/>
                </a:rPr>
                <a:t>정체자</a:t>
              </a:r>
            </a:p>
          </p:txBody>
        </p:sp>
        <p:sp>
          <p:nvSpPr>
            <p:cNvPr id="37" name="TextBox 37"/>
            <p:cNvSpPr txBox="1"/>
            <p:nvPr/>
          </p:nvSpPr>
          <p:spPr>
            <a:xfrm>
              <a:off x="6689408" y="3138964"/>
              <a:ext cx="1214842" cy="259080"/>
            </a:xfrm>
            <a:prstGeom prst="rect">
              <a:avLst/>
            </a:prstGeom>
            <a:noFill/>
            <a:ln>
              <a:noFill/>
            </a:ln>
          </p:spPr>
          <p:txBody>
            <a:bodyPr wrap="none" lIns="0" tIns="0" rIns="0" bIns="0" anchor="t" anchorCtr="0">
              <a:spAutoFit/>
            </a:bodyPr>
            <a:lstStyle/>
            <a:p>
              <a:pPr algn="l"/>
              <a:r>
                <a:rPr lang="en-US" sz="1275" dirty="0">
                  <a:solidFill>
                    <a:srgbClr val="FF6B35"/>
                  </a:solidFill>
                  <a:latin typeface="Malgun Gothic"/>
                  <a:ea typeface="Malgun Gothic"/>
                  <a:cs typeface="Malgun Gothic"/>
                </a:rPr>
                <a:t>The Stagnant</a:t>
              </a:r>
            </a:p>
          </p:txBody>
        </p:sp>
        <p:sp>
          <p:nvSpPr>
            <p:cNvPr id="38" name="Line 38"/>
            <p:cNvSpPr/>
            <p:nvPr/>
          </p:nvSpPr>
          <p:spPr>
            <a:xfrm>
              <a:off x="6705600" y="3505200"/>
              <a:ext cx="4495800" cy="9525"/>
            </a:xfrm>
            <a:custGeom>
              <a:avLst/>
              <a:gdLst/>
              <a:ahLst/>
              <a:cxnLst/>
              <a:rect l="l" t="t" r="r" b="b"/>
              <a:pathLst>
                <a:path w="4495800" h="9525">
                  <a:moveTo>
                    <a:pt x="0" y="0"/>
                  </a:moveTo>
                  <a:lnTo>
                    <a:pt x="4495800" y="0"/>
                  </a:lnTo>
                </a:path>
              </a:pathLst>
            </a:custGeom>
            <a:noFill/>
            <a:ln w="9525">
              <a:solidFill>
                <a:srgbClr val="FF6B35">
                  <a:alpha val="25000"/>
                </a:srgbClr>
              </a:solidFill>
            </a:ln>
          </p:spPr>
        </p:sp>
        <p:grpSp>
          <p:nvGrpSpPr>
            <p:cNvPr id="41" name="Group 41"/>
            <p:cNvGrpSpPr/>
            <p:nvPr/>
          </p:nvGrpSpPr>
          <p:grpSpPr>
            <a:xfrm>
              <a:off x="6993255" y="3740468"/>
              <a:ext cx="2404736" cy="474344"/>
              <a:chOff x="6993255" y="3740468"/>
              <a:chExt cx="2404736" cy="474344"/>
            </a:xfrm>
          </p:grpSpPr>
          <p:sp>
            <p:nvSpPr>
              <p:cNvPr id="39" name="TextBox 39"/>
              <p:cNvSpPr txBox="1"/>
              <p:nvPr/>
            </p:nvSpPr>
            <p:spPr>
              <a:xfrm>
                <a:off x="6993255" y="3740468"/>
                <a:ext cx="2404736"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같은 자리, 정체되는 임금</a:t>
                </a:r>
              </a:p>
            </p:txBody>
          </p:sp>
          <p:sp>
            <p:nvSpPr>
              <p:cNvPr id="40" name="TextBox 40"/>
              <p:cNvSpPr txBox="1"/>
              <p:nvPr/>
            </p:nvSpPr>
            <p:spPr>
              <a:xfrm>
                <a:off x="6997065" y="4001452"/>
                <a:ext cx="2112264"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제자리이거나 점진적으로 감소</a:t>
                </a:r>
              </a:p>
            </p:txBody>
          </p:sp>
        </p:grpSp>
        <p:grpSp>
          <p:nvGrpSpPr>
            <p:cNvPr id="44" name="Group 44"/>
            <p:cNvGrpSpPr/>
            <p:nvPr/>
          </p:nvGrpSpPr>
          <p:grpSpPr>
            <a:xfrm>
              <a:off x="6993255" y="4426268"/>
              <a:ext cx="2905839" cy="474344"/>
              <a:chOff x="6993255" y="4426268"/>
              <a:chExt cx="2905839" cy="474344"/>
            </a:xfrm>
          </p:grpSpPr>
          <p:sp>
            <p:nvSpPr>
              <p:cNvPr id="42" name="TextBox 42"/>
              <p:cNvSpPr txBox="1"/>
              <p:nvPr/>
            </p:nvSpPr>
            <p:spPr>
              <a:xfrm>
                <a:off x="6993255" y="4426268"/>
                <a:ext cx="2228764"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매년 좁아지는 안전지대</a:t>
                </a:r>
              </a:p>
            </p:txBody>
          </p:sp>
          <p:sp>
            <p:nvSpPr>
              <p:cNvPr id="43" name="TextBox 43"/>
              <p:cNvSpPr txBox="1"/>
              <p:nvPr/>
            </p:nvSpPr>
            <p:spPr>
              <a:xfrm>
                <a:off x="6997065" y="4687252"/>
                <a:ext cx="2902029"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"AI가 못 하는 일"이 빠르게 줄어드는 경험</a:t>
                </a:r>
              </a:p>
            </p:txBody>
          </p:sp>
        </p:grpSp>
        <p:grpSp>
          <p:nvGrpSpPr>
            <p:cNvPr id="47" name="Group 47"/>
            <p:cNvGrpSpPr/>
            <p:nvPr/>
          </p:nvGrpSpPr>
          <p:grpSpPr>
            <a:xfrm>
              <a:off x="6993255" y="5112068"/>
              <a:ext cx="2714149" cy="493394"/>
              <a:chOff x="6993255" y="5112068"/>
              <a:chExt cx="2714149" cy="493394"/>
            </a:xfrm>
          </p:grpSpPr>
          <p:sp>
            <p:nvSpPr>
              <p:cNvPr id="45" name="TextBox 45"/>
              <p:cNvSpPr txBox="1"/>
              <p:nvPr/>
            </p:nvSpPr>
            <p:spPr>
              <a:xfrm>
                <a:off x="6993255" y="5112068"/>
                <a:ext cx="2673870"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대체보다 무서운 것 — 무관심</a:t>
                </a:r>
              </a:p>
            </p:txBody>
          </p:sp>
          <p:sp>
            <p:nvSpPr>
              <p:cNvPr id="46" name="TextBox 46"/>
              <p:cNvSpPr txBox="1"/>
              <p:nvPr/>
            </p:nvSpPr>
            <p:spPr>
              <a:xfrm>
                <a:off x="6997065" y="5392102"/>
                <a:ext cx="2710339"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시장이 더 이상 당신을 호명하지 않는다</a:t>
                </a:r>
              </a:p>
            </p:txBody>
          </p:sp>
        </p:grpSp>
        <p:sp>
          <p:nvSpPr>
            <p:cNvPr id="48" name="Rectangle 48"/>
            <p:cNvSpPr/>
            <p:nvPr/>
          </p:nvSpPr>
          <p:spPr>
            <a:xfrm>
              <a:off x="6705600" y="5753100"/>
              <a:ext cx="4495800" cy="19050"/>
            </a:xfrm>
            <a:prstGeom prst="rect">
              <a:avLst/>
            </a:prstGeom>
            <a:solidFill>
              <a:srgbClr val="FF6B35">
                <a:alpha val="40000"/>
              </a:srgbClr>
            </a:solidFill>
            <a:ln>
              <a:noFill/>
            </a:ln>
          </p:spPr>
        </p:sp>
        <p:sp>
          <p:nvSpPr>
            <p:cNvPr id="49" name="TextBox 49"/>
            <p:cNvSpPr txBox="1"/>
            <p:nvPr/>
          </p:nvSpPr>
          <p:spPr>
            <a:xfrm>
              <a:off x="6693218" y="5857399"/>
              <a:ext cx="2723577" cy="198120"/>
            </a:xfrm>
            <a:prstGeom prst="rect">
              <a:avLst/>
            </a:prstGeom>
            <a:noFill/>
            <a:ln>
              <a:noFill/>
            </a:ln>
          </p:spPr>
          <p:txBody>
            <a:bodyPr wrap="none" lIns="0" tIns="0" rIns="0" bIns="0" anchor="t" anchorCtr="0">
              <a:spAutoFit/>
            </a:bodyPr>
            <a:lstStyle/>
            <a:p>
              <a:pPr algn="l"/>
              <a:r>
                <a:rPr lang="ko-KR" sz="1200" b="1" dirty="0">
                  <a:solidFill>
                    <a:srgbClr val="FF6B35"/>
                  </a:solidFill>
                  <a:latin typeface="Malgun Gothic"/>
                  <a:ea typeface="Malgun Gothic"/>
                  <a:cs typeface="Malgun Gothic"/>
                </a:rPr>
                <a:t>→ 영향력 축소 · 옵션 감소 · 가시성 상실</a:t>
              </a:r>
            </a:p>
          </p:txBody>
        </p:sp>
      </p:grpSp>
      <p:grpSp>
        <p:nvGrpSpPr>
          <p:cNvPr id="52" name="Group 52"/>
          <p:cNvGrpSpPr/>
          <p:nvPr/>
        </p:nvGrpSpPr>
        <p:grpSpPr>
          <a:xfrm>
            <a:off x="4573524" y="6328410"/>
            <a:ext cx="3044952" cy="243840"/>
            <a:chOff x="4573524" y="6328410"/>
            <a:chExt cx="3044952" cy="243840"/>
          </a:xfrm>
        </p:grpSpPr>
        <p:sp>
          <p:nvSpPr>
            <p:cNvPr id="51" name="TextBox 51"/>
            <p:cNvSpPr txBox="1"/>
            <p:nvPr/>
          </p:nvSpPr>
          <p:spPr>
            <a:xfrm>
              <a:off x="4573524" y="6328410"/>
              <a:ext cx="3044952" cy="243840"/>
            </a:xfrm>
            <a:prstGeom prst="rect">
              <a:avLst/>
            </a:prstGeom>
            <a:noFill/>
            <a:ln>
              <a:noFill/>
            </a:ln>
          </p:spPr>
          <p:txBody>
            <a:bodyPr wrap="none" lIns="0" tIns="0" rIns="0" bIns="0" anchor="t" anchorCtr="0">
              <a:spAutoFit/>
            </a:bodyPr>
            <a:lstStyle/>
            <a:p>
              <a:pPr algn="ctr"/>
              <a:r>
                <a:rPr lang="ko-KR" sz="1200" dirty="0">
                  <a:solidFill>
                    <a:srgbClr val="F5F7FA"/>
                  </a:solidFill>
                  <a:latin typeface="Malgun Gothic"/>
                  <a:ea typeface="Malgun Gothic"/>
                  <a:cs typeface="Malgun Gothic"/>
                </a:rPr>
                <a:t xml:space="preserve">선택은 기술이 아니라 </a:t>
              </a:r>
              <a:r>
                <a:rPr lang="ko-KR" sz="1200" b="1" dirty="0">
                  <a:gradFill>
                    <a:gsLst>
                      <a:gs pos="0">
                        <a:srgbClr val="00D9FF"/>
                      </a:gs>
                      <a:gs pos="100000">
                        <a:srgbClr val="7B61FF"/>
                      </a:gs>
                    </a:gsLst>
                    <a:lin ang="0" scaled="1"/>
                  </a:gradFill>
                  <a:latin typeface="Malgun Gothic"/>
                  <a:ea typeface="Malgun Gothic"/>
                  <a:cs typeface="Malgun Gothic"/>
                </a:rPr>
                <a:t>자세</a:t>
              </a:r>
              <a:r>
                <a:rPr lang="ko-KR" sz="1200" dirty="0">
                  <a:solidFill>
                    <a:srgbClr val="F5F7FA"/>
                  </a:solidFill>
                  <a:latin typeface="Malgun Gothic"/>
                  <a:ea typeface="Malgun Gothic"/>
                  <a:cs typeface="Malgun Gothic"/>
                </a:rPr>
                <a:t>에서 갈린다</a:t>
              </a:r>
            </a:p>
          </p:txBody>
        </p:sp>
      </p:grpSp>
      <p:sp>
        <p:nvSpPr>
          <p:cNvPr id="53" name="TextBox 53"/>
          <p:cNvSpPr txBox="1"/>
          <p:nvPr/>
        </p:nvSpPr>
        <p:spPr>
          <a:xfrm>
            <a:off x="11011090" y="6513195"/>
            <a:ext cx="430340" cy="18288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09 / 12</a:t>
            </a:r>
          </a:p>
        </p:txBody>
      </p:sp>
    </p:spTree>
  </p:cSld>
  <p:clrMapOvr>
    <a:masterClrMapping/>
  </p:clrMapOvr>
  <p:transition xmlns:p14="http://schemas.microsoft.com/office/powerpoint/2010/main" p14:dur="5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50000">
                <a:srgbClr val="141A2E"/>
              </a:gs>
              <a:gs pos="100000">
                <a:srgbClr val="1C2440"/>
              </a:gs>
            </a:gsLst>
            <a:lin ang="2700000" scaled="1"/>
          </a:gradFill>
          <a:ln>
            <a:noFill/>
          </a:ln>
        </p:spPr>
      </p:sp>
      <p:sp>
        <p:nvSpPr>
          <p:cNvPr id="3" name="Rectangle 3"/>
          <p:cNvSpPr/>
          <p:nvPr/>
        </p:nvSpPr>
        <p:spPr>
          <a:xfrm>
            <a:off x="0" y="0"/>
            <a:ext cx="12192000" cy="6858000"/>
          </a:xfrm>
          <a:prstGeom prst="rect">
            <a:avLst/>
          </a:prstGeom>
          <a:gradFill>
            <a:gsLst>
              <a:gs pos="0">
                <a:srgbClr val="FF6B35">
                  <a:alpha val="18000"/>
                </a:srgbClr>
              </a:gs>
              <a:gs pos="40000">
                <a:srgbClr val="7B61FF">
                  <a:alpha val="12000"/>
                </a:srgbClr>
              </a:gs>
              <a:gs pos="100000">
                <a:srgbClr val="0A0E1A">
                  <a:alpha val="0"/>
                </a:srgbClr>
              </a:gs>
            </a:gsLst>
            <a:path path="circle">
              <a:fillToRect l="50000" t="50000" r="50000" b="50000"/>
            </a:path>
          </a:gradFill>
          <a:ln>
            <a:noFill/>
          </a:ln>
        </p:spPr>
      </p:sp>
      <p:sp>
        <p:nvSpPr>
          <p:cNvPr id="4" name="Rectangle 4"/>
          <p:cNvSpPr/>
          <p:nvPr/>
        </p:nvSpPr>
        <p:spPr>
          <a:xfrm>
            <a:off x="0" y="4457700"/>
            <a:ext cx="12192000" cy="9525"/>
          </a:xfrm>
          <a:prstGeom prst="rect">
            <a:avLst/>
          </a:prstGeom>
          <a:gradFill>
            <a:gsLst>
              <a:gs pos="0">
                <a:srgbClr val="00D9FF">
                  <a:alpha val="0"/>
                </a:srgbClr>
              </a:gs>
              <a:gs pos="50000">
                <a:srgbClr val="00D9FF">
                  <a:alpha val="60000"/>
                </a:srgbClr>
              </a:gs>
              <a:gs pos="100000">
                <a:srgbClr val="7B61FF">
                  <a:alpha val="0"/>
                </a:srgbClr>
              </a:gs>
            </a:gsLst>
            <a:lin ang="0" scaled="1"/>
          </a:gradFill>
          <a:ln>
            <a:noFill/>
          </a:ln>
        </p:spPr>
      </p:sp>
      <p:sp>
        <p:nvSpPr>
          <p:cNvPr id="5" name="Ellipse 5"/>
          <p:cNvSpPr/>
          <p:nvPr/>
        </p:nvSpPr>
        <p:spPr>
          <a:xfrm>
            <a:off x="1700212" y="1509712"/>
            <a:ext cx="28575" cy="28575"/>
          </a:xfrm>
          <a:prstGeom prst="ellipse">
            <a:avLst/>
          </a:prstGeom>
          <a:solidFill>
            <a:srgbClr val="F5F7FA">
              <a:alpha val="60000"/>
            </a:srgbClr>
          </a:solidFill>
          <a:ln>
            <a:noFill/>
          </a:ln>
        </p:spPr>
      </p:sp>
      <p:sp>
        <p:nvSpPr>
          <p:cNvPr id="6" name="Ellipse 6"/>
          <p:cNvSpPr/>
          <p:nvPr/>
        </p:nvSpPr>
        <p:spPr>
          <a:xfrm>
            <a:off x="3038475" y="1038225"/>
            <a:ext cx="19050" cy="19050"/>
          </a:xfrm>
          <a:prstGeom prst="ellipse">
            <a:avLst/>
          </a:prstGeom>
          <a:solidFill>
            <a:srgbClr val="F5F7FA">
              <a:alpha val="40000"/>
            </a:srgbClr>
          </a:solidFill>
          <a:ln>
            <a:noFill/>
          </a:ln>
        </p:spPr>
      </p:sp>
      <p:sp>
        <p:nvSpPr>
          <p:cNvPr id="7" name="Ellipse 7"/>
          <p:cNvSpPr/>
          <p:nvPr/>
        </p:nvSpPr>
        <p:spPr>
          <a:xfrm>
            <a:off x="4846320" y="1703070"/>
            <a:ext cx="22860" cy="22860"/>
          </a:xfrm>
          <a:prstGeom prst="ellipse">
            <a:avLst/>
          </a:prstGeom>
          <a:solidFill>
            <a:srgbClr val="00D9FF">
              <a:alpha val="50000"/>
            </a:srgbClr>
          </a:solidFill>
          <a:ln>
            <a:noFill/>
          </a:ln>
        </p:spPr>
      </p:sp>
      <p:sp>
        <p:nvSpPr>
          <p:cNvPr id="8" name="Ellipse 8"/>
          <p:cNvSpPr/>
          <p:nvPr/>
        </p:nvSpPr>
        <p:spPr>
          <a:xfrm>
            <a:off x="9324975" y="1323975"/>
            <a:ext cx="19050" cy="19050"/>
          </a:xfrm>
          <a:prstGeom prst="ellipse">
            <a:avLst/>
          </a:prstGeom>
          <a:solidFill>
            <a:srgbClr val="F5F7FA">
              <a:alpha val="50000"/>
            </a:srgbClr>
          </a:solidFill>
          <a:ln>
            <a:noFill/>
          </a:ln>
        </p:spPr>
      </p:sp>
      <p:sp>
        <p:nvSpPr>
          <p:cNvPr id="9" name="Ellipse 9"/>
          <p:cNvSpPr/>
          <p:nvPr/>
        </p:nvSpPr>
        <p:spPr>
          <a:xfrm>
            <a:off x="10653712" y="1890712"/>
            <a:ext cx="28575" cy="28575"/>
          </a:xfrm>
          <a:prstGeom prst="ellipse">
            <a:avLst/>
          </a:prstGeom>
          <a:solidFill>
            <a:srgbClr val="7B61FF">
              <a:alpha val="60000"/>
            </a:srgbClr>
          </a:solidFill>
          <a:ln>
            <a:noFill/>
          </a:ln>
        </p:spPr>
      </p:sp>
      <p:sp>
        <p:nvSpPr>
          <p:cNvPr id="10" name="Ellipse 10"/>
          <p:cNvSpPr/>
          <p:nvPr/>
        </p:nvSpPr>
        <p:spPr>
          <a:xfrm>
            <a:off x="11229975" y="942975"/>
            <a:ext cx="19050" cy="19050"/>
          </a:xfrm>
          <a:prstGeom prst="ellipse">
            <a:avLst/>
          </a:prstGeom>
          <a:solidFill>
            <a:srgbClr val="F5F7FA">
              <a:alpha val="40000"/>
            </a:srgbClr>
          </a:solidFill>
          <a:ln>
            <a:noFill/>
          </a:ln>
        </p:spPr>
      </p:sp>
      <p:sp>
        <p:nvSpPr>
          <p:cNvPr id="11" name="Ellipse 11"/>
          <p:cNvSpPr/>
          <p:nvPr/>
        </p:nvSpPr>
        <p:spPr>
          <a:xfrm>
            <a:off x="752475" y="2276475"/>
            <a:ext cx="19050" cy="19050"/>
          </a:xfrm>
          <a:prstGeom prst="ellipse">
            <a:avLst/>
          </a:prstGeom>
          <a:solidFill>
            <a:srgbClr val="F5F7FA">
              <a:alpha val="30000"/>
            </a:srgbClr>
          </a:solidFill>
          <a:ln>
            <a:noFill/>
          </a:ln>
        </p:spPr>
      </p:sp>
      <p:sp>
        <p:nvSpPr>
          <p:cNvPr id="12" name="Ellipse 12"/>
          <p:cNvSpPr/>
          <p:nvPr/>
        </p:nvSpPr>
        <p:spPr>
          <a:xfrm>
            <a:off x="10277475" y="2657475"/>
            <a:ext cx="19050" cy="19050"/>
          </a:xfrm>
          <a:prstGeom prst="ellipse">
            <a:avLst/>
          </a:prstGeom>
          <a:solidFill>
            <a:srgbClr val="F5F7FA">
              <a:alpha val="30000"/>
            </a:srgbClr>
          </a:solidFill>
          <a:ln>
            <a:noFill/>
          </a:ln>
        </p:spPr>
      </p:sp>
      <p:grpSp>
        <p:nvGrpSpPr>
          <p:cNvPr id="15" name="Group 15"/>
          <p:cNvGrpSpPr/>
          <p:nvPr/>
        </p:nvGrpSpPr>
        <p:grpSpPr>
          <a:xfrm>
            <a:off x="762000" y="609600"/>
            <a:ext cx="1544669" cy="190500"/>
            <a:chOff x="762000" y="609600"/>
            <a:chExt cx="1544669" cy="190500"/>
          </a:xfrm>
        </p:grpSpPr>
        <p:sp>
          <p:nvSpPr>
            <p:cNvPr id="13" name="Rectangle 13"/>
            <p:cNvSpPr/>
            <p:nvPr/>
          </p:nvSpPr>
          <p:spPr>
            <a:xfrm>
              <a:off x="762000" y="609600"/>
              <a:ext cx="28575" cy="133350"/>
            </a:xfrm>
            <a:prstGeom prst="rect">
              <a:avLst/>
            </a:prstGeom>
            <a:solidFill>
              <a:srgbClr val="00D9FF"/>
            </a:solidFill>
            <a:ln>
              <a:noFill/>
            </a:ln>
          </p:spPr>
        </p:sp>
        <p:sp>
          <p:nvSpPr>
            <p:cNvPr id="14" name="TextBox 14"/>
            <p:cNvSpPr txBox="1"/>
            <p:nvPr/>
          </p:nvSpPr>
          <p:spPr>
            <a:xfrm>
              <a:off x="883920" y="617220"/>
              <a:ext cx="1422749" cy="182880"/>
            </a:xfrm>
            <a:prstGeom prst="rect">
              <a:avLst/>
            </a:prstGeom>
            <a:noFill/>
            <a:ln>
              <a:noFill/>
            </a:ln>
          </p:spPr>
          <p:txBody>
            <a:bodyPr wrap="none" lIns="0" tIns="0" rIns="0" bIns="0" anchor="t" anchorCtr="0">
              <a:spAutoFit/>
            </a:bodyPr>
            <a:lstStyle/>
            <a:p>
              <a:pPr algn="l"/>
              <a:r>
                <a:rPr lang="en-US" sz="1200" dirty="0">
                  <a:solidFill>
                    <a:srgbClr val="9CA3AF"/>
                  </a:solidFill>
                  <a:latin typeface="Malgun Gothic"/>
                  <a:ea typeface="Malgun Gothic"/>
                  <a:cs typeface="Malgun Gothic"/>
                </a:rPr>
                <a:t>THE TRANSITION · 11 / 11</a:t>
              </a:r>
            </a:p>
          </p:txBody>
        </p:sp>
      </p:grpSp>
      <p:sp>
        <p:nvSpPr>
          <p:cNvPr id="16" name="TextBox 16"/>
          <p:cNvSpPr txBox="1"/>
          <p:nvPr/>
        </p:nvSpPr>
        <p:spPr>
          <a:xfrm>
            <a:off x="-1150610" y="2693670"/>
            <a:ext cx="9825971" cy="1097280"/>
          </a:xfrm>
          <a:prstGeom prst="rect">
            <a:avLst/>
          </a:prstGeom>
          <a:noFill/>
          <a:ln>
            <a:noFill/>
          </a:ln>
        </p:spPr>
        <p:txBody>
          <a:bodyPr wrap="none" lIns="0" tIns="0" rIns="0" bIns="0" anchor="t" anchorCtr="0">
            <a:spAutoFit/>
          </a:bodyPr>
          <a:lstStyle/>
          <a:p>
            <a:pPr algn="ctr"/>
            <a:r>
              <a:rPr lang="ko-KR" sz="5400" b="1" dirty="0">
                <a:gradFill>
                  <a:gsLst>
                    <a:gs pos="0">
                      <a:srgbClr val="00D9FF"/>
                    </a:gs>
                    <a:gs pos="100000">
                      <a:srgbClr val="7B61FF"/>
                    </a:gs>
                  </a:gsLst>
                  <a:lin ang="0" scaled="1"/>
                </a:gradFill>
                <a:latin typeface="Arial Black"/>
                <a:ea typeface="Malgun Gothic"/>
                <a:cs typeface="Arial Black"/>
              </a:rPr>
              <a:t>종말이 아니라, 전환이다.</a:t>
            </a:r>
          </a:p>
        </p:txBody>
      </p:sp>
      <p:sp>
        <p:nvSpPr>
          <p:cNvPr id="17" name="Rectangle 17"/>
          <p:cNvSpPr/>
          <p:nvPr/>
        </p:nvSpPr>
        <p:spPr>
          <a:xfrm>
            <a:off x="4191000" y="3667125"/>
            <a:ext cx="3810000" cy="9525"/>
          </a:xfrm>
          <a:prstGeom prst="rect">
            <a:avLst/>
          </a:prstGeom>
          <a:gradFill>
            <a:gsLst>
              <a:gs pos="0">
                <a:srgbClr val="2A3454">
                  <a:alpha val="0"/>
                </a:srgbClr>
              </a:gs>
              <a:gs pos="50000">
                <a:srgbClr val="2A3454"/>
              </a:gs>
              <a:gs pos="100000">
                <a:srgbClr val="2A3454">
                  <a:alpha val="0"/>
                </a:srgbClr>
              </a:gs>
            </a:gsLst>
            <a:lin ang="0" scaled="1"/>
          </a:gradFill>
          <a:ln>
            <a:noFill/>
          </a:ln>
        </p:spPr>
      </p:sp>
      <p:sp>
        <p:nvSpPr>
          <p:cNvPr id="18" name="TextBox 18"/>
          <p:cNvSpPr txBox="1"/>
          <p:nvPr/>
        </p:nvSpPr>
        <p:spPr>
          <a:xfrm>
            <a:off x="3739991" y="4044315"/>
            <a:ext cx="4712017" cy="365760"/>
          </a:xfrm>
          <a:prstGeom prst="rect">
            <a:avLst/>
          </a:prstGeom>
          <a:noFill/>
          <a:ln>
            <a:noFill/>
          </a:ln>
        </p:spPr>
        <p:txBody>
          <a:bodyPr wrap="none" lIns="0" tIns="0" rIns="0" bIns="0" anchor="t" anchorCtr="0">
            <a:spAutoFit/>
          </a:bodyPr>
          <a:lstStyle/>
          <a:p>
            <a:pPr algn="ctr"/>
            <a:r>
              <a:rPr lang="ko-KR" sz="1800" dirty="0">
                <a:solidFill>
                  <a:srgbClr val="9CA3AF"/>
                </a:solidFill>
                <a:latin typeface="Malgun Gothic"/>
                <a:ea typeface="Malgun Gothic"/>
                <a:cs typeface="Malgun Gothic"/>
              </a:rPr>
              <a:t>오늘 AI 도구를 하나 켜라. 내일은 늦다.</a:t>
            </a:r>
          </a:p>
        </p:txBody>
      </p:sp>
      <p:grpSp>
        <p:nvGrpSpPr>
          <p:cNvPr id="21" name="Group 21"/>
          <p:cNvGrpSpPr/>
          <p:nvPr/>
        </p:nvGrpSpPr>
        <p:grpSpPr>
          <a:xfrm>
            <a:off x="5334000" y="4857750"/>
            <a:ext cx="1524000" cy="719138"/>
            <a:chOff x="5334000" y="4857750"/>
            <a:chExt cx="1524000" cy="719138"/>
          </a:xfrm>
        </p:grpSpPr>
        <p:sp>
          <p:nvSpPr>
            <p:cNvPr id="19" name="Rectangle 19"/>
            <p:cNvSpPr/>
            <p:nvPr/>
          </p:nvSpPr>
          <p:spPr>
            <a:xfrm>
              <a:off x="5334000" y="4857750"/>
              <a:ext cx="1524000" cy="419100"/>
            </a:xfrm>
            <a:prstGeom prst="roundRect">
              <a:avLst>
                <a:gd name="adj" fmla="val 50000"/>
              </a:avLst>
            </a:prstGeom>
            <a:noFill/>
            <a:ln w="14288">
              <a:solidFill>
                <a:srgbClr val="00D9FF">
                  <a:alpha val="70000"/>
                </a:srgbClr>
              </a:solidFill>
            </a:ln>
          </p:spPr>
        </p:sp>
        <p:sp>
          <p:nvSpPr>
            <p:cNvPr id="20" name="TextBox 20"/>
            <p:cNvSpPr txBox="1"/>
            <p:nvPr/>
          </p:nvSpPr>
          <p:spPr>
            <a:xfrm>
              <a:off x="5599605" y="5363528"/>
              <a:ext cx="992791" cy="213360"/>
            </a:xfrm>
            <a:prstGeom prst="rect">
              <a:avLst/>
            </a:prstGeom>
            <a:noFill/>
            <a:ln>
              <a:noFill/>
            </a:ln>
          </p:spPr>
          <p:txBody>
            <a:bodyPr wrap="none" lIns="0" tIns="0" rIns="0" bIns="0" anchor="t" anchorCtr="0">
              <a:spAutoFit/>
            </a:bodyPr>
            <a:lstStyle/>
            <a:p>
              <a:pPr algn="ctr"/>
              <a:r>
                <a:rPr lang="en-US" sz="1200" b="1" dirty="0">
                  <a:solidFill>
                    <a:srgbClr val="00D9FF"/>
                  </a:solidFill>
                  <a:latin typeface="Malgun Gothic"/>
                  <a:ea typeface="Malgun Gothic"/>
                  <a:cs typeface="Malgun Gothic"/>
                </a:rPr>
                <a:t>START TODAY</a:t>
              </a:r>
            </a:p>
          </p:txBody>
        </p:sp>
      </p:grpSp>
      <p:grpSp>
        <p:nvGrpSpPr>
          <p:cNvPr id="23" name="Group 23"/>
          <p:cNvGrpSpPr/>
          <p:nvPr/>
        </p:nvGrpSpPr>
        <p:grpSpPr>
          <a:xfrm>
            <a:off x="5478423" y="6295549"/>
            <a:ext cx="1235154" cy="198120"/>
            <a:chOff x="5478423" y="6295549"/>
            <a:chExt cx="1235154" cy="198120"/>
          </a:xfrm>
        </p:grpSpPr>
        <p:sp>
          <p:nvSpPr>
            <p:cNvPr id="22" name="TextBox 22"/>
            <p:cNvSpPr txBox="1"/>
            <p:nvPr/>
          </p:nvSpPr>
          <p:spPr>
            <a:xfrm>
              <a:off x="5478423" y="6295549"/>
              <a:ext cx="1235154" cy="198120"/>
            </a:xfrm>
            <a:prstGeom prst="rect">
              <a:avLst/>
            </a:prstGeom>
            <a:noFill/>
            <a:ln>
              <a:noFill/>
            </a:ln>
          </p:spPr>
          <p:txBody>
            <a:bodyPr wrap="none" lIns="0" tIns="0" rIns="0" bIns="0" anchor="t" anchorCtr="0">
              <a:spAutoFit/>
            </a:bodyPr>
            <a:lstStyle/>
            <a:p>
              <a:pPr algn="ctr"/>
              <a:r>
                <a:rPr lang="en-US" sz="1200" dirty="0">
                  <a:solidFill>
                    <a:srgbClr val="6B7280"/>
                  </a:solidFill>
                  <a:latin typeface="Malgun Gothic"/>
                  <a:ea typeface="Malgun Gothic"/>
                  <a:cs typeface="Malgun Gothic"/>
                </a:rPr>
                <a:t>THANK YOU · Q &amp; A</a:t>
              </a:r>
            </a:p>
          </p:txBody>
        </p:sp>
      </p:grpSp>
      <p:sp>
        <p:nvSpPr>
          <p:cNvPr id="24" name="Rectangle 24"/>
          <p:cNvSpPr/>
          <p:nvPr/>
        </p:nvSpPr>
        <p:spPr>
          <a:xfrm>
            <a:off x="0" y="6829425"/>
            <a:ext cx="12192000" cy="28575"/>
          </a:xfrm>
          <a:prstGeom prst="rect">
            <a:avLst/>
          </a:prstGeom>
          <a:gradFill>
            <a:gsLst>
              <a:gs pos="0">
                <a:srgbClr val="00D9FF">
                  <a:alpha val="80000"/>
                </a:srgbClr>
              </a:gs>
              <a:gs pos="100000">
                <a:srgbClr val="7B61FF">
                  <a:alpha val="80000"/>
                </a:srgbClr>
              </a:gs>
            </a:gsLst>
            <a:lin ang="0" scaled="1"/>
          </a:gradFill>
          <a:ln>
            <a:noFill/>
          </a:ln>
        </p:spPr>
      </p:sp>
    </p:spTree>
  </p:cSld>
  <p:clrMapOvr>
    <a:masterClrMapping/>
  </p:clrMapOvr>
  <p:transition xmlns:p14="http://schemas.microsoft.com/office/powerpoint/2010/main"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