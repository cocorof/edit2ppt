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01_cover</a:t>
            </a:r>
          </a:p>
          <a:p>
            <a:endParaRPr lang="ko-KR" dirty="0"/>
          </a:p>
          <a:p>
            <a:r>
              <a:rPr lang="ko-KR" dirty="0"/>
              <a:t>여러분, 잠시 이 화면을 함께 바라봐 주십시오. 오늘 저는 다소 도발적인 제목으로 이야기를 시작하려 합니다. 개발자의 종말, 그리고 AI의 시대. 이 문장이 불편하게 느껴지신다면, 그것이 바로 오늘 우리가 마주해야 할 첫 번째 진실입니다. 앞으로 약 한 시간 동안, 저는 위기와 기회가 동시에 놓여 있는 이 변곡점에서 우리가 어디에 서 있는지, 그리고 어디로 가야 하는지를 함께 짚어보려 합니다.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02_시대 진단</a:t>
            </a:r>
          </a:p>
          <a:p>
            <a:endParaRPr lang="ko-KR" dirty="0"/>
          </a:p>
          <a:p>
            <a:r>
              <a:rPr lang="ko-KR" dirty="0"/>
              <a:t>변화는 미래의 일이 아닙니다. 이미 시작됐고, 숫자가 그것을 말하고 있습니다. GitHub Copilot은 활성 사용자 코드의 사십육 퍼센트를 직접 작성하고 있으며, 불과 이 년 전만 해도 이 수치는 거의 영에 가까웠습니다. 글로벌 빅테크의 2024년 개발자 채용은 전년 대비 삼십 퍼센트 줄었고, 메타와 구글, 아마존이 모두 같은 방향으로 움직였습니다. 그리고 이제는 자연어로 의도를 말하면 AI가 코드를 짜는 바이브 코딩의 시대가 열렸습니다. 한 산업 전망 보고서는 십 년 안에 개발자의 팔십 퍼센트가 다른 일을 하고 있을 것이라고 말합니다. 우리가 마주한 것은 단순한 도구의 변화가 아니라, 직업 자체의 재정의입니다.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03_숫자가_말하는_것</a:t>
            </a:r>
          </a:p>
          <a:p>
            <a:endParaRPr lang="ko-KR" dirty="0"/>
          </a:p>
          <a:p>
            <a:r>
              <a:rPr lang="ko-KR" dirty="0"/>
              <a:t>감정이나 직감이 아니라, 데이터로 이야기를 시작해보겠습니다. 세 개의 숫자만 기억하시면 됩니다. 첫째, 사십육 퍼센트. GitHub Copilot이 활성화된 개발자의 파일에서 실제로 AI가 작성하는 코드 비율입니다. 이미 절반에 가깝습니다. 둘째, 열 배. GPT 모델의 추론 능력이 단 이 년 사이에 평균 열 배가 향상됐습니다. 셋째, 마이너스 삼십 퍼센트. 같은 기간 빅테크의 주니어 개발자 채용은 삼십 퍼센트 가까이 줄었습니다. 시니어 채용은 오히려 늘었는데 말이죠. 세 숫자가 한 방향을 가리킵니다. 코드는 더 많이 만들어지지만, 그 코드를 만드는 사람은 더 적어진다는 것. 이게 지금 우리가 서 있는 자리입니다.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04_대체되는_작업과_살아남는_역량</a:t>
            </a:r>
          </a:p>
          <a:p>
            <a:endParaRPr lang="ko-KR" dirty="0"/>
          </a:p>
          <a:p>
            <a:r>
              <a:rPr lang="ko-KR" dirty="0"/>
              <a:t>자동화의 칼날은 무차별적으로 떨어지지 않습니다. 어디에 먼저 떨어지는지 보십시오. 보일러플레이트 코드 작성은 구십이 퍼센트, 단위 테스트 생성은 팔십오 퍼센트, 코드 리뷰 일차 검토는 칠십삼 퍼센트 — 우리가 매일 하던 일의 대부분이 위쪽 빨간 막대에 모여 있습니다. 반대로 아래 시안색 막대를 보십시오. 시스템 아키텍처 설계는 이십이 퍼센트, 도메인 모델링은 십팔 퍼센트, 이해관계자 협상은 단 팔 퍼센트입니다. 패턴은 분명합니다. 단순하고 반복될수록 먼저 사라지고, 판단과 맥락이 필요할수록 끝까지 남습니다. 그러니 질문을 바꿔야 합니다. "AI가 내 일을 빼앗을까"가 아니라, "내 시간의 몇 퍼센트가 빨간 영역에 있는가"를 물어야 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05_chapter_choice</a:t>
            </a:r>
          </a:p>
          <a:p>
            <a:endParaRPr lang="ko-KR" dirty="0"/>
          </a:p>
          <a:p>
            <a:r>
              <a:rPr lang="ko-KR" dirty="0"/>
              <a:t>지금까지 우리는 진단과 현실을 마주했습니다. 이제 결론으로 향하는 갈림길입니다. 이 장의 명제는 단순합니다 — AI는 개발자를 대체하지 않습니다. 다만, AI를 쓰지 못하는 개발자를 대체할 뿐입니다. 두려움의 대상이 바뀌었습니다. 적은 AI가 아니라, 변화하지 않는 자기 자신입니다. 잠시 이 문장을 마음에 새기고, 다음 페이지에서 구체적인 두 갈래 길을 살펴보겠습니다.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06_two_paths</a:t>
            </a:r>
          </a:p>
          <a:p>
            <a:endParaRPr lang="ko-KR" dirty="0"/>
          </a:p>
          <a:p>
            <a:r>
              <a:rPr lang="ko-KR" dirty="0"/>
              <a:t>지금까지의 흐름이 막연한 위기감처럼 들렸다면, 이번 페이지에서 그 위기감을 아주 구체적인 두 갈래 길로 보여드리겠습니다. 같은 5년이라는 시간이 주어졌을 때, AI를 외면하는 개발자와 활용하는 개발자의 종착지는 완전히 다릅니다. 왼쪽을 보시면, AI를 외면할 경우 작업 속도는 그대로 1배, 코드 품질은 본인 한계에 갇히고, 시장 가치는 하락하다가 결국 5년 후에는 도태됩니다. 반대로 오른쪽, AI를 활용하는 개발자는 작업 속도가 3배에서 5배로 가속되고, 베스트 프랙티스가 자동으로 적용되며, 시장 가치가 상승해 5년 후에는 한 사람이 여러 사람 몫을 해내는 멀티플라이어로 성장합니다. 핵심은 이겁니다 — 두 시나리오의 차이는 재능이 아니라 선택입니다. 그리고 그 선택의 시간은 지금 이 순간에도 흐르고 있습니다.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07_evolution_stages</a:t>
            </a:r>
          </a:p>
          <a:p>
            <a:endParaRPr lang="ko-KR" dirty="0"/>
          </a:p>
          <a:p>
            <a:r>
              <a:rPr lang="ko-KR" dirty="0"/>
              <a:t>자, 이제 진단도 끝났고 통계도 봤습니다. 그러면 결국 우리가 던져야 할 질문은 하나입니다 — 당신은 지금 어느 단계에 있습니까. 개발자의 진화는 네 단계로 나뉩니다. 첫 번째, 거부자. "AI는 못 믿어, 직접 짜야지"라고 말하는 분들이죠. 솔직히 말씀드리면, 이 단계에 머무르는 시간이 길수록 위험합니다. 두 번째, 사용자. ChatGPT에 묻고 코드를 복사해서 붙여 넣는 단계입니다. 많은 분들이 여기 계실 겁니다. 세 번째, 협업자. AI와 페어 프로그래밍을 하고, AI가 내놓은 코드를 직접 검증하고 다듬는 분들. 그리고 네 번째, 우리가 가야 할 목표 지점인 지휘자입니다. 코드를 직접 짜는 게 아니라 에이전트 워크플로우를 설계하고, 검증을 자동화하는 사람. 한 가지만 기억해 주세요. 사라지는 것은 개발자가 아닙니다. 사라지는 것은 '거부자'입니다. 오늘 이 자리를 떠나실 때, 딱 한 단계만 위로 올라가시면 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08_chapter_quote</a:t>
            </a:r>
          </a:p>
          <a:p>
            <a:endParaRPr lang="ko-KR" dirty="0"/>
          </a:p>
          <a:p>
            <a:r>
              <a:rPr lang="ko-KR" dirty="0"/>
              <a:t>잠시 숨을 고르고, 한 문장을 함께 보겠습니다. 사이버펑크의 아버지로 불리는 윌리엄 깁슨이 남긴 말입니다. 미래는 이미 와 있다, 단지 고르게 분포되지 않았을 뿐이다. AI 시대의 개발은 이미 어딘가에서 일상이 되어 있습니다. 누군가는 한 줄도 직접 타이핑하지 않고 프로덕션 코드를 만들고 있고, 또 다른 누군가는 여전히 5년 전 방식 그대로 키보드를 두드리고 있습니다. 문제는 미래가 오느냐가 아니라, 그 미래가 언제 당신 자리까지 도달하느냐입니다.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09_지금_당장_할_세_가지</a:t>
            </a:r>
          </a:p>
          <a:p>
            <a:endParaRPr lang="ko-KR" dirty="0"/>
          </a:p>
          <a:p>
            <a:r>
              <a:rPr lang="ko-KR" dirty="0"/>
              <a:t>자, 그러면 오늘 이 자리를 떠나서 무엇을 해야 할까요. 딱 세 가지만 기억하세요. 첫째, 도구를 손에 익히세요. Copilot, Cursor, Claude Code — 매일 사용하시고, 30일 챌린지를 시작하세요. 모든 코딩 작업에 예외 없이 AI를 동반시키는 겁니다. 둘째, 컨텍스트 엔지니어링을 배우세요. 이제는 프롬프트를 잘 쓰는 사람이 아니라, 명세서를 잘 쓰는 사람이 이깁니다. 검증 가능한 출력을 설계하는 능력, 이게 새로운 핵심 역량입니다. 셋째, AI가 못 하는 영역을 키우세요. 시스템 사고, 도메인 깊이, 협상력 — 그리고 무엇보다 "왜"를 정의하는 능력입니다. 코드를 쓰는 사람은 사라져도, 무엇을 만들지 결정하는 사람은 사라지지 않습니다.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지금까지 우리는 종말을 이야기했습니다. 그러나 종말이라는 단어 뒤에는 언제나 또 다른 단어가 따라옵니다. 시작. 인쇄기가 필경사를 끝냈을 때, 그것은 출판의 시작이었습니다. 자동차가 마부를 끝냈을 때, 그것은 물류의 시작이었습니다. 그리고 지금, AI가 우리가 알던 개발자를 끝내고 있다면, 그것은 새로운 직업의 시작입니다. 다만 한 가지 조건이 있습니다. 움직여야 한다는 것. 가만히 있는 자에게 이 변화는 종말로 끝납니다. 움직이는 자에게만 시작이 됩니다. 그래서 오늘 밤 여러분께 부탁드립니다. 집에 돌아가서 단 한 가지를 시작하십시오. AI 도구 하나를 실제로 써 보거나, 새로운 분야를 한 시간 공부하거나, 아니면 지금 하는 일을 다시 정의해 보십시오. 무엇이든 좋습니다. 단, 오늘 밤 안에.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60000">
                <a:srgbClr val="141A2E"/>
              </a:gs>
              <a:gs pos="100000">
                <a:srgbClr val="1A0A14"/>
              </a:gs>
            </a:gsLst>
            <a:lin ang="2700000" scaled="1"/>
          </a:gradFill>
          <a:ln>
            <a:noFill/>
          </a:ln>
        </p:spPr>
      </p:sp>
      <p:sp>
        <p:nvSpPr>
          <p:cNvPr id="3" name="Rectangle 3"/>
          <p:cNvSpPr/>
          <p:nvPr/>
        </p:nvSpPr>
        <p:spPr>
          <a:xfrm>
            <a:off x="0" y="0"/>
            <a:ext cx="12192000" cy="6858000"/>
          </a:xfrm>
          <a:prstGeom prst="rect">
            <a:avLst/>
          </a:prstGeom>
          <a:gradFill>
            <a:gsLst>
              <a:gs pos="0">
                <a:srgbClr val="00D9FF">
                  <a:alpha val="18000"/>
                </a:srgbClr>
              </a:gs>
              <a:gs pos="100000">
                <a:srgbClr val="00D9FF">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E63946">
                  <a:alpha val="35000"/>
                </a:srgbClr>
              </a:gs>
              <a:gs pos="50000">
                <a:srgbClr val="E63946">
                  <a:alpha val="10000"/>
                </a:srgbClr>
              </a:gs>
              <a:gs pos="100000">
                <a:srgbClr val="E63946">
                  <a:alpha val="0"/>
                </a:srgbClr>
              </a:gs>
            </a:gsLst>
            <a:path path="circle">
              <a:fillToRect l="50000" t="50000" r="50000" b="50000"/>
            </a:path>
          </a:gradFill>
          <a:ln>
            <a:noFill/>
          </a:ln>
        </p:spPr>
      </p:sp>
      <p:grpSp>
        <p:nvGrpSpPr>
          <p:cNvPr id="11" name="Group 11"/>
          <p:cNvGrpSpPr/>
          <p:nvPr/>
        </p:nvGrpSpPr>
        <p:grpSpPr>
          <a:xfrm>
            <a:off x="0" y="0"/>
            <a:ext cx="12192000" cy="6858000"/>
            <a:chOff x="0" y="0"/>
            <a:chExt cx="12192000" cy="6858000"/>
          </a:xfrm>
        </p:grpSpPr>
        <p:sp>
          <p:nvSpPr>
            <p:cNvPr id="5" name="Line 5"/>
            <p:cNvSpPr/>
            <p:nvPr/>
          </p:nvSpPr>
          <p:spPr>
            <a:xfrm>
              <a:off x="0" y="1714500"/>
              <a:ext cx="12192000" cy="9525"/>
            </a:xfrm>
            <a:custGeom>
              <a:avLst/>
              <a:gdLst/>
              <a:ahLst/>
              <a:cxnLst/>
              <a:rect l="l" t="t" r="r" b="b"/>
              <a:pathLst>
                <a:path w="12192000" h="9525">
                  <a:moveTo>
                    <a:pt x="0" y="0"/>
                  </a:moveTo>
                  <a:lnTo>
                    <a:pt x="12192000" y="0"/>
                  </a:lnTo>
                </a:path>
              </a:pathLst>
            </a:custGeom>
            <a:noFill/>
            <a:ln w="9525">
              <a:solidFill>
                <a:srgbClr val="2A3252">
                  <a:alpha val="25000"/>
                </a:srgbClr>
              </a:solidFill>
            </a:ln>
          </p:spPr>
        </p:sp>
        <p:sp>
          <p:nvSpPr>
            <p:cNvPr id="6" name="Line 6"/>
            <p:cNvSpPr/>
            <p:nvPr/>
          </p:nvSpPr>
          <p:spPr>
            <a:xfrm>
              <a:off x="0" y="3429000"/>
              <a:ext cx="12192000" cy="9525"/>
            </a:xfrm>
            <a:custGeom>
              <a:avLst/>
              <a:gdLst/>
              <a:ahLst/>
              <a:cxnLst/>
              <a:rect l="l" t="t" r="r" b="b"/>
              <a:pathLst>
                <a:path w="12192000" h="9525">
                  <a:moveTo>
                    <a:pt x="0" y="0"/>
                  </a:moveTo>
                  <a:lnTo>
                    <a:pt x="12192000" y="0"/>
                  </a:lnTo>
                </a:path>
              </a:pathLst>
            </a:custGeom>
            <a:noFill/>
            <a:ln w="9525">
              <a:solidFill>
                <a:srgbClr val="2A3252">
                  <a:alpha val="18000"/>
                </a:srgbClr>
              </a:solidFill>
            </a:ln>
          </p:spPr>
        </p:sp>
        <p:sp>
          <p:nvSpPr>
            <p:cNvPr id="7" name="Line 7"/>
            <p:cNvSpPr/>
            <p:nvPr/>
          </p:nvSpPr>
          <p:spPr>
            <a:xfrm>
              <a:off x="0" y="5143500"/>
              <a:ext cx="12192000" cy="9525"/>
            </a:xfrm>
            <a:custGeom>
              <a:avLst/>
              <a:gdLst/>
              <a:ahLst/>
              <a:cxnLst/>
              <a:rect l="l" t="t" r="r" b="b"/>
              <a:pathLst>
                <a:path w="12192000" h="9525">
                  <a:moveTo>
                    <a:pt x="0" y="0"/>
                  </a:moveTo>
                  <a:lnTo>
                    <a:pt x="12192000" y="0"/>
                  </a:lnTo>
                </a:path>
              </a:pathLst>
            </a:custGeom>
            <a:noFill/>
            <a:ln w="9525">
              <a:solidFill>
                <a:srgbClr val="2A3252">
                  <a:alpha val="25000"/>
                </a:srgbClr>
              </a:solidFill>
            </a:ln>
          </p:spPr>
        </p:sp>
        <p:sp>
          <p:nvSpPr>
            <p:cNvPr id="8" name="Line 8"/>
            <p:cNvSpPr/>
            <p:nvPr/>
          </p:nvSpPr>
          <p:spPr>
            <a:xfrm>
              <a:off x="3048000" y="0"/>
              <a:ext cx="9525" cy="6858000"/>
            </a:xfrm>
            <a:custGeom>
              <a:avLst/>
              <a:gdLst/>
              <a:ahLst/>
              <a:cxnLst/>
              <a:rect l="l" t="t" r="r" b="b"/>
              <a:pathLst>
                <a:path w="9525" h="6858000">
                  <a:moveTo>
                    <a:pt x="0" y="0"/>
                  </a:moveTo>
                  <a:lnTo>
                    <a:pt x="0" y="6858000"/>
                  </a:lnTo>
                </a:path>
              </a:pathLst>
            </a:custGeom>
            <a:noFill/>
            <a:ln w="9525">
              <a:solidFill>
                <a:srgbClr val="2A3252">
                  <a:alpha val="18000"/>
                </a:srgbClr>
              </a:solidFill>
            </a:ln>
          </p:spPr>
        </p:sp>
        <p:sp>
          <p:nvSpPr>
            <p:cNvPr id="9" name="Line 9"/>
            <p:cNvSpPr/>
            <p:nvPr/>
          </p:nvSpPr>
          <p:spPr>
            <a:xfrm>
              <a:off x="6096000" y="0"/>
              <a:ext cx="9525" cy="6858000"/>
            </a:xfrm>
            <a:custGeom>
              <a:avLst/>
              <a:gdLst/>
              <a:ahLst/>
              <a:cxnLst/>
              <a:rect l="l" t="t" r="r" b="b"/>
              <a:pathLst>
                <a:path w="9525" h="6858000">
                  <a:moveTo>
                    <a:pt x="0" y="0"/>
                  </a:moveTo>
                  <a:lnTo>
                    <a:pt x="0" y="6858000"/>
                  </a:lnTo>
                </a:path>
              </a:pathLst>
            </a:custGeom>
            <a:noFill/>
            <a:ln w="9525">
              <a:solidFill>
                <a:srgbClr val="2A3252">
                  <a:alpha val="12000"/>
                </a:srgbClr>
              </a:solidFill>
            </a:ln>
          </p:spPr>
        </p:sp>
        <p:sp>
          <p:nvSpPr>
            <p:cNvPr id="10" name="Line 10"/>
            <p:cNvSpPr/>
            <p:nvPr/>
          </p:nvSpPr>
          <p:spPr>
            <a:xfrm>
              <a:off x="9144000" y="0"/>
              <a:ext cx="9525" cy="6858000"/>
            </a:xfrm>
            <a:custGeom>
              <a:avLst/>
              <a:gdLst/>
              <a:ahLst/>
              <a:cxnLst/>
              <a:rect l="l" t="t" r="r" b="b"/>
              <a:pathLst>
                <a:path w="9525" h="6858000">
                  <a:moveTo>
                    <a:pt x="0" y="0"/>
                  </a:moveTo>
                  <a:lnTo>
                    <a:pt x="0" y="6858000"/>
                  </a:lnTo>
                </a:path>
              </a:pathLst>
            </a:custGeom>
            <a:noFill/>
            <a:ln w="9525">
              <a:solidFill>
                <a:srgbClr val="2A3252">
                  <a:alpha val="18000"/>
                </a:srgbClr>
              </a:solidFill>
            </a:ln>
          </p:spPr>
        </p:sp>
      </p:grpSp>
      <p:sp>
        <p:nvSpPr>
          <p:cNvPr id="12" name="Ellipse 12"/>
          <p:cNvSpPr/>
          <p:nvPr/>
        </p:nvSpPr>
        <p:spPr>
          <a:xfrm>
            <a:off x="7239000" y="1333500"/>
            <a:ext cx="4191000" cy="4191000"/>
          </a:xfrm>
          <a:prstGeom prst="ellipse">
            <a:avLst/>
          </a:prstGeom>
          <a:noFill/>
          <a:ln w="14288">
            <a:solidFill>
              <a:srgbClr val="00D9FF">
                <a:alpha val="35000"/>
              </a:srgbClr>
            </a:solidFill>
          </a:ln>
        </p:spPr>
      </p:sp>
      <p:sp>
        <p:nvSpPr>
          <p:cNvPr id="13" name="Ellipse 13"/>
          <p:cNvSpPr/>
          <p:nvPr/>
        </p:nvSpPr>
        <p:spPr>
          <a:xfrm>
            <a:off x="7620000" y="1714500"/>
            <a:ext cx="3429000" cy="3429000"/>
          </a:xfrm>
          <a:prstGeom prst="ellipse">
            <a:avLst/>
          </a:prstGeom>
          <a:noFill/>
          <a:ln w="9525">
            <a:solidFill>
              <a:srgbClr val="00D9FF">
                <a:alpha val="22000"/>
              </a:srgbClr>
            </a:solidFill>
          </a:ln>
        </p:spPr>
      </p:sp>
      <p:sp>
        <p:nvSpPr>
          <p:cNvPr id="14" name="Ellipse 14"/>
          <p:cNvSpPr/>
          <p:nvPr/>
        </p:nvSpPr>
        <p:spPr>
          <a:xfrm>
            <a:off x="8001000" y="2095500"/>
            <a:ext cx="2667000" cy="2667000"/>
          </a:xfrm>
          <a:prstGeom prst="ellipse">
            <a:avLst/>
          </a:prstGeom>
          <a:noFill/>
          <a:ln w="9525">
            <a:solidFill>
              <a:srgbClr val="E63946">
                <a:alpha val="30000"/>
              </a:srgbClr>
            </a:solidFill>
          </a:ln>
        </p:spPr>
      </p:sp>
      <p:sp>
        <p:nvSpPr>
          <p:cNvPr id="15" name="Ellipse 15"/>
          <p:cNvSpPr/>
          <p:nvPr/>
        </p:nvSpPr>
        <p:spPr>
          <a:xfrm>
            <a:off x="8763000" y="2857500"/>
            <a:ext cx="1143000" cy="1143000"/>
          </a:xfrm>
          <a:prstGeom prst="ellipse">
            <a:avLst/>
          </a:prstGeom>
          <a:solidFill>
            <a:srgbClr val="0A0E1A">
              <a:alpha val="85000"/>
            </a:srgbClr>
          </a:solidFill>
          <a:ln w="19050">
            <a:solidFill>
              <a:srgbClr val="00D9FF">
                <a:alpha val="85000"/>
              </a:srgbClr>
            </a:solidFill>
          </a:ln>
        </p:spPr>
      </p:sp>
      <p:sp>
        <p:nvSpPr>
          <p:cNvPr id="16" name="Ellipse 16"/>
          <p:cNvSpPr/>
          <p:nvPr/>
        </p:nvSpPr>
        <p:spPr>
          <a:xfrm>
            <a:off x="8991600" y="3086100"/>
            <a:ext cx="685800" cy="685800"/>
          </a:xfrm>
          <a:prstGeom prst="ellipse">
            <a:avLst/>
          </a:prstGeom>
          <a:noFill/>
          <a:ln w="14288">
            <a:solidFill>
              <a:srgbClr val="E63946">
                <a:alpha val="70000"/>
              </a:srgbClr>
            </a:solidFill>
          </a:ln>
        </p:spPr>
      </p:sp>
      <p:sp>
        <p:nvSpPr>
          <p:cNvPr id="17" name="Ellipse 17"/>
          <p:cNvSpPr/>
          <p:nvPr/>
        </p:nvSpPr>
        <p:spPr>
          <a:xfrm>
            <a:off x="9277350" y="3371850"/>
            <a:ext cx="114300" cy="114300"/>
          </a:xfrm>
          <a:prstGeom prst="ellipse">
            <a:avLst/>
          </a:prstGeom>
          <a:solidFill>
            <a:srgbClr val="00D9FF">
              <a:alpha val="95000"/>
            </a:srgbClr>
          </a:solidFill>
          <a:ln>
            <a:noFill/>
          </a:ln>
        </p:spPr>
      </p:sp>
      <p:sp>
        <p:nvSpPr>
          <p:cNvPr id="18" name="Ellipse 18"/>
          <p:cNvSpPr/>
          <p:nvPr/>
        </p:nvSpPr>
        <p:spPr>
          <a:xfrm>
            <a:off x="7762875" y="2238375"/>
            <a:ext cx="95250" cy="95250"/>
          </a:xfrm>
          <a:prstGeom prst="ellipse">
            <a:avLst/>
          </a:prstGeom>
          <a:solidFill>
            <a:srgbClr val="00D9FF">
              <a:alpha val="80000"/>
            </a:srgbClr>
          </a:solidFill>
          <a:ln>
            <a:noFill/>
          </a:ln>
        </p:spPr>
      </p:sp>
      <p:sp>
        <p:nvSpPr>
          <p:cNvPr id="19" name="Ellipse 19"/>
          <p:cNvSpPr/>
          <p:nvPr/>
        </p:nvSpPr>
        <p:spPr>
          <a:xfrm>
            <a:off x="10810875" y="2238375"/>
            <a:ext cx="95250" cy="95250"/>
          </a:xfrm>
          <a:prstGeom prst="ellipse">
            <a:avLst/>
          </a:prstGeom>
          <a:solidFill>
            <a:srgbClr val="00D9FF">
              <a:alpha val="80000"/>
            </a:srgbClr>
          </a:solidFill>
          <a:ln>
            <a:noFill/>
          </a:ln>
        </p:spPr>
      </p:sp>
      <p:sp>
        <p:nvSpPr>
          <p:cNvPr id="20" name="Ellipse 20"/>
          <p:cNvSpPr/>
          <p:nvPr/>
        </p:nvSpPr>
        <p:spPr>
          <a:xfrm>
            <a:off x="7762875" y="4524375"/>
            <a:ext cx="95250" cy="95250"/>
          </a:xfrm>
          <a:prstGeom prst="ellipse">
            <a:avLst/>
          </a:prstGeom>
          <a:solidFill>
            <a:srgbClr val="E63946">
              <a:alpha val="80000"/>
            </a:srgbClr>
          </a:solidFill>
          <a:ln>
            <a:noFill/>
          </a:ln>
        </p:spPr>
      </p:sp>
      <p:sp>
        <p:nvSpPr>
          <p:cNvPr id="21" name="Ellipse 21"/>
          <p:cNvSpPr/>
          <p:nvPr/>
        </p:nvSpPr>
        <p:spPr>
          <a:xfrm>
            <a:off x="10810875" y="4524375"/>
            <a:ext cx="95250" cy="95250"/>
          </a:xfrm>
          <a:prstGeom prst="ellipse">
            <a:avLst/>
          </a:prstGeom>
          <a:solidFill>
            <a:srgbClr val="E63946">
              <a:alpha val="80000"/>
            </a:srgbClr>
          </a:solidFill>
          <a:ln>
            <a:noFill/>
          </a:ln>
        </p:spPr>
      </p:sp>
      <p:sp>
        <p:nvSpPr>
          <p:cNvPr id="22" name="Ellipse 22"/>
          <p:cNvSpPr/>
          <p:nvPr/>
        </p:nvSpPr>
        <p:spPr>
          <a:xfrm>
            <a:off x="9296400" y="1676400"/>
            <a:ext cx="76200" cy="76200"/>
          </a:xfrm>
          <a:prstGeom prst="ellipse">
            <a:avLst/>
          </a:prstGeom>
          <a:solidFill>
            <a:srgbClr val="FFB627">
              <a:alpha val="70000"/>
            </a:srgbClr>
          </a:solidFill>
          <a:ln>
            <a:noFill/>
          </a:ln>
        </p:spPr>
      </p:sp>
      <p:sp>
        <p:nvSpPr>
          <p:cNvPr id="23" name="Ellipse 23"/>
          <p:cNvSpPr/>
          <p:nvPr/>
        </p:nvSpPr>
        <p:spPr>
          <a:xfrm>
            <a:off x="9296400" y="5105400"/>
            <a:ext cx="76200" cy="76200"/>
          </a:xfrm>
          <a:prstGeom prst="ellipse">
            <a:avLst/>
          </a:prstGeom>
          <a:solidFill>
            <a:srgbClr val="FFB627">
              <a:alpha val="70000"/>
            </a:srgbClr>
          </a:solidFill>
          <a:ln>
            <a:noFill/>
          </a:ln>
        </p:spPr>
      </p:sp>
      <p:sp>
        <p:nvSpPr>
          <p:cNvPr id="24" name="Ellipse 24"/>
          <p:cNvSpPr/>
          <p:nvPr/>
        </p:nvSpPr>
        <p:spPr>
          <a:xfrm>
            <a:off x="7200900" y="3390900"/>
            <a:ext cx="76200" cy="76200"/>
          </a:xfrm>
          <a:prstGeom prst="ellipse">
            <a:avLst/>
          </a:prstGeom>
          <a:solidFill>
            <a:srgbClr val="00D9FF">
              <a:alpha val="70000"/>
            </a:srgbClr>
          </a:solidFill>
          <a:ln>
            <a:noFill/>
          </a:ln>
        </p:spPr>
      </p:sp>
      <p:sp>
        <p:nvSpPr>
          <p:cNvPr id="25" name="Ellipse 25"/>
          <p:cNvSpPr/>
          <p:nvPr/>
        </p:nvSpPr>
        <p:spPr>
          <a:xfrm>
            <a:off x="11391900" y="3390900"/>
            <a:ext cx="76200" cy="76200"/>
          </a:xfrm>
          <a:prstGeom prst="ellipse">
            <a:avLst/>
          </a:prstGeom>
          <a:solidFill>
            <a:srgbClr val="00D9FF">
              <a:alpha val="70000"/>
            </a:srgbClr>
          </a:solidFill>
          <a:ln>
            <a:noFill/>
          </a:ln>
        </p:spPr>
      </p:sp>
      <p:sp>
        <p:nvSpPr>
          <p:cNvPr id="26" name="Line 26"/>
          <p:cNvSpPr/>
          <p:nvPr/>
        </p:nvSpPr>
        <p:spPr>
          <a:xfrm>
            <a:off x="7810500" y="2286000"/>
            <a:ext cx="1524000" cy="1143000"/>
          </a:xfrm>
          <a:custGeom>
            <a:avLst/>
            <a:gdLst/>
            <a:ahLst/>
            <a:cxnLst/>
            <a:rect l="l" t="t" r="r" b="b"/>
            <a:pathLst>
              <a:path w="1524000" h="1143000">
                <a:moveTo>
                  <a:pt x="0" y="0"/>
                </a:moveTo>
                <a:lnTo>
                  <a:pt x="1524000" y="1143000"/>
                </a:lnTo>
              </a:path>
            </a:pathLst>
          </a:custGeom>
          <a:noFill/>
          <a:ln w="9525">
            <a:solidFill>
              <a:srgbClr val="00D9FF">
                <a:alpha val="30000"/>
              </a:srgbClr>
            </a:solidFill>
          </a:ln>
        </p:spPr>
      </p:sp>
      <p:sp>
        <p:nvSpPr>
          <p:cNvPr id="27" name="Line 27"/>
          <p:cNvSpPr/>
          <p:nvPr/>
        </p:nvSpPr>
        <p:spPr>
          <a:xfrm>
            <a:off x="9334500" y="2286000"/>
            <a:ext cx="1524000" cy="1143000"/>
          </a:xfrm>
          <a:custGeom>
            <a:avLst/>
            <a:gdLst/>
            <a:ahLst/>
            <a:cxnLst/>
            <a:rect l="l" t="t" r="r" b="b"/>
            <a:pathLst>
              <a:path w="1524000" h="1143000">
                <a:moveTo>
                  <a:pt x="1524000" y="0"/>
                </a:moveTo>
                <a:lnTo>
                  <a:pt x="0" y="1143000"/>
                </a:lnTo>
              </a:path>
            </a:pathLst>
          </a:custGeom>
          <a:noFill/>
          <a:ln w="9525">
            <a:solidFill>
              <a:srgbClr val="00D9FF">
                <a:alpha val="30000"/>
              </a:srgbClr>
            </a:solidFill>
          </a:ln>
        </p:spPr>
      </p:sp>
      <p:sp>
        <p:nvSpPr>
          <p:cNvPr id="28" name="Line 28"/>
          <p:cNvSpPr/>
          <p:nvPr/>
        </p:nvSpPr>
        <p:spPr>
          <a:xfrm>
            <a:off x="7810500" y="3429000"/>
            <a:ext cx="1524000" cy="1143000"/>
          </a:xfrm>
          <a:custGeom>
            <a:avLst/>
            <a:gdLst/>
            <a:ahLst/>
            <a:cxnLst/>
            <a:rect l="l" t="t" r="r" b="b"/>
            <a:pathLst>
              <a:path w="1524000" h="1143000">
                <a:moveTo>
                  <a:pt x="0" y="1143000"/>
                </a:moveTo>
                <a:lnTo>
                  <a:pt x="1524000" y="0"/>
                </a:lnTo>
              </a:path>
            </a:pathLst>
          </a:custGeom>
          <a:noFill/>
          <a:ln w="9525">
            <a:solidFill>
              <a:srgbClr val="E63946">
                <a:alpha val="30000"/>
              </a:srgbClr>
            </a:solidFill>
          </a:ln>
        </p:spPr>
      </p:sp>
      <p:sp>
        <p:nvSpPr>
          <p:cNvPr id="29" name="Line 29"/>
          <p:cNvSpPr/>
          <p:nvPr/>
        </p:nvSpPr>
        <p:spPr>
          <a:xfrm>
            <a:off x="9334500" y="3429000"/>
            <a:ext cx="1524000" cy="1143000"/>
          </a:xfrm>
          <a:custGeom>
            <a:avLst/>
            <a:gdLst/>
            <a:ahLst/>
            <a:cxnLst/>
            <a:rect l="l" t="t" r="r" b="b"/>
            <a:pathLst>
              <a:path w="1524000" h="1143000">
                <a:moveTo>
                  <a:pt x="1524000" y="1143000"/>
                </a:moveTo>
                <a:lnTo>
                  <a:pt x="0" y="0"/>
                </a:lnTo>
              </a:path>
            </a:pathLst>
          </a:custGeom>
          <a:noFill/>
          <a:ln w="9525">
            <a:solidFill>
              <a:srgbClr val="E63946">
                <a:alpha val="30000"/>
              </a:srgbClr>
            </a:solidFill>
          </a:ln>
        </p:spPr>
      </p:sp>
      <p:sp>
        <p:nvSpPr>
          <p:cNvPr id="30" name="Line 30"/>
          <p:cNvSpPr/>
          <p:nvPr/>
        </p:nvSpPr>
        <p:spPr>
          <a:xfrm>
            <a:off x="9334500" y="1714500"/>
            <a:ext cx="9525" cy="1714500"/>
          </a:xfrm>
          <a:custGeom>
            <a:avLst/>
            <a:gdLst/>
            <a:ahLst/>
            <a:cxnLst/>
            <a:rect l="l" t="t" r="r" b="b"/>
            <a:pathLst>
              <a:path w="9525" h="1714500">
                <a:moveTo>
                  <a:pt x="0" y="0"/>
                </a:moveTo>
                <a:lnTo>
                  <a:pt x="0" y="1714500"/>
                </a:lnTo>
              </a:path>
            </a:pathLst>
          </a:custGeom>
          <a:noFill/>
          <a:ln w="9525">
            <a:solidFill>
              <a:srgbClr val="FFB627">
                <a:alpha val="25000"/>
              </a:srgbClr>
            </a:solidFill>
          </a:ln>
        </p:spPr>
      </p:sp>
      <p:sp>
        <p:nvSpPr>
          <p:cNvPr id="31" name="Line 31"/>
          <p:cNvSpPr/>
          <p:nvPr/>
        </p:nvSpPr>
        <p:spPr>
          <a:xfrm>
            <a:off x="9334500" y="3429000"/>
            <a:ext cx="9525" cy="1714500"/>
          </a:xfrm>
          <a:custGeom>
            <a:avLst/>
            <a:gdLst/>
            <a:ahLst/>
            <a:cxnLst/>
            <a:rect l="l" t="t" r="r" b="b"/>
            <a:pathLst>
              <a:path w="9525" h="1714500">
                <a:moveTo>
                  <a:pt x="0" y="1714500"/>
                </a:moveTo>
                <a:lnTo>
                  <a:pt x="0" y="0"/>
                </a:lnTo>
              </a:path>
            </a:pathLst>
          </a:custGeom>
          <a:noFill/>
          <a:ln w="9525">
            <a:solidFill>
              <a:srgbClr val="FFB627">
                <a:alpha val="25000"/>
              </a:srgbClr>
            </a:solidFill>
          </a:ln>
        </p:spPr>
      </p:sp>
      <p:sp>
        <p:nvSpPr>
          <p:cNvPr id="32" name="Line 32"/>
          <p:cNvSpPr/>
          <p:nvPr/>
        </p:nvSpPr>
        <p:spPr>
          <a:xfrm>
            <a:off x="7239000" y="3429000"/>
            <a:ext cx="2095500" cy="9525"/>
          </a:xfrm>
          <a:custGeom>
            <a:avLst/>
            <a:gdLst/>
            <a:ahLst/>
            <a:cxnLst/>
            <a:rect l="l" t="t" r="r" b="b"/>
            <a:pathLst>
              <a:path w="2095500" h="9525">
                <a:moveTo>
                  <a:pt x="0" y="0"/>
                </a:moveTo>
                <a:lnTo>
                  <a:pt x="2095500" y="0"/>
                </a:lnTo>
              </a:path>
            </a:pathLst>
          </a:custGeom>
          <a:noFill/>
          <a:ln w="9525">
            <a:solidFill>
              <a:srgbClr val="00D9FF">
                <a:alpha val="25000"/>
              </a:srgbClr>
            </a:solidFill>
          </a:ln>
        </p:spPr>
      </p:sp>
      <p:sp>
        <p:nvSpPr>
          <p:cNvPr id="33" name="Line 33"/>
          <p:cNvSpPr/>
          <p:nvPr/>
        </p:nvSpPr>
        <p:spPr>
          <a:xfrm>
            <a:off x="9334500" y="3429000"/>
            <a:ext cx="2095500" cy="9525"/>
          </a:xfrm>
          <a:custGeom>
            <a:avLst/>
            <a:gdLst/>
            <a:ahLst/>
            <a:cxnLst/>
            <a:rect l="l" t="t" r="r" b="b"/>
            <a:pathLst>
              <a:path w="2095500" h="9525">
                <a:moveTo>
                  <a:pt x="2095500" y="0"/>
                </a:moveTo>
                <a:lnTo>
                  <a:pt x="0" y="0"/>
                </a:lnTo>
              </a:path>
            </a:pathLst>
          </a:custGeom>
          <a:noFill/>
          <a:ln w="9525">
            <a:solidFill>
              <a:srgbClr val="00D9FF">
                <a:alpha val="25000"/>
              </a:srgbClr>
            </a:solidFill>
          </a:ln>
        </p:spPr>
      </p:sp>
      <p:sp>
        <p:nvSpPr>
          <p:cNvPr id="34" name="Rectangle 34"/>
          <p:cNvSpPr/>
          <p:nvPr/>
        </p:nvSpPr>
        <p:spPr>
          <a:xfrm>
            <a:off x="762000" y="2095500"/>
            <a:ext cx="38100" cy="1143000"/>
          </a:xfrm>
          <a:prstGeom prst="rect">
            <a:avLst/>
          </a:prstGeom>
          <a:gradFill>
            <a:gsLst>
              <a:gs pos="0">
                <a:srgbClr val="E63946"/>
              </a:gs>
              <a:gs pos="100000">
                <a:srgbClr val="FFB627"/>
              </a:gs>
            </a:gsLst>
            <a:lin ang="0" scaled="1"/>
          </a:gradFill>
          <a:ln>
            <a:noFill/>
          </a:ln>
        </p:spPr>
      </p:sp>
      <p:sp>
        <p:nvSpPr>
          <p:cNvPr id="35" name="TextBox 35"/>
          <p:cNvSpPr txBox="1"/>
          <p:nvPr/>
        </p:nvSpPr>
        <p:spPr>
          <a:xfrm>
            <a:off x="938212" y="2240756"/>
            <a:ext cx="1244441" cy="228600"/>
          </a:xfrm>
          <a:prstGeom prst="rect">
            <a:avLst/>
          </a:prstGeom>
          <a:noFill/>
          <a:ln>
            <a:noFill/>
          </a:ln>
        </p:spPr>
        <p:txBody>
          <a:bodyPr wrap="none" lIns="0" tIns="0" rIns="0" bIns="0" anchor="t" anchorCtr="0">
            <a:spAutoFit/>
          </a:bodyPr>
          <a:lstStyle/>
          <a:p>
            <a:pPr algn="l"/>
            <a:r>
              <a:rPr lang="en-US" sz="1125" dirty="0">
                <a:solidFill>
                  <a:srgbClr val="00D9FF"/>
                </a:solidFill>
                <a:latin typeface="Malgun Gothic"/>
                <a:ea typeface="Malgun Gothic"/>
                <a:cs typeface="Malgun Gothic"/>
              </a:rPr>
              <a:t>KEYNOTE · 2025</a:t>
            </a:r>
          </a:p>
        </p:txBody>
      </p:sp>
      <p:sp>
        <p:nvSpPr>
          <p:cNvPr id="36" name="TextBox 36"/>
          <p:cNvSpPr txBox="1"/>
          <p:nvPr/>
        </p:nvSpPr>
        <p:spPr>
          <a:xfrm>
            <a:off x="938212" y="2469356"/>
            <a:ext cx="2312432" cy="228600"/>
          </a:xfrm>
          <a:prstGeom prst="rect">
            <a:avLst/>
          </a:prstGeom>
          <a:noFill/>
          <a:ln>
            <a:noFill/>
          </a:ln>
        </p:spPr>
        <p:txBody>
          <a:bodyPr wrap="none" lIns="0" tIns="0" rIns="0" bIns="0" anchor="t" anchorCtr="0">
            <a:spAutoFit/>
          </a:bodyPr>
          <a:lstStyle/>
          <a:p>
            <a:pPr algn="l"/>
            <a:r>
              <a:rPr lang="en-US" sz="1125" dirty="0">
                <a:solidFill>
                  <a:srgbClr val="A0A8BD"/>
                </a:solidFill>
                <a:latin typeface="Malgun Gothic"/>
                <a:ea typeface="Malgun Gothic"/>
                <a:cs typeface="Malgun Gothic"/>
              </a:rPr>
              <a:t>The End of the Developer Era</a:t>
            </a:r>
          </a:p>
        </p:txBody>
      </p:sp>
      <p:sp>
        <p:nvSpPr>
          <p:cNvPr id="37" name="TextBox 37"/>
          <p:cNvSpPr txBox="1"/>
          <p:nvPr/>
        </p:nvSpPr>
        <p:spPr>
          <a:xfrm>
            <a:off x="872490" y="3129915"/>
            <a:ext cx="4024503" cy="1280160"/>
          </a:xfrm>
          <a:prstGeom prst="rect">
            <a:avLst/>
          </a:prstGeom>
          <a:noFill/>
          <a:ln>
            <a:noFill/>
          </a:ln>
        </p:spPr>
        <p:txBody>
          <a:bodyPr wrap="none" lIns="0" tIns="0" rIns="0" bIns="0" anchor="t" anchorCtr="0">
            <a:spAutoFit/>
          </a:bodyPr>
          <a:lstStyle/>
          <a:p>
            <a:pPr algn="l"/>
            <a:r>
              <a:rPr lang="ko-KR" sz="6300" b="1" dirty="0">
                <a:solidFill>
                  <a:srgbClr val="F5F7FA"/>
                </a:solidFill>
                <a:latin typeface="Malgun Gothic"/>
                <a:ea typeface="Malgun Gothic"/>
                <a:cs typeface="Malgun Gothic"/>
              </a:rPr>
              <a:t>개발자의</a:t>
            </a:r>
          </a:p>
        </p:txBody>
      </p:sp>
      <p:sp>
        <p:nvSpPr>
          <p:cNvPr id="38" name="TextBox 38"/>
          <p:cNvSpPr txBox="1"/>
          <p:nvPr/>
        </p:nvSpPr>
        <p:spPr>
          <a:xfrm>
            <a:off x="872490" y="4063365"/>
            <a:ext cx="2623628" cy="1280160"/>
          </a:xfrm>
          <a:prstGeom prst="rect">
            <a:avLst/>
          </a:prstGeom>
          <a:noFill/>
          <a:ln>
            <a:noFill/>
          </a:ln>
        </p:spPr>
        <p:txBody>
          <a:bodyPr wrap="none" lIns="0" tIns="0" rIns="0" bIns="0" anchor="t" anchorCtr="0">
            <a:spAutoFit/>
          </a:bodyPr>
          <a:lstStyle/>
          <a:p>
            <a:pPr algn="l"/>
            <a:r>
              <a:rPr lang="ko-KR" sz="6300" b="1" dirty="0">
                <a:gradFill>
                  <a:gsLst>
                    <a:gs pos="0">
                      <a:srgbClr val="E63946"/>
                    </a:gs>
                    <a:gs pos="100000">
                      <a:srgbClr val="FFB627"/>
                    </a:gs>
                  </a:gsLst>
                  <a:lin ang="0" scaled="1"/>
                </a:gradFill>
                <a:latin typeface="Malgun Gothic"/>
                <a:ea typeface="Malgun Gothic"/>
                <a:cs typeface="Malgun Gothic"/>
              </a:rPr>
              <a:t>종말.</a:t>
            </a:r>
          </a:p>
        </p:txBody>
      </p:sp>
      <p:sp>
        <p:nvSpPr>
          <p:cNvPr id="39" name="TextBox 39"/>
          <p:cNvSpPr txBox="1"/>
          <p:nvPr/>
        </p:nvSpPr>
        <p:spPr>
          <a:xfrm>
            <a:off x="965835" y="5123498"/>
            <a:ext cx="4577810" cy="396240"/>
          </a:xfrm>
          <a:prstGeom prst="rect">
            <a:avLst/>
          </a:prstGeom>
          <a:noFill/>
          <a:ln>
            <a:noFill/>
          </a:ln>
        </p:spPr>
        <p:txBody>
          <a:bodyPr wrap="none" lIns="0" tIns="0" rIns="0" bIns="0" anchor="t" anchorCtr="0">
            <a:spAutoFit/>
          </a:bodyPr>
          <a:lstStyle/>
          <a:p>
            <a:pPr algn="l"/>
            <a:r>
              <a:rPr lang="ko-KR" sz="1950" dirty="0">
                <a:solidFill>
                  <a:srgbClr val="A0A8BD"/>
                </a:solidFill>
                <a:latin typeface="Malgun Gothic"/>
                <a:ea typeface="Malgun Gothic"/>
                <a:cs typeface="Malgun Gothic"/>
              </a:rPr>
              <a:t>AI의 시대, 우리는 어디에 서 있는가</a:t>
            </a:r>
          </a:p>
        </p:txBody>
      </p:sp>
      <p:sp>
        <p:nvSpPr>
          <p:cNvPr id="40" name="Line 40"/>
          <p:cNvSpPr/>
          <p:nvPr/>
        </p:nvSpPr>
        <p:spPr>
          <a:xfrm>
            <a:off x="952500" y="5886450"/>
            <a:ext cx="1714500" cy="9525"/>
          </a:xfrm>
          <a:custGeom>
            <a:avLst/>
            <a:gdLst/>
            <a:ahLst/>
            <a:cxnLst/>
            <a:rect l="l" t="t" r="r" b="b"/>
            <a:pathLst>
              <a:path w="1714500" h="9525">
                <a:moveTo>
                  <a:pt x="0" y="0"/>
                </a:moveTo>
                <a:lnTo>
                  <a:pt x="1714500" y="0"/>
                </a:lnTo>
              </a:path>
            </a:pathLst>
          </a:custGeom>
          <a:noFill/>
          <a:ln w="19050">
            <a:solidFill>
              <a:srgbClr val="E63946">
                <a:alpha val="85000"/>
              </a:srgbClr>
            </a:solidFill>
          </a:ln>
        </p:spPr>
      </p:sp>
      <p:sp>
        <p:nvSpPr>
          <p:cNvPr id="41" name="Line 41"/>
          <p:cNvSpPr/>
          <p:nvPr/>
        </p:nvSpPr>
        <p:spPr>
          <a:xfrm>
            <a:off x="2705100" y="5886450"/>
            <a:ext cx="1295400" cy="9525"/>
          </a:xfrm>
          <a:custGeom>
            <a:avLst/>
            <a:gdLst/>
            <a:ahLst/>
            <a:cxnLst/>
            <a:rect l="l" t="t" r="r" b="b"/>
            <a:pathLst>
              <a:path w="1295400" h="9525">
                <a:moveTo>
                  <a:pt x="0" y="0"/>
                </a:moveTo>
                <a:lnTo>
                  <a:pt x="1295400" y="0"/>
                </a:lnTo>
              </a:path>
            </a:pathLst>
          </a:custGeom>
          <a:noFill/>
          <a:ln w="9525">
            <a:solidFill>
              <a:srgbClr val="2A3252">
                <a:alpha val="60000"/>
              </a:srgbClr>
            </a:solidFill>
          </a:ln>
        </p:spPr>
      </p:sp>
      <p:sp>
        <p:nvSpPr>
          <p:cNvPr id="42" name="TextBox 42"/>
          <p:cNvSpPr txBox="1"/>
          <p:nvPr/>
        </p:nvSpPr>
        <p:spPr>
          <a:xfrm>
            <a:off x="941070" y="6189345"/>
            <a:ext cx="1324165" cy="182880"/>
          </a:xfrm>
          <a:prstGeom prst="rect">
            <a:avLst/>
          </a:prstGeom>
          <a:noFill/>
          <a:ln>
            <a:noFill/>
          </a:ln>
        </p:spPr>
        <p:txBody>
          <a:bodyPr wrap="none" lIns="0" tIns="0" rIns="0" bIns="0" anchor="t" anchorCtr="0">
            <a:spAutoFit/>
          </a:bodyPr>
          <a:lstStyle/>
          <a:p>
            <a:pPr algn="l"/>
            <a:r>
              <a:rPr lang="en-US" sz="900" dirty="0">
                <a:solidFill>
                  <a:srgbClr val="A0A8BD"/>
                </a:solidFill>
                <a:latin typeface="Malgun Gothic"/>
                <a:ea typeface="Malgun Gothic"/>
                <a:cs typeface="Malgun Gothic"/>
              </a:rPr>
              <a:t>2025 · TECH KEYNOTE</a:t>
            </a:r>
          </a:p>
        </p:txBody>
      </p:sp>
      <p:sp>
        <p:nvSpPr>
          <p:cNvPr id="43" name="TextBox 43"/>
          <p:cNvSpPr txBox="1"/>
          <p:nvPr/>
        </p:nvSpPr>
        <p:spPr>
          <a:xfrm>
            <a:off x="10853452" y="6189345"/>
            <a:ext cx="397478"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01 / 10</a:t>
            </a:r>
          </a:p>
        </p:txBody>
      </p:sp>
      <p:sp>
        <p:nvSpPr>
          <p:cNvPr id="44" name="Polyline 44"/>
          <p:cNvSpPr/>
          <p:nvPr/>
        </p:nvSpPr>
        <p:spPr>
          <a:xfrm>
            <a:off x="571500" y="571500"/>
            <a:ext cx="190500" cy="190500"/>
          </a:xfrm>
          <a:custGeom>
            <a:avLst/>
            <a:gdLst/>
            <a:ahLst/>
            <a:cxnLst/>
            <a:rect l="l" t="t" r="r" b="b"/>
            <a:pathLst>
              <a:path w="190500" h="190500">
                <a:moveTo>
                  <a:pt x="0" y="0"/>
                </a:moveTo>
                <a:lnTo>
                  <a:pt x="0" y="190500"/>
                </a:lnTo>
                <a:lnTo>
                  <a:pt x="190500" y="190500"/>
                </a:lnTo>
              </a:path>
            </a:pathLst>
          </a:custGeom>
          <a:noFill/>
          <a:ln w="19050">
            <a:solidFill>
              <a:srgbClr val="E63946">
                <a:alpha val="70000"/>
              </a:srgbClr>
            </a:solidFill>
          </a:ln>
        </p:spPr>
      </p:sp>
      <p:sp>
        <p:nvSpPr>
          <p:cNvPr id="45" name="Polyline 45"/>
          <p:cNvSpPr/>
          <p:nvPr/>
        </p:nvSpPr>
        <p:spPr>
          <a:xfrm>
            <a:off x="11430000" y="571500"/>
            <a:ext cx="190500" cy="190500"/>
          </a:xfrm>
          <a:custGeom>
            <a:avLst/>
            <a:gdLst/>
            <a:ahLst/>
            <a:cxnLst/>
            <a:rect l="l" t="t" r="r" b="b"/>
            <a:pathLst>
              <a:path w="190500" h="190500">
                <a:moveTo>
                  <a:pt x="190500" y="0"/>
                </a:moveTo>
                <a:lnTo>
                  <a:pt x="190500" y="190500"/>
                </a:lnTo>
                <a:lnTo>
                  <a:pt x="0" y="190500"/>
                </a:lnTo>
              </a:path>
            </a:pathLst>
          </a:custGeom>
          <a:noFill/>
          <a:ln w="19050">
            <a:solidFill>
              <a:srgbClr val="00D9FF">
                <a:alpha val="70000"/>
              </a:srgbClr>
            </a:solidFill>
          </a:ln>
        </p:spPr>
      </p:sp>
      <p:sp>
        <p:nvSpPr>
          <p:cNvPr id="46" name="Polyline 46"/>
          <p:cNvSpPr/>
          <p:nvPr/>
        </p:nvSpPr>
        <p:spPr>
          <a:xfrm>
            <a:off x="571500" y="6096000"/>
            <a:ext cx="190500" cy="190500"/>
          </a:xfrm>
          <a:custGeom>
            <a:avLst/>
            <a:gdLst/>
            <a:ahLst/>
            <a:cxnLst/>
            <a:rect l="l" t="t" r="r" b="b"/>
            <a:pathLst>
              <a:path w="190500" h="190500">
                <a:moveTo>
                  <a:pt x="0" y="190500"/>
                </a:moveTo>
                <a:lnTo>
                  <a:pt x="0" y="0"/>
                </a:lnTo>
                <a:lnTo>
                  <a:pt x="190500" y="0"/>
                </a:lnTo>
              </a:path>
            </a:pathLst>
          </a:custGeom>
          <a:noFill/>
          <a:ln w="19050">
            <a:solidFill>
              <a:srgbClr val="00D9FF">
                <a:alpha val="70000"/>
              </a:srgbClr>
            </a:solidFill>
          </a:ln>
        </p:spPr>
      </p:sp>
      <p:sp>
        <p:nvSpPr>
          <p:cNvPr id="47" name="Polyline 47"/>
          <p:cNvSpPr/>
          <p:nvPr/>
        </p:nvSpPr>
        <p:spPr>
          <a:xfrm>
            <a:off x="11430000" y="6096000"/>
            <a:ext cx="190500" cy="190500"/>
          </a:xfrm>
          <a:custGeom>
            <a:avLst/>
            <a:gdLst/>
            <a:ahLst/>
            <a:cxnLst/>
            <a:rect l="l" t="t" r="r" b="b"/>
            <a:pathLst>
              <a:path w="190500" h="190500">
                <a:moveTo>
                  <a:pt x="190500" y="190500"/>
                </a:moveTo>
                <a:lnTo>
                  <a:pt x="190500" y="0"/>
                </a:lnTo>
                <a:lnTo>
                  <a:pt x="0" y="0"/>
                </a:lnTo>
              </a:path>
            </a:pathLst>
          </a:custGeom>
          <a:noFill/>
          <a:ln w="19050">
            <a:solidFill>
              <a:srgbClr val="E63946">
                <a:alpha val="70000"/>
              </a:srgbClr>
            </a:solidFill>
          </a:ln>
        </p:spPr>
      </p:sp>
    </p:spTree>
  </p:cSld>
  <p:clrMapOvr>
    <a:masterClrMapping/>
  </p:clrMapOvr>
  <p:transition xmlns:p14="http://schemas.microsoft.com/office/powerpoint/2010/main" p14:dur="5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9334500" y="381000"/>
            <a:ext cx="19050" cy="571500"/>
          </a:xfrm>
          <a:prstGeom prst="rect">
            <a:avLst/>
          </a:prstGeom>
          <a:solidFill>
            <a:srgbClr val="2A3252"/>
          </a:solidFill>
          <a:ln>
            <a:noFill/>
          </a:ln>
        </p:spPr>
      </p:sp>
      <p:sp>
        <p:nvSpPr>
          <p:cNvPr id="4" name="Rectangle 4"/>
          <p:cNvSpPr/>
          <p:nvPr/>
        </p:nvSpPr>
        <p:spPr>
          <a:xfrm>
            <a:off x="9715500" y="381000"/>
            <a:ext cx="19050" cy="571500"/>
          </a:xfrm>
          <a:prstGeom prst="rect">
            <a:avLst/>
          </a:prstGeom>
          <a:solidFill>
            <a:srgbClr val="2A3252"/>
          </a:solidFill>
          <a:ln>
            <a:noFill/>
          </a:ln>
        </p:spPr>
      </p:sp>
      <p:sp>
        <p:nvSpPr>
          <p:cNvPr id="5" name="Rectangle 5"/>
          <p:cNvSpPr/>
          <p:nvPr/>
        </p:nvSpPr>
        <p:spPr>
          <a:xfrm>
            <a:off x="10096500" y="381000"/>
            <a:ext cx="19050" cy="571500"/>
          </a:xfrm>
          <a:prstGeom prst="rect">
            <a:avLst/>
          </a:prstGeom>
          <a:solidFill>
            <a:srgbClr val="2A3252"/>
          </a:solidFill>
          <a:ln>
            <a:noFill/>
          </a:ln>
        </p:spPr>
      </p:sp>
      <p:sp>
        <p:nvSpPr>
          <p:cNvPr id="6" name="Rectangle 6"/>
          <p:cNvSpPr/>
          <p:nvPr/>
        </p:nvSpPr>
        <p:spPr>
          <a:xfrm>
            <a:off x="10477500" y="381000"/>
            <a:ext cx="19050" cy="571500"/>
          </a:xfrm>
          <a:prstGeom prst="rect">
            <a:avLst/>
          </a:prstGeom>
          <a:solidFill>
            <a:srgbClr val="2A3252"/>
          </a:solidFill>
          <a:ln>
            <a:noFill/>
          </a:ln>
        </p:spPr>
      </p:sp>
      <p:sp>
        <p:nvSpPr>
          <p:cNvPr id="7" name="Rectangle 7"/>
          <p:cNvSpPr/>
          <p:nvPr/>
        </p:nvSpPr>
        <p:spPr>
          <a:xfrm>
            <a:off x="10858500" y="381000"/>
            <a:ext cx="19050" cy="571500"/>
          </a:xfrm>
          <a:prstGeom prst="rect">
            <a:avLst/>
          </a:prstGeom>
          <a:solidFill>
            <a:srgbClr val="2A3252"/>
          </a:solidFill>
          <a:ln>
            <a:noFill/>
          </a:ln>
        </p:spPr>
      </p:sp>
      <p:sp>
        <p:nvSpPr>
          <p:cNvPr id="8" name="Rectangle 8"/>
          <p:cNvSpPr/>
          <p:nvPr/>
        </p:nvSpPr>
        <p:spPr>
          <a:xfrm>
            <a:off x="11239500" y="381000"/>
            <a:ext cx="19050" cy="571500"/>
          </a:xfrm>
          <a:prstGeom prst="rect">
            <a:avLst/>
          </a:prstGeom>
          <a:solidFill>
            <a:srgbClr val="2A3252"/>
          </a:solidFill>
          <a:ln>
            <a:noFill/>
          </a:ln>
        </p:spPr>
      </p:sp>
      <p:sp>
        <p:nvSpPr>
          <p:cNvPr id="9" name="Rectangle 9"/>
          <p:cNvSpPr/>
          <p:nvPr/>
        </p:nvSpPr>
        <p:spPr>
          <a:xfrm>
            <a:off x="11620500" y="381000"/>
            <a:ext cx="19050" cy="571500"/>
          </a:xfrm>
          <a:prstGeom prst="rect">
            <a:avLst/>
          </a:prstGeom>
          <a:solidFill>
            <a:srgbClr val="2A3252"/>
          </a:solidFill>
          <a:ln>
            <a:noFill/>
          </a:ln>
        </p:spPr>
      </p:sp>
      <p:sp>
        <p:nvSpPr>
          <p:cNvPr id="10" name="Rectangle 10"/>
          <p:cNvSpPr/>
          <p:nvPr/>
        </p:nvSpPr>
        <p:spPr>
          <a:xfrm>
            <a:off x="571500" y="571500"/>
            <a:ext cx="304800" cy="28575"/>
          </a:xfrm>
          <a:prstGeom prst="rect">
            <a:avLst/>
          </a:prstGeom>
          <a:solidFill>
            <a:srgbClr val="E63946"/>
          </a:solidFill>
          <a:ln>
            <a:noFill/>
          </a:ln>
        </p:spPr>
      </p:sp>
      <p:sp>
        <p:nvSpPr>
          <p:cNvPr id="11" name="TextBox 11"/>
          <p:cNvSpPr txBox="1"/>
          <p:nvPr/>
        </p:nvSpPr>
        <p:spPr>
          <a:xfrm>
            <a:off x="976312" y="526256"/>
            <a:ext cx="1737360" cy="228600"/>
          </a:xfrm>
          <a:prstGeom prst="rect">
            <a:avLst/>
          </a:prstGeom>
          <a:noFill/>
          <a:ln>
            <a:noFill/>
          </a:ln>
        </p:spPr>
        <p:txBody>
          <a:bodyPr wrap="none" lIns="0" tIns="0" rIns="0" bIns="0" anchor="t" anchorCtr="0">
            <a:spAutoFit/>
          </a:bodyPr>
          <a:lstStyle/>
          <a:p>
            <a:pPr algn="l"/>
            <a:r>
              <a:rPr lang="ko-KR" sz="1125" dirty="0">
                <a:solidFill>
                  <a:srgbClr val="A0A8BD"/>
                </a:solidFill>
                <a:latin typeface="Malgun Gothic"/>
                <a:ea typeface="Malgun Gothic"/>
                <a:cs typeface="Malgun Gothic"/>
              </a:rPr>
              <a:t>SECTION 01 — 시대 진단</a:t>
            </a:r>
          </a:p>
        </p:txBody>
      </p:sp>
      <p:sp>
        <p:nvSpPr>
          <p:cNvPr id="12" name="TextBox 12"/>
          <p:cNvSpPr txBox="1"/>
          <p:nvPr/>
        </p:nvSpPr>
        <p:spPr>
          <a:xfrm>
            <a:off x="529590" y="929640"/>
            <a:ext cx="4942027" cy="670560"/>
          </a:xfrm>
          <a:prstGeom prst="rect">
            <a:avLst/>
          </a:prstGeom>
          <a:noFill/>
          <a:ln>
            <a:noFill/>
          </a:ln>
        </p:spPr>
        <p:txBody>
          <a:bodyPr wrap="none" lIns="0" tIns="0" rIns="0" bIns="0" anchor="t" anchorCtr="0">
            <a:spAutoFit/>
          </a:bodyPr>
          <a:lstStyle/>
          <a:p>
            <a:pPr algn="l"/>
            <a:r>
              <a:rPr lang="ko-KR" sz="3300" b="1" dirty="0">
                <a:solidFill>
                  <a:srgbClr val="F5F7FA"/>
                </a:solidFill>
                <a:latin typeface="Malgun Gothic"/>
                <a:ea typeface="Malgun Gothic"/>
                <a:cs typeface="Malgun Gothic"/>
              </a:rPr>
              <a:t>변화는 이미 시작됐다</a:t>
            </a:r>
          </a:p>
        </p:txBody>
      </p:sp>
      <p:sp>
        <p:nvSpPr>
          <p:cNvPr id="13" name="Rectangle 13"/>
          <p:cNvSpPr/>
          <p:nvPr/>
        </p:nvSpPr>
        <p:spPr>
          <a:xfrm>
            <a:off x="571500" y="1524000"/>
            <a:ext cx="762000" cy="38100"/>
          </a:xfrm>
          <a:prstGeom prst="rect">
            <a:avLst/>
          </a:prstGeom>
          <a:solidFill>
            <a:srgbClr val="E63946"/>
          </a:solidFill>
          <a:ln>
            <a:noFill/>
          </a:ln>
        </p:spPr>
      </p:sp>
      <p:sp>
        <p:nvSpPr>
          <p:cNvPr id="14" name="Rectangle 14"/>
          <p:cNvSpPr/>
          <p:nvPr/>
        </p:nvSpPr>
        <p:spPr>
          <a:xfrm>
            <a:off x="4191000" y="2095500"/>
            <a:ext cx="9525" cy="4000500"/>
          </a:xfrm>
          <a:prstGeom prst="rect">
            <a:avLst/>
          </a:prstGeom>
          <a:solidFill>
            <a:srgbClr val="2A3252"/>
          </a:solidFill>
          <a:ln>
            <a:noFill/>
          </a:ln>
        </p:spPr>
      </p:sp>
      <p:sp>
        <p:nvSpPr>
          <p:cNvPr id="15" name="TextBox 15"/>
          <p:cNvSpPr txBox="1"/>
          <p:nvPr/>
        </p:nvSpPr>
        <p:spPr>
          <a:xfrm>
            <a:off x="457200" y="1695450"/>
            <a:ext cx="951547" cy="1828800"/>
          </a:xfrm>
          <a:prstGeom prst="rect">
            <a:avLst/>
          </a:prstGeom>
          <a:noFill/>
          <a:ln>
            <a:noFill/>
          </a:ln>
        </p:spPr>
        <p:txBody>
          <a:bodyPr wrap="none" lIns="0" tIns="0" rIns="0" bIns="0" anchor="t" anchorCtr="0">
            <a:spAutoFit/>
          </a:bodyPr>
          <a:lstStyle/>
          <a:p>
            <a:pPr algn="l"/>
            <a:r>
              <a:rPr lang="en-US" sz="9000" dirty="0">
                <a:solidFill>
                  <a:srgbClr val="E63946"/>
                </a:solidFill>
                <a:latin typeface="Times New Roman"/>
                <a:ea typeface="Nanum Myeongjo"/>
                <a:cs typeface="Times New Roman"/>
              </a:rPr>
              <a:t>“</a:t>
            </a:r>
          </a:p>
        </p:txBody>
      </p:sp>
      <p:sp>
        <p:nvSpPr>
          <p:cNvPr id="16" name="TextBox 16"/>
          <p:cNvSpPr txBox="1"/>
          <p:nvPr/>
        </p:nvSpPr>
        <p:spPr>
          <a:xfrm>
            <a:off x="546735" y="3027998"/>
            <a:ext cx="1231440" cy="396240"/>
          </a:xfrm>
          <a:prstGeom prst="rect">
            <a:avLst/>
          </a:prstGeom>
          <a:noFill/>
          <a:ln>
            <a:noFill/>
          </a:ln>
        </p:spPr>
        <p:txBody>
          <a:bodyPr wrap="none" lIns="0" tIns="0" rIns="0" bIns="0" anchor="t" anchorCtr="0">
            <a:spAutoFit/>
          </a:bodyPr>
          <a:lstStyle/>
          <a:p>
            <a:pPr algn="l"/>
            <a:r>
              <a:rPr lang="ko-KR" sz="1950" dirty="0">
                <a:solidFill>
                  <a:srgbClr val="F5F7FA"/>
                </a:solidFill>
                <a:latin typeface="Times New Roman"/>
                <a:ea typeface="Nanum Myeongjo"/>
                <a:cs typeface="Times New Roman"/>
              </a:rPr>
              <a:t>10년 안에</a:t>
            </a:r>
          </a:p>
        </p:txBody>
      </p:sp>
      <p:sp>
        <p:nvSpPr>
          <p:cNvPr id="17" name="TextBox 17"/>
          <p:cNvSpPr txBox="1"/>
          <p:nvPr/>
        </p:nvSpPr>
        <p:spPr>
          <a:xfrm>
            <a:off x="546735" y="3428048"/>
            <a:ext cx="2028873" cy="396240"/>
          </a:xfrm>
          <a:prstGeom prst="rect">
            <a:avLst/>
          </a:prstGeom>
          <a:noFill/>
          <a:ln>
            <a:noFill/>
          </a:ln>
        </p:spPr>
        <p:txBody>
          <a:bodyPr wrap="none" lIns="0" tIns="0" rIns="0" bIns="0" anchor="t" anchorCtr="0">
            <a:spAutoFit/>
          </a:bodyPr>
          <a:lstStyle/>
          <a:p>
            <a:pPr algn="l"/>
            <a:r>
              <a:rPr lang="ko-KR" sz="1950" dirty="0">
                <a:solidFill>
                  <a:srgbClr val="F5F7FA"/>
                </a:solidFill>
                <a:latin typeface="Times New Roman"/>
                <a:ea typeface="Nanum Myeongjo"/>
                <a:cs typeface="Times New Roman"/>
              </a:rPr>
              <a:t xml:space="preserve">개발자의 </a:t>
            </a:r>
            <a:r>
              <a:rPr lang="en-US" sz="1950" b="1" dirty="0">
                <a:solidFill>
                  <a:srgbClr val="E63946"/>
                </a:solidFill>
                <a:latin typeface="Times New Roman"/>
                <a:ea typeface="Nanum Myeongjo"/>
                <a:cs typeface="Times New Roman"/>
              </a:rPr>
              <a:t>80%</a:t>
            </a:r>
            <a:r>
              <a:rPr lang="ko-KR" sz="1950" dirty="0">
                <a:solidFill>
                  <a:srgbClr val="F5F7FA"/>
                </a:solidFill>
                <a:latin typeface="Times New Roman"/>
                <a:ea typeface="Nanum Myeongjo"/>
                <a:cs typeface="Times New Roman"/>
              </a:rPr>
              <a:t>는</a:t>
            </a:r>
          </a:p>
        </p:txBody>
      </p:sp>
      <p:sp>
        <p:nvSpPr>
          <p:cNvPr id="18" name="TextBox 18"/>
          <p:cNvSpPr txBox="1"/>
          <p:nvPr/>
        </p:nvSpPr>
        <p:spPr>
          <a:xfrm>
            <a:off x="546735" y="3828098"/>
            <a:ext cx="1929193" cy="396240"/>
          </a:xfrm>
          <a:prstGeom prst="rect">
            <a:avLst/>
          </a:prstGeom>
          <a:noFill/>
          <a:ln>
            <a:noFill/>
          </a:ln>
        </p:spPr>
        <p:txBody>
          <a:bodyPr wrap="none" lIns="0" tIns="0" rIns="0" bIns="0" anchor="t" anchorCtr="0">
            <a:spAutoFit/>
          </a:bodyPr>
          <a:lstStyle/>
          <a:p>
            <a:pPr algn="l"/>
            <a:r>
              <a:rPr lang="ko-KR" sz="1950" dirty="0">
                <a:solidFill>
                  <a:srgbClr val="F5F7FA"/>
                </a:solidFill>
                <a:latin typeface="Times New Roman"/>
                <a:ea typeface="Nanum Myeongjo"/>
                <a:cs typeface="Times New Roman"/>
              </a:rPr>
              <a:t>다른 일을 하고</a:t>
            </a:r>
          </a:p>
        </p:txBody>
      </p:sp>
      <p:sp>
        <p:nvSpPr>
          <p:cNvPr id="19" name="TextBox 19"/>
          <p:cNvSpPr txBox="1"/>
          <p:nvPr/>
        </p:nvSpPr>
        <p:spPr>
          <a:xfrm>
            <a:off x="546735" y="4228148"/>
            <a:ext cx="1715595" cy="396240"/>
          </a:xfrm>
          <a:prstGeom prst="rect">
            <a:avLst/>
          </a:prstGeom>
          <a:noFill/>
          <a:ln>
            <a:noFill/>
          </a:ln>
        </p:spPr>
        <p:txBody>
          <a:bodyPr wrap="none" lIns="0" tIns="0" rIns="0" bIns="0" anchor="t" anchorCtr="0">
            <a:spAutoFit/>
          </a:bodyPr>
          <a:lstStyle/>
          <a:p>
            <a:pPr algn="l"/>
            <a:r>
              <a:rPr lang="ko-KR" sz="1950" dirty="0">
                <a:solidFill>
                  <a:srgbClr val="F5F7FA"/>
                </a:solidFill>
                <a:latin typeface="Times New Roman"/>
                <a:ea typeface="Nanum Myeongjo"/>
                <a:cs typeface="Times New Roman"/>
              </a:rPr>
              <a:t>있을 것이다.</a:t>
            </a:r>
          </a:p>
        </p:txBody>
      </p:sp>
      <p:sp>
        <p:nvSpPr>
          <p:cNvPr id="20" name="Rectangle 20"/>
          <p:cNvSpPr/>
          <p:nvPr/>
        </p:nvSpPr>
        <p:spPr>
          <a:xfrm>
            <a:off x="571500" y="5286375"/>
            <a:ext cx="190500" cy="19050"/>
          </a:xfrm>
          <a:prstGeom prst="rect">
            <a:avLst/>
          </a:prstGeom>
          <a:solidFill>
            <a:srgbClr val="A0A8BD"/>
          </a:solidFill>
          <a:ln>
            <a:noFill/>
          </a:ln>
        </p:spPr>
      </p:sp>
      <p:sp>
        <p:nvSpPr>
          <p:cNvPr id="21" name="TextBox 21"/>
          <p:cNvSpPr txBox="1"/>
          <p:nvPr/>
        </p:nvSpPr>
        <p:spPr>
          <a:xfrm>
            <a:off x="843915" y="5220652"/>
            <a:ext cx="1897570" cy="213360"/>
          </a:xfrm>
          <a:prstGeom prst="rect">
            <a:avLst/>
          </a:prstGeom>
          <a:noFill/>
          <a:ln>
            <a:noFill/>
          </a:ln>
        </p:spPr>
        <p:txBody>
          <a:bodyPr wrap="none" lIns="0" tIns="0" rIns="0" bIns="0" anchor="t" anchorCtr="0">
            <a:spAutoFit/>
          </a:bodyPr>
          <a:lstStyle/>
          <a:p>
            <a:pPr algn="l"/>
            <a:r>
              <a:rPr lang="en-US" sz="1050" dirty="0">
                <a:solidFill>
                  <a:srgbClr val="A0A8BD"/>
                </a:solidFill>
                <a:latin typeface="Malgun Gothic"/>
                <a:ea typeface="Malgun Gothic"/>
                <a:cs typeface="Malgun Gothic"/>
              </a:rPr>
              <a:t>Industry Foresight, 2024</a:t>
            </a:r>
          </a:p>
        </p:txBody>
      </p:sp>
      <p:sp>
        <p:nvSpPr>
          <p:cNvPr id="22" name="Rectangle 22"/>
          <p:cNvSpPr/>
          <p:nvPr/>
        </p:nvSpPr>
        <p:spPr>
          <a:xfrm>
            <a:off x="4667250" y="2095500"/>
            <a:ext cx="28575" cy="419100"/>
          </a:xfrm>
          <a:prstGeom prst="rect">
            <a:avLst/>
          </a:prstGeom>
          <a:solidFill>
            <a:srgbClr val="00D9FF"/>
          </a:solidFill>
          <a:ln>
            <a:noFill/>
          </a:ln>
        </p:spPr>
      </p:sp>
      <p:sp>
        <p:nvSpPr>
          <p:cNvPr id="23" name="TextBox 23"/>
          <p:cNvSpPr txBox="1"/>
          <p:nvPr/>
        </p:nvSpPr>
        <p:spPr>
          <a:xfrm>
            <a:off x="4845368" y="2180749"/>
            <a:ext cx="1490048" cy="198120"/>
          </a:xfrm>
          <a:prstGeom prst="rect">
            <a:avLst/>
          </a:prstGeom>
          <a:noFill/>
          <a:ln>
            <a:noFill/>
          </a:ln>
        </p:spPr>
        <p:txBody>
          <a:bodyPr wrap="none" lIns="0" tIns="0" rIns="0" bIns="0" anchor="t" anchorCtr="0">
            <a:spAutoFit/>
          </a:bodyPr>
          <a:lstStyle/>
          <a:p>
            <a:pPr algn="l"/>
            <a:r>
              <a:rPr lang="ko-KR" sz="975" b="1" dirty="0">
                <a:solidFill>
                  <a:srgbClr val="00D9FF"/>
                </a:solidFill>
                <a:latin typeface="Malgun Gothic"/>
                <a:ea typeface="Malgun Gothic"/>
                <a:cs typeface="Malgun Gothic"/>
              </a:rPr>
              <a:t>FACT 01 — 코드의 주체</a:t>
            </a:r>
          </a:p>
        </p:txBody>
      </p:sp>
      <p:sp>
        <p:nvSpPr>
          <p:cNvPr id="24" name="TextBox 24"/>
          <p:cNvSpPr txBox="1"/>
          <p:nvPr/>
        </p:nvSpPr>
        <p:spPr>
          <a:xfrm>
            <a:off x="4836795" y="2326958"/>
            <a:ext cx="4242235"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GitHub Copilot이 작성하는 코드 비율</a:t>
            </a:r>
          </a:p>
        </p:txBody>
      </p:sp>
      <p:sp>
        <p:nvSpPr>
          <p:cNvPr id="25" name="TextBox 25"/>
          <p:cNvSpPr txBox="1"/>
          <p:nvPr/>
        </p:nvSpPr>
        <p:spPr>
          <a:xfrm>
            <a:off x="4796790" y="2386965"/>
            <a:ext cx="1336472" cy="975360"/>
          </a:xfrm>
          <a:prstGeom prst="rect">
            <a:avLst/>
          </a:prstGeom>
          <a:noFill/>
          <a:ln>
            <a:noFill/>
          </a:ln>
        </p:spPr>
        <p:txBody>
          <a:bodyPr wrap="none" lIns="0" tIns="0" rIns="0" bIns="0" anchor="t" anchorCtr="0">
            <a:spAutoFit/>
          </a:bodyPr>
          <a:lstStyle/>
          <a:p>
            <a:pPr algn="l"/>
            <a:r>
              <a:rPr lang="en-US" sz="4800" b="1" dirty="0">
                <a:solidFill>
                  <a:srgbClr val="00D9FF"/>
                </a:solidFill>
                <a:latin typeface="Malgun Gothic"/>
                <a:ea typeface="Malgun Gothic"/>
                <a:cs typeface="Malgun Gothic"/>
              </a:rPr>
              <a:t>46%</a:t>
            </a:r>
          </a:p>
        </p:txBody>
      </p:sp>
      <p:sp>
        <p:nvSpPr>
          <p:cNvPr id="26" name="TextBox 26"/>
          <p:cNvSpPr txBox="1"/>
          <p:nvPr/>
        </p:nvSpPr>
        <p:spPr>
          <a:xfrm>
            <a:off x="6271260" y="2775585"/>
            <a:ext cx="1861947" cy="243840"/>
          </a:xfrm>
          <a:prstGeom prst="rect">
            <a:avLst/>
          </a:prstGeom>
          <a:noFill/>
          <a:ln>
            <a:noFill/>
          </a:ln>
        </p:spPr>
        <p:txBody>
          <a:bodyPr wrap="none" lIns="0" tIns="0" rIns="0" bIns="0" anchor="t" anchorCtr="0">
            <a:spAutoFit/>
          </a:bodyPr>
          <a:lstStyle/>
          <a:p>
            <a:pPr algn="l"/>
            <a:r>
              <a:rPr lang="ko-KR" sz="1200" dirty="0">
                <a:solidFill>
                  <a:srgbClr val="A0A8BD"/>
                </a:solidFill>
                <a:latin typeface="Malgun Gothic"/>
                <a:ea typeface="Malgun Gothic"/>
                <a:cs typeface="Malgun Gothic"/>
              </a:rPr>
              <a:t>활성 사용자 평균 기준.</a:t>
            </a:r>
          </a:p>
        </p:txBody>
      </p:sp>
      <p:sp>
        <p:nvSpPr>
          <p:cNvPr id="27" name="TextBox 27"/>
          <p:cNvSpPr txBox="1"/>
          <p:nvPr/>
        </p:nvSpPr>
        <p:spPr>
          <a:xfrm>
            <a:off x="6271260" y="2985135"/>
            <a:ext cx="1975866" cy="243840"/>
          </a:xfrm>
          <a:prstGeom prst="rect">
            <a:avLst/>
          </a:prstGeom>
          <a:noFill/>
          <a:ln>
            <a:noFill/>
          </a:ln>
        </p:spPr>
        <p:txBody>
          <a:bodyPr wrap="none" lIns="0" tIns="0" rIns="0" bIns="0" anchor="t" anchorCtr="0">
            <a:spAutoFit/>
          </a:bodyPr>
          <a:lstStyle/>
          <a:p>
            <a:pPr algn="l"/>
            <a:r>
              <a:rPr lang="ko-KR" sz="1200" dirty="0">
                <a:solidFill>
                  <a:srgbClr val="A0A8BD"/>
                </a:solidFill>
                <a:latin typeface="Malgun Gothic"/>
                <a:ea typeface="Malgun Gothic"/>
                <a:cs typeface="Malgun Gothic"/>
              </a:rPr>
              <a:t>2년 전에는 거의 0%였다.</a:t>
            </a:r>
          </a:p>
        </p:txBody>
      </p:sp>
      <p:sp>
        <p:nvSpPr>
          <p:cNvPr id="28" name="Rectangle 28"/>
          <p:cNvSpPr/>
          <p:nvPr/>
        </p:nvSpPr>
        <p:spPr>
          <a:xfrm>
            <a:off x="4667250" y="3286125"/>
            <a:ext cx="6953250" cy="9525"/>
          </a:xfrm>
          <a:prstGeom prst="rect">
            <a:avLst/>
          </a:prstGeom>
          <a:solidFill>
            <a:srgbClr val="2A3252"/>
          </a:solidFill>
          <a:ln>
            <a:noFill/>
          </a:ln>
        </p:spPr>
      </p:sp>
      <p:sp>
        <p:nvSpPr>
          <p:cNvPr id="29" name="Rectangle 29"/>
          <p:cNvSpPr/>
          <p:nvPr/>
        </p:nvSpPr>
        <p:spPr>
          <a:xfrm>
            <a:off x="4667250" y="3476625"/>
            <a:ext cx="28575" cy="419100"/>
          </a:xfrm>
          <a:prstGeom prst="rect">
            <a:avLst/>
          </a:prstGeom>
          <a:solidFill>
            <a:srgbClr val="E63946"/>
          </a:solidFill>
          <a:ln>
            <a:noFill/>
          </a:ln>
        </p:spPr>
      </p:sp>
      <p:sp>
        <p:nvSpPr>
          <p:cNvPr id="30" name="TextBox 30"/>
          <p:cNvSpPr txBox="1"/>
          <p:nvPr/>
        </p:nvSpPr>
        <p:spPr>
          <a:xfrm>
            <a:off x="4845368" y="3561874"/>
            <a:ext cx="1377909" cy="198120"/>
          </a:xfrm>
          <a:prstGeom prst="rect">
            <a:avLst/>
          </a:prstGeom>
          <a:noFill/>
          <a:ln>
            <a:noFill/>
          </a:ln>
        </p:spPr>
        <p:txBody>
          <a:bodyPr wrap="none" lIns="0" tIns="0" rIns="0" bIns="0" anchor="t" anchorCtr="0">
            <a:spAutoFit/>
          </a:bodyPr>
          <a:lstStyle/>
          <a:p>
            <a:pPr algn="l"/>
            <a:r>
              <a:rPr lang="ko-KR" sz="975" b="1" dirty="0">
                <a:solidFill>
                  <a:srgbClr val="E63946"/>
                </a:solidFill>
                <a:latin typeface="Malgun Gothic"/>
                <a:ea typeface="Malgun Gothic"/>
                <a:cs typeface="Malgun Gothic"/>
              </a:rPr>
              <a:t>FACT 02 — 채용 시장</a:t>
            </a:r>
          </a:p>
        </p:txBody>
      </p:sp>
      <p:sp>
        <p:nvSpPr>
          <p:cNvPr id="31" name="TextBox 31"/>
          <p:cNvSpPr txBox="1"/>
          <p:nvPr/>
        </p:nvSpPr>
        <p:spPr>
          <a:xfrm>
            <a:off x="4836795" y="3708082"/>
            <a:ext cx="3938597"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글로벌 빅테크 2024년 개발자 채용</a:t>
            </a:r>
          </a:p>
        </p:txBody>
      </p:sp>
      <p:sp>
        <p:nvSpPr>
          <p:cNvPr id="32" name="TextBox 32"/>
          <p:cNvSpPr txBox="1"/>
          <p:nvPr/>
        </p:nvSpPr>
        <p:spPr>
          <a:xfrm>
            <a:off x="4796790" y="3815715"/>
            <a:ext cx="1741322" cy="975360"/>
          </a:xfrm>
          <a:prstGeom prst="rect">
            <a:avLst/>
          </a:prstGeom>
          <a:noFill/>
          <a:ln>
            <a:noFill/>
          </a:ln>
        </p:spPr>
        <p:txBody>
          <a:bodyPr wrap="none" lIns="0" tIns="0" rIns="0" bIns="0" anchor="t" anchorCtr="0">
            <a:spAutoFit/>
          </a:bodyPr>
          <a:lstStyle/>
          <a:p>
            <a:pPr algn="l"/>
            <a:r>
              <a:rPr lang="en-US" sz="4800" b="1" dirty="0">
                <a:solidFill>
                  <a:srgbClr val="E63946"/>
                </a:solidFill>
                <a:latin typeface="Malgun Gothic"/>
                <a:ea typeface="Malgun Gothic"/>
                <a:cs typeface="Malgun Gothic"/>
              </a:rPr>
              <a:t>−30%</a:t>
            </a:r>
          </a:p>
        </p:txBody>
      </p:sp>
      <p:sp>
        <p:nvSpPr>
          <p:cNvPr id="33" name="TextBox 33"/>
          <p:cNvSpPr txBox="1"/>
          <p:nvPr/>
        </p:nvSpPr>
        <p:spPr>
          <a:xfrm>
            <a:off x="6461760" y="4204335"/>
            <a:ext cx="2133600" cy="243840"/>
          </a:xfrm>
          <a:prstGeom prst="rect">
            <a:avLst/>
          </a:prstGeom>
          <a:noFill/>
          <a:ln>
            <a:noFill/>
          </a:ln>
        </p:spPr>
        <p:txBody>
          <a:bodyPr wrap="none" lIns="0" tIns="0" rIns="0" bIns="0" anchor="t" anchorCtr="0">
            <a:spAutoFit/>
          </a:bodyPr>
          <a:lstStyle/>
          <a:p>
            <a:pPr algn="l"/>
            <a:r>
              <a:rPr lang="ko-KR" sz="1200" dirty="0">
                <a:solidFill>
                  <a:srgbClr val="A0A8BD"/>
                </a:solidFill>
                <a:latin typeface="Malgun Gothic"/>
                <a:ea typeface="Malgun Gothic"/>
                <a:cs typeface="Malgun Gothic"/>
              </a:rPr>
              <a:t>전년 대비. Meta, Google,</a:t>
            </a:r>
          </a:p>
        </p:txBody>
      </p:sp>
      <p:sp>
        <p:nvSpPr>
          <p:cNvPr id="34" name="TextBox 34"/>
          <p:cNvSpPr txBox="1"/>
          <p:nvPr/>
        </p:nvSpPr>
        <p:spPr>
          <a:xfrm>
            <a:off x="6461760" y="4413885"/>
            <a:ext cx="2475357" cy="243840"/>
          </a:xfrm>
          <a:prstGeom prst="rect">
            <a:avLst/>
          </a:prstGeom>
          <a:noFill/>
          <a:ln>
            <a:noFill/>
          </a:ln>
        </p:spPr>
        <p:txBody>
          <a:bodyPr wrap="none" lIns="0" tIns="0" rIns="0" bIns="0" anchor="t" anchorCtr="0">
            <a:spAutoFit/>
          </a:bodyPr>
          <a:lstStyle/>
          <a:p>
            <a:pPr algn="l"/>
            <a:r>
              <a:rPr lang="ko-KR" sz="1200" dirty="0">
                <a:solidFill>
                  <a:srgbClr val="A0A8BD"/>
                </a:solidFill>
                <a:latin typeface="Malgun Gothic"/>
                <a:ea typeface="Malgun Gothic"/>
                <a:cs typeface="Malgun Gothic"/>
              </a:rPr>
              <a:t>Amazon 모두 감축에 합류했다.</a:t>
            </a:r>
          </a:p>
        </p:txBody>
      </p:sp>
      <p:sp>
        <p:nvSpPr>
          <p:cNvPr id="35" name="Rectangle 35"/>
          <p:cNvSpPr/>
          <p:nvPr/>
        </p:nvSpPr>
        <p:spPr>
          <a:xfrm>
            <a:off x="4667250" y="4714875"/>
            <a:ext cx="6953250" cy="9525"/>
          </a:xfrm>
          <a:prstGeom prst="rect">
            <a:avLst/>
          </a:prstGeom>
          <a:solidFill>
            <a:srgbClr val="2A3252"/>
          </a:solidFill>
          <a:ln>
            <a:noFill/>
          </a:ln>
        </p:spPr>
      </p:sp>
      <p:sp>
        <p:nvSpPr>
          <p:cNvPr id="36" name="Rectangle 36"/>
          <p:cNvSpPr/>
          <p:nvPr/>
        </p:nvSpPr>
        <p:spPr>
          <a:xfrm>
            <a:off x="4667250" y="4905375"/>
            <a:ext cx="28575" cy="419100"/>
          </a:xfrm>
          <a:prstGeom prst="rect">
            <a:avLst/>
          </a:prstGeom>
          <a:solidFill>
            <a:srgbClr val="FFB627"/>
          </a:solidFill>
          <a:ln>
            <a:noFill/>
          </a:ln>
        </p:spPr>
      </p:sp>
      <p:sp>
        <p:nvSpPr>
          <p:cNvPr id="37" name="TextBox 37"/>
          <p:cNvSpPr txBox="1"/>
          <p:nvPr/>
        </p:nvSpPr>
        <p:spPr>
          <a:xfrm>
            <a:off x="4845368" y="4990624"/>
            <a:ext cx="1826465" cy="198120"/>
          </a:xfrm>
          <a:prstGeom prst="rect">
            <a:avLst/>
          </a:prstGeom>
          <a:noFill/>
          <a:ln>
            <a:noFill/>
          </a:ln>
        </p:spPr>
        <p:txBody>
          <a:bodyPr wrap="none" lIns="0" tIns="0" rIns="0" bIns="0" anchor="t" anchorCtr="0">
            <a:spAutoFit/>
          </a:bodyPr>
          <a:lstStyle/>
          <a:p>
            <a:pPr algn="l"/>
            <a:r>
              <a:rPr lang="ko-KR" sz="975" b="1" dirty="0">
                <a:solidFill>
                  <a:srgbClr val="FFB627"/>
                </a:solidFill>
                <a:latin typeface="Malgun Gothic"/>
                <a:ea typeface="Malgun Gothic"/>
                <a:cs typeface="Malgun Gothic"/>
              </a:rPr>
              <a:t>FACT 03 — 새로운 패러다임</a:t>
            </a:r>
          </a:p>
        </p:txBody>
      </p:sp>
      <p:sp>
        <p:nvSpPr>
          <p:cNvPr id="38" name="TextBox 38"/>
          <p:cNvSpPr txBox="1"/>
          <p:nvPr/>
        </p:nvSpPr>
        <p:spPr>
          <a:xfrm>
            <a:off x="4836795" y="5136832"/>
            <a:ext cx="3078289" cy="335280"/>
          </a:xfrm>
          <a:prstGeom prst="rect">
            <a:avLst/>
          </a:prstGeom>
          <a:noFill/>
          <a:ln>
            <a:noFill/>
          </a:ln>
        </p:spPr>
        <p:txBody>
          <a:bodyPr wrap="none" lIns="0" tIns="0" rIns="0" bIns="0" anchor="t" anchorCtr="0">
            <a:spAutoFit/>
          </a:bodyPr>
          <a:lstStyle/>
          <a:p>
            <a:pPr algn="l"/>
            <a:r>
              <a:rPr lang="ko-KR" sz="1650" b="1" dirty="0">
                <a:solidFill>
                  <a:srgbClr val="F5F7FA"/>
                </a:solidFill>
                <a:latin typeface="Malgun Gothic"/>
                <a:ea typeface="Malgun Gothic"/>
                <a:cs typeface="Malgun Gothic"/>
              </a:rPr>
              <a:t>"Vibe coding" 시대의 도래</a:t>
            </a:r>
          </a:p>
        </p:txBody>
      </p:sp>
      <p:sp>
        <p:nvSpPr>
          <p:cNvPr id="39" name="TextBox 39"/>
          <p:cNvSpPr txBox="1"/>
          <p:nvPr/>
        </p:nvSpPr>
        <p:spPr>
          <a:xfrm>
            <a:off x="4842510" y="5537835"/>
            <a:ext cx="3342894" cy="243840"/>
          </a:xfrm>
          <a:prstGeom prst="rect">
            <a:avLst/>
          </a:prstGeom>
          <a:noFill/>
          <a:ln>
            <a:noFill/>
          </a:ln>
        </p:spPr>
        <p:txBody>
          <a:bodyPr wrap="none" lIns="0" tIns="0" rIns="0" bIns="0" anchor="t" anchorCtr="0">
            <a:spAutoFit/>
          </a:bodyPr>
          <a:lstStyle/>
          <a:p>
            <a:pPr algn="l"/>
            <a:r>
              <a:rPr lang="ko-KR" sz="1200" dirty="0">
                <a:solidFill>
                  <a:srgbClr val="A0A8BD"/>
                </a:solidFill>
                <a:latin typeface="Malgun Gothic"/>
                <a:ea typeface="Malgun Gothic"/>
                <a:cs typeface="Malgun Gothic"/>
              </a:rPr>
              <a:t>자연어로 의도를 말하면 AI가 코드를 짠다.</a:t>
            </a:r>
          </a:p>
        </p:txBody>
      </p:sp>
      <p:sp>
        <p:nvSpPr>
          <p:cNvPr id="40" name="TextBox 40"/>
          <p:cNvSpPr txBox="1"/>
          <p:nvPr/>
        </p:nvSpPr>
        <p:spPr>
          <a:xfrm>
            <a:off x="4842510" y="5747385"/>
            <a:ext cx="4263009" cy="243840"/>
          </a:xfrm>
          <a:prstGeom prst="rect">
            <a:avLst/>
          </a:prstGeom>
          <a:noFill/>
          <a:ln>
            <a:noFill/>
          </a:ln>
        </p:spPr>
        <p:txBody>
          <a:bodyPr wrap="none" lIns="0" tIns="0" rIns="0" bIns="0" anchor="t" anchorCtr="0">
            <a:spAutoFit/>
          </a:bodyPr>
          <a:lstStyle/>
          <a:p>
            <a:pPr algn="l"/>
            <a:r>
              <a:rPr lang="ko-KR" sz="1200" dirty="0">
                <a:solidFill>
                  <a:srgbClr val="A0A8BD"/>
                </a:solidFill>
                <a:latin typeface="Malgun Gothic"/>
                <a:ea typeface="Malgun Gothic"/>
                <a:cs typeface="Malgun Gothic"/>
              </a:rPr>
              <a:t>"타이핑하는 개발자"라는 직군 자체가 흔들리고 있다.</a:t>
            </a:r>
          </a:p>
        </p:txBody>
      </p:sp>
      <p:sp>
        <p:nvSpPr>
          <p:cNvPr id="41" name="Rectangle 41"/>
          <p:cNvSpPr/>
          <p:nvPr/>
        </p:nvSpPr>
        <p:spPr>
          <a:xfrm>
            <a:off x="571500" y="6457950"/>
            <a:ext cx="11049000" cy="9525"/>
          </a:xfrm>
          <a:prstGeom prst="rect">
            <a:avLst/>
          </a:prstGeom>
          <a:solidFill>
            <a:srgbClr val="2A3252"/>
          </a:solidFill>
          <a:ln>
            <a:noFill/>
          </a:ln>
        </p:spPr>
      </p:sp>
      <p:sp>
        <p:nvSpPr>
          <p:cNvPr id="42" name="TextBox 42"/>
          <p:cNvSpPr txBox="1"/>
          <p:nvPr/>
        </p:nvSpPr>
        <p:spPr>
          <a:xfrm>
            <a:off x="560070" y="6570345"/>
            <a:ext cx="1547622"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개발자의 종말 — AI의 시대</a:t>
            </a:r>
          </a:p>
        </p:txBody>
      </p:sp>
      <p:sp>
        <p:nvSpPr>
          <p:cNvPr id="43" name="TextBox 43"/>
          <p:cNvSpPr txBox="1"/>
          <p:nvPr/>
        </p:nvSpPr>
        <p:spPr>
          <a:xfrm>
            <a:off x="11201590" y="6570345"/>
            <a:ext cx="430340"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02 / 10</a:t>
            </a:r>
          </a:p>
        </p:txBody>
      </p:sp>
    </p:spTree>
  </p:cSld>
  <p:clrMapOvr>
    <a:masterClrMapping/>
  </p:clrMapOvr>
  <p:transition xmlns:p14="http://schemas.microsoft.com/office/powerpoint/2010/main" p14:dur="5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100000">
                <a:srgbClr val="141A2E"/>
              </a:gs>
            </a:gsLst>
            <a:lin ang="2700000" scaled="1"/>
          </a:gradFill>
          <a:ln>
            <a:noFill/>
          </a:ln>
        </p:spPr>
      </p:sp>
      <p:grpSp>
        <p:nvGrpSpPr>
          <p:cNvPr id="8" name="Group 8"/>
          <p:cNvGrpSpPr/>
          <p:nvPr/>
        </p:nvGrpSpPr>
        <p:grpSpPr>
          <a:xfrm>
            <a:off x="727710" y="666750"/>
            <a:ext cx="5761792" cy="1223962"/>
            <a:chOff x="727710" y="666750"/>
            <a:chExt cx="5761792" cy="1223962"/>
          </a:xfrm>
        </p:grpSpPr>
        <p:grpSp>
          <p:nvGrpSpPr>
            <p:cNvPr id="5" name="Group 5"/>
            <p:cNvGrpSpPr/>
            <p:nvPr/>
          </p:nvGrpSpPr>
          <p:grpSpPr>
            <a:xfrm>
              <a:off x="762000" y="666750"/>
              <a:ext cx="2187383" cy="245269"/>
              <a:chOff x="762000" y="666750"/>
              <a:chExt cx="2187383" cy="245269"/>
            </a:xfrm>
          </p:grpSpPr>
          <p:sp>
            <p:nvSpPr>
              <p:cNvPr id="3" name="Rectangle 3"/>
              <p:cNvSpPr/>
              <p:nvPr/>
            </p:nvSpPr>
            <p:spPr>
              <a:xfrm>
                <a:off x="762000" y="666750"/>
                <a:ext cx="57150" cy="190500"/>
              </a:xfrm>
              <a:prstGeom prst="rect">
                <a:avLst/>
              </a:prstGeom>
              <a:solidFill>
                <a:srgbClr val="E63946"/>
              </a:solidFill>
              <a:ln>
                <a:noFill/>
              </a:ln>
            </p:spPr>
          </p:sp>
          <p:sp>
            <p:nvSpPr>
              <p:cNvPr id="4" name="TextBox 4"/>
              <p:cNvSpPr txBox="1"/>
              <p:nvPr/>
            </p:nvSpPr>
            <p:spPr>
              <a:xfrm>
                <a:off x="921068" y="713899"/>
                <a:ext cx="2028315" cy="198120"/>
              </a:xfrm>
              <a:prstGeom prst="rect">
                <a:avLst/>
              </a:prstGeom>
              <a:noFill/>
              <a:ln>
                <a:noFill/>
              </a:ln>
            </p:spPr>
            <p:txBody>
              <a:bodyPr wrap="none" lIns="0" tIns="0" rIns="0" bIns="0" anchor="t" anchorCtr="0">
                <a:spAutoFit/>
              </a:bodyPr>
              <a:lstStyle/>
              <a:p>
                <a:pPr algn="l"/>
                <a:r>
                  <a:rPr lang="ko-KR" sz="975" b="1" dirty="0">
                    <a:solidFill>
                      <a:srgbClr val="A0A8BD"/>
                    </a:solidFill>
                    <a:latin typeface="Malgun Gothic"/>
                    <a:ea typeface="Malgun Gothic"/>
                    <a:cs typeface="Malgun Gothic"/>
                  </a:rPr>
                  <a:t>CHAPTER 02 · 진실 (REALITY)</a:t>
                </a:r>
              </a:p>
            </p:txBody>
          </p:sp>
        </p:grpSp>
        <p:sp>
          <p:nvSpPr>
            <p:cNvPr id="6" name="TextBox 6"/>
            <p:cNvSpPr txBox="1"/>
            <p:nvPr/>
          </p:nvSpPr>
          <p:spPr>
            <a:xfrm>
              <a:off x="727710" y="1118235"/>
              <a:ext cx="5761792"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 xml:space="preserve">변화의 속도, </a:t>
              </a:r>
              <a:r>
                <a:rPr lang="ko-KR" sz="2700" b="1" dirty="0">
                  <a:solidFill>
                    <a:srgbClr val="E63946"/>
                  </a:solidFill>
                  <a:latin typeface="Malgun Gothic"/>
                  <a:ea typeface="Malgun Gothic"/>
                  <a:cs typeface="Malgun Gothic"/>
                </a:rPr>
                <a:t>숫자가 말하는 것</a:t>
              </a:r>
            </a:p>
          </p:txBody>
        </p:sp>
        <p:sp>
          <p:nvSpPr>
            <p:cNvPr id="7" name="TextBox 7"/>
            <p:cNvSpPr txBox="1"/>
            <p:nvPr/>
          </p:nvSpPr>
          <p:spPr>
            <a:xfrm>
              <a:off x="744855" y="1616392"/>
              <a:ext cx="4164949" cy="274320"/>
            </a:xfrm>
            <a:prstGeom prst="rect">
              <a:avLst/>
            </a:prstGeom>
            <a:noFill/>
            <a:ln>
              <a:noFill/>
            </a:ln>
          </p:spPr>
          <p:txBody>
            <a:bodyPr wrap="none" lIns="0" tIns="0" rIns="0" bIns="0" anchor="t" anchorCtr="0">
              <a:spAutoFit/>
            </a:bodyPr>
            <a:lstStyle/>
            <a:p>
              <a:pPr algn="l"/>
              <a:r>
                <a:rPr lang="ko-KR" sz="1350" dirty="0">
                  <a:solidFill>
                    <a:srgbClr val="A0A8BD"/>
                  </a:solidFill>
                  <a:latin typeface="Malgun Gothic"/>
                  <a:ea typeface="Malgun Gothic"/>
                  <a:cs typeface="Malgun Gothic"/>
                </a:rPr>
                <a:t>감정이 아닌 데이터로 본 AI 코딩 시대의 현주소</a:t>
              </a:r>
            </a:p>
          </p:txBody>
        </p:sp>
      </p:grpSp>
      <p:sp>
        <p:nvSpPr>
          <p:cNvPr id="9" name="Line 9"/>
          <p:cNvSpPr/>
          <p:nvPr/>
        </p:nvSpPr>
        <p:spPr>
          <a:xfrm>
            <a:off x="762000" y="2190750"/>
            <a:ext cx="10668000" cy="9525"/>
          </a:xfrm>
          <a:custGeom>
            <a:avLst/>
            <a:gdLst/>
            <a:ahLst/>
            <a:cxnLst/>
            <a:rect l="l" t="t" r="r" b="b"/>
            <a:pathLst>
              <a:path w="10668000" h="9525">
                <a:moveTo>
                  <a:pt x="0" y="0"/>
                </a:moveTo>
                <a:lnTo>
                  <a:pt x="10668000" y="0"/>
                </a:lnTo>
              </a:path>
            </a:pathLst>
          </a:custGeom>
          <a:noFill/>
          <a:ln w="9525">
            <a:gradFill>
              <a:gsLst>
                <a:gs pos="0">
                  <a:srgbClr val="2A3252">
                    <a:alpha val="0"/>
                  </a:srgbClr>
                </a:gs>
                <a:gs pos="50000">
                  <a:srgbClr val="2A3252"/>
                </a:gs>
                <a:gs pos="100000">
                  <a:srgbClr val="2A3252">
                    <a:alpha val="0"/>
                  </a:srgbClr>
                </a:gs>
              </a:gsLst>
              <a:lin ang="0" scaled="1"/>
            </a:gradFill>
          </a:ln>
        </p:spPr>
      </p:sp>
      <p:grpSp>
        <p:nvGrpSpPr>
          <p:cNvPr id="20" name="Group 20"/>
          <p:cNvGrpSpPr/>
          <p:nvPr/>
        </p:nvGrpSpPr>
        <p:grpSpPr>
          <a:xfrm>
            <a:off x="762000" y="2571750"/>
            <a:ext cx="3429000" cy="3238500"/>
            <a:chOff x="762000" y="2571750"/>
            <a:chExt cx="3429000" cy="3238500"/>
          </a:xfrm>
        </p:grpSpPr>
        <p:sp>
          <p:nvSpPr>
            <p:cNvPr id="10" name="Rectangle 10"/>
            <p:cNvSpPr/>
            <p:nvPr/>
          </p:nvSpPr>
          <p:spPr>
            <a:xfrm>
              <a:off x="762000" y="2571750"/>
              <a:ext cx="3429000" cy="3238500"/>
            </a:xfrm>
            <a:prstGeom prst="roundRect">
              <a:avLst>
                <a:gd name="adj" fmla="val 588"/>
              </a:avLst>
            </a:prstGeom>
            <a:solidFill>
              <a:srgbClr val="1E2540">
                <a:alpha val="40000"/>
              </a:srgbClr>
            </a:solidFill>
            <a:ln>
              <a:noFill/>
            </a:ln>
          </p:spPr>
        </p:sp>
        <p:sp>
          <p:nvSpPr>
            <p:cNvPr id="11" name="Rectangle 11"/>
            <p:cNvSpPr/>
            <p:nvPr/>
          </p:nvSpPr>
          <p:spPr>
            <a:xfrm>
              <a:off x="762000" y="2571750"/>
              <a:ext cx="3429000" cy="1524000"/>
            </a:xfrm>
            <a:prstGeom prst="roundRect">
              <a:avLst>
                <a:gd name="adj" fmla="val 1250"/>
              </a:avLst>
            </a:prstGeom>
            <a:gradFill>
              <a:gsLst>
                <a:gs pos="0">
                  <a:srgbClr val="E63946">
                    <a:alpha val="15000"/>
                  </a:srgbClr>
                </a:gs>
                <a:gs pos="100000">
                  <a:srgbClr val="E63946">
                    <a:alpha val="0"/>
                  </a:srgbClr>
                </a:gs>
              </a:gsLst>
              <a:lin ang="5400000" scaled="1"/>
            </a:gradFill>
            <a:ln>
              <a:noFill/>
            </a:ln>
          </p:spPr>
        </p:sp>
        <p:sp>
          <p:nvSpPr>
            <p:cNvPr id="12" name="Rectangle 12"/>
            <p:cNvSpPr/>
            <p:nvPr/>
          </p:nvSpPr>
          <p:spPr>
            <a:xfrm>
              <a:off x="762000" y="2571750"/>
              <a:ext cx="571500" cy="28575"/>
            </a:xfrm>
            <a:prstGeom prst="rect">
              <a:avLst/>
            </a:prstGeom>
            <a:solidFill>
              <a:srgbClr val="E63946"/>
            </a:solidFill>
            <a:ln>
              <a:noFill/>
            </a:ln>
          </p:spPr>
        </p:sp>
        <p:sp>
          <p:nvSpPr>
            <p:cNvPr id="13" name="TextBox 13"/>
            <p:cNvSpPr txBox="1"/>
            <p:nvPr/>
          </p:nvSpPr>
          <p:spPr>
            <a:xfrm>
              <a:off x="1416368" y="2942749"/>
              <a:ext cx="1243342" cy="198120"/>
            </a:xfrm>
            <a:prstGeom prst="rect">
              <a:avLst/>
            </a:prstGeom>
            <a:noFill/>
            <a:ln>
              <a:noFill/>
            </a:ln>
          </p:spPr>
          <p:txBody>
            <a:bodyPr wrap="none" lIns="0" tIns="0" rIns="0" bIns="0" anchor="t" anchorCtr="0">
              <a:spAutoFit/>
            </a:bodyPr>
            <a:lstStyle/>
            <a:p>
              <a:pPr algn="l"/>
              <a:r>
                <a:rPr lang="en-US" sz="975" b="1" dirty="0">
                  <a:solidFill>
                    <a:srgbClr val="E63946"/>
                  </a:solidFill>
                  <a:latin typeface="Malgun Gothic"/>
                  <a:ea typeface="Malgun Gothic"/>
                  <a:cs typeface="Malgun Gothic"/>
                </a:rPr>
                <a:t>CODE GENERATION</a:t>
              </a:r>
            </a:p>
          </p:txBody>
        </p:sp>
        <p:sp>
          <p:nvSpPr>
            <p:cNvPr id="14" name="TextBox 14"/>
            <p:cNvSpPr txBox="1"/>
            <p:nvPr/>
          </p:nvSpPr>
          <p:spPr>
            <a:xfrm>
              <a:off x="933450" y="3314700"/>
              <a:ext cx="2505885" cy="1828800"/>
            </a:xfrm>
            <a:prstGeom prst="rect">
              <a:avLst/>
            </a:prstGeom>
            <a:noFill/>
            <a:ln>
              <a:noFill/>
            </a:ln>
          </p:spPr>
          <p:txBody>
            <a:bodyPr wrap="none" lIns="0" tIns="0" rIns="0" bIns="0" anchor="t" anchorCtr="0">
              <a:spAutoFit/>
            </a:bodyPr>
            <a:lstStyle/>
            <a:p>
              <a:pPr algn="l"/>
              <a:r>
                <a:rPr lang="en-US" sz="9000" b="1" dirty="0">
                  <a:solidFill>
                    <a:srgbClr val="F5F7FA"/>
                  </a:solidFill>
                  <a:latin typeface="Malgun Gothic"/>
                  <a:ea typeface="Malgun Gothic"/>
                  <a:cs typeface="Malgun Gothic"/>
                </a:rPr>
                <a:t>46</a:t>
              </a:r>
              <a:r>
                <a:rPr lang="en-US" sz="4800" b="1" dirty="0">
                  <a:solidFill>
                    <a:srgbClr val="E63946"/>
                  </a:solidFill>
                  <a:latin typeface="Malgun Gothic"/>
                  <a:ea typeface="Malgun Gothic"/>
                  <a:cs typeface="Malgun Gothic"/>
                </a:rPr>
                <a:t>%</a:t>
              </a:r>
            </a:p>
          </p:txBody>
        </p:sp>
        <p:sp>
          <p:nvSpPr>
            <p:cNvPr id="15" name="Line 15"/>
            <p:cNvSpPr/>
            <p:nvPr/>
          </p:nvSpPr>
          <p:spPr>
            <a:xfrm>
              <a:off x="1047750" y="4572000"/>
              <a:ext cx="666750" cy="9525"/>
            </a:xfrm>
            <a:custGeom>
              <a:avLst/>
              <a:gdLst/>
              <a:ahLst/>
              <a:cxnLst/>
              <a:rect l="l" t="t" r="r" b="b"/>
              <a:pathLst>
                <a:path w="666750" h="9525">
                  <a:moveTo>
                    <a:pt x="0" y="0"/>
                  </a:moveTo>
                  <a:lnTo>
                    <a:pt x="666750" y="0"/>
                  </a:lnTo>
                </a:path>
              </a:pathLst>
            </a:custGeom>
            <a:noFill/>
            <a:ln w="19050">
              <a:solidFill>
                <a:srgbClr val="E63946"/>
              </a:solidFill>
            </a:ln>
          </p:spPr>
        </p:sp>
        <p:sp>
          <p:nvSpPr>
            <p:cNvPr id="16" name="TextBox 16"/>
            <p:cNvSpPr txBox="1"/>
            <p:nvPr/>
          </p:nvSpPr>
          <p:spPr>
            <a:xfrm>
              <a:off x="1031558" y="4758214"/>
              <a:ext cx="1537923"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GitHub Copilot이</a:t>
              </a:r>
            </a:p>
          </p:txBody>
        </p:sp>
        <p:sp>
          <p:nvSpPr>
            <p:cNvPr id="17" name="TextBox 17"/>
            <p:cNvSpPr txBox="1"/>
            <p:nvPr/>
          </p:nvSpPr>
          <p:spPr>
            <a:xfrm>
              <a:off x="1031558" y="4986814"/>
              <a:ext cx="1713895"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작성하는 코드 비율</a:t>
              </a:r>
            </a:p>
          </p:txBody>
        </p:sp>
        <p:sp>
          <p:nvSpPr>
            <p:cNvPr id="18" name="TextBox 18"/>
            <p:cNvSpPr txBox="1"/>
            <p:nvPr/>
          </p:nvSpPr>
          <p:spPr>
            <a:xfrm>
              <a:off x="1035368" y="5304949"/>
              <a:ext cx="1797629"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활성화된 개발자 파일 기준,</a:t>
              </a:r>
            </a:p>
          </p:txBody>
        </p:sp>
        <p:sp>
          <p:nvSpPr>
            <p:cNvPr id="19" name="TextBox 19"/>
            <p:cNvSpPr txBox="1"/>
            <p:nvPr/>
          </p:nvSpPr>
          <p:spPr>
            <a:xfrm>
              <a:off x="1035368" y="5476399"/>
              <a:ext cx="2025467"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절반에 가까운 코드가 AI 생성물</a:t>
              </a:r>
            </a:p>
          </p:txBody>
        </p:sp>
      </p:grpSp>
      <p:grpSp>
        <p:nvGrpSpPr>
          <p:cNvPr id="31" name="Group 31"/>
          <p:cNvGrpSpPr/>
          <p:nvPr/>
        </p:nvGrpSpPr>
        <p:grpSpPr>
          <a:xfrm>
            <a:off x="4381500" y="2571750"/>
            <a:ext cx="3429000" cy="3238500"/>
            <a:chOff x="4381500" y="2571750"/>
            <a:chExt cx="3429000" cy="3238500"/>
          </a:xfrm>
        </p:grpSpPr>
        <p:sp>
          <p:nvSpPr>
            <p:cNvPr id="21" name="Rectangle 21"/>
            <p:cNvSpPr/>
            <p:nvPr/>
          </p:nvSpPr>
          <p:spPr>
            <a:xfrm>
              <a:off x="4381500" y="2571750"/>
              <a:ext cx="3429000" cy="3238500"/>
            </a:xfrm>
            <a:prstGeom prst="roundRect">
              <a:avLst>
                <a:gd name="adj" fmla="val 588"/>
              </a:avLst>
            </a:prstGeom>
            <a:solidFill>
              <a:srgbClr val="1E2540">
                <a:alpha val="40000"/>
              </a:srgbClr>
            </a:solidFill>
            <a:ln>
              <a:noFill/>
            </a:ln>
          </p:spPr>
        </p:sp>
        <p:sp>
          <p:nvSpPr>
            <p:cNvPr id="22" name="Rectangle 22"/>
            <p:cNvSpPr/>
            <p:nvPr/>
          </p:nvSpPr>
          <p:spPr>
            <a:xfrm>
              <a:off x="4381500" y="2571750"/>
              <a:ext cx="3429000" cy="1524000"/>
            </a:xfrm>
            <a:prstGeom prst="roundRect">
              <a:avLst>
                <a:gd name="adj" fmla="val 1250"/>
              </a:avLst>
            </a:prstGeom>
            <a:gradFill>
              <a:gsLst>
                <a:gs pos="0">
                  <a:srgbClr val="FFB627">
                    <a:alpha val="15000"/>
                  </a:srgbClr>
                </a:gs>
                <a:gs pos="100000">
                  <a:srgbClr val="FFB627">
                    <a:alpha val="0"/>
                  </a:srgbClr>
                </a:gs>
              </a:gsLst>
              <a:lin ang="5400000" scaled="1"/>
            </a:gradFill>
            <a:ln>
              <a:noFill/>
            </a:ln>
          </p:spPr>
        </p:sp>
        <p:sp>
          <p:nvSpPr>
            <p:cNvPr id="23" name="Rectangle 23"/>
            <p:cNvSpPr/>
            <p:nvPr/>
          </p:nvSpPr>
          <p:spPr>
            <a:xfrm>
              <a:off x="4381500" y="2571750"/>
              <a:ext cx="571500" cy="28575"/>
            </a:xfrm>
            <a:prstGeom prst="rect">
              <a:avLst/>
            </a:prstGeom>
            <a:solidFill>
              <a:srgbClr val="FFB627"/>
            </a:solidFill>
            <a:ln>
              <a:noFill/>
            </a:ln>
          </p:spPr>
        </p:sp>
        <p:sp>
          <p:nvSpPr>
            <p:cNvPr id="24" name="TextBox 24"/>
            <p:cNvSpPr txBox="1"/>
            <p:nvPr/>
          </p:nvSpPr>
          <p:spPr>
            <a:xfrm>
              <a:off x="5035868" y="2942749"/>
              <a:ext cx="1288198" cy="198120"/>
            </a:xfrm>
            <a:prstGeom prst="rect">
              <a:avLst/>
            </a:prstGeom>
            <a:noFill/>
            <a:ln>
              <a:noFill/>
            </a:ln>
          </p:spPr>
          <p:txBody>
            <a:bodyPr wrap="none" lIns="0" tIns="0" rIns="0" bIns="0" anchor="t" anchorCtr="0">
              <a:spAutoFit/>
            </a:bodyPr>
            <a:lstStyle/>
            <a:p>
              <a:pPr algn="l"/>
              <a:r>
                <a:rPr lang="en-US" sz="975" b="1" dirty="0">
                  <a:solidFill>
                    <a:srgbClr val="FFB627"/>
                  </a:solidFill>
                  <a:latin typeface="Malgun Gothic"/>
                  <a:ea typeface="Malgun Gothic"/>
                  <a:cs typeface="Malgun Gothic"/>
                </a:rPr>
                <a:t>MODEL CAPABILITY</a:t>
              </a:r>
            </a:p>
          </p:txBody>
        </p:sp>
        <p:sp>
          <p:nvSpPr>
            <p:cNvPr id="25" name="TextBox 25"/>
            <p:cNvSpPr txBox="1"/>
            <p:nvPr/>
          </p:nvSpPr>
          <p:spPr>
            <a:xfrm>
              <a:off x="4552950" y="3314700"/>
              <a:ext cx="2160842" cy="1828800"/>
            </a:xfrm>
            <a:prstGeom prst="rect">
              <a:avLst/>
            </a:prstGeom>
            <a:noFill/>
            <a:ln>
              <a:noFill/>
            </a:ln>
          </p:spPr>
          <p:txBody>
            <a:bodyPr wrap="none" lIns="0" tIns="0" rIns="0" bIns="0" anchor="t" anchorCtr="0">
              <a:spAutoFit/>
            </a:bodyPr>
            <a:lstStyle/>
            <a:p>
              <a:pPr algn="l"/>
              <a:r>
                <a:rPr lang="en-US" sz="9000" b="1" dirty="0">
                  <a:solidFill>
                    <a:srgbClr val="F5F7FA"/>
                  </a:solidFill>
                  <a:latin typeface="Malgun Gothic"/>
                  <a:ea typeface="Malgun Gothic"/>
                  <a:cs typeface="Malgun Gothic"/>
                </a:rPr>
                <a:t>10</a:t>
              </a:r>
              <a:r>
                <a:rPr lang="en-US" sz="6300" b="1" dirty="0">
                  <a:solidFill>
                    <a:srgbClr val="FFB627"/>
                  </a:solidFill>
                  <a:latin typeface="Malgun Gothic"/>
                  <a:ea typeface="Malgun Gothic"/>
                  <a:cs typeface="Malgun Gothic"/>
                </a:rPr>
                <a:t>×</a:t>
              </a:r>
            </a:p>
          </p:txBody>
        </p:sp>
        <p:sp>
          <p:nvSpPr>
            <p:cNvPr id="26" name="Line 26"/>
            <p:cNvSpPr/>
            <p:nvPr/>
          </p:nvSpPr>
          <p:spPr>
            <a:xfrm>
              <a:off x="4667250" y="4572000"/>
              <a:ext cx="666750" cy="9525"/>
            </a:xfrm>
            <a:custGeom>
              <a:avLst/>
              <a:gdLst/>
              <a:ahLst/>
              <a:cxnLst/>
              <a:rect l="l" t="t" r="r" b="b"/>
              <a:pathLst>
                <a:path w="666750" h="9525">
                  <a:moveTo>
                    <a:pt x="0" y="0"/>
                  </a:moveTo>
                  <a:lnTo>
                    <a:pt x="666750" y="0"/>
                  </a:lnTo>
                </a:path>
              </a:pathLst>
            </a:custGeom>
            <a:noFill/>
            <a:ln w="19050">
              <a:solidFill>
                <a:srgbClr val="FFB627"/>
              </a:solidFill>
            </a:ln>
          </p:spPr>
        </p:sp>
        <p:sp>
          <p:nvSpPr>
            <p:cNvPr id="27" name="TextBox 27"/>
            <p:cNvSpPr txBox="1"/>
            <p:nvPr/>
          </p:nvSpPr>
          <p:spPr>
            <a:xfrm>
              <a:off x="4651058" y="4758214"/>
              <a:ext cx="1899643"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GPT 모델의 추론 능력</a:t>
              </a:r>
            </a:p>
          </p:txBody>
        </p:sp>
        <p:sp>
          <p:nvSpPr>
            <p:cNvPr id="28" name="TextBox 28"/>
            <p:cNvSpPr txBox="1"/>
            <p:nvPr/>
          </p:nvSpPr>
          <p:spPr>
            <a:xfrm>
              <a:off x="4651058" y="4986814"/>
              <a:ext cx="1704119"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향상 (단 2년 사이)</a:t>
              </a:r>
            </a:p>
          </p:txBody>
        </p:sp>
        <p:sp>
          <p:nvSpPr>
            <p:cNvPr id="29" name="TextBox 29"/>
            <p:cNvSpPr txBox="1"/>
            <p:nvPr/>
          </p:nvSpPr>
          <p:spPr>
            <a:xfrm>
              <a:off x="4654868" y="5304949"/>
              <a:ext cx="1733550"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GPT-3.5에서 GPT-4o까지,</a:t>
              </a:r>
            </a:p>
          </p:txBody>
        </p:sp>
        <p:sp>
          <p:nvSpPr>
            <p:cNvPr id="30" name="TextBox 30"/>
            <p:cNvSpPr txBox="1"/>
            <p:nvPr/>
          </p:nvSpPr>
          <p:spPr>
            <a:xfrm>
              <a:off x="4654868" y="5476399"/>
              <a:ext cx="1883069"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벤치마크 기준 평균 10배 도약</a:t>
              </a:r>
            </a:p>
          </p:txBody>
        </p:sp>
      </p:grpSp>
      <p:grpSp>
        <p:nvGrpSpPr>
          <p:cNvPr id="42" name="Group 42"/>
          <p:cNvGrpSpPr/>
          <p:nvPr/>
        </p:nvGrpSpPr>
        <p:grpSpPr>
          <a:xfrm>
            <a:off x="8001000" y="2571750"/>
            <a:ext cx="3436429" cy="3238500"/>
            <a:chOff x="8001000" y="2571750"/>
            <a:chExt cx="3436429" cy="3238500"/>
          </a:xfrm>
        </p:grpSpPr>
        <p:sp>
          <p:nvSpPr>
            <p:cNvPr id="32" name="Rectangle 32"/>
            <p:cNvSpPr/>
            <p:nvPr/>
          </p:nvSpPr>
          <p:spPr>
            <a:xfrm>
              <a:off x="8001000" y="2571750"/>
              <a:ext cx="3429000" cy="3238500"/>
            </a:xfrm>
            <a:prstGeom prst="roundRect">
              <a:avLst>
                <a:gd name="adj" fmla="val 588"/>
              </a:avLst>
            </a:prstGeom>
            <a:solidFill>
              <a:srgbClr val="1E2540">
                <a:alpha val="40000"/>
              </a:srgbClr>
            </a:solidFill>
            <a:ln>
              <a:noFill/>
            </a:ln>
          </p:spPr>
        </p:sp>
        <p:sp>
          <p:nvSpPr>
            <p:cNvPr id="33" name="Rectangle 33"/>
            <p:cNvSpPr/>
            <p:nvPr/>
          </p:nvSpPr>
          <p:spPr>
            <a:xfrm>
              <a:off x="8001000" y="2571750"/>
              <a:ext cx="3429000" cy="1524000"/>
            </a:xfrm>
            <a:prstGeom prst="roundRect">
              <a:avLst>
                <a:gd name="adj" fmla="val 1250"/>
              </a:avLst>
            </a:prstGeom>
            <a:gradFill>
              <a:gsLst>
                <a:gs pos="0">
                  <a:srgbClr val="00D9FF">
                    <a:alpha val="15000"/>
                  </a:srgbClr>
                </a:gs>
                <a:gs pos="100000">
                  <a:srgbClr val="00D9FF">
                    <a:alpha val="0"/>
                  </a:srgbClr>
                </a:gs>
              </a:gsLst>
              <a:lin ang="5400000" scaled="1"/>
            </a:gradFill>
            <a:ln>
              <a:noFill/>
            </a:ln>
          </p:spPr>
        </p:sp>
        <p:sp>
          <p:nvSpPr>
            <p:cNvPr id="34" name="Rectangle 34"/>
            <p:cNvSpPr/>
            <p:nvPr/>
          </p:nvSpPr>
          <p:spPr>
            <a:xfrm>
              <a:off x="8001000" y="2571750"/>
              <a:ext cx="571500" cy="28575"/>
            </a:xfrm>
            <a:prstGeom prst="rect">
              <a:avLst/>
            </a:prstGeom>
            <a:solidFill>
              <a:srgbClr val="00D9FF"/>
            </a:solidFill>
            <a:ln>
              <a:noFill/>
            </a:ln>
          </p:spPr>
        </p:sp>
        <p:sp>
          <p:nvSpPr>
            <p:cNvPr id="35" name="TextBox 35"/>
            <p:cNvSpPr txBox="1"/>
            <p:nvPr/>
          </p:nvSpPr>
          <p:spPr>
            <a:xfrm>
              <a:off x="8655368" y="2942749"/>
              <a:ext cx="974209" cy="198120"/>
            </a:xfrm>
            <a:prstGeom prst="rect">
              <a:avLst/>
            </a:prstGeom>
            <a:noFill/>
            <a:ln>
              <a:noFill/>
            </a:ln>
          </p:spPr>
          <p:txBody>
            <a:bodyPr wrap="none" lIns="0" tIns="0" rIns="0" bIns="0" anchor="t" anchorCtr="0">
              <a:spAutoFit/>
            </a:bodyPr>
            <a:lstStyle/>
            <a:p>
              <a:pPr algn="l"/>
              <a:r>
                <a:rPr lang="en-US" sz="975" b="1" dirty="0">
                  <a:solidFill>
                    <a:srgbClr val="00D9FF"/>
                  </a:solidFill>
                  <a:latin typeface="Malgun Gothic"/>
                  <a:ea typeface="Malgun Gothic"/>
                  <a:cs typeface="Malgun Gothic"/>
                </a:rPr>
                <a:t>JUNIOR HIRING</a:t>
              </a:r>
            </a:p>
          </p:txBody>
        </p:sp>
        <p:sp>
          <p:nvSpPr>
            <p:cNvPr id="36" name="TextBox 36"/>
            <p:cNvSpPr txBox="1"/>
            <p:nvPr/>
          </p:nvSpPr>
          <p:spPr>
            <a:xfrm>
              <a:off x="8172450" y="3314700"/>
              <a:ext cx="3264979" cy="1828800"/>
            </a:xfrm>
            <a:prstGeom prst="rect">
              <a:avLst/>
            </a:prstGeom>
            <a:noFill/>
            <a:ln>
              <a:noFill/>
            </a:ln>
          </p:spPr>
          <p:txBody>
            <a:bodyPr wrap="none" lIns="0" tIns="0" rIns="0" bIns="0" anchor="t" anchorCtr="0">
              <a:spAutoFit/>
            </a:bodyPr>
            <a:lstStyle/>
            <a:p>
              <a:pPr algn="l"/>
              <a:r>
                <a:rPr lang="en-US" sz="9000" b="1" dirty="0">
                  <a:solidFill>
                    <a:srgbClr val="F5F7FA"/>
                  </a:solidFill>
                  <a:latin typeface="Malgun Gothic"/>
                  <a:ea typeface="Malgun Gothic"/>
                  <a:cs typeface="Malgun Gothic"/>
                </a:rPr>
                <a:t>−30</a:t>
              </a:r>
              <a:r>
                <a:rPr lang="en-US" sz="4800" b="1" dirty="0">
                  <a:solidFill>
                    <a:srgbClr val="00D9FF"/>
                  </a:solidFill>
                  <a:latin typeface="Malgun Gothic"/>
                  <a:ea typeface="Malgun Gothic"/>
                  <a:cs typeface="Malgun Gothic"/>
                </a:rPr>
                <a:t>%</a:t>
              </a:r>
            </a:p>
          </p:txBody>
        </p:sp>
        <p:sp>
          <p:nvSpPr>
            <p:cNvPr id="37" name="Line 37"/>
            <p:cNvSpPr/>
            <p:nvPr/>
          </p:nvSpPr>
          <p:spPr>
            <a:xfrm>
              <a:off x="8286750" y="4572000"/>
              <a:ext cx="666750" cy="9525"/>
            </a:xfrm>
            <a:custGeom>
              <a:avLst/>
              <a:gdLst/>
              <a:ahLst/>
              <a:cxnLst/>
              <a:rect l="l" t="t" r="r" b="b"/>
              <a:pathLst>
                <a:path w="666750" h="9525">
                  <a:moveTo>
                    <a:pt x="0" y="0"/>
                  </a:moveTo>
                  <a:lnTo>
                    <a:pt x="666750" y="0"/>
                  </a:lnTo>
                </a:path>
              </a:pathLst>
            </a:custGeom>
            <a:noFill/>
            <a:ln w="19050">
              <a:solidFill>
                <a:srgbClr val="00D9FF"/>
              </a:solidFill>
            </a:ln>
          </p:spPr>
        </p:sp>
        <p:sp>
          <p:nvSpPr>
            <p:cNvPr id="38" name="TextBox 38"/>
            <p:cNvSpPr txBox="1"/>
            <p:nvPr/>
          </p:nvSpPr>
          <p:spPr>
            <a:xfrm>
              <a:off x="8270558" y="4758214"/>
              <a:ext cx="1459713"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빅테크의 주니어</a:t>
              </a:r>
            </a:p>
          </p:txBody>
        </p:sp>
        <p:sp>
          <p:nvSpPr>
            <p:cNvPr id="39" name="TextBox 39"/>
            <p:cNvSpPr txBox="1"/>
            <p:nvPr/>
          </p:nvSpPr>
          <p:spPr>
            <a:xfrm>
              <a:off x="8270558" y="4986814"/>
              <a:ext cx="1713895" cy="259080"/>
            </a:xfrm>
            <a:prstGeom prst="rect">
              <a:avLst/>
            </a:prstGeom>
            <a:noFill/>
            <a:ln>
              <a:noFill/>
            </a:ln>
          </p:spPr>
          <p:txBody>
            <a:bodyPr wrap="none" lIns="0" tIns="0" rIns="0" bIns="0" anchor="t" anchorCtr="0">
              <a:spAutoFit/>
            </a:bodyPr>
            <a:lstStyle/>
            <a:p>
              <a:pPr algn="l"/>
              <a:r>
                <a:rPr lang="ko-KR" sz="1275" b="1" dirty="0">
                  <a:solidFill>
                    <a:srgbClr val="F5F7FA"/>
                  </a:solidFill>
                  <a:latin typeface="Malgun Gothic"/>
                  <a:ea typeface="Malgun Gothic"/>
                  <a:cs typeface="Malgun Gothic"/>
                </a:rPr>
                <a:t>개발자 채용 감소율</a:t>
              </a:r>
            </a:p>
          </p:txBody>
        </p:sp>
        <p:sp>
          <p:nvSpPr>
            <p:cNvPr id="40" name="TextBox 40"/>
            <p:cNvSpPr txBox="1"/>
            <p:nvPr/>
          </p:nvSpPr>
          <p:spPr>
            <a:xfrm>
              <a:off x="8274368" y="5304949"/>
              <a:ext cx="2267545"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시니어 채용은 증가, 진입 사다리는</a:t>
              </a:r>
            </a:p>
          </p:txBody>
        </p:sp>
        <p:sp>
          <p:nvSpPr>
            <p:cNvPr id="41" name="TextBox 41"/>
            <p:cNvSpPr txBox="1"/>
            <p:nvPr/>
          </p:nvSpPr>
          <p:spPr>
            <a:xfrm>
              <a:off x="8274368" y="5476399"/>
              <a:ext cx="1534192"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사라지는 역설적 양극화</a:t>
              </a:r>
            </a:p>
          </p:txBody>
        </p:sp>
      </p:grpSp>
      <p:grpSp>
        <p:nvGrpSpPr>
          <p:cNvPr id="46" name="Group 46"/>
          <p:cNvGrpSpPr/>
          <p:nvPr/>
        </p:nvGrpSpPr>
        <p:grpSpPr>
          <a:xfrm>
            <a:off x="762000" y="6143625"/>
            <a:ext cx="2696699" cy="442913"/>
            <a:chOff x="762000" y="6143625"/>
            <a:chExt cx="2696699" cy="442913"/>
          </a:xfrm>
        </p:grpSpPr>
        <p:sp>
          <p:nvSpPr>
            <p:cNvPr id="43" name="Rectangle 43"/>
            <p:cNvSpPr/>
            <p:nvPr/>
          </p:nvSpPr>
          <p:spPr>
            <a:xfrm>
              <a:off x="762000" y="6143625"/>
              <a:ext cx="28575" cy="342900"/>
            </a:xfrm>
            <a:prstGeom prst="rect">
              <a:avLst/>
            </a:prstGeom>
            <a:solidFill>
              <a:srgbClr val="E63946"/>
            </a:solidFill>
            <a:ln>
              <a:noFill/>
            </a:ln>
          </p:spPr>
        </p:sp>
        <p:sp>
          <p:nvSpPr>
            <p:cNvPr id="44" name="TextBox 44"/>
            <p:cNvSpPr txBox="1"/>
            <p:nvPr/>
          </p:nvSpPr>
          <p:spPr>
            <a:xfrm>
              <a:off x="920115" y="6182678"/>
              <a:ext cx="2533983" cy="213360"/>
            </a:xfrm>
            <a:prstGeom prst="rect">
              <a:avLst/>
            </a:prstGeom>
            <a:noFill/>
            <a:ln>
              <a:noFill/>
            </a:ln>
          </p:spPr>
          <p:txBody>
            <a:bodyPr wrap="none" lIns="0" tIns="0" rIns="0" bIns="0" anchor="t" anchorCtr="0">
              <a:spAutoFit/>
            </a:bodyPr>
            <a:lstStyle/>
            <a:p>
              <a:pPr algn="l"/>
              <a:r>
                <a:rPr lang="ko-KR" sz="1050" dirty="0">
                  <a:solidFill>
                    <a:srgbClr val="A0A8BD"/>
                  </a:solidFill>
                  <a:latin typeface="Malgun Gothic"/>
                  <a:ea typeface="Malgun Gothic"/>
                  <a:cs typeface="Malgun Gothic"/>
                </a:rPr>
                <a:t>세 숫자가 동시에 가리키는 한 방향 —</a:t>
              </a:r>
            </a:p>
          </p:txBody>
        </p:sp>
        <p:sp>
          <p:nvSpPr>
            <p:cNvPr id="45" name="TextBox 45"/>
            <p:cNvSpPr txBox="1"/>
            <p:nvPr/>
          </p:nvSpPr>
          <p:spPr>
            <a:xfrm>
              <a:off x="920115" y="6373178"/>
              <a:ext cx="2538584" cy="213360"/>
            </a:xfrm>
            <a:prstGeom prst="rect">
              <a:avLst/>
            </a:prstGeom>
            <a:noFill/>
            <a:ln>
              <a:noFill/>
            </a:ln>
          </p:spPr>
          <p:txBody>
            <a:bodyPr wrap="none" lIns="0" tIns="0" rIns="0" bIns="0" anchor="t" anchorCtr="0">
              <a:spAutoFit/>
            </a:bodyPr>
            <a:lstStyle/>
            <a:p>
              <a:pPr algn="l"/>
              <a:r>
                <a:rPr lang="ko-KR" sz="1050" b="1" dirty="0">
                  <a:solidFill>
                    <a:srgbClr val="F5F7FA"/>
                  </a:solidFill>
                  <a:latin typeface="Malgun Gothic"/>
                  <a:ea typeface="Malgun Gothic"/>
                  <a:cs typeface="Malgun Gothic"/>
                </a:rPr>
                <a:t>코드는 더 많이, 개발자는 더 적게.</a:t>
              </a:r>
            </a:p>
          </p:txBody>
        </p:sp>
      </p:grpSp>
      <p:sp>
        <p:nvSpPr>
          <p:cNvPr id="47" name="TextBox 47"/>
          <p:cNvSpPr txBox="1"/>
          <p:nvPr/>
        </p:nvSpPr>
        <p:spPr>
          <a:xfrm>
            <a:off x="11011090" y="6475095"/>
            <a:ext cx="430340"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03 / 10</a:t>
            </a:r>
          </a:p>
        </p:txBody>
      </p:sp>
    </p:spTree>
  </p:cSld>
  <p:clrMapOvr>
    <a:masterClrMapping/>
  </p:clrMapOvr>
  <p:transition xmlns:p14="http://schemas.microsoft.com/office/powerpoint/2010/main" p14:dur="5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E63946"/>
          </a:solidFill>
          <a:ln>
            <a:noFill/>
          </a:ln>
        </p:spPr>
      </p:sp>
      <p:sp>
        <p:nvSpPr>
          <p:cNvPr id="4" name="TextBox 4"/>
          <p:cNvSpPr txBox="1"/>
          <p:nvPr/>
        </p:nvSpPr>
        <p:spPr>
          <a:xfrm>
            <a:off x="11392090" y="360045"/>
            <a:ext cx="430340"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04 / 10</a:t>
            </a:r>
          </a:p>
        </p:txBody>
      </p:sp>
      <p:sp>
        <p:nvSpPr>
          <p:cNvPr id="5" name="TextBox 5"/>
          <p:cNvSpPr txBox="1"/>
          <p:nvPr/>
        </p:nvSpPr>
        <p:spPr>
          <a:xfrm>
            <a:off x="559118" y="751999"/>
            <a:ext cx="1774134" cy="198120"/>
          </a:xfrm>
          <a:prstGeom prst="rect">
            <a:avLst/>
          </a:prstGeom>
          <a:noFill/>
          <a:ln>
            <a:noFill/>
          </a:ln>
        </p:spPr>
        <p:txBody>
          <a:bodyPr wrap="none" lIns="0" tIns="0" rIns="0" bIns="0" anchor="t" anchorCtr="0">
            <a:spAutoFit/>
          </a:bodyPr>
          <a:lstStyle/>
          <a:p>
            <a:pPr algn="l"/>
            <a:r>
              <a:rPr lang="ko-KR" sz="975" b="1" dirty="0">
                <a:solidFill>
                  <a:srgbClr val="E63946"/>
                </a:solidFill>
                <a:latin typeface="Malgun Gothic"/>
                <a:ea typeface="Malgun Gothic"/>
                <a:cs typeface="Malgun Gothic"/>
              </a:rPr>
              <a:t>CHAPTER 03 · 대체와 생존</a:t>
            </a:r>
          </a:p>
        </p:txBody>
      </p:sp>
      <p:sp>
        <p:nvSpPr>
          <p:cNvPr id="6" name="TextBox 6"/>
          <p:cNvSpPr txBox="1"/>
          <p:nvPr/>
        </p:nvSpPr>
        <p:spPr>
          <a:xfrm>
            <a:off x="537210" y="1061085"/>
            <a:ext cx="5823899"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무엇이 대체되고 무엇이 남는가</a:t>
            </a:r>
          </a:p>
        </p:txBody>
      </p:sp>
      <p:sp>
        <p:nvSpPr>
          <p:cNvPr id="7" name="Rectangle 7"/>
          <p:cNvSpPr/>
          <p:nvPr/>
        </p:nvSpPr>
        <p:spPr>
          <a:xfrm>
            <a:off x="571500" y="1619250"/>
            <a:ext cx="38100" cy="209550"/>
          </a:xfrm>
          <a:prstGeom prst="rect">
            <a:avLst/>
          </a:prstGeom>
          <a:solidFill>
            <a:srgbClr val="00D9FF"/>
          </a:solidFill>
          <a:ln>
            <a:noFill/>
          </a:ln>
        </p:spPr>
      </p:sp>
      <p:sp>
        <p:nvSpPr>
          <p:cNvPr id="8" name="TextBox 8"/>
          <p:cNvSpPr txBox="1"/>
          <p:nvPr/>
        </p:nvSpPr>
        <p:spPr>
          <a:xfrm>
            <a:off x="709612" y="1669256"/>
            <a:ext cx="3856911" cy="228600"/>
          </a:xfrm>
          <a:prstGeom prst="rect">
            <a:avLst/>
          </a:prstGeom>
          <a:noFill/>
          <a:ln>
            <a:noFill/>
          </a:ln>
        </p:spPr>
        <p:txBody>
          <a:bodyPr wrap="none" lIns="0" tIns="0" rIns="0" bIns="0" anchor="t" anchorCtr="0">
            <a:spAutoFit/>
          </a:bodyPr>
          <a:lstStyle/>
          <a:p>
            <a:pPr algn="l"/>
            <a:r>
              <a:rPr lang="ko-KR" sz="1125" dirty="0">
                <a:solidFill>
                  <a:srgbClr val="A0A8BD"/>
                </a:solidFill>
                <a:latin typeface="Malgun Gothic"/>
                <a:ea typeface="Malgun Gothic"/>
                <a:cs typeface="Malgun Gothic"/>
              </a:rPr>
              <a:t>자동화 위험도 (%) — 단순 반복일수록 먼저 사라진다</a:t>
            </a:r>
          </a:p>
        </p:txBody>
      </p:sp>
      <p:grpSp>
        <p:nvGrpSpPr>
          <p:cNvPr id="15" name="Group 15"/>
          <p:cNvGrpSpPr/>
          <p:nvPr/>
        </p:nvGrpSpPr>
        <p:grpSpPr>
          <a:xfrm>
            <a:off x="8953500" y="952500"/>
            <a:ext cx="2547556" cy="428625"/>
            <a:chOff x="8953500" y="952500"/>
            <a:chExt cx="2547556" cy="428625"/>
          </a:xfrm>
        </p:grpSpPr>
        <p:sp>
          <p:nvSpPr>
            <p:cNvPr id="9" name="Rectangle 9"/>
            <p:cNvSpPr/>
            <p:nvPr/>
          </p:nvSpPr>
          <p:spPr>
            <a:xfrm>
              <a:off x="8953500" y="952500"/>
              <a:ext cx="133350" cy="133350"/>
            </a:xfrm>
            <a:prstGeom prst="rect">
              <a:avLst/>
            </a:prstGeom>
            <a:solidFill>
              <a:srgbClr val="E63946"/>
            </a:solidFill>
            <a:ln>
              <a:noFill/>
            </a:ln>
          </p:spPr>
        </p:sp>
        <p:sp>
          <p:nvSpPr>
            <p:cNvPr id="10" name="TextBox 10"/>
            <p:cNvSpPr txBox="1"/>
            <p:nvPr/>
          </p:nvSpPr>
          <p:spPr>
            <a:xfrm>
              <a:off x="9132570" y="969645"/>
              <a:ext cx="890397" cy="182880"/>
            </a:xfrm>
            <a:prstGeom prst="rect">
              <a:avLst/>
            </a:prstGeom>
            <a:noFill/>
            <a:ln>
              <a:noFill/>
            </a:ln>
          </p:spPr>
          <p:txBody>
            <a:bodyPr wrap="none" lIns="0" tIns="0" rIns="0" bIns="0" anchor="t" anchorCtr="0">
              <a:spAutoFit/>
            </a:bodyPr>
            <a:lstStyle/>
            <a:p>
              <a:pPr algn="l"/>
              <a:r>
                <a:rPr lang="ko-KR" sz="900" dirty="0">
                  <a:solidFill>
                    <a:srgbClr val="F5F7FA"/>
                  </a:solidFill>
                  <a:latin typeface="Malgun Gothic"/>
                  <a:ea typeface="Malgun Gothic"/>
                  <a:cs typeface="Malgun Gothic"/>
                </a:rPr>
                <a:t>고위험 (60%+)</a:t>
              </a:r>
            </a:p>
          </p:txBody>
        </p:sp>
        <p:sp>
          <p:nvSpPr>
            <p:cNvPr id="11" name="Rectangle 11"/>
            <p:cNvSpPr/>
            <p:nvPr/>
          </p:nvSpPr>
          <p:spPr>
            <a:xfrm>
              <a:off x="10287000" y="952500"/>
              <a:ext cx="133350" cy="133350"/>
            </a:xfrm>
            <a:prstGeom prst="rect">
              <a:avLst/>
            </a:prstGeom>
            <a:solidFill>
              <a:srgbClr val="FFB627"/>
            </a:solidFill>
            <a:ln>
              <a:noFill/>
            </a:ln>
          </p:spPr>
        </p:sp>
        <p:sp>
          <p:nvSpPr>
            <p:cNvPr id="12" name="TextBox 12"/>
            <p:cNvSpPr txBox="1"/>
            <p:nvPr/>
          </p:nvSpPr>
          <p:spPr>
            <a:xfrm>
              <a:off x="10466070" y="969645"/>
              <a:ext cx="1034986" cy="182880"/>
            </a:xfrm>
            <a:prstGeom prst="rect">
              <a:avLst/>
            </a:prstGeom>
            <a:noFill/>
            <a:ln>
              <a:noFill/>
            </a:ln>
          </p:spPr>
          <p:txBody>
            <a:bodyPr wrap="none" lIns="0" tIns="0" rIns="0" bIns="0" anchor="t" anchorCtr="0">
              <a:spAutoFit/>
            </a:bodyPr>
            <a:lstStyle/>
            <a:p>
              <a:pPr algn="l"/>
              <a:r>
                <a:rPr lang="ko-KR" sz="900" dirty="0">
                  <a:solidFill>
                    <a:srgbClr val="F5F7FA"/>
                  </a:solidFill>
                  <a:latin typeface="Malgun Gothic"/>
                  <a:ea typeface="Malgun Gothic"/>
                  <a:cs typeface="Malgun Gothic"/>
                </a:rPr>
                <a:t>중위험 (30–60%)</a:t>
              </a:r>
            </a:p>
          </p:txBody>
        </p:sp>
        <p:sp>
          <p:nvSpPr>
            <p:cNvPr id="13" name="Rectangle 13"/>
            <p:cNvSpPr/>
            <p:nvPr/>
          </p:nvSpPr>
          <p:spPr>
            <a:xfrm>
              <a:off x="8953500" y="1181100"/>
              <a:ext cx="133350" cy="133350"/>
            </a:xfrm>
            <a:prstGeom prst="rect">
              <a:avLst/>
            </a:prstGeom>
            <a:solidFill>
              <a:srgbClr val="00D9FF"/>
            </a:solidFill>
            <a:ln>
              <a:noFill/>
            </a:ln>
          </p:spPr>
        </p:sp>
        <p:sp>
          <p:nvSpPr>
            <p:cNvPr id="14" name="TextBox 14"/>
            <p:cNvSpPr txBox="1"/>
            <p:nvPr/>
          </p:nvSpPr>
          <p:spPr>
            <a:xfrm>
              <a:off x="9132570" y="1198245"/>
              <a:ext cx="1120426" cy="182880"/>
            </a:xfrm>
            <a:prstGeom prst="rect">
              <a:avLst/>
            </a:prstGeom>
            <a:noFill/>
            <a:ln>
              <a:noFill/>
            </a:ln>
          </p:spPr>
          <p:txBody>
            <a:bodyPr wrap="none" lIns="0" tIns="0" rIns="0" bIns="0" anchor="t" anchorCtr="0">
              <a:spAutoFit/>
            </a:bodyPr>
            <a:lstStyle/>
            <a:p>
              <a:pPr algn="l"/>
              <a:r>
                <a:rPr lang="ko-KR" sz="900" dirty="0">
                  <a:solidFill>
                    <a:srgbClr val="F5F7FA"/>
                  </a:solidFill>
                  <a:latin typeface="Malgun Gothic"/>
                  <a:ea typeface="Malgun Gothic"/>
                  <a:cs typeface="Malgun Gothic"/>
                </a:rPr>
                <a:t>저위험 (30% 미만)</a:t>
              </a:r>
            </a:p>
          </p:txBody>
        </p:sp>
      </p:grpSp>
      <p:sp>
        <p:nvSpPr>
          <p:cNvPr id="16" name="Rectangle 16"/>
          <p:cNvSpPr/>
          <p:nvPr/>
        </p:nvSpPr>
        <p:spPr>
          <a:xfrm>
            <a:off x="571500" y="2000250"/>
            <a:ext cx="11049000" cy="9525"/>
          </a:xfrm>
          <a:prstGeom prst="rect">
            <a:avLst/>
          </a:prstGeom>
          <a:solidFill>
            <a:srgbClr val="2A3252"/>
          </a:solidFill>
          <a:ln>
            <a:noFill/>
          </a:ln>
        </p:spPr>
      </p:sp>
      <p:sp>
        <p:nvSpPr>
          <p:cNvPr id="17" name="Line 17"/>
          <p:cNvSpPr/>
          <p:nvPr/>
        </p:nvSpPr>
        <p:spPr>
          <a:xfrm>
            <a:off x="3619500" y="2209800"/>
            <a:ext cx="9525" cy="3981450"/>
          </a:xfrm>
          <a:custGeom>
            <a:avLst/>
            <a:gdLst/>
            <a:ahLst/>
            <a:cxnLst/>
            <a:rect l="l" t="t" r="r" b="b"/>
            <a:pathLst>
              <a:path w="9525" h="3981450">
                <a:moveTo>
                  <a:pt x="0" y="0"/>
                </a:moveTo>
                <a:lnTo>
                  <a:pt x="0" y="3981450"/>
                </a:lnTo>
              </a:path>
            </a:pathLst>
          </a:custGeom>
          <a:noFill/>
          <a:ln w="9525">
            <a:solidFill>
              <a:srgbClr val="2A3252"/>
            </a:solidFill>
          </a:ln>
        </p:spPr>
      </p:sp>
      <p:sp>
        <p:nvSpPr>
          <p:cNvPr id="18" name="Line 18"/>
          <p:cNvSpPr/>
          <p:nvPr/>
        </p:nvSpPr>
        <p:spPr>
          <a:xfrm>
            <a:off x="5334000" y="2209800"/>
            <a:ext cx="9525" cy="3981450"/>
          </a:xfrm>
          <a:custGeom>
            <a:avLst/>
            <a:gdLst/>
            <a:ahLst/>
            <a:cxnLst/>
            <a:rect l="l" t="t" r="r" b="b"/>
            <a:pathLst>
              <a:path w="9525" h="3981450">
                <a:moveTo>
                  <a:pt x="0" y="0"/>
                </a:moveTo>
                <a:lnTo>
                  <a:pt x="0" y="3981450"/>
                </a:lnTo>
              </a:path>
            </a:pathLst>
          </a:custGeom>
          <a:noFill/>
          <a:ln w="9525">
            <a:solidFill>
              <a:srgbClr val="1E2540"/>
            </a:solidFill>
            <a:custDash>
              <a:ds d="200000" sp="400000"/>
            </a:custDash>
          </a:ln>
        </p:spPr>
      </p:sp>
      <p:sp>
        <p:nvSpPr>
          <p:cNvPr id="19" name="Line 19"/>
          <p:cNvSpPr/>
          <p:nvPr/>
        </p:nvSpPr>
        <p:spPr>
          <a:xfrm>
            <a:off x="7048500" y="2209800"/>
            <a:ext cx="9525" cy="3981450"/>
          </a:xfrm>
          <a:custGeom>
            <a:avLst/>
            <a:gdLst/>
            <a:ahLst/>
            <a:cxnLst/>
            <a:rect l="l" t="t" r="r" b="b"/>
            <a:pathLst>
              <a:path w="9525" h="3981450">
                <a:moveTo>
                  <a:pt x="0" y="0"/>
                </a:moveTo>
                <a:lnTo>
                  <a:pt x="0" y="3981450"/>
                </a:lnTo>
              </a:path>
            </a:pathLst>
          </a:custGeom>
          <a:noFill/>
          <a:ln w="9525">
            <a:solidFill>
              <a:srgbClr val="1E2540"/>
            </a:solidFill>
            <a:custDash>
              <a:ds d="200000" sp="400000"/>
            </a:custDash>
          </a:ln>
        </p:spPr>
      </p:sp>
      <p:sp>
        <p:nvSpPr>
          <p:cNvPr id="20" name="Line 20"/>
          <p:cNvSpPr/>
          <p:nvPr/>
        </p:nvSpPr>
        <p:spPr>
          <a:xfrm>
            <a:off x="8763000" y="2209800"/>
            <a:ext cx="9525" cy="3981450"/>
          </a:xfrm>
          <a:custGeom>
            <a:avLst/>
            <a:gdLst/>
            <a:ahLst/>
            <a:cxnLst/>
            <a:rect l="l" t="t" r="r" b="b"/>
            <a:pathLst>
              <a:path w="9525" h="3981450">
                <a:moveTo>
                  <a:pt x="0" y="0"/>
                </a:moveTo>
                <a:lnTo>
                  <a:pt x="0" y="3981450"/>
                </a:lnTo>
              </a:path>
            </a:pathLst>
          </a:custGeom>
          <a:noFill/>
          <a:ln w="9525">
            <a:solidFill>
              <a:srgbClr val="1E2540"/>
            </a:solidFill>
            <a:custDash>
              <a:ds d="200000" sp="400000"/>
            </a:custDash>
          </a:ln>
        </p:spPr>
      </p:sp>
      <p:sp>
        <p:nvSpPr>
          <p:cNvPr id="21" name="Line 21"/>
          <p:cNvSpPr/>
          <p:nvPr/>
        </p:nvSpPr>
        <p:spPr>
          <a:xfrm>
            <a:off x="10477500" y="2209800"/>
            <a:ext cx="9525" cy="3981450"/>
          </a:xfrm>
          <a:custGeom>
            <a:avLst/>
            <a:gdLst/>
            <a:ahLst/>
            <a:cxnLst/>
            <a:rect l="l" t="t" r="r" b="b"/>
            <a:pathLst>
              <a:path w="9525" h="3981450">
                <a:moveTo>
                  <a:pt x="0" y="0"/>
                </a:moveTo>
                <a:lnTo>
                  <a:pt x="0" y="3981450"/>
                </a:lnTo>
              </a:path>
            </a:pathLst>
          </a:custGeom>
          <a:noFill/>
          <a:ln w="9525">
            <a:solidFill>
              <a:srgbClr val="1E2540"/>
            </a:solidFill>
            <a:custDash>
              <a:ds d="200000" sp="400000"/>
            </a:custDash>
          </a:ln>
        </p:spPr>
      </p:sp>
      <p:sp>
        <p:nvSpPr>
          <p:cNvPr id="22" name="TextBox 22"/>
          <p:cNvSpPr txBox="1"/>
          <p:nvPr/>
        </p:nvSpPr>
        <p:spPr>
          <a:xfrm>
            <a:off x="3575887" y="6273641"/>
            <a:ext cx="87225" cy="167640"/>
          </a:xfrm>
          <a:prstGeom prst="rect">
            <a:avLst/>
          </a:prstGeom>
          <a:noFill/>
          <a:ln>
            <a:noFill/>
          </a:ln>
        </p:spPr>
        <p:txBody>
          <a:bodyPr wrap="none" lIns="0" tIns="0" rIns="0" bIns="0" anchor="t" anchorCtr="0">
            <a:spAutoFit/>
          </a:bodyPr>
          <a:lstStyle/>
          <a:p>
            <a:pPr algn="ctr"/>
            <a:r>
              <a:rPr lang="en-US" sz="900" dirty="0">
                <a:solidFill>
                  <a:srgbClr val="A0A8BD"/>
                </a:solidFill>
                <a:latin typeface="Malgun Gothic"/>
                <a:ea typeface="Malgun Gothic"/>
                <a:cs typeface="Malgun Gothic"/>
              </a:rPr>
              <a:t>0</a:t>
            </a:r>
          </a:p>
        </p:txBody>
      </p:sp>
      <p:sp>
        <p:nvSpPr>
          <p:cNvPr id="23" name="TextBox 23"/>
          <p:cNvSpPr txBox="1"/>
          <p:nvPr/>
        </p:nvSpPr>
        <p:spPr>
          <a:xfrm>
            <a:off x="5257252" y="6273641"/>
            <a:ext cx="153495" cy="167640"/>
          </a:xfrm>
          <a:prstGeom prst="rect">
            <a:avLst/>
          </a:prstGeom>
          <a:noFill/>
          <a:ln>
            <a:noFill/>
          </a:ln>
        </p:spPr>
        <p:txBody>
          <a:bodyPr wrap="none" lIns="0" tIns="0" rIns="0" bIns="0" anchor="t" anchorCtr="0">
            <a:spAutoFit/>
          </a:bodyPr>
          <a:lstStyle/>
          <a:p>
            <a:pPr algn="ctr"/>
            <a:r>
              <a:rPr lang="en-US" sz="900" dirty="0">
                <a:solidFill>
                  <a:srgbClr val="A0A8BD"/>
                </a:solidFill>
                <a:latin typeface="Malgun Gothic"/>
                <a:ea typeface="Malgun Gothic"/>
                <a:cs typeface="Malgun Gothic"/>
              </a:rPr>
              <a:t>25</a:t>
            </a:r>
          </a:p>
        </p:txBody>
      </p:sp>
      <p:sp>
        <p:nvSpPr>
          <p:cNvPr id="24" name="TextBox 24"/>
          <p:cNvSpPr txBox="1"/>
          <p:nvPr/>
        </p:nvSpPr>
        <p:spPr>
          <a:xfrm>
            <a:off x="6971752" y="6273641"/>
            <a:ext cx="153495" cy="167640"/>
          </a:xfrm>
          <a:prstGeom prst="rect">
            <a:avLst/>
          </a:prstGeom>
          <a:noFill/>
          <a:ln>
            <a:noFill/>
          </a:ln>
        </p:spPr>
        <p:txBody>
          <a:bodyPr wrap="none" lIns="0" tIns="0" rIns="0" bIns="0" anchor="t" anchorCtr="0">
            <a:spAutoFit/>
          </a:bodyPr>
          <a:lstStyle/>
          <a:p>
            <a:pPr algn="ctr"/>
            <a:r>
              <a:rPr lang="en-US" sz="900" dirty="0">
                <a:solidFill>
                  <a:srgbClr val="A0A8BD"/>
                </a:solidFill>
                <a:latin typeface="Malgun Gothic"/>
                <a:ea typeface="Malgun Gothic"/>
                <a:cs typeface="Malgun Gothic"/>
              </a:rPr>
              <a:t>50</a:t>
            </a:r>
          </a:p>
        </p:txBody>
      </p:sp>
      <p:sp>
        <p:nvSpPr>
          <p:cNvPr id="25" name="TextBox 25"/>
          <p:cNvSpPr txBox="1"/>
          <p:nvPr/>
        </p:nvSpPr>
        <p:spPr>
          <a:xfrm>
            <a:off x="8686252" y="6273641"/>
            <a:ext cx="153495" cy="167640"/>
          </a:xfrm>
          <a:prstGeom prst="rect">
            <a:avLst/>
          </a:prstGeom>
          <a:noFill/>
          <a:ln>
            <a:noFill/>
          </a:ln>
        </p:spPr>
        <p:txBody>
          <a:bodyPr wrap="none" lIns="0" tIns="0" rIns="0" bIns="0" anchor="t" anchorCtr="0">
            <a:spAutoFit/>
          </a:bodyPr>
          <a:lstStyle/>
          <a:p>
            <a:pPr algn="ctr"/>
            <a:r>
              <a:rPr lang="en-US" sz="900" dirty="0">
                <a:solidFill>
                  <a:srgbClr val="A0A8BD"/>
                </a:solidFill>
                <a:latin typeface="Malgun Gothic"/>
                <a:ea typeface="Malgun Gothic"/>
                <a:cs typeface="Malgun Gothic"/>
              </a:rPr>
              <a:t>75</a:t>
            </a:r>
          </a:p>
        </p:txBody>
      </p:sp>
      <p:sp>
        <p:nvSpPr>
          <p:cNvPr id="26" name="TextBox 26"/>
          <p:cNvSpPr txBox="1"/>
          <p:nvPr/>
        </p:nvSpPr>
        <p:spPr>
          <a:xfrm>
            <a:off x="10349544" y="6273641"/>
            <a:ext cx="255913" cy="167640"/>
          </a:xfrm>
          <a:prstGeom prst="rect">
            <a:avLst/>
          </a:prstGeom>
          <a:noFill/>
          <a:ln>
            <a:noFill/>
          </a:ln>
        </p:spPr>
        <p:txBody>
          <a:bodyPr wrap="none" lIns="0" tIns="0" rIns="0" bIns="0" anchor="t" anchorCtr="0">
            <a:spAutoFit/>
          </a:bodyPr>
          <a:lstStyle/>
          <a:p>
            <a:pPr algn="ctr"/>
            <a:r>
              <a:rPr lang="en-US" sz="900" dirty="0">
                <a:solidFill>
                  <a:srgbClr val="A0A8BD"/>
                </a:solidFill>
                <a:latin typeface="Malgun Gothic"/>
                <a:ea typeface="Malgun Gothic"/>
                <a:cs typeface="Malgun Gothic"/>
              </a:rPr>
              <a:t>100%</a:t>
            </a:r>
          </a:p>
        </p:txBody>
      </p:sp>
      <p:sp>
        <p:nvSpPr>
          <p:cNvPr id="27" name="TextBox 27"/>
          <p:cNvSpPr txBox="1"/>
          <p:nvPr/>
        </p:nvSpPr>
        <p:spPr>
          <a:xfrm>
            <a:off x="1413510" y="2374106"/>
            <a:ext cx="1934528" cy="228600"/>
          </a:xfrm>
          <a:prstGeom prst="rect">
            <a:avLst/>
          </a:prstGeom>
          <a:noFill/>
          <a:ln>
            <a:noFill/>
          </a:ln>
        </p:spPr>
        <p:txBody>
          <a:bodyPr wrap="none" lIns="0" tIns="0" rIns="0" bIns="0" anchor="t" anchorCtr="0">
            <a:spAutoFit/>
          </a:bodyPr>
          <a:lstStyle/>
          <a:p>
            <a:pPr algn="r"/>
            <a:r>
              <a:rPr lang="ko-KR" sz="1125" dirty="0">
                <a:solidFill>
                  <a:srgbClr val="F5F7FA"/>
                </a:solidFill>
                <a:latin typeface="Malgun Gothic"/>
                <a:ea typeface="Malgun Gothic"/>
                <a:cs typeface="Malgun Gothic"/>
              </a:rPr>
              <a:t>보일러플레이트 코드 작성</a:t>
            </a:r>
          </a:p>
        </p:txBody>
      </p:sp>
      <p:sp>
        <p:nvSpPr>
          <p:cNvPr id="28" name="Rectangle 28"/>
          <p:cNvSpPr/>
          <p:nvPr/>
        </p:nvSpPr>
        <p:spPr>
          <a:xfrm>
            <a:off x="3619500" y="2362200"/>
            <a:ext cx="6858000" cy="209550"/>
          </a:xfrm>
          <a:prstGeom prst="rect">
            <a:avLst/>
          </a:prstGeom>
          <a:solidFill>
            <a:srgbClr val="141A2E"/>
          </a:solidFill>
          <a:ln>
            <a:noFill/>
          </a:ln>
        </p:spPr>
      </p:sp>
      <p:sp>
        <p:nvSpPr>
          <p:cNvPr id="29" name="Rectangle 29"/>
          <p:cNvSpPr/>
          <p:nvPr/>
        </p:nvSpPr>
        <p:spPr>
          <a:xfrm>
            <a:off x="3619500" y="2362200"/>
            <a:ext cx="6305550" cy="209550"/>
          </a:xfrm>
          <a:prstGeom prst="rect">
            <a:avLst/>
          </a:prstGeom>
          <a:solidFill>
            <a:srgbClr val="E63946"/>
          </a:solidFill>
          <a:ln>
            <a:noFill/>
          </a:ln>
        </p:spPr>
      </p:sp>
      <p:sp>
        <p:nvSpPr>
          <p:cNvPr id="30" name="TextBox 30"/>
          <p:cNvSpPr txBox="1"/>
          <p:nvPr/>
        </p:nvSpPr>
        <p:spPr>
          <a:xfrm>
            <a:off x="10555605" y="2378392"/>
            <a:ext cx="375883" cy="274320"/>
          </a:xfrm>
          <a:prstGeom prst="rect">
            <a:avLst/>
          </a:prstGeom>
          <a:noFill/>
          <a:ln>
            <a:noFill/>
          </a:ln>
        </p:spPr>
        <p:txBody>
          <a:bodyPr wrap="none" lIns="0" tIns="0" rIns="0" bIns="0" anchor="t" anchorCtr="0">
            <a:spAutoFit/>
          </a:bodyPr>
          <a:lstStyle/>
          <a:p>
            <a:pPr algn="l"/>
            <a:r>
              <a:rPr lang="en-US" sz="1350" b="1" dirty="0">
                <a:solidFill>
                  <a:srgbClr val="E63946"/>
                </a:solidFill>
                <a:latin typeface="Malgun Gothic"/>
                <a:ea typeface="Malgun Gothic"/>
                <a:cs typeface="Malgun Gothic"/>
              </a:rPr>
              <a:t>92%</a:t>
            </a:r>
          </a:p>
        </p:txBody>
      </p:sp>
      <p:sp>
        <p:nvSpPr>
          <p:cNvPr id="31" name="TextBox 31"/>
          <p:cNvSpPr txBox="1"/>
          <p:nvPr/>
        </p:nvSpPr>
        <p:spPr>
          <a:xfrm>
            <a:off x="2070735" y="2897981"/>
            <a:ext cx="1277302" cy="228600"/>
          </a:xfrm>
          <a:prstGeom prst="rect">
            <a:avLst/>
          </a:prstGeom>
          <a:noFill/>
          <a:ln>
            <a:noFill/>
          </a:ln>
        </p:spPr>
        <p:txBody>
          <a:bodyPr wrap="none" lIns="0" tIns="0" rIns="0" bIns="0" anchor="t" anchorCtr="0">
            <a:spAutoFit/>
          </a:bodyPr>
          <a:lstStyle/>
          <a:p>
            <a:pPr algn="r"/>
            <a:r>
              <a:rPr lang="ko-KR" sz="1125" dirty="0">
                <a:solidFill>
                  <a:srgbClr val="F5F7FA"/>
                </a:solidFill>
                <a:latin typeface="Malgun Gothic"/>
                <a:ea typeface="Malgun Gothic"/>
                <a:cs typeface="Malgun Gothic"/>
              </a:rPr>
              <a:t>단위 테스트 생성</a:t>
            </a:r>
          </a:p>
        </p:txBody>
      </p:sp>
      <p:sp>
        <p:nvSpPr>
          <p:cNvPr id="32" name="Rectangle 32"/>
          <p:cNvSpPr/>
          <p:nvPr/>
        </p:nvSpPr>
        <p:spPr>
          <a:xfrm>
            <a:off x="3619500" y="2886075"/>
            <a:ext cx="6858000" cy="209550"/>
          </a:xfrm>
          <a:prstGeom prst="rect">
            <a:avLst/>
          </a:prstGeom>
          <a:solidFill>
            <a:srgbClr val="141A2E"/>
          </a:solidFill>
          <a:ln>
            <a:noFill/>
          </a:ln>
        </p:spPr>
      </p:sp>
      <p:sp>
        <p:nvSpPr>
          <p:cNvPr id="33" name="Rectangle 33"/>
          <p:cNvSpPr/>
          <p:nvPr/>
        </p:nvSpPr>
        <p:spPr>
          <a:xfrm>
            <a:off x="3619500" y="2886075"/>
            <a:ext cx="5829300" cy="209550"/>
          </a:xfrm>
          <a:prstGeom prst="rect">
            <a:avLst/>
          </a:prstGeom>
          <a:solidFill>
            <a:srgbClr val="E63946"/>
          </a:solidFill>
          <a:ln>
            <a:noFill/>
          </a:ln>
        </p:spPr>
      </p:sp>
      <p:sp>
        <p:nvSpPr>
          <p:cNvPr id="34" name="TextBox 34"/>
          <p:cNvSpPr txBox="1"/>
          <p:nvPr/>
        </p:nvSpPr>
        <p:spPr>
          <a:xfrm>
            <a:off x="10555605" y="2902268"/>
            <a:ext cx="375883" cy="274320"/>
          </a:xfrm>
          <a:prstGeom prst="rect">
            <a:avLst/>
          </a:prstGeom>
          <a:noFill/>
          <a:ln>
            <a:noFill/>
          </a:ln>
        </p:spPr>
        <p:txBody>
          <a:bodyPr wrap="none" lIns="0" tIns="0" rIns="0" bIns="0" anchor="t" anchorCtr="0">
            <a:spAutoFit/>
          </a:bodyPr>
          <a:lstStyle/>
          <a:p>
            <a:pPr algn="l"/>
            <a:r>
              <a:rPr lang="en-US" sz="1350" b="1" dirty="0">
                <a:solidFill>
                  <a:srgbClr val="E63946"/>
                </a:solidFill>
                <a:latin typeface="Malgun Gothic"/>
                <a:ea typeface="Malgun Gothic"/>
                <a:cs typeface="Malgun Gothic"/>
              </a:rPr>
              <a:t>85%</a:t>
            </a:r>
          </a:p>
        </p:txBody>
      </p:sp>
      <p:sp>
        <p:nvSpPr>
          <p:cNvPr id="35" name="TextBox 35"/>
          <p:cNvSpPr txBox="1"/>
          <p:nvPr/>
        </p:nvSpPr>
        <p:spPr>
          <a:xfrm>
            <a:off x="2350056" y="3421856"/>
            <a:ext cx="997982" cy="228600"/>
          </a:xfrm>
          <a:prstGeom prst="rect">
            <a:avLst/>
          </a:prstGeom>
          <a:noFill/>
          <a:ln>
            <a:noFill/>
          </a:ln>
        </p:spPr>
        <p:txBody>
          <a:bodyPr wrap="none" lIns="0" tIns="0" rIns="0" bIns="0" anchor="t" anchorCtr="0">
            <a:spAutoFit/>
          </a:bodyPr>
          <a:lstStyle/>
          <a:p>
            <a:pPr algn="r"/>
            <a:r>
              <a:rPr lang="ko-KR" sz="1125" dirty="0">
                <a:solidFill>
                  <a:srgbClr val="F5F7FA"/>
                </a:solidFill>
                <a:latin typeface="Malgun Gothic"/>
                <a:ea typeface="Malgun Gothic"/>
                <a:cs typeface="Malgun Gothic"/>
              </a:rPr>
              <a:t>코드 리뷰 1차</a:t>
            </a:r>
          </a:p>
        </p:txBody>
      </p:sp>
      <p:sp>
        <p:nvSpPr>
          <p:cNvPr id="36" name="Rectangle 36"/>
          <p:cNvSpPr/>
          <p:nvPr/>
        </p:nvSpPr>
        <p:spPr>
          <a:xfrm>
            <a:off x="3619500" y="3409950"/>
            <a:ext cx="6858000" cy="209550"/>
          </a:xfrm>
          <a:prstGeom prst="rect">
            <a:avLst/>
          </a:prstGeom>
          <a:solidFill>
            <a:srgbClr val="141A2E"/>
          </a:solidFill>
          <a:ln>
            <a:noFill/>
          </a:ln>
        </p:spPr>
      </p:sp>
      <p:sp>
        <p:nvSpPr>
          <p:cNvPr id="37" name="Rectangle 37"/>
          <p:cNvSpPr/>
          <p:nvPr/>
        </p:nvSpPr>
        <p:spPr>
          <a:xfrm>
            <a:off x="3619500" y="3409950"/>
            <a:ext cx="5010150" cy="209550"/>
          </a:xfrm>
          <a:prstGeom prst="rect">
            <a:avLst/>
          </a:prstGeom>
          <a:solidFill>
            <a:srgbClr val="E63946"/>
          </a:solidFill>
          <a:ln>
            <a:noFill/>
          </a:ln>
        </p:spPr>
      </p:sp>
      <p:sp>
        <p:nvSpPr>
          <p:cNvPr id="38" name="TextBox 38"/>
          <p:cNvSpPr txBox="1"/>
          <p:nvPr/>
        </p:nvSpPr>
        <p:spPr>
          <a:xfrm>
            <a:off x="10555605" y="3426142"/>
            <a:ext cx="375883" cy="274320"/>
          </a:xfrm>
          <a:prstGeom prst="rect">
            <a:avLst/>
          </a:prstGeom>
          <a:noFill/>
          <a:ln>
            <a:noFill/>
          </a:ln>
        </p:spPr>
        <p:txBody>
          <a:bodyPr wrap="none" lIns="0" tIns="0" rIns="0" bIns="0" anchor="t" anchorCtr="0">
            <a:spAutoFit/>
          </a:bodyPr>
          <a:lstStyle/>
          <a:p>
            <a:pPr algn="l"/>
            <a:r>
              <a:rPr lang="en-US" sz="1350" b="1" dirty="0">
                <a:solidFill>
                  <a:srgbClr val="E63946"/>
                </a:solidFill>
                <a:latin typeface="Malgun Gothic"/>
                <a:ea typeface="Malgun Gothic"/>
                <a:cs typeface="Malgun Gothic"/>
              </a:rPr>
              <a:t>73%</a:t>
            </a:r>
          </a:p>
        </p:txBody>
      </p:sp>
      <p:sp>
        <p:nvSpPr>
          <p:cNvPr id="39" name="TextBox 39"/>
          <p:cNvSpPr txBox="1"/>
          <p:nvPr/>
        </p:nvSpPr>
        <p:spPr>
          <a:xfrm>
            <a:off x="2054304" y="3945731"/>
            <a:ext cx="1293733" cy="228600"/>
          </a:xfrm>
          <a:prstGeom prst="rect">
            <a:avLst/>
          </a:prstGeom>
          <a:noFill/>
          <a:ln>
            <a:noFill/>
          </a:ln>
        </p:spPr>
        <p:txBody>
          <a:bodyPr wrap="none" lIns="0" tIns="0" rIns="0" bIns="0" anchor="t" anchorCtr="0">
            <a:spAutoFit/>
          </a:bodyPr>
          <a:lstStyle/>
          <a:p>
            <a:pPr algn="r"/>
            <a:r>
              <a:rPr lang="ko-KR" sz="1125" dirty="0">
                <a:solidFill>
                  <a:srgbClr val="F5F7FA"/>
                </a:solidFill>
                <a:latin typeface="Malgun Gothic"/>
                <a:ea typeface="Malgun Gothic"/>
                <a:cs typeface="Malgun Gothic"/>
              </a:rPr>
              <a:t>버그 패치 (단순)</a:t>
            </a:r>
          </a:p>
        </p:txBody>
      </p:sp>
      <p:sp>
        <p:nvSpPr>
          <p:cNvPr id="40" name="Rectangle 40"/>
          <p:cNvSpPr/>
          <p:nvPr/>
        </p:nvSpPr>
        <p:spPr>
          <a:xfrm>
            <a:off x="3619500" y="3933825"/>
            <a:ext cx="6858000" cy="209550"/>
          </a:xfrm>
          <a:prstGeom prst="rect">
            <a:avLst/>
          </a:prstGeom>
          <a:solidFill>
            <a:srgbClr val="141A2E"/>
          </a:solidFill>
          <a:ln>
            <a:noFill/>
          </a:ln>
        </p:spPr>
      </p:sp>
      <p:sp>
        <p:nvSpPr>
          <p:cNvPr id="41" name="Rectangle 41"/>
          <p:cNvSpPr/>
          <p:nvPr/>
        </p:nvSpPr>
        <p:spPr>
          <a:xfrm>
            <a:off x="3619500" y="3933825"/>
            <a:ext cx="4667250" cy="209550"/>
          </a:xfrm>
          <a:prstGeom prst="rect">
            <a:avLst/>
          </a:prstGeom>
          <a:solidFill>
            <a:srgbClr val="E63946"/>
          </a:solidFill>
          <a:ln>
            <a:noFill/>
          </a:ln>
        </p:spPr>
      </p:sp>
      <p:sp>
        <p:nvSpPr>
          <p:cNvPr id="42" name="TextBox 42"/>
          <p:cNvSpPr txBox="1"/>
          <p:nvPr/>
        </p:nvSpPr>
        <p:spPr>
          <a:xfrm>
            <a:off x="10555605" y="3950018"/>
            <a:ext cx="375883" cy="274320"/>
          </a:xfrm>
          <a:prstGeom prst="rect">
            <a:avLst/>
          </a:prstGeom>
          <a:noFill/>
          <a:ln>
            <a:noFill/>
          </a:ln>
        </p:spPr>
        <p:txBody>
          <a:bodyPr wrap="none" lIns="0" tIns="0" rIns="0" bIns="0" anchor="t" anchorCtr="0">
            <a:spAutoFit/>
          </a:bodyPr>
          <a:lstStyle/>
          <a:p>
            <a:pPr algn="l"/>
            <a:r>
              <a:rPr lang="en-US" sz="1350" b="1" dirty="0">
                <a:solidFill>
                  <a:srgbClr val="E63946"/>
                </a:solidFill>
                <a:latin typeface="Malgun Gothic"/>
                <a:ea typeface="Malgun Gothic"/>
                <a:cs typeface="Malgun Gothic"/>
              </a:rPr>
              <a:t>68%</a:t>
            </a:r>
          </a:p>
        </p:txBody>
      </p:sp>
      <p:sp>
        <p:nvSpPr>
          <p:cNvPr id="43" name="Line 43"/>
          <p:cNvSpPr/>
          <p:nvPr/>
        </p:nvSpPr>
        <p:spPr>
          <a:xfrm>
            <a:off x="571500" y="4362450"/>
            <a:ext cx="11049000" cy="9525"/>
          </a:xfrm>
          <a:custGeom>
            <a:avLst/>
            <a:gdLst/>
            <a:ahLst/>
            <a:cxnLst/>
            <a:rect l="l" t="t" r="r" b="b"/>
            <a:pathLst>
              <a:path w="11049000" h="9525">
                <a:moveTo>
                  <a:pt x="0" y="0"/>
                </a:moveTo>
                <a:lnTo>
                  <a:pt x="11049000" y="0"/>
                </a:lnTo>
              </a:path>
            </a:pathLst>
          </a:custGeom>
          <a:noFill/>
          <a:ln w="9525">
            <a:solidFill>
              <a:srgbClr val="FFB627">
                <a:alpha val="50000"/>
              </a:srgbClr>
            </a:solidFill>
            <a:custDash>
              <a:ds d="600000" sp="400000"/>
            </a:custDash>
          </a:ln>
        </p:spPr>
      </p:sp>
      <p:sp>
        <p:nvSpPr>
          <p:cNvPr id="44" name="Rectangle 44"/>
          <p:cNvSpPr/>
          <p:nvPr/>
        </p:nvSpPr>
        <p:spPr>
          <a:xfrm>
            <a:off x="571500" y="4419600"/>
            <a:ext cx="28575" cy="133350"/>
          </a:xfrm>
          <a:prstGeom prst="rect">
            <a:avLst/>
          </a:prstGeom>
          <a:solidFill>
            <a:srgbClr val="FFB627"/>
          </a:solidFill>
          <a:ln>
            <a:noFill/>
          </a:ln>
        </p:spPr>
      </p:sp>
      <p:sp>
        <p:nvSpPr>
          <p:cNvPr id="45" name="TextBox 45"/>
          <p:cNvSpPr txBox="1"/>
          <p:nvPr/>
        </p:nvSpPr>
        <p:spPr>
          <a:xfrm>
            <a:off x="675322" y="4435316"/>
            <a:ext cx="1469561" cy="167640"/>
          </a:xfrm>
          <a:prstGeom prst="rect">
            <a:avLst/>
          </a:prstGeom>
          <a:noFill/>
          <a:ln>
            <a:noFill/>
          </a:ln>
        </p:spPr>
        <p:txBody>
          <a:bodyPr wrap="none" lIns="0" tIns="0" rIns="0" bIns="0" anchor="t" anchorCtr="0">
            <a:spAutoFit/>
          </a:bodyPr>
          <a:lstStyle/>
          <a:p>
            <a:pPr algn="l"/>
            <a:r>
              <a:rPr lang="ko-KR" sz="900" b="1" dirty="0">
                <a:solidFill>
                  <a:srgbClr val="FFB627"/>
                </a:solidFill>
                <a:latin typeface="Malgun Gothic"/>
                <a:ea typeface="Malgun Gothic"/>
                <a:cs typeface="Malgun Gothic"/>
              </a:rPr>
              <a:t>여기부터 — 인간이 남는다</a:t>
            </a:r>
          </a:p>
        </p:txBody>
      </p:sp>
      <p:sp>
        <p:nvSpPr>
          <p:cNvPr id="46" name="TextBox 46"/>
          <p:cNvSpPr txBox="1"/>
          <p:nvPr/>
        </p:nvSpPr>
        <p:spPr>
          <a:xfrm>
            <a:off x="1742122" y="4679156"/>
            <a:ext cx="1605915" cy="228600"/>
          </a:xfrm>
          <a:prstGeom prst="rect">
            <a:avLst/>
          </a:prstGeom>
          <a:noFill/>
          <a:ln>
            <a:noFill/>
          </a:ln>
        </p:spPr>
        <p:txBody>
          <a:bodyPr wrap="none" lIns="0" tIns="0" rIns="0" bIns="0" anchor="t" anchorCtr="0">
            <a:spAutoFit/>
          </a:bodyPr>
          <a:lstStyle/>
          <a:p>
            <a:pPr algn="r"/>
            <a:r>
              <a:rPr lang="ko-KR" sz="1125" dirty="0">
                <a:solidFill>
                  <a:srgbClr val="F5F7FA"/>
                </a:solidFill>
                <a:latin typeface="Malgun Gothic"/>
                <a:ea typeface="Malgun Gothic"/>
                <a:cs typeface="Malgun Gothic"/>
              </a:rPr>
              <a:t>시스템 아키텍처 설계</a:t>
            </a:r>
          </a:p>
        </p:txBody>
      </p:sp>
      <p:sp>
        <p:nvSpPr>
          <p:cNvPr id="47" name="Rectangle 47"/>
          <p:cNvSpPr/>
          <p:nvPr/>
        </p:nvSpPr>
        <p:spPr>
          <a:xfrm>
            <a:off x="3619500" y="4667250"/>
            <a:ext cx="6858000" cy="209550"/>
          </a:xfrm>
          <a:prstGeom prst="rect">
            <a:avLst/>
          </a:prstGeom>
          <a:solidFill>
            <a:srgbClr val="141A2E"/>
          </a:solidFill>
          <a:ln>
            <a:noFill/>
          </a:ln>
        </p:spPr>
      </p:sp>
      <p:sp>
        <p:nvSpPr>
          <p:cNvPr id="48" name="Rectangle 48"/>
          <p:cNvSpPr/>
          <p:nvPr/>
        </p:nvSpPr>
        <p:spPr>
          <a:xfrm>
            <a:off x="3619500" y="4667250"/>
            <a:ext cx="1504950" cy="209550"/>
          </a:xfrm>
          <a:prstGeom prst="rect">
            <a:avLst/>
          </a:prstGeom>
          <a:solidFill>
            <a:srgbClr val="00D9FF"/>
          </a:solidFill>
          <a:ln>
            <a:noFill/>
          </a:ln>
        </p:spPr>
      </p:sp>
      <p:sp>
        <p:nvSpPr>
          <p:cNvPr id="49" name="TextBox 49"/>
          <p:cNvSpPr txBox="1"/>
          <p:nvPr/>
        </p:nvSpPr>
        <p:spPr>
          <a:xfrm>
            <a:off x="10555605" y="4683442"/>
            <a:ext cx="375883" cy="274320"/>
          </a:xfrm>
          <a:prstGeom prst="rect">
            <a:avLst/>
          </a:prstGeom>
          <a:noFill/>
          <a:ln>
            <a:noFill/>
          </a:ln>
        </p:spPr>
        <p:txBody>
          <a:bodyPr wrap="none" lIns="0" tIns="0" rIns="0" bIns="0" anchor="t" anchorCtr="0">
            <a:spAutoFit/>
          </a:bodyPr>
          <a:lstStyle/>
          <a:p>
            <a:pPr algn="l"/>
            <a:r>
              <a:rPr lang="en-US" sz="1350" b="1" dirty="0">
                <a:solidFill>
                  <a:srgbClr val="00D9FF"/>
                </a:solidFill>
                <a:latin typeface="Malgun Gothic"/>
                <a:ea typeface="Malgun Gothic"/>
                <a:cs typeface="Malgun Gothic"/>
              </a:rPr>
              <a:t>22%</a:t>
            </a:r>
          </a:p>
        </p:txBody>
      </p:sp>
      <p:sp>
        <p:nvSpPr>
          <p:cNvPr id="50" name="TextBox 50"/>
          <p:cNvSpPr txBox="1"/>
          <p:nvPr/>
        </p:nvSpPr>
        <p:spPr>
          <a:xfrm>
            <a:off x="2284333" y="5203031"/>
            <a:ext cx="1063704" cy="228600"/>
          </a:xfrm>
          <a:prstGeom prst="rect">
            <a:avLst/>
          </a:prstGeom>
          <a:noFill/>
          <a:ln>
            <a:noFill/>
          </a:ln>
        </p:spPr>
        <p:txBody>
          <a:bodyPr wrap="none" lIns="0" tIns="0" rIns="0" bIns="0" anchor="t" anchorCtr="0">
            <a:spAutoFit/>
          </a:bodyPr>
          <a:lstStyle/>
          <a:p>
            <a:pPr algn="r"/>
            <a:r>
              <a:rPr lang="ko-KR" sz="1125" dirty="0">
                <a:solidFill>
                  <a:srgbClr val="F5F7FA"/>
                </a:solidFill>
                <a:latin typeface="Malgun Gothic"/>
                <a:ea typeface="Malgun Gothic"/>
                <a:cs typeface="Malgun Gothic"/>
              </a:rPr>
              <a:t>도메인 모델링</a:t>
            </a:r>
          </a:p>
        </p:txBody>
      </p:sp>
      <p:sp>
        <p:nvSpPr>
          <p:cNvPr id="51" name="Rectangle 51"/>
          <p:cNvSpPr/>
          <p:nvPr/>
        </p:nvSpPr>
        <p:spPr>
          <a:xfrm>
            <a:off x="3619500" y="5191125"/>
            <a:ext cx="6858000" cy="209550"/>
          </a:xfrm>
          <a:prstGeom prst="rect">
            <a:avLst/>
          </a:prstGeom>
          <a:solidFill>
            <a:srgbClr val="141A2E"/>
          </a:solidFill>
          <a:ln>
            <a:noFill/>
          </a:ln>
        </p:spPr>
      </p:sp>
      <p:sp>
        <p:nvSpPr>
          <p:cNvPr id="52" name="Rectangle 52"/>
          <p:cNvSpPr/>
          <p:nvPr/>
        </p:nvSpPr>
        <p:spPr>
          <a:xfrm>
            <a:off x="3619500" y="5191125"/>
            <a:ext cx="1238250" cy="209550"/>
          </a:xfrm>
          <a:prstGeom prst="rect">
            <a:avLst/>
          </a:prstGeom>
          <a:solidFill>
            <a:srgbClr val="00D9FF"/>
          </a:solidFill>
          <a:ln>
            <a:noFill/>
          </a:ln>
        </p:spPr>
      </p:sp>
      <p:sp>
        <p:nvSpPr>
          <p:cNvPr id="53" name="TextBox 53"/>
          <p:cNvSpPr txBox="1"/>
          <p:nvPr/>
        </p:nvSpPr>
        <p:spPr>
          <a:xfrm>
            <a:off x="10555605" y="5207318"/>
            <a:ext cx="324126" cy="274320"/>
          </a:xfrm>
          <a:prstGeom prst="rect">
            <a:avLst/>
          </a:prstGeom>
          <a:noFill/>
          <a:ln>
            <a:noFill/>
          </a:ln>
        </p:spPr>
        <p:txBody>
          <a:bodyPr wrap="none" lIns="0" tIns="0" rIns="0" bIns="0" anchor="t" anchorCtr="0">
            <a:spAutoFit/>
          </a:bodyPr>
          <a:lstStyle/>
          <a:p>
            <a:pPr algn="l"/>
            <a:r>
              <a:rPr lang="en-US" sz="1350" b="1" dirty="0">
                <a:solidFill>
                  <a:srgbClr val="00D9FF"/>
                </a:solidFill>
                <a:latin typeface="Malgun Gothic"/>
                <a:ea typeface="Malgun Gothic"/>
                <a:cs typeface="Malgun Gothic"/>
              </a:rPr>
              <a:t>18%</a:t>
            </a:r>
          </a:p>
        </p:txBody>
      </p:sp>
      <p:sp>
        <p:nvSpPr>
          <p:cNvPr id="54" name="TextBox 54"/>
          <p:cNvSpPr txBox="1"/>
          <p:nvPr/>
        </p:nvSpPr>
        <p:spPr>
          <a:xfrm>
            <a:off x="2120027" y="5726906"/>
            <a:ext cx="1228011" cy="228600"/>
          </a:xfrm>
          <a:prstGeom prst="rect">
            <a:avLst/>
          </a:prstGeom>
          <a:noFill/>
          <a:ln>
            <a:noFill/>
          </a:ln>
        </p:spPr>
        <p:txBody>
          <a:bodyPr wrap="none" lIns="0" tIns="0" rIns="0" bIns="0" anchor="t" anchorCtr="0">
            <a:spAutoFit/>
          </a:bodyPr>
          <a:lstStyle/>
          <a:p>
            <a:pPr algn="r"/>
            <a:r>
              <a:rPr lang="ko-KR" sz="1125" dirty="0">
                <a:solidFill>
                  <a:srgbClr val="F5F7FA"/>
                </a:solidFill>
                <a:latin typeface="Malgun Gothic"/>
                <a:ea typeface="Malgun Gothic"/>
                <a:cs typeface="Malgun Gothic"/>
              </a:rPr>
              <a:t>이해관계자 협상</a:t>
            </a:r>
          </a:p>
        </p:txBody>
      </p:sp>
      <p:sp>
        <p:nvSpPr>
          <p:cNvPr id="55" name="Rectangle 55"/>
          <p:cNvSpPr/>
          <p:nvPr/>
        </p:nvSpPr>
        <p:spPr>
          <a:xfrm>
            <a:off x="3619500" y="5715000"/>
            <a:ext cx="6858000" cy="209550"/>
          </a:xfrm>
          <a:prstGeom prst="rect">
            <a:avLst/>
          </a:prstGeom>
          <a:solidFill>
            <a:srgbClr val="141A2E"/>
          </a:solidFill>
          <a:ln>
            <a:noFill/>
          </a:ln>
        </p:spPr>
      </p:sp>
      <p:sp>
        <p:nvSpPr>
          <p:cNvPr id="56" name="Rectangle 56"/>
          <p:cNvSpPr/>
          <p:nvPr/>
        </p:nvSpPr>
        <p:spPr>
          <a:xfrm>
            <a:off x="3619500" y="5715000"/>
            <a:ext cx="552450" cy="209550"/>
          </a:xfrm>
          <a:prstGeom prst="rect">
            <a:avLst/>
          </a:prstGeom>
          <a:solidFill>
            <a:srgbClr val="00D9FF"/>
          </a:solidFill>
          <a:ln>
            <a:noFill/>
          </a:ln>
        </p:spPr>
      </p:sp>
      <p:sp>
        <p:nvSpPr>
          <p:cNvPr id="57" name="TextBox 57"/>
          <p:cNvSpPr txBox="1"/>
          <p:nvPr/>
        </p:nvSpPr>
        <p:spPr>
          <a:xfrm>
            <a:off x="10555605" y="5731192"/>
            <a:ext cx="262018" cy="274320"/>
          </a:xfrm>
          <a:prstGeom prst="rect">
            <a:avLst/>
          </a:prstGeom>
          <a:noFill/>
          <a:ln>
            <a:noFill/>
          </a:ln>
        </p:spPr>
        <p:txBody>
          <a:bodyPr wrap="none" lIns="0" tIns="0" rIns="0" bIns="0" anchor="t" anchorCtr="0">
            <a:spAutoFit/>
          </a:bodyPr>
          <a:lstStyle/>
          <a:p>
            <a:pPr algn="l"/>
            <a:r>
              <a:rPr lang="en-US" sz="1350" b="1" dirty="0">
                <a:solidFill>
                  <a:srgbClr val="00D9FF"/>
                </a:solidFill>
                <a:latin typeface="Malgun Gothic"/>
                <a:ea typeface="Malgun Gothic"/>
                <a:cs typeface="Malgun Gothic"/>
              </a:rPr>
              <a:t>8%</a:t>
            </a:r>
          </a:p>
        </p:txBody>
      </p:sp>
      <p:sp>
        <p:nvSpPr>
          <p:cNvPr id="58" name="TextBox 58"/>
          <p:cNvSpPr txBox="1"/>
          <p:nvPr/>
        </p:nvSpPr>
        <p:spPr>
          <a:xfrm>
            <a:off x="560070" y="6570345"/>
            <a:ext cx="1547622"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개발자의 종말 — AI의 시대</a:t>
            </a:r>
          </a:p>
        </p:txBody>
      </p:sp>
      <p:sp>
        <p:nvSpPr>
          <p:cNvPr id="59" name="TextBox 59"/>
          <p:cNvSpPr txBox="1"/>
          <p:nvPr/>
        </p:nvSpPr>
        <p:spPr>
          <a:xfrm>
            <a:off x="9538811" y="6570345"/>
            <a:ext cx="2093119" cy="182880"/>
          </a:xfrm>
          <a:prstGeom prst="rect">
            <a:avLst/>
          </a:prstGeom>
          <a:noFill/>
          <a:ln>
            <a:noFill/>
          </a:ln>
        </p:spPr>
        <p:txBody>
          <a:bodyPr wrap="none" lIns="0" tIns="0" rIns="0" bIns="0" anchor="t" anchorCtr="0">
            <a:spAutoFit/>
          </a:bodyPr>
          <a:lstStyle/>
          <a:p>
            <a:pPr algn="r"/>
            <a:r>
              <a:rPr lang="ko-KR" sz="900" dirty="0">
                <a:solidFill>
                  <a:srgbClr val="A0A8BD"/>
                </a:solidFill>
                <a:latin typeface="Malgun Gothic"/>
                <a:ea typeface="Malgun Gothic"/>
                <a:cs typeface="Malgun Gothic"/>
              </a:rPr>
              <a:t>단순 반복은 먼저, 판단은 마지막에</a:t>
            </a:r>
          </a:p>
        </p:txBody>
      </p:sp>
    </p:spTree>
  </p:cSld>
  <p:clrMapOvr>
    <a:masterClrMapping/>
  </p:clrMapOvr>
  <p:transition xmlns:p14="http://schemas.microsoft.com/office/powerpoint/2010/main" p14:dur="5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_5"/>
          <p:cNvSpPr txBox="1"/>
          <p:nvPr/>
        </p:nvSpPr>
        <p:spPr>
          <a:xfrm>
            <a:off x="914400" y="2286000"/>
            <a:ext cx="10363200" cy="2286000"/>
          </a:xfrm>
          <a:prstGeom prst="rect">
            <a:avLst/>
          </a:prstGeom>
        </p:spPr>
        <p:txBody>
          <a:bodyPr wrap="square" anchor="ctr"/>
          <a:lstStyle/>
          <a:p>
            <a:pPr algn="ctr"/>
            <a:r>
              <a:rPr lang="ko-KR" sz="2800" b="1">
                <a:latin typeface="Malgun Gothic"/>
                <a:ea typeface="Malgun Gothic"/>
              </a:rPr>
              <a:t>슬라이드 5 렌더링 실패</a:t>
            </a:r>
          </a:p>
          <a:p>
            <a:pPr algn="ctr"/>
            <a:r>
              <a:rPr lang="en-US" sz="1400">
                <a:latin typeface="Malgun Gothic"/>
                <a:ea typeface="Malgun Gothic"/>
              </a:rPr>
              <a:t>Slide 5 could not be rendered.</a:t>
            </a:r>
          </a:p>
          <a:p>
            <a:pPr algn="ctr"/>
            <a:r>
              <a:rPr lang="en-US" sz="900" i="0">
                <a:latin typeface="Consolas"/>
              </a:rPr>
              <a:t>Failed to convert &lt;image&gt;: External image not found: ../images/chapter_storm.png</a:t>
            </a:r>
          </a:p>
        </p:txBody>
      </p:sp>
    </p:spTree>
  </p:cSld>
  <p:clrMapOvr>
    <a:masterClrMapping/>
  </p:clrMapOvr>
  <p:transition xmlns:p14="http://schemas.microsoft.com/office/powerpoint/2010/main" p14:dur="5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100000">
                <a:srgbClr val="141A2E"/>
              </a:gs>
            </a:gsLst>
            <a:lin ang="2700000" scaled="1"/>
          </a:gradFill>
          <a:ln>
            <a:noFill/>
          </a:ln>
        </p:spPr>
      </p:sp>
      <p:grpSp>
        <p:nvGrpSpPr>
          <p:cNvPr id="6" name="Group 6"/>
          <p:cNvGrpSpPr/>
          <p:nvPr/>
        </p:nvGrpSpPr>
        <p:grpSpPr>
          <a:xfrm>
            <a:off x="575310" y="450056"/>
            <a:ext cx="5325666" cy="1031082"/>
            <a:chOff x="575310" y="450056"/>
            <a:chExt cx="5325666" cy="1031082"/>
          </a:xfrm>
        </p:grpSpPr>
        <p:sp>
          <p:nvSpPr>
            <p:cNvPr id="3" name="TextBox 3"/>
            <p:cNvSpPr txBox="1"/>
            <p:nvPr/>
          </p:nvSpPr>
          <p:spPr>
            <a:xfrm>
              <a:off x="595312" y="450056"/>
              <a:ext cx="1573054" cy="228600"/>
            </a:xfrm>
            <a:prstGeom prst="rect">
              <a:avLst/>
            </a:prstGeom>
            <a:noFill/>
            <a:ln>
              <a:noFill/>
            </a:ln>
          </p:spPr>
          <p:txBody>
            <a:bodyPr wrap="none" lIns="0" tIns="0" rIns="0" bIns="0" anchor="t" anchorCtr="0">
              <a:spAutoFit/>
            </a:bodyPr>
            <a:lstStyle/>
            <a:p>
              <a:pPr algn="l"/>
              <a:r>
                <a:rPr lang="ko-KR" sz="1125" dirty="0">
                  <a:solidFill>
                    <a:srgbClr val="A0A8BD"/>
                  </a:solidFill>
                  <a:latin typeface="Malgun Gothic"/>
                  <a:ea typeface="Malgun Gothic"/>
                  <a:cs typeface="Malgun Gothic"/>
                </a:rPr>
                <a:t>CHAPTER 03 · 분기점</a:t>
              </a:r>
            </a:p>
          </p:txBody>
        </p:sp>
        <p:sp>
          <p:nvSpPr>
            <p:cNvPr id="4" name="TextBox 4"/>
            <p:cNvSpPr txBox="1"/>
            <p:nvPr/>
          </p:nvSpPr>
          <p:spPr>
            <a:xfrm>
              <a:off x="575310" y="737235"/>
              <a:ext cx="1973218"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두 갈래 길</a:t>
              </a:r>
            </a:p>
          </p:txBody>
        </p:sp>
        <p:sp>
          <p:nvSpPr>
            <p:cNvPr id="5" name="TextBox 5"/>
            <p:cNvSpPr txBox="1"/>
            <p:nvPr/>
          </p:nvSpPr>
          <p:spPr>
            <a:xfrm>
              <a:off x="592455" y="1206818"/>
              <a:ext cx="5308521" cy="274320"/>
            </a:xfrm>
            <a:prstGeom prst="rect">
              <a:avLst/>
            </a:prstGeom>
            <a:noFill/>
            <a:ln>
              <a:noFill/>
            </a:ln>
          </p:spPr>
          <p:txBody>
            <a:bodyPr wrap="none" lIns="0" tIns="0" rIns="0" bIns="0" anchor="t" anchorCtr="0">
              <a:spAutoFit/>
            </a:bodyPr>
            <a:lstStyle/>
            <a:p>
              <a:pPr algn="l"/>
              <a:r>
                <a:rPr lang="ko-KR" sz="1350" dirty="0">
                  <a:solidFill>
                    <a:srgbClr val="A0A8BD"/>
                  </a:solidFill>
                  <a:latin typeface="Malgun Gothic"/>
                  <a:ea typeface="Malgun Gothic"/>
                  <a:cs typeface="Malgun Gothic"/>
                </a:rPr>
                <a:t>활용하는 자 vs 활용하지 못하는 자 — 같은 5년, 다른 종착지</a:t>
              </a:r>
            </a:p>
          </p:txBody>
        </p:sp>
      </p:grpSp>
      <p:sp>
        <p:nvSpPr>
          <p:cNvPr id="7" name="Rectangle 7"/>
          <p:cNvSpPr/>
          <p:nvPr/>
        </p:nvSpPr>
        <p:spPr>
          <a:xfrm>
            <a:off x="6086475" y="1714500"/>
            <a:ext cx="19050" cy="4572000"/>
          </a:xfrm>
          <a:prstGeom prst="rect">
            <a:avLst/>
          </a:prstGeom>
          <a:gradFill>
            <a:gsLst>
              <a:gs pos="0">
                <a:srgbClr val="2A3252">
                  <a:alpha val="0"/>
                </a:srgbClr>
              </a:gs>
              <a:gs pos="50000">
                <a:srgbClr val="2A3252"/>
              </a:gs>
              <a:gs pos="100000">
                <a:srgbClr val="2A3252">
                  <a:alpha val="0"/>
                </a:srgbClr>
              </a:gs>
            </a:gsLst>
            <a:lin ang="5400000" scaled="1"/>
          </a:gradFill>
          <a:ln>
            <a:noFill/>
          </a:ln>
        </p:spPr>
      </p:sp>
      <p:grpSp>
        <p:nvGrpSpPr>
          <p:cNvPr id="10" name="Group 10"/>
          <p:cNvGrpSpPr/>
          <p:nvPr/>
        </p:nvGrpSpPr>
        <p:grpSpPr>
          <a:xfrm>
            <a:off x="5848350" y="1543050"/>
            <a:ext cx="495300" cy="495300"/>
            <a:chOff x="5848350" y="1543050"/>
            <a:chExt cx="495300" cy="495300"/>
          </a:xfrm>
        </p:grpSpPr>
        <p:sp>
          <p:nvSpPr>
            <p:cNvPr id="8" name="Ellipse 8"/>
            <p:cNvSpPr/>
            <p:nvPr/>
          </p:nvSpPr>
          <p:spPr>
            <a:xfrm>
              <a:off x="5848350" y="1543050"/>
              <a:ext cx="495300" cy="495300"/>
            </a:xfrm>
            <a:prstGeom prst="ellipse">
              <a:avLst/>
            </a:prstGeom>
            <a:solidFill>
              <a:srgbClr val="1E2540"/>
            </a:solidFill>
            <a:ln w="14288">
              <a:solidFill>
                <a:srgbClr val="2A3252"/>
              </a:solidFill>
            </a:ln>
          </p:spPr>
        </p:sp>
        <p:sp>
          <p:nvSpPr>
            <p:cNvPr id="9" name="TextBox 9"/>
            <p:cNvSpPr txBox="1"/>
            <p:nvPr/>
          </p:nvSpPr>
          <p:spPr>
            <a:xfrm>
              <a:off x="5994104" y="1734502"/>
              <a:ext cx="203792" cy="213360"/>
            </a:xfrm>
            <a:prstGeom prst="rect">
              <a:avLst/>
            </a:prstGeom>
            <a:noFill/>
            <a:ln>
              <a:noFill/>
            </a:ln>
          </p:spPr>
          <p:txBody>
            <a:bodyPr wrap="none" lIns="0" tIns="0" rIns="0" bIns="0" anchor="t" anchorCtr="0">
              <a:spAutoFit/>
            </a:bodyPr>
            <a:lstStyle/>
            <a:p>
              <a:pPr algn="ctr"/>
              <a:r>
                <a:rPr lang="en-US" sz="1050" b="1" dirty="0">
                  <a:solidFill>
                    <a:srgbClr val="F5F7FA"/>
                  </a:solidFill>
                  <a:latin typeface="Malgun Gothic"/>
                  <a:ea typeface="Malgun Gothic"/>
                  <a:cs typeface="Malgun Gothic"/>
                </a:rPr>
                <a:t>VS</a:t>
              </a:r>
            </a:p>
          </p:txBody>
        </p:sp>
      </p:grpSp>
      <p:grpSp>
        <p:nvGrpSpPr>
          <p:cNvPr id="33" name="Group 33"/>
          <p:cNvGrpSpPr/>
          <p:nvPr/>
        </p:nvGrpSpPr>
        <p:grpSpPr>
          <a:xfrm>
            <a:off x="609600" y="1714500"/>
            <a:ext cx="5181600" cy="4572000"/>
            <a:chOff x="609600" y="1714500"/>
            <a:chExt cx="5181600" cy="4572000"/>
          </a:xfrm>
        </p:grpSpPr>
        <p:sp>
          <p:nvSpPr>
            <p:cNvPr id="11" name="Rectangle 11"/>
            <p:cNvSpPr/>
            <p:nvPr/>
          </p:nvSpPr>
          <p:spPr>
            <a:xfrm>
              <a:off x="609600" y="1714500"/>
              <a:ext cx="5181600" cy="4572000"/>
            </a:xfrm>
            <a:prstGeom prst="roundRect">
              <a:avLst>
                <a:gd name="adj" fmla="val 3333"/>
              </a:avLst>
            </a:prstGeom>
            <a:gradFill>
              <a:gsLst>
                <a:gs pos="0">
                  <a:srgbClr val="E63946">
                    <a:alpha val="18000"/>
                  </a:srgbClr>
                </a:gs>
                <a:gs pos="100000">
                  <a:srgbClr val="E63946">
                    <a:alpha val="4000"/>
                  </a:srgbClr>
                </a:gs>
              </a:gsLst>
              <a:lin ang="5400000" scaled="1"/>
            </a:gradFill>
            <a:ln w="14288">
              <a:solidFill>
                <a:srgbClr val="E63946">
                  <a:alpha val="35000"/>
                </a:srgbClr>
              </a:solidFill>
            </a:ln>
          </p:spPr>
        </p:sp>
        <p:grpSp>
          <p:nvGrpSpPr>
            <p:cNvPr id="14" name="Group 14"/>
            <p:cNvGrpSpPr/>
            <p:nvPr/>
          </p:nvGrpSpPr>
          <p:grpSpPr>
            <a:xfrm>
              <a:off x="838200" y="1981200"/>
              <a:ext cx="876300" cy="257175"/>
              <a:chOff x="838200" y="1981200"/>
              <a:chExt cx="876300" cy="257175"/>
            </a:xfrm>
          </p:grpSpPr>
          <p:sp>
            <p:nvSpPr>
              <p:cNvPr id="12" name="Rectangle 12"/>
              <p:cNvSpPr/>
              <p:nvPr/>
            </p:nvSpPr>
            <p:spPr>
              <a:xfrm>
                <a:off x="838200" y="1981200"/>
                <a:ext cx="876300" cy="247650"/>
              </a:xfrm>
              <a:prstGeom prst="roundRect">
                <a:avLst>
                  <a:gd name="adj" fmla="val 50000"/>
                </a:avLst>
              </a:prstGeom>
              <a:solidFill>
                <a:srgbClr val="E63946">
                  <a:alpha val="18000"/>
                </a:srgbClr>
              </a:solidFill>
              <a:ln>
                <a:noFill/>
              </a:ln>
            </p:spPr>
          </p:sp>
          <p:sp>
            <p:nvSpPr>
              <p:cNvPr id="13" name="TextBox 13"/>
              <p:cNvSpPr txBox="1"/>
              <p:nvPr/>
            </p:nvSpPr>
            <p:spPr>
              <a:xfrm>
                <a:off x="906075" y="2055495"/>
                <a:ext cx="740550" cy="182880"/>
              </a:xfrm>
              <a:prstGeom prst="rect">
                <a:avLst/>
              </a:prstGeom>
              <a:noFill/>
              <a:ln>
                <a:noFill/>
              </a:ln>
            </p:spPr>
            <p:txBody>
              <a:bodyPr wrap="none" lIns="0" tIns="0" rIns="0" bIns="0" anchor="t" anchorCtr="0">
                <a:spAutoFit/>
              </a:bodyPr>
              <a:lstStyle/>
              <a:p>
                <a:pPr algn="ctr"/>
                <a:r>
                  <a:rPr lang="en-US" sz="900" b="1" dirty="0">
                    <a:solidFill>
                      <a:srgbClr val="E63946"/>
                    </a:solidFill>
                    <a:latin typeface="Malgun Gothic"/>
                    <a:ea typeface="Malgun Gothic"/>
                    <a:cs typeface="Malgun Gothic"/>
                  </a:rPr>
                  <a:t>SCENARIO A</a:t>
                </a:r>
              </a:p>
            </p:txBody>
          </p:sp>
        </p:grpSp>
        <p:sp>
          <p:nvSpPr>
            <p:cNvPr id="15" name="TextBox 15"/>
            <p:cNvSpPr txBox="1"/>
            <p:nvPr/>
          </p:nvSpPr>
          <p:spPr>
            <a:xfrm>
              <a:off x="1232535" y="2437448"/>
              <a:ext cx="2875433"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Malgun Gothic"/>
                  <a:ea typeface="Malgun Gothic"/>
                  <a:cs typeface="Malgun Gothic"/>
                </a:rPr>
                <a:t>AI를 외면하는 개발자</a:t>
              </a:r>
            </a:p>
          </p:txBody>
        </p:sp>
        <p:sp>
          <p:nvSpPr>
            <p:cNvPr id="16" name="Line 16"/>
            <p:cNvSpPr/>
            <p:nvPr/>
          </p:nvSpPr>
          <p:spPr>
            <a:xfrm>
              <a:off x="838200" y="2933700"/>
              <a:ext cx="4724400" cy="9525"/>
            </a:xfrm>
            <a:custGeom>
              <a:avLst/>
              <a:gdLst/>
              <a:ahLst/>
              <a:cxnLst/>
              <a:rect l="l" t="t" r="r" b="b"/>
              <a:pathLst>
                <a:path w="4724400" h="9525">
                  <a:moveTo>
                    <a:pt x="0" y="0"/>
                  </a:moveTo>
                  <a:lnTo>
                    <a:pt x="4724400" y="0"/>
                  </a:lnTo>
                </a:path>
              </a:pathLst>
            </a:custGeom>
            <a:noFill/>
            <a:ln w="9525">
              <a:solidFill>
                <a:srgbClr val="E63946">
                  <a:alpha val="25000"/>
                </a:srgbClr>
              </a:solidFill>
            </a:ln>
          </p:spPr>
        </p:sp>
        <p:grpSp>
          <p:nvGrpSpPr>
            <p:cNvPr id="20" name="Group 20"/>
            <p:cNvGrpSpPr/>
            <p:nvPr/>
          </p:nvGrpSpPr>
          <p:grpSpPr>
            <a:xfrm>
              <a:off x="803910" y="3133249"/>
              <a:ext cx="4771072" cy="724376"/>
              <a:chOff x="803910" y="3133249"/>
              <a:chExt cx="4771072" cy="724376"/>
            </a:xfrm>
          </p:grpSpPr>
          <p:sp>
            <p:nvSpPr>
              <p:cNvPr id="17" name="TextBox 17"/>
              <p:cNvSpPr txBox="1"/>
              <p:nvPr/>
            </p:nvSpPr>
            <p:spPr>
              <a:xfrm>
                <a:off x="825818" y="3133249"/>
                <a:ext cx="637080"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작업 속도</a:t>
                </a:r>
              </a:p>
            </p:txBody>
          </p:sp>
          <p:sp>
            <p:nvSpPr>
              <p:cNvPr id="18" name="TextBox 18"/>
              <p:cNvSpPr txBox="1"/>
              <p:nvPr/>
            </p:nvSpPr>
            <p:spPr>
              <a:xfrm>
                <a:off x="803910" y="3308985"/>
                <a:ext cx="420524" cy="548640"/>
              </a:xfrm>
              <a:prstGeom prst="rect">
                <a:avLst/>
              </a:prstGeom>
              <a:noFill/>
              <a:ln>
                <a:noFill/>
              </a:ln>
            </p:spPr>
            <p:txBody>
              <a:bodyPr wrap="none" lIns="0" tIns="0" rIns="0" bIns="0" anchor="t" anchorCtr="0">
                <a:spAutoFit/>
              </a:bodyPr>
              <a:lstStyle/>
              <a:p>
                <a:pPr algn="l"/>
                <a:r>
                  <a:rPr lang="en-US" sz="2700" b="1" dirty="0">
                    <a:solidFill>
                      <a:srgbClr val="F5F7FA"/>
                    </a:solidFill>
                    <a:latin typeface="Malgun Gothic"/>
                    <a:ea typeface="Malgun Gothic"/>
                    <a:cs typeface="Malgun Gothic"/>
                  </a:rPr>
                  <a:t>1</a:t>
                </a:r>
                <a:r>
                  <a:rPr lang="en-US" sz="1650" b="1" dirty="0">
                    <a:solidFill>
                      <a:srgbClr val="A0A8BD"/>
                    </a:solidFill>
                    <a:latin typeface="Malgun Gothic"/>
                    <a:ea typeface="Malgun Gothic"/>
                    <a:cs typeface="Malgun Gothic"/>
                  </a:rPr>
                  <a:t>×</a:t>
                </a:r>
              </a:p>
            </p:txBody>
          </p:sp>
          <p:sp>
            <p:nvSpPr>
              <p:cNvPr id="19" name="TextBox 19"/>
              <p:cNvSpPr txBox="1"/>
              <p:nvPr/>
            </p:nvSpPr>
            <p:spPr>
              <a:xfrm>
                <a:off x="5123021" y="3438049"/>
                <a:ext cx="451961" cy="198120"/>
              </a:xfrm>
              <a:prstGeom prst="rect">
                <a:avLst/>
              </a:prstGeom>
              <a:noFill/>
              <a:ln>
                <a:noFill/>
              </a:ln>
            </p:spPr>
            <p:txBody>
              <a:bodyPr wrap="none" lIns="0" tIns="0" rIns="0" bIns="0" anchor="t" anchorCtr="0">
                <a:spAutoFit/>
              </a:bodyPr>
              <a:lstStyle/>
              <a:p>
                <a:pPr algn="r"/>
                <a:r>
                  <a:rPr lang="ko-KR" sz="975" dirty="0">
                    <a:solidFill>
                      <a:srgbClr val="A0A8BD"/>
                    </a:solidFill>
                    <a:latin typeface="Malgun Gothic"/>
                    <a:ea typeface="Malgun Gothic"/>
                    <a:cs typeface="Malgun Gothic"/>
                  </a:rPr>
                  <a:t>기본값</a:t>
                </a:r>
              </a:p>
            </p:txBody>
          </p:sp>
        </p:grpSp>
        <p:sp>
          <p:nvSpPr>
            <p:cNvPr id="21" name="Line 21"/>
            <p:cNvSpPr/>
            <p:nvPr/>
          </p:nvSpPr>
          <p:spPr>
            <a:xfrm>
              <a:off x="838200" y="3829050"/>
              <a:ext cx="4724400" cy="9525"/>
            </a:xfrm>
            <a:custGeom>
              <a:avLst/>
              <a:gdLst/>
              <a:ahLst/>
              <a:cxnLst/>
              <a:rect l="l" t="t" r="r" b="b"/>
              <a:pathLst>
                <a:path w="4724400" h="9525">
                  <a:moveTo>
                    <a:pt x="0" y="0"/>
                  </a:moveTo>
                  <a:lnTo>
                    <a:pt x="4724400" y="0"/>
                  </a:lnTo>
                </a:path>
              </a:pathLst>
            </a:custGeom>
            <a:noFill/>
            <a:ln w="9525">
              <a:solidFill>
                <a:srgbClr val="E63946">
                  <a:alpha val="15000"/>
                </a:srgbClr>
              </a:solidFill>
            </a:ln>
          </p:spPr>
        </p:sp>
        <p:grpSp>
          <p:nvGrpSpPr>
            <p:cNvPr id="24" name="Group 24"/>
            <p:cNvGrpSpPr/>
            <p:nvPr/>
          </p:nvGrpSpPr>
          <p:grpSpPr>
            <a:xfrm>
              <a:off x="819150" y="3952399"/>
              <a:ext cx="1786318" cy="552926"/>
              <a:chOff x="819150" y="3952399"/>
              <a:chExt cx="1786318" cy="552926"/>
            </a:xfrm>
          </p:grpSpPr>
          <p:sp>
            <p:nvSpPr>
              <p:cNvPr id="22" name="TextBox 22"/>
              <p:cNvSpPr txBox="1"/>
              <p:nvPr/>
            </p:nvSpPr>
            <p:spPr>
              <a:xfrm>
                <a:off x="825818" y="3952399"/>
                <a:ext cx="637080"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코드 품질</a:t>
                </a:r>
              </a:p>
            </p:txBody>
          </p:sp>
          <p:sp>
            <p:nvSpPr>
              <p:cNvPr id="23" name="TextBox 23"/>
              <p:cNvSpPr txBox="1"/>
              <p:nvPr/>
            </p:nvSpPr>
            <p:spPr>
              <a:xfrm>
                <a:off x="819150" y="4200525"/>
                <a:ext cx="1786318" cy="304800"/>
              </a:xfrm>
              <a:prstGeom prst="rect">
                <a:avLst/>
              </a:prstGeom>
              <a:noFill/>
              <a:ln>
                <a:noFill/>
              </a:ln>
            </p:spPr>
            <p:txBody>
              <a:bodyPr wrap="none" lIns="0" tIns="0" rIns="0" bIns="0" anchor="t" anchorCtr="0">
                <a:spAutoFit/>
              </a:bodyPr>
              <a:lstStyle/>
              <a:p>
                <a:pPr algn="l"/>
                <a:r>
                  <a:rPr lang="ko-KR" sz="1500" b="1" dirty="0">
                    <a:solidFill>
                      <a:srgbClr val="F5F7FA"/>
                    </a:solidFill>
                    <a:latin typeface="Malgun Gothic"/>
                    <a:ea typeface="Malgun Gothic"/>
                    <a:cs typeface="Malgun Gothic"/>
                  </a:rPr>
                  <a:t>본인 한계에 갇힘</a:t>
                </a:r>
              </a:p>
            </p:txBody>
          </p:sp>
        </p:grpSp>
        <p:sp>
          <p:nvSpPr>
            <p:cNvPr id="25" name="Line 25"/>
            <p:cNvSpPr/>
            <p:nvPr/>
          </p:nvSpPr>
          <p:spPr>
            <a:xfrm>
              <a:off x="838200" y="4552950"/>
              <a:ext cx="4724400" cy="9525"/>
            </a:xfrm>
            <a:custGeom>
              <a:avLst/>
              <a:gdLst/>
              <a:ahLst/>
              <a:cxnLst/>
              <a:rect l="l" t="t" r="r" b="b"/>
              <a:pathLst>
                <a:path w="4724400" h="9525">
                  <a:moveTo>
                    <a:pt x="0" y="0"/>
                  </a:moveTo>
                  <a:lnTo>
                    <a:pt x="4724400" y="0"/>
                  </a:lnTo>
                </a:path>
              </a:pathLst>
            </a:custGeom>
            <a:noFill/>
            <a:ln w="9525">
              <a:solidFill>
                <a:srgbClr val="E63946">
                  <a:alpha val="15000"/>
                </a:srgbClr>
              </a:solidFill>
            </a:ln>
          </p:spPr>
        </p:sp>
        <p:grpSp>
          <p:nvGrpSpPr>
            <p:cNvPr id="28" name="Group 28"/>
            <p:cNvGrpSpPr/>
            <p:nvPr/>
          </p:nvGrpSpPr>
          <p:grpSpPr>
            <a:xfrm>
              <a:off x="825818" y="4676299"/>
              <a:ext cx="796290" cy="591026"/>
              <a:chOff x="825818" y="4676299"/>
              <a:chExt cx="796290" cy="591026"/>
            </a:xfrm>
          </p:grpSpPr>
          <p:sp>
            <p:nvSpPr>
              <p:cNvPr id="26" name="TextBox 26"/>
              <p:cNvSpPr txBox="1"/>
              <p:nvPr/>
            </p:nvSpPr>
            <p:spPr>
              <a:xfrm>
                <a:off x="825818" y="4676299"/>
                <a:ext cx="637080"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시장 가치</a:t>
                </a:r>
              </a:p>
            </p:txBody>
          </p:sp>
          <p:sp>
            <p:nvSpPr>
              <p:cNvPr id="27" name="TextBox 27"/>
              <p:cNvSpPr txBox="1"/>
              <p:nvPr/>
            </p:nvSpPr>
            <p:spPr>
              <a:xfrm>
                <a:off x="1123950" y="4962525"/>
                <a:ext cx="498158" cy="304800"/>
              </a:xfrm>
              <a:prstGeom prst="rect">
                <a:avLst/>
              </a:prstGeom>
              <a:noFill/>
              <a:ln>
                <a:noFill/>
              </a:ln>
            </p:spPr>
            <p:txBody>
              <a:bodyPr wrap="none" lIns="0" tIns="0" rIns="0" bIns="0" anchor="t" anchorCtr="0">
                <a:spAutoFit/>
              </a:bodyPr>
              <a:lstStyle/>
              <a:p>
                <a:pPr algn="l"/>
                <a:r>
                  <a:rPr lang="ko-KR" sz="1500" b="1" dirty="0">
                    <a:solidFill>
                      <a:srgbClr val="E63946"/>
                    </a:solidFill>
                    <a:latin typeface="Malgun Gothic"/>
                    <a:ea typeface="Malgun Gothic"/>
                    <a:cs typeface="Malgun Gothic"/>
                  </a:rPr>
                  <a:t>하락</a:t>
                </a:r>
              </a:p>
            </p:txBody>
          </p:sp>
        </p:grpSp>
        <p:sp>
          <p:nvSpPr>
            <p:cNvPr id="29" name="Line 29"/>
            <p:cNvSpPr/>
            <p:nvPr/>
          </p:nvSpPr>
          <p:spPr>
            <a:xfrm>
              <a:off x="838200" y="5391150"/>
              <a:ext cx="4724400" cy="9525"/>
            </a:xfrm>
            <a:custGeom>
              <a:avLst/>
              <a:gdLst/>
              <a:ahLst/>
              <a:cxnLst/>
              <a:rect l="l" t="t" r="r" b="b"/>
              <a:pathLst>
                <a:path w="4724400" h="9525">
                  <a:moveTo>
                    <a:pt x="0" y="0"/>
                  </a:moveTo>
                  <a:lnTo>
                    <a:pt x="4724400" y="0"/>
                  </a:lnTo>
                </a:path>
              </a:pathLst>
            </a:custGeom>
            <a:noFill/>
            <a:ln w="9525">
              <a:solidFill>
                <a:srgbClr val="E63946">
                  <a:alpha val="15000"/>
                </a:srgbClr>
              </a:solidFill>
            </a:ln>
          </p:spPr>
        </p:sp>
        <p:grpSp>
          <p:nvGrpSpPr>
            <p:cNvPr id="32" name="Group 32"/>
            <p:cNvGrpSpPr/>
            <p:nvPr/>
          </p:nvGrpSpPr>
          <p:grpSpPr>
            <a:xfrm>
              <a:off x="811530" y="5514499"/>
              <a:ext cx="697420" cy="629126"/>
              <a:chOff x="811530" y="5514499"/>
              <a:chExt cx="697420" cy="629126"/>
            </a:xfrm>
          </p:grpSpPr>
          <p:sp>
            <p:nvSpPr>
              <p:cNvPr id="30" name="TextBox 30"/>
              <p:cNvSpPr txBox="1"/>
              <p:nvPr/>
            </p:nvSpPr>
            <p:spPr>
              <a:xfrm>
                <a:off x="825818" y="5514499"/>
                <a:ext cx="430601"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5년 후</a:t>
                </a:r>
              </a:p>
            </p:txBody>
          </p:sp>
          <p:sp>
            <p:nvSpPr>
              <p:cNvPr id="31" name="TextBox 31"/>
              <p:cNvSpPr txBox="1"/>
              <p:nvPr/>
            </p:nvSpPr>
            <p:spPr>
              <a:xfrm>
                <a:off x="811530" y="5716905"/>
                <a:ext cx="697420" cy="426720"/>
              </a:xfrm>
              <a:prstGeom prst="rect">
                <a:avLst/>
              </a:prstGeom>
              <a:noFill/>
              <a:ln>
                <a:noFill/>
              </a:ln>
            </p:spPr>
            <p:txBody>
              <a:bodyPr wrap="none" lIns="0" tIns="0" rIns="0" bIns="0" anchor="t" anchorCtr="0">
                <a:spAutoFit/>
              </a:bodyPr>
              <a:lstStyle/>
              <a:p>
                <a:pPr algn="l"/>
                <a:r>
                  <a:rPr lang="ko-KR" sz="2100" b="1" dirty="0">
                    <a:solidFill>
                      <a:srgbClr val="E63946"/>
                    </a:solidFill>
                    <a:latin typeface="Malgun Gothic"/>
                    <a:ea typeface="Malgun Gothic"/>
                    <a:cs typeface="Malgun Gothic"/>
                  </a:rPr>
                  <a:t>도태</a:t>
                </a:r>
              </a:p>
            </p:txBody>
          </p:sp>
        </p:grpSp>
      </p:grpSp>
      <p:grpSp>
        <p:nvGrpSpPr>
          <p:cNvPr id="56" name="Group 56"/>
          <p:cNvGrpSpPr/>
          <p:nvPr/>
        </p:nvGrpSpPr>
        <p:grpSpPr>
          <a:xfrm>
            <a:off x="6400800" y="1714500"/>
            <a:ext cx="5181600" cy="4572000"/>
            <a:chOff x="6400800" y="1714500"/>
            <a:chExt cx="5181600" cy="4572000"/>
          </a:xfrm>
        </p:grpSpPr>
        <p:sp>
          <p:nvSpPr>
            <p:cNvPr id="34" name="Rectangle 34"/>
            <p:cNvSpPr/>
            <p:nvPr/>
          </p:nvSpPr>
          <p:spPr>
            <a:xfrm>
              <a:off x="6400800" y="1714500"/>
              <a:ext cx="5181600" cy="4572000"/>
            </a:xfrm>
            <a:prstGeom prst="roundRect">
              <a:avLst>
                <a:gd name="adj" fmla="val 3333"/>
              </a:avLst>
            </a:prstGeom>
            <a:gradFill>
              <a:gsLst>
                <a:gs pos="0">
                  <a:srgbClr val="00D9FF">
                    <a:alpha val="18000"/>
                  </a:srgbClr>
                </a:gs>
                <a:gs pos="100000">
                  <a:srgbClr val="00D9FF">
                    <a:alpha val="4000"/>
                  </a:srgbClr>
                </a:gs>
              </a:gsLst>
              <a:lin ang="5400000" scaled="1"/>
            </a:gradFill>
            <a:ln w="14288">
              <a:solidFill>
                <a:srgbClr val="00D9FF">
                  <a:alpha val="35000"/>
                </a:srgbClr>
              </a:solidFill>
            </a:ln>
          </p:spPr>
        </p:sp>
        <p:grpSp>
          <p:nvGrpSpPr>
            <p:cNvPr id="37" name="Group 37"/>
            <p:cNvGrpSpPr/>
            <p:nvPr/>
          </p:nvGrpSpPr>
          <p:grpSpPr>
            <a:xfrm>
              <a:off x="6629400" y="1981200"/>
              <a:ext cx="876300" cy="257175"/>
              <a:chOff x="6629400" y="1981200"/>
              <a:chExt cx="876300" cy="257175"/>
            </a:xfrm>
          </p:grpSpPr>
          <p:sp>
            <p:nvSpPr>
              <p:cNvPr id="35" name="Rectangle 35"/>
              <p:cNvSpPr/>
              <p:nvPr/>
            </p:nvSpPr>
            <p:spPr>
              <a:xfrm>
                <a:off x="6629400" y="1981200"/>
                <a:ext cx="876300" cy="247650"/>
              </a:xfrm>
              <a:prstGeom prst="roundRect">
                <a:avLst>
                  <a:gd name="adj" fmla="val 50000"/>
                </a:avLst>
              </a:prstGeom>
              <a:solidFill>
                <a:srgbClr val="00D9FF">
                  <a:alpha val="18000"/>
                </a:srgbClr>
              </a:solidFill>
              <a:ln>
                <a:noFill/>
              </a:ln>
            </p:spPr>
          </p:sp>
          <p:sp>
            <p:nvSpPr>
              <p:cNvPr id="36" name="TextBox 36"/>
              <p:cNvSpPr txBox="1"/>
              <p:nvPr/>
            </p:nvSpPr>
            <p:spPr>
              <a:xfrm>
                <a:off x="6697275" y="2055495"/>
                <a:ext cx="740550" cy="182880"/>
              </a:xfrm>
              <a:prstGeom prst="rect">
                <a:avLst/>
              </a:prstGeom>
              <a:noFill/>
              <a:ln>
                <a:noFill/>
              </a:ln>
            </p:spPr>
            <p:txBody>
              <a:bodyPr wrap="none" lIns="0" tIns="0" rIns="0" bIns="0" anchor="t" anchorCtr="0">
                <a:spAutoFit/>
              </a:bodyPr>
              <a:lstStyle/>
              <a:p>
                <a:pPr algn="ctr"/>
                <a:r>
                  <a:rPr lang="en-US" sz="900" b="1" dirty="0">
                    <a:solidFill>
                      <a:srgbClr val="00D9FF"/>
                    </a:solidFill>
                    <a:latin typeface="Malgun Gothic"/>
                    <a:ea typeface="Malgun Gothic"/>
                    <a:cs typeface="Malgun Gothic"/>
                  </a:rPr>
                  <a:t>SCENARIO B</a:t>
                </a:r>
              </a:p>
            </p:txBody>
          </p:sp>
        </p:grpSp>
        <p:sp>
          <p:nvSpPr>
            <p:cNvPr id="38" name="TextBox 38"/>
            <p:cNvSpPr txBox="1"/>
            <p:nvPr/>
          </p:nvSpPr>
          <p:spPr>
            <a:xfrm>
              <a:off x="7023735" y="2437448"/>
              <a:ext cx="2875433"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Malgun Gothic"/>
                  <a:ea typeface="Malgun Gothic"/>
                  <a:cs typeface="Malgun Gothic"/>
                </a:rPr>
                <a:t>AI를 활용하는 개발자</a:t>
              </a:r>
            </a:p>
          </p:txBody>
        </p:sp>
        <p:sp>
          <p:nvSpPr>
            <p:cNvPr id="39" name="Line 39"/>
            <p:cNvSpPr/>
            <p:nvPr/>
          </p:nvSpPr>
          <p:spPr>
            <a:xfrm>
              <a:off x="6629400" y="2933700"/>
              <a:ext cx="4724400" cy="9525"/>
            </a:xfrm>
            <a:custGeom>
              <a:avLst/>
              <a:gdLst/>
              <a:ahLst/>
              <a:cxnLst/>
              <a:rect l="l" t="t" r="r" b="b"/>
              <a:pathLst>
                <a:path w="4724400" h="9525">
                  <a:moveTo>
                    <a:pt x="0" y="0"/>
                  </a:moveTo>
                  <a:lnTo>
                    <a:pt x="4724400" y="0"/>
                  </a:lnTo>
                </a:path>
              </a:pathLst>
            </a:custGeom>
            <a:noFill/>
            <a:ln w="9525">
              <a:solidFill>
                <a:srgbClr val="00D9FF">
                  <a:alpha val="25000"/>
                </a:srgbClr>
              </a:solidFill>
            </a:ln>
          </p:spPr>
        </p:sp>
        <p:grpSp>
          <p:nvGrpSpPr>
            <p:cNvPr id="43" name="Group 43"/>
            <p:cNvGrpSpPr/>
            <p:nvPr/>
          </p:nvGrpSpPr>
          <p:grpSpPr>
            <a:xfrm>
              <a:off x="6595110" y="3133249"/>
              <a:ext cx="4771072" cy="724376"/>
              <a:chOff x="6595110" y="3133249"/>
              <a:chExt cx="4771072" cy="724376"/>
            </a:xfrm>
          </p:grpSpPr>
          <p:sp>
            <p:nvSpPr>
              <p:cNvPr id="40" name="TextBox 40"/>
              <p:cNvSpPr txBox="1"/>
              <p:nvPr/>
            </p:nvSpPr>
            <p:spPr>
              <a:xfrm>
                <a:off x="6617018" y="3133249"/>
                <a:ext cx="637080"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작업 속도</a:t>
                </a:r>
              </a:p>
            </p:txBody>
          </p:sp>
          <p:sp>
            <p:nvSpPr>
              <p:cNvPr id="41" name="TextBox 41"/>
              <p:cNvSpPr txBox="1"/>
              <p:nvPr/>
            </p:nvSpPr>
            <p:spPr>
              <a:xfrm>
                <a:off x="6595110" y="3308985"/>
                <a:ext cx="979494" cy="548640"/>
              </a:xfrm>
              <a:prstGeom prst="rect">
                <a:avLst/>
              </a:prstGeom>
              <a:noFill/>
              <a:ln>
                <a:noFill/>
              </a:ln>
            </p:spPr>
            <p:txBody>
              <a:bodyPr wrap="none" lIns="0" tIns="0" rIns="0" bIns="0" anchor="t" anchorCtr="0">
                <a:spAutoFit/>
              </a:bodyPr>
              <a:lstStyle/>
              <a:p>
                <a:pPr algn="l"/>
                <a:r>
                  <a:rPr lang="en-US" sz="2700" b="1" dirty="0">
                    <a:solidFill>
                      <a:srgbClr val="00D9FF"/>
                    </a:solidFill>
                    <a:latin typeface="Malgun Gothic"/>
                    <a:ea typeface="Malgun Gothic"/>
                    <a:cs typeface="Malgun Gothic"/>
                  </a:rPr>
                  <a:t>3–5</a:t>
                </a:r>
                <a:r>
                  <a:rPr lang="en-US" sz="1650" b="1" dirty="0">
                    <a:solidFill>
                      <a:srgbClr val="A0A8BD"/>
                    </a:solidFill>
                    <a:latin typeface="Malgun Gothic"/>
                    <a:ea typeface="Malgun Gothic"/>
                    <a:cs typeface="Malgun Gothic"/>
                  </a:rPr>
                  <a:t>×</a:t>
                </a:r>
              </a:p>
            </p:txBody>
          </p:sp>
          <p:sp>
            <p:nvSpPr>
              <p:cNvPr id="42" name="TextBox 42"/>
              <p:cNvSpPr txBox="1"/>
              <p:nvPr/>
            </p:nvSpPr>
            <p:spPr>
              <a:xfrm>
                <a:off x="10935581" y="3438049"/>
                <a:ext cx="430601" cy="198120"/>
              </a:xfrm>
              <a:prstGeom prst="rect">
                <a:avLst/>
              </a:prstGeom>
              <a:noFill/>
              <a:ln>
                <a:noFill/>
              </a:ln>
            </p:spPr>
            <p:txBody>
              <a:bodyPr wrap="none" lIns="0" tIns="0" rIns="0" bIns="0" anchor="t" anchorCtr="0">
                <a:spAutoFit/>
              </a:bodyPr>
              <a:lstStyle/>
              <a:p>
                <a:pPr algn="r"/>
                <a:r>
                  <a:rPr lang="ko-KR" sz="975" dirty="0">
                    <a:solidFill>
                      <a:srgbClr val="00D9FF"/>
                    </a:solidFill>
                    <a:latin typeface="Malgun Gothic"/>
                    <a:ea typeface="Malgun Gothic"/>
                    <a:cs typeface="Malgun Gothic"/>
                  </a:rPr>
                  <a:t>▲ 가속</a:t>
                </a:r>
              </a:p>
            </p:txBody>
          </p:sp>
        </p:grpSp>
        <p:sp>
          <p:nvSpPr>
            <p:cNvPr id="44" name="Line 44"/>
            <p:cNvSpPr/>
            <p:nvPr/>
          </p:nvSpPr>
          <p:spPr>
            <a:xfrm>
              <a:off x="6629400" y="3829050"/>
              <a:ext cx="4724400" cy="9525"/>
            </a:xfrm>
            <a:custGeom>
              <a:avLst/>
              <a:gdLst/>
              <a:ahLst/>
              <a:cxnLst/>
              <a:rect l="l" t="t" r="r" b="b"/>
              <a:pathLst>
                <a:path w="4724400" h="9525">
                  <a:moveTo>
                    <a:pt x="0" y="0"/>
                  </a:moveTo>
                  <a:lnTo>
                    <a:pt x="4724400" y="0"/>
                  </a:lnTo>
                </a:path>
              </a:pathLst>
            </a:custGeom>
            <a:noFill/>
            <a:ln w="9525">
              <a:solidFill>
                <a:srgbClr val="00D9FF">
                  <a:alpha val="15000"/>
                </a:srgbClr>
              </a:solidFill>
            </a:ln>
          </p:spPr>
        </p:sp>
        <p:grpSp>
          <p:nvGrpSpPr>
            <p:cNvPr id="47" name="Group 47"/>
            <p:cNvGrpSpPr/>
            <p:nvPr/>
          </p:nvGrpSpPr>
          <p:grpSpPr>
            <a:xfrm>
              <a:off x="6610350" y="3952399"/>
              <a:ext cx="2775442" cy="552926"/>
              <a:chOff x="6610350" y="3952399"/>
              <a:chExt cx="2775442" cy="552926"/>
            </a:xfrm>
          </p:grpSpPr>
          <p:sp>
            <p:nvSpPr>
              <p:cNvPr id="45" name="TextBox 45"/>
              <p:cNvSpPr txBox="1"/>
              <p:nvPr/>
            </p:nvSpPr>
            <p:spPr>
              <a:xfrm>
                <a:off x="6617018" y="3952399"/>
                <a:ext cx="637080"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코드 품질</a:t>
                </a:r>
              </a:p>
            </p:txBody>
          </p:sp>
          <p:sp>
            <p:nvSpPr>
              <p:cNvPr id="46" name="TextBox 46"/>
              <p:cNvSpPr txBox="1"/>
              <p:nvPr/>
            </p:nvSpPr>
            <p:spPr>
              <a:xfrm>
                <a:off x="6610350" y="4200525"/>
                <a:ext cx="2775442" cy="304800"/>
              </a:xfrm>
              <a:prstGeom prst="rect">
                <a:avLst/>
              </a:prstGeom>
              <a:noFill/>
              <a:ln>
                <a:noFill/>
              </a:ln>
            </p:spPr>
            <p:txBody>
              <a:bodyPr wrap="none" lIns="0" tIns="0" rIns="0" bIns="0" anchor="t" anchorCtr="0">
                <a:spAutoFit/>
              </a:bodyPr>
              <a:lstStyle/>
              <a:p>
                <a:pPr algn="l"/>
                <a:r>
                  <a:rPr lang="ko-KR" sz="1500" b="1" dirty="0">
                    <a:solidFill>
                      <a:srgbClr val="F5F7FA"/>
                    </a:solidFill>
                    <a:latin typeface="Malgun Gothic"/>
                    <a:ea typeface="Malgun Gothic"/>
                    <a:cs typeface="Malgun Gothic"/>
                  </a:rPr>
                  <a:t>베스트 프랙티스 자동 적용</a:t>
                </a:r>
              </a:p>
            </p:txBody>
          </p:sp>
        </p:grpSp>
        <p:sp>
          <p:nvSpPr>
            <p:cNvPr id="48" name="Line 48"/>
            <p:cNvSpPr/>
            <p:nvPr/>
          </p:nvSpPr>
          <p:spPr>
            <a:xfrm>
              <a:off x="6629400" y="4552950"/>
              <a:ext cx="4724400" cy="9525"/>
            </a:xfrm>
            <a:custGeom>
              <a:avLst/>
              <a:gdLst/>
              <a:ahLst/>
              <a:cxnLst/>
              <a:rect l="l" t="t" r="r" b="b"/>
              <a:pathLst>
                <a:path w="4724400" h="9525">
                  <a:moveTo>
                    <a:pt x="0" y="0"/>
                  </a:moveTo>
                  <a:lnTo>
                    <a:pt x="4724400" y="0"/>
                  </a:lnTo>
                </a:path>
              </a:pathLst>
            </a:custGeom>
            <a:noFill/>
            <a:ln w="9525">
              <a:solidFill>
                <a:srgbClr val="00D9FF">
                  <a:alpha val="15000"/>
                </a:srgbClr>
              </a:solidFill>
            </a:ln>
          </p:spPr>
        </p:sp>
        <p:grpSp>
          <p:nvGrpSpPr>
            <p:cNvPr id="51" name="Group 51"/>
            <p:cNvGrpSpPr/>
            <p:nvPr/>
          </p:nvGrpSpPr>
          <p:grpSpPr>
            <a:xfrm>
              <a:off x="6617018" y="4676299"/>
              <a:ext cx="796290" cy="591026"/>
              <a:chOff x="6617018" y="4676299"/>
              <a:chExt cx="796290" cy="591026"/>
            </a:xfrm>
          </p:grpSpPr>
          <p:sp>
            <p:nvSpPr>
              <p:cNvPr id="49" name="TextBox 49"/>
              <p:cNvSpPr txBox="1"/>
              <p:nvPr/>
            </p:nvSpPr>
            <p:spPr>
              <a:xfrm>
                <a:off x="6617018" y="4676299"/>
                <a:ext cx="637080"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시장 가치</a:t>
                </a:r>
              </a:p>
            </p:txBody>
          </p:sp>
          <p:sp>
            <p:nvSpPr>
              <p:cNvPr id="50" name="TextBox 50"/>
              <p:cNvSpPr txBox="1"/>
              <p:nvPr/>
            </p:nvSpPr>
            <p:spPr>
              <a:xfrm>
                <a:off x="6915150" y="4962525"/>
                <a:ext cx="498158" cy="304800"/>
              </a:xfrm>
              <a:prstGeom prst="rect">
                <a:avLst/>
              </a:prstGeom>
              <a:noFill/>
              <a:ln>
                <a:noFill/>
              </a:ln>
            </p:spPr>
            <p:txBody>
              <a:bodyPr wrap="none" lIns="0" tIns="0" rIns="0" bIns="0" anchor="t" anchorCtr="0">
                <a:spAutoFit/>
              </a:bodyPr>
              <a:lstStyle/>
              <a:p>
                <a:pPr algn="l"/>
                <a:r>
                  <a:rPr lang="ko-KR" sz="1500" b="1" dirty="0">
                    <a:solidFill>
                      <a:srgbClr val="00D9FF"/>
                    </a:solidFill>
                    <a:latin typeface="Malgun Gothic"/>
                    <a:ea typeface="Malgun Gothic"/>
                    <a:cs typeface="Malgun Gothic"/>
                  </a:rPr>
                  <a:t>상승</a:t>
                </a:r>
              </a:p>
            </p:txBody>
          </p:sp>
        </p:grpSp>
        <p:sp>
          <p:nvSpPr>
            <p:cNvPr id="52" name="Line 52"/>
            <p:cNvSpPr/>
            <p:nvPr/>
          </p:nvSpPr>
          <p:spPr>
            <a:xfrm>
              <a:off x="6629400" y="5391150"/>
              <a:ext cx="4724400" cy="9525"/>
            </a:xfrm>
            <a:custGeom>
              <a:avLst/>
              <a:gdLst/>
              <a:ahLst/>
              <a:cxnLst/>
              <a:rect l="l" t="t" r="r" b="b"/>
              <a:pathLst>
                <a:path w="4724400" h="9525">
                  <a:moveTo>
                    <a:pt x="0" y="0"/>
                  </a:moveTo>
                  <a:lnTo>
                    <a:pt x="4724400" y="0"/>
                  </a:lnTo>
                </a:path>
              </a:pathLst>
            </a:custGeom>
            <a:noFill/>
            <a:ln w="9525">
              <a:solidFill>
                <a:srgbClr val="00D9FF">
                  <a:alpha val="15000"/>
                </a:srgbClr>
              </a:solidFill>
            </a:ln>
          </p:spPr>
        </p:sp>
        <p:grpSp>
          <p:nvGrpSpPr>
            <p:cNvPr id="55" name="Group 55"/>
            <p:cNvGrpSpPr/>
            <p:nvPr/>
          </p:nvGrpSpPr>
          <p:grpSpPr>
            <a:xfrm>
              <a:off x="6602730" y="5514499"/>
              <a:ext cx="1985581" cy="629126"/>
              <a:chOff x="6602730" y="5514499"/>
              <a:chExt cx="1985581" cy="629126"/>
            </a:xfrm>
          </p:grpSpPr>
          <p:sp>
            <p:nvSpPr>
              <p:cNvPr id="53" name="TextBox 53"/>
              <p:cNvSpPr txBox="1"/>
              <p:nvPr/>
            </p:nvSpPr>
            <p:spPr>
              <a:xfrm>
                <a:off x="6617018" y="5514499"/>
                <a:ext cx="430601"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5년 후</a:t>
                </a:r>
              </a:p>
            </p:txBody>
          </p:sp>
          <p:sp>
            <p:nvSpPr>
              <p:cNvPr id="54" name="TextBox 54"/>
              <p:cNvSpPr txBox="1"/>
              <p:nvPr/>
            </p:nvSpPr>
            <p:spPr>
              <a:xfrm>
                <a:off x="6602730" y="5716905"/>
                <a:ext cx="1985581" cy="426720"/>
              </a:xfrm>
              <a:prstGeom prst="rect">
                <a:avLst/>
              </a:prstGeom>
              <a:noFill/>
              <a:ln>
                <a:noFill/>
              </a:ln>
            </p:spPr>
            <p:txBody>
              <a:bodyPr wrap="none" lIns="0" tIns="0" rIns="0" bIns="0" anchor="t" anchorCtr="0">
                <a:spAutoFit/>
              </a:bodyPr>
              <a:lstStyle/>
              <a:p>
                <a:pPr algn="l"/>
                <a:r>
                  <a:rPr lang="ko-KR" sz="2100" b="1" dirty="0">
                    <a:solidFill>
                      <a:srgbClr val="00D9FF"/>
                    </a:solidFill>
                    <a:latin typeface="Malgun Gothic"/>
                    <a:ea typeface="Malgun Gothic"/>
                    <a:cs typeface="Malgun Gothic"/>
                  </a:rPr>
                  <a:t>멀티플라이어</a:t>
                </a:r>
              </a:p>
            </p:txBody>
          </p:sp>
        </p:grpSp>
      </p:grpSp>
      <p:sp>
        <p:nvSpPr>
          <p:cNvPr id="57" name="TextBox 57"/>
          <p:cNvSpPr txBox="1"/>
          <p:nvPr/>
        </p:nvSpPr>
        <p:spPr>
          <a:xfrm>
            <a:off x="598170" y="6513195"/>
            <a:ext cx="1547622"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개발자의 종말 — AI의 시대</a:t>
            </a:r>
          </a:p>
        </p:txBody>
      </p:sp>
      <p:sp>
        <p:nvSpPr>
          <p:cNvPr id="58" name="TextBox 58"/>
          <p:cNvSpPr txBox="1"/>
          <p:nvPr/>
        </p:nvSpPr>
        <p:spPr>
          <a:xfrm>
            <a:off x="11163490" y="6513195"/>
            <a:ext cx="430340"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06 / 10</a:t>
            </a:r>
          </a:p>
        </p:txBody>
      </p:sp>
    </p:spTree>
  </p:cSld>
  <p:clrMapOvr>
    <a:masterClrMapping/>
  </p:clrMapOvr>
  <p:transition xmlns:p14="http://schemas.microsoft.com/office/powerpoint/2010/main" p14:dur="5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100000">
                <a:srgbClr val="141A2E"/>
              </a:gs>
            </a:gsLst>
            <a:lin ang="2700000" scaled="1"/>
          </a:gradFill>
          <a:ln>
            <a:noFill/>
          </a:ln>
        </p:spPr>
      </p:sp>
      <p:sp>
        <p:nvSpPr>
          <p:cNvPr id="3" name="Rectangle 3"/>
          <p:cNvSpPr/>
          <p:nvPr/>
        </p:nvSpPr>
        <p:spPr>
          <a:xfrm>
            <a:off x="762000" y="609600"/>
            <a:ext cx="38100" cy="342900"/>
          </a:xfrm>
          <a:prstGeom prst="rect">
            <a:avLst/>
          </a:prstGeom>
          <a:solidFill>
            <a:srgbClr val="E63946"/>
          </a:solidFill>
          <a:ln>
            <a:noFill/>
          </a:ln>
        </p:spPr>
      </p:sp>
      <p:sp>
        <p:nvSpPr>
          <p:cNvPr id="4" name="TextBox 4"/>
          <p:cNvSpPr txBox="1"/>
          <p:nvPr/>
        </p:nvSpPr>
        <p:spPr>
          <a:xfrm>
            <a:off x="940118" y="656749"/>
            <a:ext cx="1220914" cy="198120"/>
          </a:xfrm>
          <a:prstGeom prst="rect">
            <a:avLst/>
          </a:prstGeom>
          <a:noFill/>
          <a:ln>
            <a:noFill/>
          </a:ln>
        </p:spPr>
        <p:txBody>
          <a:bodyPr wrap="none" lIns="0" tIns="0" rIns="0" bIns="0" anchor="t" anchorCtr="0">
            <a:spAutoFit/>
          </a:bodyPr>
          <a:lstStyle/>
          <a:p>
            <a:pPr algn="l"/>
            <a:r>
              <a:rPr lang="ko-KR" sz="975" dirty="0">
                <a:solidFill>
                  <a:srgbClr val="A0A8BD"/>
                </a:solidFill>
                <a:latin typeface="Malgun Gothic"/>
                <a:ea typeface="Malgun Gothic"/>
                <a:cs typeface="Malgun Gothic"/>
              </a:rPr>
              <a:t>CHAPTER 04 — 행동</a:t>
            </a:r>
          </a:p>
        </p:txBody>
      </p:sp>
      <p:sp>
        <p:nvSpPr>
          <p:cNvPr id="5" name="TextBox 5"/>
          <p:cNvSpPr txBox="1"/>
          <p:nvPr/>
        </p:nvSpPr>
        <p:spPr>
          <a:xfrm>
            <a:off x="940118" y="828199"/>
            <a:ext cx="1505712" cy="198120"/>
          </a:xfrm>
          <a:prstGeom prst="rect">
            <a:avLst/>
          </a:prstGeom>
          <a:noFill/>
          <a:ln>
            <a:noFill/>
          </a:ln>
        </p:spPr>
        <p:txBody>
          <a:bodyPr wrap="none" lIns="0" tIns="0" rIns="0" bIns="0" anchor="t" anchorCtr="0">
            <a:spAutoFit/>
          </a:bodyPr>
          <a:lstStyle/>
          <a:p>
            <a:pPr algn="l"/>
            <a:r>
              <a:rPr lang="en-US" sz="975" dirty="0">
                <a:solidFill>
                  <a:srgbClr val="E63946"/>
                </a:solidFill>
                <a:latin typeface="Malgun Gothic"/>
                <a:ea typeface="Malgun Gothic"/>
                <a:cs typeface="Malgun Gothic"/>
              </a:rPr>
              <a:t>EVOLUTION · 4 STAGES</a:t>
            </a:r>
          </a:p>
        </p:txBody>
      </p:sp>
      <p:sp>
        <p:nvSpPr>
          <p:cNvPr id="6" name="TextBox 6"/>
          <p:cNvSpPr txBox="1"/>
          <p:nvPr/>
        </p:nvSpPr>
        <p:spPr>
          <a:xfrm>
            <a:off x="918210" y="1213485"/>
            <a:ext cx="4995796" cy="548640"/>
          </a:xfrm>
          <a:prstGeom prst="rect">
            <a:avLst/>
          </a:prstGeom>
          <a:noFill/>
          <a:ln>
            <a:noFill/>
          </a:ln>
        </p:spPr>
        <p:txBody>
          <a:bodyPr wrap="none" lIns="0" tIns="0" rIns="0" bIns="0" anchor="t" anchorCtr="0">
            <a:spAutoFit/>
          </a:bodyPr>
          <a:lstStyle/>
          <a:p>
            <a:pPr algn="l"/>
            <a:r>
              <a:rPr lang="ko-KR" sz="2700" b="1" dirty="0">
                <a:solidFill>
                  <a:srgbClr val="F5F7FA"/>
                </a:solidFill>
                <a:latin typeface="Malgun Gothic"/>
                <a:ea typeface="Malgun Gothic"/>
                <a:cs typeface="Malgun Gothic"/>
              </a:rPr>
              <a:t>당신은 어느 단계에 있는가</a:t>
            </a:r>
          </a:p>
        </p:txBody>
      </p:sp>
      <p:sp>
        <p:nvSpPr>
          <p:cNvPr id="7" name="TextBox 7"/>
          <p:cNvSpPr txBox="1"/>
          <p:nvPr/>
        </p:nvSpPr>
        <p:spPr>
          <a:xfrm>
            <a:off x="936308" y="1672114"/>
            <a:ext cx="3495961" cy="259080"/>
          </a:xfrm>
          <a:prstGeom prst="rect">
            <a:avLst/>
          </a:prstGeom>
          <a:noFill/>
          <a:ln>
            <a:noFill/>
          </a:ln>
        </p:spPr>
        <p:txBody>
          <a:bodyPr wrap="none" lIns="0" tIns="0" rIns="0" bIns="0" anchor="t" anchorCtr="0">
            <a:spAutoFit/>
          </a:bodyPr>
          <a:lstStyle/>
          <a:p>
            <a:pPr algn="l"/>
            <a:r>
              <a:rPr lang="ko-KR" sz="1275" dirty="0">
                <a:solidFill>
                  <a:srgbClr val="A0A8BD"/>
                </a:solidFill>
                <a:latin typeface="Malgun Gothic"/>
                <a:ea typeface="Malgun Gothic"/>
                <a:cs typeface="Malgun Gothic"/>
              </a:rPr>
              <a:t>개발자의 진화 4단계 — 거부에서 지휘까지</a:t>
            </a:r>
          </a:p>
        </p:txBody>
      </p:sp>
      <p:sp>
        <p:nvSpPr>
          <p:cNvPr id="8" name="TextBox 8"/>
          <p:cNvSpPr txBox="1"/>
          <p:nvPr/>
        </p:nvSpPr>
        <p:spPr>
          <a:xfrm>
            <a:off x="11011090" y="664845"/>
            <a:ext cx="430340"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07 / 10</a:t>
            </a:r>
          </a:p>
        </p:txBody>
      </p:sp>
      <p:sp>
        <p:nvSpPr>
          <p:cNvPr id="9" name="Line 9"/>
          <p:cNvSpPr/>
          <p:nvPr/>
        </p:nvSpPr>
        <p:spPr>
          <a:xfrm>
            <a:off x="1714500" y="3143250"/>
            <a:ext cx="8763000" cy="9525"/>
          </a:xfrm>
          <a:custGeom>
            <a:avLst/>
            <a:gdLst/>
            <a:ahLst/>
            <a:cxnLst/>
            <a:rect l="l" t="t" r="r" b="b"/>
            <a:pathLst>
              <a:path w="8763000" h="9525">
                <a:moveTo>
                  <a:pt x="0" y="0"/>
                </a:moveTo>
                <a:lnTo>
                  <a:pt x="8763000" y="0"/>
                </a:lnTo>
              </a:path>
            </a:pathLst>
          </a:custGeom>
          <a:noFill/>
          <a:ln w="19050">
            <a:solidFill>
              <a:srgbClr val="2A3252"/>
            </a:solidFill>
          </a:ln>
        </p:spPr>
      </p:sp>
      <p:sp>
        <p:nvSpPr>
          <p:cNvPr id="10" name="Line 10"/>
          <p:cNvSpPr/>
          <p:nvPr/>
        </p:nvSpPr>
        <p:spPr>
          <a:xfrm>
            <a:off x="1714500" y="3143250"/>
            <a:ext cx="2209800" cy="9525"/>
          </a:xfrm>
          <a:custGeom>
            <a:avLst/>
            <a:gdLst/>
            <a:ahLst/>
            <a:cxnLst/>
            <a:rect l="l" t="t" r="r" b="b"/>
            <a:pathLst>
              <a:path w="2209800" h="9525">
                <a:moveTo>
                  <a:pt x="0" y="0"/>
                </a:moveTo>
                <a:lnTo>
                  <a:pt x="2209800" y="0"/>
                </a:lnTo>
              </a:path>
            </a:pathLst>
          </a:custGeom>
          <a:noFill/>
          <a:ln w="19050">
            <a:solidFill>
              <a:srgbClr val="E63946"/>
            </a:solidFill>
          </a:ln>
        </p:spPr>
      </p:sp>
      <p:sp>
        <p:nvSpPr>
          <p:cNvPr id="11" name="Line 11"/>
          <p:cNvSpPr/>
          <p:nvPr/>
        </p:nvSpPr>
        <p:spPr>
          <a:xfrm>
            <a:off x="3924300" y="3143250"/>
            <a:ext cx="2209800" cy="9525"/>
          </a:xfrm>
          <a:custGeom>
            <a:avLst/>
            <a:gdLst/>
            <a:ahLst/>
            <a:cxnLst/>
            <a:rect l="l" t="t" r="r" b="b"/>
            <a:pathLst>
              <a:path w="2209800" h="9525">
                <a:moveTo>
                  <a:pt x="0" y="0"/>
                </a:moveTo>
                <a:lnTo>
                  <a:pt x="2209800" y="0"/>
                </a:lnTo>
              </a:path>
            </a:pathLst>
          </a:custGeom>
          <a:noFill/>
          <a:ln w="19050">
            <a:solidFill>
              <a:srgbClr val="FFB627"/>
            </a:solidFill>
          </a:ln>
        </p:spPr>
      </p:sp>
      <p:sp>
        <p:nvSpPr>
          <p:cNvPr id="12" name="Line 12"/>
          <p:cNvSpPr/>
          <p:nvPr/>
        </p:nvSpPr>
        <p:spPr>
          <a:xfrm>
            <a:off x="6134100" y="3143250"/>
            <a:ext cx="2209800" cy="9525"/>
          </a:xfrm>
          <a:custGeom>
            <a:avLst/>
            <a:gdLst/>
            <a:ahLst/>
            <a:cxnLst/>
            <a:rect l="l" t="t" r="r" b="b"/>
            <a:pathLst>
              <a:path w="2209800" h="9525">
                <a:moveTo>
                  <a:pt x="0" y="0"/>
                </a:moveTo>
                <a:lnTo>
                  <a:pt x="2209800" y="0"/>
                </a:lnTo>
              </a:path>
            </a:pathLst>
          </a:custGeom>
          <a:noFill/>
          <a:ln w="19050">
            <a:solidFill>
              <a:srgbClr val="00D9FF"/>
            </a:solidFill>
          </a:ln>
        </p:spPr>
      </p:sp>
      <p:sp>
        <p:nvSpPr>
          <p:cNvPr id="13" name="Line 13"/>
          <p:cNvSpPr/>
          <p:nvPr/>
        </p:nvSpPr>
        <p:spPr>
          <a:xfrm>
            <a:off x="8343900" y="3143250"/>
            <a:ext cx="2209800" cy="9525"/>
          </a:xfrm>
          <a:custGeom>
            <a:avLst/>
            <a:gdLst/>
            <a:ahLst/>
            <a:cxnLst/>
            <a:rect l="l" t="t" r="r" b="b"/>
            <a:pathLst>
              <a:path w="2209800" h="9525">
                <a:moveTo>
                  <a:pt x="0" y="0"/>
                </a:moveTo>
                <a:lnTo>
                  <a:pt x="2209800" y="0"/>
                </a:lnTo>
              </a:path>
            </a:pathLst>
          </a:custGeom>
          <a:noFill/>
          <a:ln w="19050">
            <a:solidFill>
              <a:srgbClr val="F5F7FA"/>
            </a:solidFill>
          </a:ln>
        </p:spPr>
      </p:sp>
      <p:sp>
        <p:nvSpPr>
          <p:cNvPr id="14" name="Freeform 14"/>
          <p:cNvSpPr/>
          <p:nvPr/>
        </p:nvSpPr>
        <p:spPr>
          <a:xfrm>
            <a:off x="10477500" y="3067050"/>
            <a:ext cx="171450" cy="152400"/>
          </a:xfrm>
          <a:custGeom>
            <a:avLst/>
            <a:gdLst/>
            <a:ahLst/>
            <a:cxnLst/>
            <a:rect l="l" t="t" r="r" b="b"/>
            <a:pathLst>
              <a:path w="171450" h="152400">
                <a:moveTo>
                  <a:pt x="0" y="0"/>
                </a:moveTo>
                <a:lnTo>
                  <a:pt x="171450" y="76200"/>
                </a:lnTo>
                <a:lnTo>
                  <a:pt x="0" y="152400"/>
                </a:lnTo>
                <a:close/>
              </a:path>
            </a:pathLst>
          </a:custGeom>
          <a:solidFill>
            <a:srgbClr val="F5F7FA"/>
          </a:solidFill>
          <a:ln>
            <a:noFill/>
          </a:ln>
        </p:spPr>
      </p:sp>
      <p:sp>
        <p:nvSpPr>
          <p:cNvPr id="15" name="Ellipse 15"/>
          <p:cNvSpPr/>
          <p:nvPr/>
        </p:nvSpPr>
        <p:spPr>
          <a:xfrm>
            <a:off x="1352550" y="2781300"/>
            <a:ext cx="723900" cy="723900"/>
          </a:xfrm>
          <a:prstGeom prst="ellipse">
            <a:avLst/>
          </a:prstGeom>
          <a:gradFill>
            <a:gsLst>
              <a:gs pos="0">
                <a:srgbClr val="E63946"/>
              </a:gs>
              <a:gs pos="100000">
                <a:srgbClr val="A02834"/>
              </a:gs>
            </a:gsLst>
            <a:lin ang="5400000" scaled="1"/>
          </a:gradFill>
          <a:ln>
            <a:noFill/>
          </a:ln>
        </p:spPr>
      </p:sp>
      <p:sp>
        <p:nvSpPr>
          <p:cNvPr id="16" name="Ellipse 16"/>
          <p:cNvSpPr/>
          <p:nvPr/>
        </p:nvSpPr>
        <p:spPr>
          <a:xfrm>
            <a:off x="1352550" y="2781300"/>
            <a:ext cx="723900" cy="723900"/>
          </a:xfrm>
          <a:prstGeom prst="ellipse">
            <a:avLst/>
          </a:prstGeom>
          <a:noFill/>
          <a:ln w="28575">
            <a:solidFill>
              <a:srgbClr val="0A0E1A"/>
            </a:solidFill>
          </a:ln>
        </p:spPr>
      </p:sp>
      <p:sp>
        <p:nvSpPr>
          <p:cNvPr id="17" name="TextBox 17"/>
          <p:cNvSpPr txBox="1"/>
          <p:nvPr/>
        </p:nvSpPr>
        <p:spPr>
          <a:xfrm>
            <a:off x="1550963" y="3040380"/>
            <a:ext cx="327074" cy="426720"/>
          </a:xfrm>
          <a:prstGeom prst="rect">
            <a:avLst/>
          </a:prstGeom>
          <a:noFill/>
          <a:ln>
            <a:noFill/>
          </a:ln>
        </p:spPr>
        <p:txBody>
          <a:bodyPr wrap="none" lIns="0" tIns="0" rIns="0" bIns="0" anchor="t" anchorCtr="0">
            <a:spAutoFit/>
          </a:bodyPr>
          <a:lstStyle/>
          <a:p>
            <a:pPr algn="ctr"/>
            <a:r>
              <a:rPr lang="en-US" sz="2100" b="1" dirty="0">
                <a:solidFill>
                  <a:srgbClr val="F5F7FA"/>
                </a:solidFill>
                <a:latin typeface="Malgun Gothic"/>
                <a:ea typeface="Malgun Gothic"/>
                <a:cs typeface="Malgun Gothic"/>
              </a:rPr>
              <a:t>01</a:t>
            </a:r>
          </a:p>
        </p:txBody>
      </p:sp>
      <p:sp>
        <p:nvSpPr>
          <p:cNvPr id="18" name="Freeform 18"/>
          <p:cNvSpPr/>
          <p:nvPr/>
        </p:nvSpPr>
        <p:spPr>
          <a:xfrm>
            <a:off x="1524000" y="2190750"/>
            <a:ext cx="381000" cy="323850"/>
          </a:xfrm>
          <a:custGeom>
            <a:avLst/>
            <a:gdLst/>
            <a:ahLst/>
            <a:cxnLst/>
            <a:rect l="l" t="t" r="r" b="b"/>
            <a:pathLst>
              <a:path w="381000" h="323850">
                <a:moveTo>
                  <a:pt x="190500" y="0"/>
                </a:moveTo>
                <a:lnTo>
                  <a:pt x="381000" y="323850"/>
                </a:lnTo>
                <a:lnTo>
                  <a:pt x="0" y="323850"/>
                </a:lnTo>
                <a:close/>
              </a:path>
            </a:pathLst>
          </a:custGeom>
          <a:noFill/>
          <a:ln w="23812">
            <a:solidFill>
              <a:srgbClr val="E63946"/>
            </a:solidFill>
            <a:round/>
          </a:ln>
        </p:spPr>
      </p:sp>
      <p:sp>
        <p:nvSpPr>
          <p:cNvPr id="19" name="Rectangle 19"/>
          <p:cNvSpPr/>
          <p:nvPr/>
        </p:nvSpPr>
        <p:spPr>
          <a:xfrm>
            <a:off x="1700212" y="2286000"/>
            <a:ext cx="28575" cy="114300"/>
          </a:xfrm>
          <a:prstGeom prst="rect">
            <a:avLst/>
          </a:prstGeom>
          <a:solidFill>
            <a:srgbClr val="E63946"/>
          </a:solidFill>
          <a:ln>
            <a:noFill/>
          </a:ln>
        </p:spPr>
      </p:sp>
      <p:sp>
        <p:nvSpPr>
          <p:cNvPr id="20" name="Ellipse 20"/>
          <p:cNvSpPr/>
          <p:nvPr/>
        </p:nvSpPr>
        <p:spPr>
          <a:xfrm>
            <a:off x="1697355" y="2440305"/>
            <a:ext cx="34290" cy="34290"/>
          </a:xfrm>
          <a:prstGeom prst="ellipse">
            <a:avLst/>
          </a:prstGeom>
          <a:solidFill>
            <a:srgbClr val="E63946"/>
          </a:solidFill>
          <a:ln>
            <a:noFill/>
          </a:ln>
        </p:spPr>
      </p:sp>
      <p:sp>
        <p:nvSpPr>
          <p:cNvPr id="21" name="TextBox 21"/>
          <p:cNvSpPr txBox="1"/>
          <p:nvPr/>
        </p:nvSpPr>
        <p:spPr>
          <a:xfrm>
            <a:off x="1469065" y="2720816"/>
            <a:ext cx="490871" cy="167640"/>
          </a:xfrm>
          <a:prstGeom prst="rect">
            <a:avLst/>
          </a:prstGeom>
          <a:noFill/>
          <a:ln>
            <a:noFill/>
          </a:ln>
        </p:spPr>
        <p:txBody>
          <a:bodyPr wrap="none" lIns="0" tIns="0" rIns="0" bIns="0" anchor="t" anchorCtr="0">
            <a:spAutoFit/>
          </a:bodyPr>
          <a:lstStyle/>
          <a:p>
            <a:pPr algn="ctr"/>
            <a:r>
              <a:rPr lang="en-US" sz="900" dirty="0">
                <a:solidFill>
                  <a:srgbClr val="E63946"/>
                </a:solidFill>
                <a:latin typeface="Malgun Gothic"/>
                <a:ea typeface="Malgun Gothic"/>
                <a:cs typeface="Malgun Gothic"/>
              </a:rPr>
              <a:t>STAGE 01</a:t>
            </a:r>
          </a:p>
        </p:txBody>
      </p:sp>
      <p:sp>
        <p:nvSpPr>
          <p:cNvPr id="22" name="TextBox 22"/>
          <p:cNvSpPr txBox="1"/>
          <p:nvPr/>
        </p:nvSpPr>
        <p:spPr>
          <a:xfrm>
            <a:off x="1313998" y="3727132"/>
            <a:ext cx="801005" cy="335280"/>
          </a:xfrm>
          <a:prstGeom prst="rect">
            <a:avLst/>
          </a:prstGeom>
          <a:noFill/>
          <a:ln>
            <a:noFill/>
          </a:ln>
        </p:spPr>
        <p:txBody>
          <a:bodyPr wrap="none" lIns="0" tIns="0" rIns="0" bIns="0" anchor="t" anchorCtr="0">
            <a:spAutoFit/>
          </a:bodyPr>
          <a:lstStyle/>
          <a:p>
            <a:pPr algn="ctr"/>
            <a:r>
              <a:rPr lang="ko-KR" sz="1650" b="1" dirty="0">
                <a:solidFill>
                  <a:srgbClr val="F5F7FA"/>
                </a:solidFill>
                <a:latin typeface="Malgun Gothic"/>
                <a:ea typeface="Malgun Gothic"/>
                <a:cs typeface="Malgun Gothic"/>
              </a:rPr>
              <a:t>거부자</a:t>
            </a:r>
          </a:p>
        </p:txBody>
      </p:sp>
      <p:sp>
        <p:nvSpPr>
          <p:cNvPr id="23" name="TextBox 23"/>
          <p:cNvSpPr txBox="1"/>
          <p:nvPr/>
        </p:nvSpPr>
        <p:spPr>
          <a:xfrm>
            <a:off x="1484959" y="4009549"/>
            <a:ext cx="459081" cy="198120"/>
          </a:xfrm>
          <a:prstGeom prst="rect">
            <a:avLst/>
          </a:prstGeom>
          <a:noFill/>
          <a:ln>
            <a:noFill/>
          </a:ln>
        </p:spPr>
        <p:txBody>
          <a:bodyPr wrap="none" lIns="0" tIns="0" rIns="0" bIns="0" anchor="t" anchorCtr="0">
            <a:spAutoFit/>
          </a:bodyPr>
          <a:lstStyle/>
          <a:p>
            <a:pPr algn="ctr"/>
            <a:r>
              <a:rPr lang="en-US" sz="975" dirty="0">
                <a:solidFill>
                  <a:srgbClr val="A0A8BD"/>
                </a:solidFill>
                <a:latin typeface="Malgun Gothic"/>
                <a:ea typeface="Malgun Gothic"/>
                <a:cs typeface="Malgun Gothic"/>
              </a:rPr>
              <a:t>Denier</a:t>
            </a:r>
          </a:p>
        </p:txBody>
      </p:sp>
      <p:sp>
        <p:nvSpPr>
          <p:cNvPr id="24" name="Rectangle 24"/>
          <p:cNvSpPr/>
          <p:nvPr/>
        </p:nvSpPr>
        <p:spPr>
          <a:xfrm>
            <a:off x="876300" y="4400550"/>
            <a:ext cx="1676400" cy="933450"/>
          </a:xfrm>
          <a:prstGeom prst="roundRect">
            <a:avLst>
              <a:gd name="adj" fmla="val 6122"/>
            </a:avLst>
          </a:prstGeom>
          <a:solidFill>
            <a:srgbClr val="1E2540">
              <a:alpha val="95000"/>
            </a:srgbClr>
          </a:solidFill>
          <a:ln w="9525">
            <a:solidFill>
              <a:srgbClr val="E63946">
                <a:alpha val="95000"/>
              </a:srgbClr>
            </a:solidFill>
          </a:ln>
        </p:spPr>
      </p:sp>
      <p:sp>
        <p:nvSpPr>
          <p:cNvPr id="25" name="Rectangle 25"/>
          <p:cNvSpPr/>
          <p:nvPr/>
        </p:nvSpPr>
        <p:spPr>
          <a:xfrm>
            <a:off x="876300" y="4400550"/>
            <a:ext cx="28575" cy="933450"/>
          </a:xfrm>
          <a:prstGeom prst="rect">
            <a:avLst/>
          </a:prstGeom>
          <a:solidFill>
            <a:srgbClr val="E63946"/>
          </a:solidFill>
          <a:ln>
            <a:noFill/>
          </a:ln>
        </p:spPr>
      </p:sp>
      <p:sp>
        <p:nvSpPr>
          <p:cNvPr id="26" name="TextBox 26"/>
          <p:cNvSpPr txBox="1"/>
          <p:nvPr/>
        </p:nvSpPr>
        <p:spPr>
          <a:xfrm>
            <a:off x="1015365" y="4572952"/>
            <a:ext cx="1031129"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"AI는 못 믿어,</a:t>
            </a:r>
          </a:p>
        </p:txBody>
      </p:sp>
      <p:sp>
        <p:nvSpPr>
          <p:cNvPr id="27" name="TextBox 27"/>
          <p:cNvSpPr txBox="1"/>
          <p:nvPr/>
        </p:nvSpPr>
        <p:spPr>
          <a:xfrm>
            <a:off x="1015365" y="4782502"/>
            <a:ext cx="923782"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직접 짜야지"</a:t>
            </a:r>
          </a:p>
        </p:txBody>
      </p:sp>
      <p:sp>
        <p:nvSpPr>
          <p:cNvPr id="28" name="Line 28"/>
          <p:cNvSpPr/>
          <p:nvPr/>
        </p:nvSpPr>
        <p:spPr>
          <a:xfrm>
            <a:off x="1028700" y="5029200"/>
            <a:ext cx="304800" cy="9525"/>
          </a:xfrm>
          <a:custGeom>
            <a:avLst/>
            <a:gdLst/>
            <a:ahLst/>
            <a:cxnLst/>
            <a:rect l="l" t="t" r="r" b="b"/>
            <a:pathLst>
              <a:path w="304800" h="9525">
                <a:moveTo>
                  <a:pt x="0" y="0"/>
                </a:moveTo>
                <a:lnTo>
                  <a:pt x="304800" y="0"/>
                </a:lnTo>
              </a:path>
            </a:pathLst>
          </a:custGeom>
          <a:noFill/>
          <a:ln w="9525">
            <a:solidFill>
              <a:srgbClr val="A0A8BD"/>
            </a:solidFill>
          </a:ln>
        </p:spPr>
      </p:sp>
      <p:sp>
        <p:nvSpPr>
          <p:cNvPr id="29" name="TextBox 29"/>
          <p:cNvSpPr txBox="1"/>
          <p:nvPr/>
        </p:nvSpPr>
        <p:spPr>
          <a:xfrm>
            <a:off x="1018222" y="5130641"/>
            <a:ext cx="539067" cy="16764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변화 회피</a:t>
            </a:r>
          </a:p>
        </p:txBody>
      </p:sp>
      <p:sp>
        <p:nvSpPr>
          <p:cNvPr id="30" name="Ellipse 30"/>
          <p:cNvSpPr/>
          <p:nvPr/>
        </p:nvSpPr>
        <p:spPr>
          <a:xfrm>
            <a:off x="3562350" y="2781300"/>
            <a:ext cx="723900" cy="723900"/>
          </a:xfrm>
          <a:prstGeom prst="ellipse">
            <a:avLst/>
          </a:prstGeom>
          <a:gradFill>
            <a:gsLst>
              <a:gs pos="0">
                <a:srgbClr val="FFB627"/>
              </a:gs>
              <a:gs pos="100000">
                <a:srgbClr val="C8881A"/>
              </a:gs>
            </a:gsLst>
            <a:lin ang="5400000" scaled="1"/>
          </a:gradFill>
          <a:ln>
            <a:noFill/>
          </a:ln>
        </p:spPr>
      </p:sp>
      <p:sp>
        <p:nvSpPr>
          <p:cNvPr id="31" name="Ellipse 31"/>
          <p:cNvSpPr/>
          <p:nvPr/>
        </p:nvSpPr>
        <p:spPr>
          <a:xfrm>
            <a:off x="3562350" y="2781300"/>
            <a:ext cx="723900" cy="723900"/>
          </a:xfrm>
          <a:prstGeom prst="ellipse">
            <a:avLst/>
          </a:prstGeom>
          <a:noFill/>
          <a:ln w="28575">
            <a:solidFill>
              <a:srgbClr val="0A0E1A"/>
            </a:solidFill>
          </a:ln>
        </p:spPr>
      </p:sp>
      <p:sp>
        <p:nvSpPr>
          <p:cNvPr id="32" name="TextBox 32"/>
          <p:cNvSpPr txBox="1"/>
          <p:nvPr/>
        </p:nvSpPr>
        <p:spPr>
          <a:xfrm>
            <a:off x="3720508" y="3040380"/>
            <a:ext cx="407584" cy="426720"/>
          </a:xfrm>
          <a:prstGeom prst="rect">
            <a:avLst/>
          </a:prstGeom>
          <a:noFill/>
          <a:ln>
            <a:noFill/>
          </a:ln>
        </p:spPr>
        <p:txBody>
          <a:bodyPr wrap="none" lIns="0" tIns="0" rIns="0" bIns="0" anchor="t" anchorCtr="0">
            <a:spAutoFit/>
          </a:bodyPr>
          <a:lstStyle/>
          <a:p>
            <a:pPr algn="ctr"/>
            <a:r>
              <a:rPr lang="en-US" sz="2100" b="1" dirty="0">
                <a:solidFill>
                  <a:srgbClr val="0A0E1A"/>
                </a:solidFill>
                <a:latin typeface="Malgun Gothic"/>
                <a:ea typeface="Malgun Gothic"/>
                <a:cs typeface="Malgun Gothic"/>
              </a:rPr>
              <a:t>02</a:t>
            </a:r>
          </a:p>
        </p:txBody>
      </p:sp>
      <p:sp>
        <p:nvSpPr>
          <p:cNvPr id="33" name="Rectangle 33"/>
          <p:cNvSpPr/>
          <p:nvPr/>
        </p:nvSpPr>
        <p:spPr>
          <a:xfrm>
            <a:off x="3657600" y="2152650"/>
            <a:ext cx="533400" cy="400050"/>
          </a:xfrm>
          <a:prstGeom prst="roundRect">
            <a:avLst>
              <a:gd name="adj" fmla="val 9524"/>
            </a:avLst>
          </a:prstGeom>
          <a:noFill/>
          <a:ln w="23812">
            <a:solidFill>
              <a:srgbClr val="FFB627"/>
            </a:solidFill>
          </a:ln>
        </p:spPr>
      </p:sp>
      <p:sp>
        <p:nvSpPr>
          <p:cNvPr id="34" name="Freeform 34"/>
          <p:cNvSpPr/>
          <p:nvPr/>
        </p:nvSpPr>
        <p:spPr>
          <a:xfrm>
            <a:off x="3743325" y="2286000"/>
            <a:ext cx="66675" cy="133350"/>
          </a:xfrm>
          <a:custGeom>
            <a:avLst/>
            <a:gdLst/>
            <a:ahLst/>
            <a:cxnLst/>
            <a:rect l="l" t="t" r="r" b="b"/>
            <a:pathLst>
              <a:path w="66675" h="133350">
                <a:moveTo>
                  <a:pt x="0" y="0"/>
                </a:moveTo>
                <a:lnTo>
                  <a:pt x="66675" y="66675"/>
                </a:lnTo>
                <a:lnTo>
                  <a:pt x="0" y="133350"/>
                </a:lnTo>
              </a:path>
            </a:pathLst>
          </a:custGeom>
          <a:noFill/>
          <a:ln w="23812" cap="rnd">
            <a:solidFill>
              <a:srgbClr val="FFB627"/>
            </a:solidFill>
            <a:round/>
          </a:ln>
        </p:spPr>
      </p:sp>
      <p:sp>
        <p:nvSpPr>
          <p:cNvPr id="35" name="Line 35"/>
          <p:cNvSpPr/>
          <p:nvPr/>
        </p:nvSpPr>
        <p:spPr>
          <a:xfrm>
            <a:off x="3867150" y="2428875"/>
            <a:ext cx="180975" cy="9525"/>
          </a:xfrm>
          <a:custGeom>
            <a:avLst/>
            <a:gdLst/>
            <a:ahLst/>
            <a:cxnLst/>
            <a:rect l="l" t="t" r="r" b="b"/>
            <a:pathLst>
              <a:path w="180975" h="9525">
                <a:moveTo>
                  <a:pt x="0" y="0"/>
                </a:moveTo>
                <a:lnTo>
                  <a:pt x="180975" y="0"/>
                </a:lnTo>
              </a:path>
            </a:pathLst>
          </a:custGeom>
          <a:noFill/>
          <a:ln w="23812" cap="rnd">
            <a:solidFill>
              <a:srgbClr val="FFB627"/>
            </a:solidFill>
          </a:ln>
        </p:spPr>
      </p:sp>
      <p:sp>
        <p:nvSpPr>
          <p:cNvPr id="36" name="TextBox 36"/>
          <p:cNvSpPr txBox="1"/>
          <p:nvPr/>
        </p:nvSpPr>
        <p:spPr>
          <a:xfrm>
            <a:off x="3663803" y="2720816"/>
            <a:ext cx="520994" cy="167640"/>
          </a:xfrm>
          <a:prstGeom prst="rect">
            <a:avLst/>
          </a:prstGeom>
          <a:noFill/>
          <a:ln>
            <a:noFill/>
          </a:ln>
        </p:spPr>
        <p:txBody>
          <a:bodyPr wrap="none" lIns="0" tIns="0" rIns="0" bIns="0" anchor="t" anchorCtr="0">
            <a:spAutoFit/>
          </a:bodyPr>
          <a:lstStyle/>
          <a:p>
            <a:pPr algn="ctr"/>
            <a:r>
              <a:rPr lang="en-US" sz="900" dirty="0">
                <a:solidFill>
                  <a:srgbClr val="FFB627"/>
                </a:solidFill>
                <a:latin typeface="Malgun Gothic"/>
                <a:ea typeface="Malgun Gothic"/>
                <a:cs typeface="Malgun Gothic"/>
              </a:rPr>
              <a:t>STAGE 02</a:t>
            </a:r>
          </a:p>
        </p:txBody>
      </p:sp>
      <p:sp>
        <p:nvSpPr>
          <p:cNvPr id="37" name="TextBox 37"/>
          <p:cNvSpPr txBox="1"/>
          <p:nvPr/>
        </p:nvSpPr>
        <p:spPr>
          <a:xfrm>
            <a:off x="3523798" y="3727132"/>
            <a:ext cx="801005" cy="335280"/>
          </a:xfrm>
          <a:prstGeom prst="rect">
            <a:avLst/>
          </a:prstGeom>
          <a:noFill/>
          <a:ln>
            <a:noFill/>
          </a:ln>
        </p:spPr>
        <p:txBody>
          <a:bodyPr wrap="none" lIns="0" tIns="0" rIns="0" bIns="0" anchor="t" anchorCtr="0">
            <a:spAutoFit/>
          </a:bodyPr>
          <a:lstStyle/>
          <a:p>
            <a:pPr algn="ctr"/>
            <a:r>
              <a:rPr lang="ko-KR" sz="1650" b="1" dirty="0">
                <a:solidFill>
                  <a:srgbClr val="F5F7FA"/>
                </a:solidFill>
                <a:latin typeface="Malgun Gothic"/>
                <a:ea typeface="Malgun Gothic"/>
                <a:cs typeface="Malgun Gothic"/>
              </a:rPr>
              <a:t>사용자</a:t>
            </a:r>
          </a:p>
        </p:txBody>
      </p:sp>
      <p:sp>
        <p:nvSpPr>
          <p:cNvPr id="38" name="TextBox 38"/>
          <p:cNvSpPr txBox="1"/>
          <p:nvPr/>
        </p:nvSpPr>
        <p:spPr>
          <a:xfrm>
            <a:off x="3755279" y="4009549"/>
            <a:ext cx="338042" cy="198120"/>
          </a:xfrm>
          <a:prstGeom prst="rect">
            <a:avLst/>
          </a:prstGeom>
          <a:noFill/>
          <a:ln>
            <a:noFill/>
          </a:ln>
        </p:spPr>
        <p:txBody>
          <a:bodyPr wrap="none" lIns="0" tIns="0" rIns="0" bIns="0" anchor="t" anchorCtr="0">
            <a:spAutoFit/>
          </a:bodyPr>
          <a:lstStyle/>
          <a:p>
            <a:pPr algn="ctr"/>
            <a:r>
              <a:rPr lang="en-US" sz="975" dirty="0">
                <a:solidFill>
                  <a:srgbClr val="A0A8BD"/>
                </a:solidFill>
                <a:latin typeface="Malgun Gothic"/>
                <a:ea typeface="Malgun Gothic"/>
                <a:cs typeface="Malgun Gothic"/>
              </a:rPr>
              <a:t>User</a:t>
            </a:r>
          </a:p>
        </p:txBody>
      </p:sp>
      <p:sp>
        <p:nvSpPr>
          <p:cNvPr id="39" name="Rectangle 39"/>
          <p:cNvSpPr/>
          <p:nvPr/>
        </p:nvSpPr>
        <p:spPr>
          <a:xfrm>
            <a:off x="3086100" y="4400550"/>
            <a:ext cx="1676400" cy="933450"/>
          </a:xfrm>
          <a:prstGeom prst="roundRect">
            <a:avLst>
              <a:gd name="adj" fmla="val 6122"/>
            </a:avLst>
          </a:prstGeom>
          <a:solidFill>
            <a:srgbClr val="1E2540">
              <a:alpha val="95000"/>
            </a:srgbClr>
          </a:solidFill>
          <a:ln w="9525">
            <a:solidFill>
              <a:srgbClr val="FFB627">
                <a:alpha val="95000"/>
              </a:srgbClr>
            </a:solidFill>
          </a:ln>
        </p:spPr>
      </p:sp>
      <p:sp>
        <p:nvSpPr>
          <p:cNvPr id="40" name="Rectangle 40"/>
          <p:cNvSpPr/>
          <p:nvPr/>
        </p:nvSpPr>
        <p:spPr>
          <a:xfrm>
            <a:off x="3086100" y="4400550"/>
            <a:ext cx="28575" cy="933450"/>
          </a:xfrm>
          <a:prstGeom prst="rect">
            <a:avLst/>
          </a:prstGeom>
          <a:solidFill>
            <a:srgbClr val="FFB627"/>
          </a:solidFill>
          <a:ln>
            <a:noFill/>
          </a:ln>
        </p:spPr>
      </p:sp>
      <p:sp>
        <p:nvSpPr>
          <p:cNvPr id="41" name="TextBox 41"/>
          <p:cNvSpPr txBox="1"/>
          <p:nvPr/>
        </p:nvSpPr>
        <p:spPr>
          <a:xfrm>
            <a:off x="3225165" y="4572952"/>
            <a:ext cx="1207484"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"ChatGPT에 묻고</a:t>
            </a:r>
          </a:p>
        </p:txBody>
      </p:sp>
      <p:sp>
        <p:nvSpPr>
          <p:cNvPr id="42" name="TextBox 42"/>
          <p:cNvSpPr txBox="1"/>
          <p:nvPr/>
        </p:nvSpPr>
        <p:spPr>
          <a:xfrm>
            <a:off x="3225165" y="4782502"/>
            <a:ext cx="1077135"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복붙해서 쓴다"</a:t>
            </a:r>
          </a:p>
        </p:txBody>
      </p:sp>
      <p:sp>
        <p:nvSpPr>
          <p:cNvPr id="43" name="Line 43"/>
          <p:cNvSpPr/>
          <p:nvPr/>
        </p:nvSpPr>
        <p:spPr>
          <a:xfrm>
            <a:off x="3238500" y="5029200"/>
            <a:ext cx="304800" cy="9525"/>
          </a:xfrm>
          <a:custGeom>
            <a:avLst/>
            <a:gdLst/>
            <a:ahLst/>
            <a:cxnLst/>
            <a:rect l="l" t="t" r="r" b="b"/>
            <a:pathLst>
              <a:path w="304800" h="9525">
                <a:moveTo>
                  <a:pt x="0" y="0"/>
                </a:moveTo>
                <a:lnTo>
                  <a:pt x="304800" y="0"/>
                </a:lnTo>
              </a:path>
            </a:pathLst>
          </a:custGeom>
          <a:noFill/>
          <a:ln w="9525">
            <a:solidFill>
              <a:srgbClr val="A0A8BD"/>
            </a:solidFill>
          </a:ln>
        </p:spPr>
      </p:sp>
      <p:sp>
        <p:nvSpPr>
          <p:cNvPr id="44" name="TextBox 44"/>
          <p:cNvSpPr txBox="1"/>
          <p:nvPr/>
        </p:nvSpPr>
        <p:spPr>
          <a:xfrm>
            <a:off x="3228022" y="5130641"/>
            <a:ext cx="539067" cy="16764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수동 활용</a:t>
            </a:r>
          </a:p>
        </p:txBody>
      </p:sp>
      <p:sp>
        <p:nvSpPr>
          <p:cNvPr id="45" name="Ellipse 45"/>
          <p:cNvSpPr/>
          <p:nvPr/>
        </p:nvSpPr>
        <p:spPr>
          <a:xfrm>
            <a:off x="5772150" y="2781300"/>
            <a:ext cx="723900" cy="723900"/>
          </a:xfrm>
          <a:prstGeom prst="ellipse">
            <a:avLst/>
          </a:prstGeom>
          <a:gradFill>
            <a:gsLst>
              <a:gs pos="0">
                <a:srgbClr val="00D9FF"/>
              </a:gs>
              <a:gs pos="100000">
                <a:srgbClr val="0077B6"/>
              </a:gs>
            </a:gsLst>
            <a:lin ang="5400000" scaled="1"/>
          </a:gradFill>
          <a:ln>
            <a:noFill/>
          </a:ln>
        </p:spPr>
      </p:sp>
      <p:sp>
        <p:nvSpPr>
          <p:cNvPr id="46" name="Ellipse 46"/>
          <p:cNvSpPr/>
          <p:nvPr/>
        </p:nvSpPr>
        <p:spPr>
          <a:xfrm>
            <a:off x="5772150" y="2781300"/>
            <a:ext cx="723900" cy="723900"/>
          </a:xfrm>
          <a:prstGeom prst="ellipse">
            <a:avLst/>
          </a:prstGeom>
          <a:noFill/>
          <a:ln w="28575">
            <a:solidFill>
              <a:srgbClr val="0A0E1A"/>
            </a:solidFill>
          </a:ln>
        </p:spPr>
      </p:sp>
      <p:sp>
        <p:nvSpPr>
          <p:cNvPr id="47" name="TextBox 47"/>
          <p:cNvSpPr txBox="1"/>
          <p:nvPr/>
        </p:nvSpPr>
        <p:spPr>
          <a:xfrm>
            <a:off x="5930308" y="3040380"/>
            <a:ext cx="407584" cy="426720"/>
          </a:xfrm>
          <a:prstGeom prst="rect">
            <a:avLst/>
          </a:prstGeom>
          <a:noFill/>
          <a:ln>
            <a:noFill/>
          </a:ln>
        </p:spPr>
        <p:txBody>
          <a:bodyPr wrap="none" lIns="0" tIns="0" rIns="0" bIns="0" anchor="t" anchorCtr="0">
            <a:spAutoFit/>
          </a:bodyPr>
          <a:lstStyle/>
          <a:p>
            <a:pPr algn="ctr"/>
            <a:r>
              <a:rPr lang="en-US" sz="2100" b="1" dirty="0">
                <a:solidFill>
                  <a:srgbClr val="0A0E1A"/>
                </a:solidFill>
                <a:latin typeface="Malgun Gothic"/>
                <a:ea typeface="Malgun Gothic"/>
                <a:cs typeface="Malgun Gothic"/>
              </a:rPr>
              <a:t>03</a:t>
            </a:r>
          </a:p>
        </p:txBody>
      </p:sp>
      <p:sp>
        <p:nvSpPr>
          <p:cNvPr id="48" name="Freeform 48"/>
          <p:cNvSpPr/>
          <p:nvPr/>
        </p:nvSpPr>
        <p:spPr>
          <a:xfrm>
            <a:off x="5905500" y="2209800"/>
            <a:ext cx="438150" cy="114300"/>
          </a:xfrm>
          <a:custGeom>
            <a:avLst/>
            <a:gdLst/>
            <a:ahLst/>
            <a:cxnLst/>
            <a:rect l="l" t="t" r="r" b="b"/>
            <a:pathLst>
              <a:path w="438150" h="114300">
                <a:moveTo>
                  <a:pt x="0" y="57150"/>
                </a:moveTo>
                <a:lnTo>
                  <a:pt x="438150" y="57150"/>
                </a:lnTo>
                <a:lnTo>
                  <a:pt x="381000" y="0"/>
                </a:lnTo>
                <a:moveTo>
                  <a:pt x="438150" y="57150"/>
                </a:moveTo>
                <a:lnTo>
                  <a:pt x="381000" y="114300"/>
                </a:lnTo>
              </a:path>
            </a:pathLst>
          </a:custGeom>
          <a:noFill/>
          <a:ln w="23812" cap="rnd">
            <a:solidFill>
              <a:srgbClr val="00D9FF"/>
            </a:solidFill>
            <a:round/>
          </a:ln>
        </p:spPr>
      </p:sp>
      <p:sp>
        <p:nvSpPr>
          <p:cNvPr id="49" name="Freeform 49"/>
          <p:cNvSpPr/>
          <p:nvPr/>
        </p:nvSpPr>
        <p:spPr>
          <a:xfrm>
            <a:off x="5924550" y="2381250"/>
            <a:ext cx="438150" cy="114300"/>
          </a:xfrm>
          <a:custGeom>
            <a:avLst/>
            <a:gdLst/>
            <a:ahLst/>
            <a:cxnLst/>
            <a:rect l="l" t="t" r="r" b="b"/>
            <a:pathLst>
              <a:path w="438150" h="114300">
                <a:moveTo>
                  <a:pt x="438150" y="57150"/>
                </a:moveTo>
                <a:lnTo>
                  <a:pt x="0" y="57150"/>
                </a:lnTo>
                <a:lnTo>
                  <a:pt x="57150" y="0"/>
                </a:lnTo>
                <a:moveTo>
                  <a:pt x="0" y="57150"/>
                </a:moveTo>
                <a:lnTo>
                  <a:pt x="57150" y="114300"/>
                </a:lnTo>
              </a:path>
            </a:pathLst>
          </a:custGeom>
          <a:noFill/>
          <a:ln w="23812" cap="rnd">
            <a:solidFill>
              <a:srgbClr val="00D9FF"/>
            </a:solidFill>
            <a:round/>
          </a:ln>
        </p:spPr>
      </p:sp>
      <p:sp>
        <p:nvSpPr>
          <p:cNvPr id="50" name="TextBox 50"/>
          <p:cNvSpPr txBox="1"/>
          <p:nvPr/>
        </p:nvSpPr>
        <p:spPr>
          <a:xfrm>
            <a:off x="5873603" y="2720816"/>
            <a:ext cx="520994" cy="167640"/>
          </a:xfrm>
          <a:prstGeom prst="rect">
            <a:avLst/>
          </a:prstGeom>
          <a:noFill/>
          <a:ln>
            <a:noFill/>
          </a:ln>
        </p:spPr>
        <p:txBody>
          <a:bodyPr wrap="none" lIns="0" tIns="0" rIns="0" bIns="0" anchor="t" anchorCtr="0">
            <a:spAutoFit/>
          </a:bodyPr>
          <a:lstStyle/>
          <a:p>
            <a:pPr algn="ctr"/>
            <a:r>
              <a:rPr lang="en-US" sz="900" dirty="0">
                <a:solidFill>
                  <a:srgbClr val="00D9FF"/>
                </a:solidFill>
                <a:latin typeface="Malgun Gothic"/>
                <a:ea typeface="Malgun Gothic"/>
                <a:cs typeface="Malgun Gothic"/>
              </a:rPr>
              <a:t>STAGE 03</a:t>
            </a:r>
          </a:p>
        </p:txBody>
      </p:sp>
      <p:sp>
        <p:nvSpPr>
          <p:cNvPr id="51" name="TextBox 51"/>
          <p:cNvSpPr txBox="1"/>
          <p:nvPr/>
        </p:nvSpPr>
        <p:spPr>
          <a:xfrm>
            <a:off x="5733598" y="3727132"/>
            <a:ext cx="801005" cy="335280"/>
          </a:xfrm>
          <a:prstGeom prst="rect">
            <a:avLst/>
          </a:prstGeom>
          <a:noFill/>
          <a:ln>
            <a:noFill/>
          </a:ln>
        </p:spPr>
        <p:txBody>
          <a:bodyPr wrap="none" lIns="0" tIns="0" rIns="0" bIns="0" anchor="t" anchorCtr="0">
            <a:spAutoFit/>
          </a:bodyPr>
          <a:lstStyle/>
          <a:p>
            <a:pPr algn="ctr"/>
            <a:r>
              <a:rPr lang="ko-KR" sz="1650" b="1" dirty="0">
                <a:solidFill>
                  <a:srgbClr val="F5F7FA"/>
                </a:solidFill>
                <a:latin typeface="Malgun Gothic"/>
                <a:ea typeface="Malgun Gothic"/>
                <a:cs typeface="Malgun Gothic"/>
              </a:rPr>
              <a:t>협업자</a:t>
            </a:r>
          </a:p>
        </p:txBody>
      </p:sp>
      <p:sp>
        <p:nvSpPr>
          <p:cNvPr id="52" name="TextBox 52"/>
          <p:cNvSpPr txBox="1"/>
          <p:nvPr/>
        </p:nvSpPr>
        <p:spPr>
          <a:xfrm>
            <a:off x="5687401" y="4009549"/>
            <a:ext cx="893397" cy="198120"/>
          </a:xfrm>
          <a:prstGeom prst="rect">
            <a:avLst/>
          </a:prstGeom>
          <a:noFill/>
          <a:ln>
            <a:noFill/>
          </a:ln>
        </p:spPr>
        <p:txBody>
          <a:bodyPr wrap="none" lIns="0" tIns="0" rIns="0" bIns="0" anchor="t" anchorCtr="0">
            <a:spAutoFit/>
          </a:bodyPr>
          <a:lstStyle/>
          <a:p>
            <a:pPr algn="ctr"/>
            <a:r>
              <a:rPr lang="en-US" sz="975" dirty="0">
                <a:solidFill>
                  <a:srgbClr val="A0A8BD"/>
                </a:solidFill>
                <a:latin typeface="Malgun Gothic"/>
                <a:ea typeface="Malgun Gothic"/>
                <a:cs typeface="Malgun Gothic"/>
              </a:rPr>
              <a:t>Collaborator</a:t>
            </a:r>
          </a:p>
        </p:txBody>
      </p:sp>
      <p:sp>
        <p:nvSpPr>
          <p:cNvPr id="53" name="Rectangle 53"/>
          <p:cNvSpPr/>
          <p:nvPr/>
        </p:nvSpPr>
        <p:spPr>
          <a:xfrm>
            <a:off x="5295900" y="4400550"/>
            <a:ext cx="1676400" cy="933450"/>
          </a:xfrm>
          <a:prstGeom prst="roundRect">
            <a:avLst>
              <a:gd name="adj" fmla="val 6122"/>
            </a:avLst>
          </a:prstGeom>
          <a:solidFill>
            <a:srgbClr val="1E2540">
              <a:alpha val="95000"/>
            </a:srgbClr>
          </a:solidFill>
          <a:ln w="9525">
            <a:solidFill>
              <a:srgbClr val="00D9FF">
                <a:alpha val="95000"/>
              </a:srgbClr>
            </a:solidFill>
          </a:ln>
        </p:spPr>
      </p:sp>
      <p:sp>
        <p:nvSpPr>
          <p:cNvPr id="54" name="Rectangle 54"/>
          <p:cNvSpPr/>
          <p:nvPr/>
        </p:nvSpPr>
        <p:spPr>
          <a:xfrm>
            <a:off x="5295900" y="4400550"/>
            <a:ext cx="28575" cy="933450"/>
          </a:xfrm>
          <a:prstGeom prst="rect">
            <a:avLst/>
          </a:prstGeom>
          <a:solidFill>
            <a:srgbClr val="00D9FF"/>
          </a:solidFill>
          <a:ln>
            <a:noFill/>
          </a:ln>
        </p:spPr>
      </p:sp>
      <p:sp>
        <p:nvSpPr>
          <p:cNvPr id="55" name="TextBox 55"/>
          <p:cNvSpPr txBox="1"/>
          <p:nvPr/>
        </p:nvSpPr>
        <p:spPr>
          <a:xfrm>
            <a:off x="5434965" y="4572952"/>
            <a:ext cx="1253490"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"AI와 페어로 짜고</a:t>
            </a:r>
          </a:p>
        </p:txBody>
      </p:sp>
      <p:sp>
        <p:nvSpPr>
          <p:cNvPr id="56" name="TextBox 56"/>
          <p:cNvSpPr txBox="1"/>
          <p:nvPr/>
        </p:nvSpPr>
        <p:spPr>
          <a:xfrm>
            <a:off x="5434965" y="4782502"/>
            <a:ext cx="1230487"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코드를 검증한다"</a:t>
            </a:r>
          </a:p>
        </p:txBody>
      </p:sp>
      <p:sp>
        <p:nvSpPr>
          <p:cNvPr id="57" name="Line 57"/>
          <p:cNvSpPr/>
          <p:nvPr/>
        </p:nvSpPr>
        <p:spPr>
          <a:xfrm>
            <a:off x="5448300" y="5029200"/>
            <a:ext cx="304800" cy="9525"/>
          </a:xfrm>
          <a:custGeom>
            <a:avLst/>
            <a:gdLst/>
            <a:ahLst/>
            <a:cxnLst/>
            <a:rect l="l" t="t" r="r" b="b"/>
            <a:pathLst>
              <a:path w="304800" h="9525">
                <a:moveTo>
                  <a:pt x="0" y="0"/>
                </a:moveTo>
                <a:lnTo>
                  <a:pt x="304800" y="0"/>
                </a:lnTo>
              </a:path>
            </a:pathLst>
          </a:custGeom>
          <a:noFill/>
          <a:ln w="9525">
            <a:solidFill>
              <a:srgbClr val="A0A8BD"/>
            </a:solidFill>
          </a:ln>
        </p:spPr>
      </p:sp>
      <p:sp>
        <p:nvSpPr>
          <p:cNvPr id="58" name="TextBox 58"/>
          <p:cNvSpPr txBox="1"/>
          <p:nvPr/>
        </p:nvSpPr>
        <p:spPr>
          <a:xfrm>
            <a:off x="5437822" y="5130641"/>
            <a:ext cx="539067" cy="16764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능동 협업</a:t>
            </a:r>
          </a:p>
        </p:txBody>
      </p:sp>
      <p:sp>
        <p:nvSpPr>
          <p:cNvPr id="59" name="Ellipse 59"/>
          <p:cNvSpPr/>
          <p:nvPr/>
        </p:nvSpPr>
        <p:spPr>
          <a:xfrm>
            <a:off x="7924800" y="2724150"/>
            <a:ext cx="838200" cy="838200"/>
          </a:xfrm>
          <a:prstGeom prst="ellipse">
            <a:avLst/>
          </a:prstGeom>
          <a:gradFill>
            <a:gsLst>
              <a:gs pos="0">
                <a:srgbClr val="F5F7FA"/>
              </a:gs>
              <a:gs pos="100000">
                <a:srgbClr val="A0A8BD"/>
              </a:gs>
            </a:gsLst>
            <a:lin ang="5400000" scaled="1"/>
          </a:gradFill>
          <a:ln>
            <a:noFill/>
          </a:ln>
        </p:spPr>
      </p:sp>
      <p:sp>
        <p:nvSpPr>
          <p:cNvPr id="60" name="Ellipse 60"/>
          <p:cNvSpPr/>
          <p:nvPr/>
        </p:nvSpPr>
        <p:spPr>
          <a:xfrm>
            <a:off x="7924800" y="2724150"/>
            <a:ext cx="838200" cy="838200"/>
          </a:xfrm>
          <a:prstGeom prst="ellipse">
            <a:avLst/>
          </a:prstGeom>
          <a:noFill/>
          <a:ln w="28575">
            <a:solidFill>
              <a:srgbClr val="0A0E1A"/>
            </a:solidFill>
          </a:ln>
        </p:spPr>
      </p:sp>
      <p:sp>
        <p:nvSpPr>
          <p:cNvPr id="61" name="Ellipse 61"/>
          <p:cNvSpPr/>
          <p:nvPr/>
        </p:nvSpPr>
        <p:spPr>
          <a:xfrm>
            <a:off x="7848600" y="2647950"/>
            <a:ext cx="990600" cy="990600"/>
          </a:xfrm>
          <a:prstGeom prst="ellipse">
            <a:avLst/>
          </a:prstGeom>
          <a:noFill/>
          <a:ln w="9525">
            <a:solidFill>
              <a:srgbClr val="F5F7FA">
                <a:alpha val="30000"/>
              </a:srgbClr>
            </a:solidFill>
          </a:ln>
        </p:spPr>
      </p:sp>
      <p:sp>
        <p:nvSpPr>
          <p:cNvPr id="62" name="Ellipse 62"/>
          <p:cNvSpPr/>
          <p:nvPr/>
        </p:nvSpPr>
        <p:spPr>
          <a:xfrm>
            <a:off x="7772400" y="2571750"/>
            <a:ext cx="1143000" cy="1143000"/>
          </a:xfrm>
          <a:prstGeom prst="ellipse">
            <a:avLst/>
          </a:prstGeom>
          <a:noFill/>
          <a:ln w="9525">
            <a:solidFill>
              <a:srgbClr val="F5F7FA">
                <a:alpha val="15000"/>
              </a:srgbClr>
            </a:solidFill>
          </a:ln>
        </p:spPr>
      </p:sp>
      <p:sp>
        <p:nvSpPr>
          <p:cNvPr id="63" name="TextBox 63"/>
          <p:cNvSpPr txBox="1"/>
          <p:nvPr/>
        </p:nvSpPr>
        <p:spPr>
          <a:xfrm>
            <a:off x="8110995" y="3027045"/>
            <a:ext cx="465811" cy="487680"/>
          </a:xfrm>
          <a:prstGeom prst="rect">
            <a:avLst/>
          </a:prstGeom>
          <a:noFill/>
          <a:ln>
            <a:noFill/>
          </a:ln>
        </p:spPr>
        <p:txBody>
          <a:bodyPr wrap="none" lIns="0" tIns="0" rIns="0" bIns="0" anchor="t" anchorCtr="0">
            <a:spAutoFit/>
          </a:bodyPr>
          <a:lstStyle/>
          <a:p>
            <a:pPr algn="ctr"/>
            <a:r>
              <a:rPr lang="en-US" sz="2400" b="1" dirty="0">
                <a:solidFill>
                  <a:srgbClr val="0A0E1A"/>
                </a:solidFill>
                <a:latin typeface="Malgun Gothic"/>
                <a:ea typeface="Malgun Gothic"/>
                <a:cs typeface="Malgun Gothic"/>
              </a:rPr>
              <a:t>04</a:t>
            </a:r>
          </a:p>
        </p:txBody>
      </p:sp>
      <p:sp>
        <p:nvSpPr>
          <p:cNvPr id="64" name="Ellipse 64"/>
          <p:cNvSpPr/>
          <p:nvPr/>
        </p:nvSpPr>
        <p:spPr>
          <a:xfrm>
            <a:off x="8153400" y="2162175"/>
            <a:ext cx="381000" cy="381000"/>
          </a:xfrm>
          <a:prstGeom prst="ellipse">
            <a:avLst/>
          </a:prstGeom>
          <a:noFill/>
          <a:ln w="23812">
            <a:solidFill>
              <a:srgbClr val="F5F7FA"/>
            </a:solidFill>
          </a:ln>
        </p:spPr>
      </p:sp>
      <p:sp>
        <p:nvSpPr>
          <p:cNvPr id="65" name="Ellipse 65"/>
          <p:cNvSpPr/>
          <p:nvPr/>
        </p:nvSpPr>
        <p:spPr>
          <a:xfrm>
            <a:off x="8229600" y="2238375"/>
            <a:ext cx="228600" cy="228600"/>
          </a:xfrm>
          <a:prstGeom prst="ellipse">
            <a:avLst/>
          </a:prstGeom>
          <a:noFill/>
          <a:ln w="23812">
            <a:solidFill>
              <a:srgbClr val="F5F7FA"/>
            </a:solidFill>
          </a:ln>
        </p:spPr>
      </p:sp>
      <p:sp>
        <p:nvSpPr>
          <p:cNvPr id="66" name="Ellipse 66"/>
          <p:cNvSpPr/>
          <p:nvPr/>
        </p:nvSpPr>
        <p:spPr>
          <a:xfrm>
            <a:off x="8305800" y="2314575"/>
            <a:ext cx="76200" cy="76200"/>
          </a:xfrm>
          <a:prstGeom prst="ellipse">
            <a:avLst/>
          </a:prstGeom>
          <a:solidFill>
            <a:srgbClr val="F5F7FA"/>
          </a:solidFill>
          <a:ln>
            <a:noFill/>
          </a:ln>
        </p:spPr>
      </p:sp>
      <p:sp>
        <p:nvSpPr>
          <p:cNvPr id="67" name="TextBox 67"/>
          <p:cNvSpPr txBox="1"/>
          <p:nvPr/>
        </p:nvSpPr>
        <p:spPr>
          <a:xfrm>
            <a:off x="7869531" y="2720816"/>
            <a:ext cx="948738" cy="167640"/>
          </a:xfrm>
          <a:prstGeom prst="rect">
            <a:avLst/>
          </a:prstGeom>
          <a:noFill/>
          <a:ln>
            <a:noFill/>
          </a:ln>
        </p:spPr>
        <p:txBody>
          <a:bodyPr wrap="none" lIns="0" tIns="0" rIns="0" bIns="0" anchor="t" anchorCtr="0">
            <a:spAutoFit/>
          </a:bodyPr>
          <a:lstStyle/>
          <a:p>
            <a:pPr algn="ctr"/>
            <a:r>
              <a:rPr lang="en-US" sz="900" dirty="0">
                <a:solidFill>
                  <a:srgbClr val="F5F7FA"/>
                </a:solidFill>
                <a:latin typeface="Malgun Gothic"/>
                <a:ea typeface="Malgun Gothic"/>
                <a:cs typeface="Malgun Gothic"/>
              </a:rPr>
              <a:t>STAGE 04 · GOAL</a:t>
            </a:r>
          </a:p>
        </p:txBody>
      </p:sp>
      <p:sp>
        <p:nvSpPr>
          <p:cNvPr id="68" name="TextBox 68"/>
          <p:cNvSpPr txBox="1"/>
          <p:nvPr/>
        </p:nvSpPr>
        <p:spPr>
          <a:xfrm>
            <a:off x="7906988" y="3729990"/>
            <a:ext cx="873824" cy="365760"/>
          </a:xfrm>
          <a:prstGeom prst="rect">
            <a:avLst/>
          </a:prstGeom>
          <a:noFill/>
          <a:ln>
            <a:noFill/>
          </a:ln>
        </p:spPr>
        <p:txBody>
          <a:bodyPr wrap="none" lIns="0" tIns="0" rIns="0" bIns="0" anchor="t" anchorCtr="0">
            <a:spAutoFit/>
          </a:bodyPr>
          <a:lstStyle/>
          <a:p>
            <a:pPr algn="ctr"/>
            <a:r>
              <a:rPr lang="ko-KR" sz="1800" b="1" dirty="0">
                <a:solidFill>
                  <a:srgbClr val="F5F7FA"/>
                </a:solidFill>
                <a:latin typeface="Malgun Gothic"/>
                <a:ea typeface="Malgun Gothic"/>
                <a:cs typeface="Malgun Gothic"/>
              </a:rPr>
              <a:t>지휘자</a:t>
            </a:r>
          </a:p>
        </p:txBody>
      </p:sp>
      <p:sp>
        <p:nvSpPr>
          <p:cNvPr id="69" name="TextBox 69"/>
          <p:cNvSpPr txBox="1"/>
          <p:nvPr/>
        </p:nvSpPr>
        <p:spPr>
          <a:xfrm>
            <a:off x="7847362" y="4028599"/>
            <a:ext cx="993076" cy="198120"/>
          </a:xfrm>
          <a:prstGeom prst="rect">
            <a:avLst/>
          </a:prstGeom>
          <a:noFill/>
          <a:ln>
            <a:noFill/>
          </a:ln>
        </p:spPr>
        <p:txBody>
          <a:bodyPr wrap="none" lIns="0" tIns="0" rIns="0" bIns="0" anchor="t" anchorCtr="0">
            <a:spAutoFit/>
          </a:bodyPr>
          <a:lstStyle/>
          <a:p>
            <a:pPr algn="ctr"/>
            <a:r>
              <a:rPr lang="en-US" sz="975" dirty="0">
                <a:solidFill>
                  <a:srgbClr val="00D9FF"/>
                </a:solidFill>
                <a:latin typeface="Malgun Gothic"/>
                <a:ea typeface="Malgun Gothic"/>
                <a:cs typeface="Malgun Gothic"/>
              </a:rPr>
              <a:t>Orchestrator</a:t>
            </a:r>
          </a:p>
        </p:txBody>
      </p:sp>
      <p:sp>
        <p:nvSpPr>
          <p:cNvPr id="70" name="Rectangle 70"/>
          <p:cNvSpPr/>
          <p:nvPr/>
        </p:nvSpPr>
        <p:spPr>
          <a:xfrm>
            <a:off x="7505700" y="4400550"/>
            <a:ext cx="1676400" cy="933450"/>
          </a:xfrm>
          <a:prstGeom prst="roundRect">
            <a:avLst>
              <a:gd name="adj" fmla="val 6122"/>
            </a:avLst>
          </a:prstGeom>
          <a:solidFill>
            <a:srgbClr val="1E2540"/>
          </a:solidFill>
          <a:ln w="14288">
            <a:solidFill>
              <a:srgbClr val="F5F7FA"/>
            </a:solidFill>
          </a:ln>
        </p:spPr>
      </p:sp>
      <p:sp>
        <p:nvSpPr>
          <p:cNvPr id="71" name="Rectangle 71"/>
          <p:cNvSpPr/>
          <p:nvPr/>
        </p:nvSpPr>
        <p:spPr>
          <a:xfrm>
            <a:off x="7505700" y="4400550"/>
            <a:ext cx="28575" cy="933450"/>
          </a:xfrm>
          <a:prstGeom prst="rect">
            <a:avLst/>
          </a:prstGeom>
          <a:solidFill>
            <a:srgbClr val="F5F7FA"/>
          </a:solidFill>
          <a:ln>
            <a:noFill/>
          </a:ln>
        </p:spPr>
      </p:sp>
      <p:sp>
        <p:nvSpPr>
          <p:cNvPr id="72" name="TextBox 72"/>
          <p:cNvSpPr txBox="1"/>
          <p:nvPr/>
        </p:nvSpPr>
        <p:spPr>
          <a:xfrm>
            <a:off x="7644765" y="4572952"/>
            <a:ext cx="1230487"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"에이전트 흐름을</a:t>
            </a:r>
          </a:p>
        </p:txBody>
      </p:sp>
      <p:sp>
        <p:nvSpPr>
          <p:cNvPr id="73" name="TextBox 73"/>
          <p:cNvSpPr txBox="1"/>
          <p:nvPr/>
        </p:nvSpPr>
        <p:spPr>
          <a:xfrm>
            <a:off x="7644765" y="4782502"/>
            <a:ext cx="1383840" cy="213360"/>
          </a:xfrm>
          <a:prstGeom prst="rect">
            <a:avLst/>
          </a:prstGeom>
          <a:noFill/>
          <a:ln>
            <a:noFill/>
          </a:ln>
        </p:spPr>
        <p:txBody>
          <a:bodyPr wrap="none" lIns="0" tIns="0" rIns="0" bIns="0" anchor="t" anchorCtr="0">
            <a:spAutoFit/>
          </a:bodyPr>
          <a:lstStyle/>
          <a:p>
            <a:pPr algn="l"/>
            <a:r>
              <a:rPr lang="ko-KR" sz="1050" dirty="0">
                <a:solidFill>
                  <a:srgbClr val="F5F7FA"/>
                </a:solidFill>
                <a:latin typeface="Times New Roman"/>
                <a:ea typeface="Nanum Myeongjo"/>
                <a:cs typeface="Times New Roman"/>
              </a:rPr>
              <a:t>설계하고 검증한다"</a:t>
            </a:r>
          </a:p>
        </p:txBody>
      </p:sp>
      <p:sp>
        <p:nvSpPr>
          <p:cNvPr id="74" name="Line 74"/>
          <p:cNvSpPr/>
          <p:nvPr/>
        </p:nvSpPr>
        <p:spPr>
          <a:xfrm>
            <a:off x="7658100" y="5029200"/>
            <a:ext cx="304800" cy="9525"/>
          </a:xfrm>
          <a:custGeom>
            <a:avLst/>
            <a:gdLst/>
            <a:ahLst/>
            <a:cxnLst/>
            <a:rect l="l" t="t" r="r" b="b"/>
            <a:pathLst>
              <a:path w="304800" h="9525">
                <a:moveTo>
                  <a:pt x="0" y="0"/>
                </a:moveTo>
                <a:lnTo>
                  <a:pt x="304800" y="0"/>
                </a:lnTo>
              </a:path>
            </a:pathLst>
          </a:custGeom>
          <a:noFill/>
          <a:ln w="9525">
            <a:solidFill>
              <a:srgbClr val="00D9FF"/>
            </a:solidFill>
          </a:ln>
        </p:spPr>
      </p:sp>
      <p:sp>
        <p:nvSpPr>
          <p:cNvPr id="75" name="TextBox 75"/>
          <p:cNvSpPr txBox="1"/>
          <p:nvPr/>
        </p:nvSpPr>
        <p:spPr>
          <a:xfrm>
            <a:off x="7647622" y="5130641"/>
            <a:ext cx="691489" cy="167640"/>
          </a:xfrm>
          <a:prstGeom prst="rect">
            <a:avLst/>
          </a:prstGeom>
          <a:noFill/>
          <a:ln>
            <a:noFill/>
          </a:ln>
        </p:spPr>
        <p:txBody>
          <a:bodyPr wrap="none" lIns="0" tIns="0" rIns="0" bIns="0" anchor="t" anchorCtr="0">
            <a:spAutoFit/>
          </a:bodyPr>
          <a:lstStyle/>
          <a:p>
            <a:pPr algn="l"/>
            <a:r>
              <a:rPr lang="ko-KR" sz="900" b="1" dirty="0">
                <a:solidFill>
                  <a:srgbClr val="00D9FF"/>
                </a:solidFill>
                <a:latin typeface="Malgun Gothic"/>
                <a:ea typeface="Malgun Gothic"/>
                <a:cs typeface="Malgun Gothic"/>
              </a:rPr>
              <a:t>자동화 설계</a:t>
            </a:r>
          </a:p>
        </p:txBody>
      </p:sp>
      <p:sp>
        <p:nvSpPr>
          <p:cNvPr id="76" name="Rectangle 76"/>
          <p:cNvSpPr/>
          <p:nvPr/>
        </p:nvSpPr>
        <p:spPr>
          <a:xfrm>
            <a:off x="762000" y="5905500"/>
            <a:ext cx="10668000" cy="609600"/>
          </a:xfrm>
          <a:prstGeom prst="roundRect">
            <a:avLst>
              <a:gd name="adj" fmla="val 6250"/>
            </a:avLst>
          </a:prstGeom>
          <a:solidFill>
            <a:srgbClr val="141A2E"/>
          </a:solidFill>
          <a:ln w="9525">
            <a:solidFill>
              <a:srgbClr val="2A3252"/>
            </a:solidFill>
          </a:ln>
        </p:spPr>
      </p:sp>
      <p:sp>
        <p:nvSpPr>
          <p:cNvPr id="77" name="Rectangle 77"/>
          <p:cNvSpPr/>
          <p:nvPr/>
        </p:nvSpPr>
        <p:spPr>
          <a:xfrm>
            <a:off x="762000" y="5905500"/>
            <a:ext cx="38100" cy="609600"/>
          </a:xfrm>
          <a:prstGeom prst="rect">
            <a:avLst/>
          </a:prstGeom>
          <a:solidFill>
            <a:srgbClr val="00D9FF"/>
          </a:solidFill>
          <a:ln>
            <a:noFill/>
          </a:ln>
        </p:spPr>
      </p:sp>
      <p:sp>
        <p:nvSpPr>
          <p:cNvPr id="78" name="Rectangle 78"/>
          <p:cNvSpPr/>
          <p:nvPr/>
        </p:nvSpPr>
        <p:spPr>
          <a:xfrm>
            <a:off x="1028700" y="6286500"/>
            <a:ext cx="133350" cy="133350"/>
          </a:xfrm>
          <a:prstGeom prst="rect">
            <a:avLst/>
          </a:prstGeom>
          <a:solidFill>
            <a:srgbClr val="00D9FF"/>
          </a:solidFill>
          <a:ln>
            <a:noFill/>
          </a:ln>
        </p:spPr>
      </p:sp>
      <p:sp>
        <p:nvSpPr>
          <p:cNvPr id="79" name="Rectangle 79"/>
          <p:cNvSpPr/>
          <p:nvPr/>
        </p:nvSpPr>
        <p:spPr>
          <a:xfrm>
            <a:off x="1162050" y="6191250"/>
            <a:ext cx="133350" cy="228600"/>
          </a:xfrm>
          <a:prstGeom prst="rect">
            <a:avLst/>
          </a:prstGeom>
          <a:solidFill>
            <a:srgbClr val="00D9FF">
              <a:alpha val="75000"/>
            </a:srgbClr>
          </a:solidFill>
          <a:ln>
            <a:noFill/>
          </a:ln>
        </p:spPr>
      </p:sp>
      <p:sp>
        <p:nvSpPr>
          <p:cNvPr id="80" name="Rectangle 80"/>
          <p:cNvSpPr/>
          <p:nvPr/>
        </p:nvSpPr>
        <p:spPr>
          <a:xfrm>
            <a:off x="1295400" y="6096000"/>
            <a:ext cx="133350" cy="323850"/>
          </a:xfrm>
          <a:prstGeom prst="rect">
            <a:avLst/>
          </a:prstGeom>
          <a:solidFill>
            <a:srgbClr val="00D9FF">
              <a:alpha val="50000"/>
            </a:srgbClr>
          </a:solidFill>
          <a:ln>
            <a:noFill/>
          </a:ln>
        </p:spPr>
      </p:sp>
      <p:sp>
        <p:nvSpPr>
          <p:cNvPr id="81" name="TextBox 81"/>
          <p:cNvSpPr txBox="1"/>
          <p:nvPr/>
        </p:nvSpPr>
        <p:spPr>
          <a:xfrm>
            <a:off x="1627822" y="6083141"/>
            <a:ext cx="810173" cy="167640"/>
          </a:xfrm>
          <a:prstGeom prst="rect">
            <a:avLst/>
          </a:prstGeom>
          <a:noFill/>
          <a:ln>
            <a:noFill/>
          </a:ln>
        </p:spPr>
        <p:txBody>
          <a:bodyPr wrap="none" lIns="0" tIns="0" rIns="0" bIns="0" anchor="t" anchorCtr="0">
            <a:spAutoFit/>
          </a:bodyPr>
          <a:lstStyle/>
          <a:p>
            <a:pPr algn="l"/>
            <a:r>
              <a:rPr lang="en-US" sz="900" dirty="0">
                <a:solidFill>
                  <a:srgbClr val="A0A8BD"/>
                </a:solidFill>
                <a:latin typeface="Malgun Gothic"/>
                <a:ea typeface="Malgun Gothic"/>
                <a:cs typeface="Malgun Gothic"/>
              </a:rPr>
              <a:t>KEY TAKEAWAY</a:t>
            </a:r>
          </a:p>
        </p:txBody>
      </p:sp>
      <p:sp>
        <p:nvSpPr>
          <p:cNvPr id="82" name="TextBox 82"/>
          <p:cNvSpPr txBox="1"/>
          <p:nvPr/>
        </p:nvSpPr>
        <p:spPr>
          <a:xfrm>
            <a:off x="1621155" y="6255068"/>
            <a:ext cx="6845441"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 xml:space="preserve">사라지는 것은 개발자가 아니라 </a:t>
            </a:r>
            <a:r>
              <a:rPr lang="ko-KR" sz="1350" b="1" dirty="0">
                <a:solidFill>
                  <a:srgbClr val="E63946"/>
                </a:solidFill>
                <a:latin typeface="Malgun Gothic"/>
                <a:ea typeface="Malgun Gothic"/>
                <a:cs typeface="Malgun Gothic"/>
              </a:rPr>
              <a:t>'거부자'</a:t>
            </a:r>
            <a:r>
              <a:rPr lang="ko-KR" sz="1350" b="1" dirty="0">
                <a:solidFill>
                  <a:srgbClr val="F5F7FA"/>
                </a:solidFill>
                <a:latin typeface="Malgun Gothic"/>
                <a:ea typeface="Malgun Gothic"/>
                <a:cs typeface="Malgun Gothic"/>
              </a:rPr>
              <a:t xml:space="preserve">다. 지금 </a:t>
            </a:r>
            <a:r>
              <a:rPr lang="ko-KR" sz="1350" b="1" dirty="0">
                <a:solidFill>
                  <a:srgbClr val="00D9FF"/>
                </a:solidFill>
                <a:latin typeface="Malgun Gothic"/>
                <a:ea typeface="Malgun Gothic"/>
                <a:cs typeface="Malgun Gothic"/>
              </a:rPr>
              <a:t>한 단계 위</a:t>
            </a:r>
            <a:r>
              <a:rPr lang="ko-KR" sz="1350" b="1" dirty="0">
                <a:solidFill>
                  <a:srgbClr val="F5F7FA"/>
                </a:solidFill>
                <a:latin typeface="Malgun Gothic"/>
                <a:ea typeface="Malgun Gothic"/>
                <a:cs typeface="Malgun Gothic"/>
              </a:rPr>
              <a:t>로 올라가라.</a:t>
            </a:r>
          </a:p>
        </p:txBody>
      </p:sp>
      <p:sp>
        <p:nvSpPr>
          <p:cNvPr id="83" name="TextBox 83"/>
          <p:cNvSpPr txBox="1"/>
          <p:nvPr/>
        </p:nvSpPr>
        <p:spPr>
          <a:xfrm>
            <a:off x="750570" y="6608445"/>
            <a:ext cx="1547622"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개발자의 종말 — AI의 시대</a:t>
            </a:r>
          </a:p>
        </p:txBody>
      </p:sp>
      <p:sp>
        <p:nvSpPr>
          <p:cNvPr id="84" name="TextBox 84"/>
          <p:cNvSpPr txBox="1"/>
          <p:nvPr/>
        </p:nvSpPr>
        <p:spPr>
          <a:xfrm>
            <a:off x="10176415" y="6608445"/>
            <a:ext cx="1265015"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Chapter 04 · Action</a:t>
            </a:r>
          </a:p>
        </p:txBody>
      </p:sp>
    </p:spTree>
  </p:cSld>
  <p:clrMapOvr>
    <a:masterClrMapping/>
  </p:clrMapOvr>
  <p:transition xmlns:p14="http://schemas.microsoft.com/office/powerpoint/2010/main" p14:dur="5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6858000"/>
          </a:xfrm>
          <a:prstGeom prst="rect">
            <a:avLst/>
          </a:prstGeom>
          <a:gradFill>
            <a:gsLst>
              <a:gs pos="0">
                <a:srgbClr val="1A0A14"/>
              </a:gs>
              <a:gs pos="60000">
                <a:srgbClr val="0A0E1A"/>
              </a:gs>
              <a:gs pos="100000">
                <a:srgbClr val="000000"/>
              </a:gs>
            </a:gsLst>
            <a:path path="circle">
              <a:fillToRect l="50000" t="50000" r="50000" b="50000"/>
            </a:path>
          </a:gradFill>
          <a:ln>
            <a:noFill/>
          </a:ln>
        </p:spPr>
      </p:sp>
      <p:sp>
        <p:nvSpPr>
          <p:cNvPr id="4" name="Rectangle 4"/>
          <p:cNvSpPr/>
          <p:nvPr/>
        </p:nvSpPr>
        <p:spPr>
          <a:xfrm>
            <a:off x="0" y="0"/>
            <a:ext cx="12192000" cy="1905000"/>
          </a:xfrm>
          <a:prstGeom prst="rect">
            <a:avLst/>
          </a:prstGeom>
          <a:gradFill>
            <a:gsLst>
              <a:gs pos="0">
                <a:srgbClr val="000000">
                  <a:alpha val="50000"/>
                </a:srgbClr>
              </a:gs>
              <a:gs pos="100000">
                <a:srgbClr val="000000">
                  <a:alpha val="0"/>
                </a:srgbClr>
              </a:gs>
            </a:gsLst>
            <a:lin ang="5400000" scaled="1"/>
          </a:gradFill>
          <a:ln>
            <a:noFill/>
          </a:ln>
        </p:spPr>
      </p:sp>
      <p:sp>
        <p:nvSpPr>
          <p:cNvPr id="5" name="Rectangle 5"/>
          <p:cNvSpPr/>
          <p:nvPr/>
        </p:nvSpPr>
        <p:spPr>
          <a:xfrm>
            <a:off x="0" y="4953000"/>
            <a:ext cx="12192000" cy="1905000"/>
          </a:xfrm>
          <a:prstGeom prst="rect">
            <a:avLst/>
          </a:prstGeom>
          <a:gradFill>
            <a:gsLst>
              <a:gs pos="0">
                <a:srgbClr val="000000">
                  <a:alpha val="0"/>
                </a:srgbClr>
              </a:gs>
              <a:gs pos="100000">
                <a:srgbClr val="000000">
                  <a:alpha val="60000"/>
                </a:srgbClr>
              </a:gs>
            </a:gsLst>
            <a:lin ang="5400000" scaled="1"/>
          </a:gradFill>
          <a:ln>
            <a:noFill/>
          </a:ln>
        </p:spPr>
      </p:sp>
      <p:sp>
        <p:nvSpPr>
          <p:cNvPr id="6" name="Line 6"/>
          <p:cNvSpPr/>
          <p:nvPr/>
        </p:nvSpPr>
        <p:spPr>
          <a:xfrm>
            <a:off x="0" y="1143000"/>
            <a:ext cx="12192000" cy="9525"/>
          </a:xfrm>
          <a:custGeom>
            <a:avLst/>
            <a:gdLst/>
            <a:ahLst/>
            <a:cxnLst/>
            <a:rect l="l" t="t" r="r" b="b"/>
            <a:pathLst>
              <a:path w="12192000" h="9525">
                <a:moveTo>
                  <a:pt x="0" y="0"/>
                </a:moveTo>
                <a:lnTo>
                  <a:pt x="12192000" y="0"/>
                </a:lnTo>
              </a:path>
            </a:pathLst>
          </a:custGeom>
          <a:noFill/>
          <a:ln w="9525">
            <a:solidFill>
              <a:srgbClr val="2A3252">
                <a:alpha val="25000"/>
              </a:srgbClr>
            </a:solidFill>
          </a:ln>
        </p:spPr>
      </p:sp>
      <p:sp>
        <p:nvSpPr>
          <p:cNvPr id="7" name="Line 7"/>
          <p:cNvSpPr/>
          <p:nvPr/>
        </p:nvSpPr>
        <p:spPr>
          <a:xfrm>
            <a:off x="0" y="5715000"/>
            <a:ext cx="12192000" cy="9525"/>
          </a:xfrm>
          <a:custGeom>
            <a:avLst/>
            <a:gdLst/>
            <a:ahLst/>
            <a:cxnLst/>
            <a:rect l="l" t="t" r="r" b="b"/>
            <a:pathLst>
              <a:path w="12192000" h="9525">
                <a:moveTo>
                  <a:pt x="0" y="0"/>
                </a:moveTo>
                <a:lnTo>
                  <a:pt x="12192000" y="0"/>
                </a:lnTo>
              </a:path>
            </a:pathLst>
          </a:custGeom>
          <a:noFill/>
          <a:ln w="9525">
            <a:solidFill>
              <a:srgbClr val="2A3252">
                <a:alpha val="25000"/>
              </a:srgbClr>
            </a:solidFill>
          </a:ln>
        </p:spPr>
      </p:sp>
      <p:sp>
        <p:nvSpPr>
          <p:cNvPr id="8" name="TextBox 8"/>
          <p:cNvSpPr txBox="1"/>
          <p:nvPr/>
        </p:nvSpPr>
        <p:spPr>
          <a:xfrm>
            <a:off x="5649301" y="1371124"/>
            <a:ext cx="893397" cy="198120"/>
          </a:xfrm>
          <a:prstGeom prst="rect">
            <a:avLst/>
          </a:prstGeom>
          <a:noFill/>
          <a:ln>
            <a:noFill/>
          </a:ln>
        </p:spPr>
        <p:txBody>
          <a:bodyPr wrap="none" lIns="0" tIns="0" rIns="0" bIns="0" anchor="t" anchorCtr="0">
            <a:spAutoFit/>
          </a:bodyPr>
          <a:lstStyle/>
          <a:p>
            <a:pPr algn="ctr"/>
            <a:r>
              <a:rPr lang="en-US" sz="975" dirty="0">
                <a:solidFill>
                  <a:srgbClr val="A0A8BD"/>
                </a:solidFill>
                <a:latin typeface="Malgun Gothic"/>
                <a:ea typeface="Malgun Gothic"/>
                <a:cs typeface="Malgun Gothic"/>
              </a:rPr>
              <a:t>CHAPTER · 08</a:t>
            </a:r>
          </a:p>
        </p:txBody>
      </p:sp>
      <p:sp>
        <p:nvSpPr>
          <p:cNvPr id="9" name="TextBox 9"/>
          <p:cNvSpPr txBox="1"/>
          <p:nvPr/>
        </p:nvSpPr>
        <p:spPr>
          <a:xfrm>
            <a:off x="1733550" y="1781175"/>
            <a:ext cx="1427321" cy="2743200"/>
          </a:xfrm>
          <a:prstGeom prst="rect">
            <a:avLst/>
          </a:prstGeom>
          <a:noFill/>
          <a:ln>
            <a:noFill/>
          </a:ln>
        </p:spPr>
        <p:txBody>
          <a:bodyPr wrap="none" lIns="0" tIns="0" rIns="0" bIns="0" anchor="t" anchorCtr="0">
            <a:spAutoFit/>
          </a:bodyPr>
          <a:lstStyle/>
          <a:p>
            <a:pPr algn="l"/>
            <a:r>
              <a:rPr lang="en-US" sz="13500" dirty="0">
                <a:solidFill>
                  <a:srgbClr val="E63946">
                    <a:alphaMod val="35000"/>
                  </a:srgbClr>
                </a:solidFill>
                <a:latin typeface="Times New Roman"/>
                <a:ea typeface="Nanum Myeongjo"/>
                <a:cs typeface="Times New Roman"/>
              </a:rPr>
              <a:t>“</a:t>
            </a:r>
          </a:p>
        </p:txBody>
      </p:sp>
      <p:sp>
        <p:nvSpPr>
          <p:cNvPr id="10" name="TextBox 10"/>
          <p:cNvSpPr txBox="1"/>
          <p:nvPr/>
        </p:nvSpPr>
        <p:spPr>
          <a:xfrm>
            <a:off x="3987641" y="3200400"/>
            <a:ext cx="4216718" cy="609600"/>
          </a:xfrm>
          <a:prstGeom prst="rect">
            <a:avLst/>
          </a:prstGeom>
          <a:noFill/>
          <a:ln>
            <a:noFill/>
          </a:ln>
        </p:spPr>
        <p:txBody>
          <a:bodyPr wrap="none" lIns="0" tIns="0" rIns="0" bIns="0" anchor="t" anchorCtr="0">
            <a:spAutoFit/>
          </a:bodyPr>
          <a:lstStyle/>
          <a:p>
            <a:pPr algn="ctr"/>
            <a:r>
              <a:rPr lang="ko-KR" sz="3000" dirty="0">
                <a:solidFill>
                  <a:srgbClr val="F5F7FA"/>
                </a:solidFill>
                <a:latin typeface="Times New Roman"/>
                <a:ea typeface="Nanum Myeongjo"/>
                <a:cs typeface="Times New Roman"/>
              </a:rPr>
              <a:t>미래는 이미 와 있다.</a:t>
            </a:r>
          </a:p>
        </p:txBody>
      </p:sp>
      <p:sp>
        <p:nvSpPr>
          <p:cNvPr id="11" name="TextBox 11"/>
          <p:cNvSpPr txBox="1"/>
          <p:nvPr/>
        </p:nvSpPr>
        <p:spPr>
          <a:xfrm>
            <a:off x="2388394" y="3771900"/>
            <a:ext cx="7415212" cy="609600"/>
          </a:xfrm>
          <a:prstGeom prst="rect">
            <a:avLst/>
          </a:prstGeom>
          <a:noFill/>
          <a:ln>
            <a:noFill/>
          </a:ln>
        </p:spPr>
        <p:txBody>
          <a:bodyPr wrap="none" lIns="0" tIns="0" rIns="0" bIns="0" anchor="t" anchorCtr="0">
            <a:spAutoFit/>
          </a:bodyPr>
          <a:lstStyle/>
          <a:p>
            <a:pPr algn="ctr"/>
            <a:r>
              <a:rPr lang="ko-KR" sz="3000" dirty="0">
                <a:solidFill>
                  <a:srgbClr val="F5F7FA"/>
                </a:solidFill>
                <a:latin typeface="Times New Roman"/>
                <a:ea typeface="Nanum Myeongjo"/>
                <a:cs typeface="Times New Roman"/>
              </a:rPr>
              <a:t>단지 고르게 분포되지 않았을 뿐이다.</a:t>
            </a:r>
          </a:p>
        </p:txBody>
      </p:sp>
      <p:sp>
        <p:nvSpPr>
          <p:cNvPr id="12" name="TextBox 12"/>
          <p:cNvSpPr txBox="1"/>
          <p:nvPr/>
        </p:nvSpPr>
        <p:spPr>
          <a:xfrm>
            <a:off x="10115550" y="3209925"/>
            <a:ext cx="1427321" cy="2743200"/>
          </a:xfrm>
          <a:prstGeom prst="rect">
            <a:avLst/>
          </a:prstGeom>
          <a:noFill/>
          <a:ln>
            <a:noFill/>
          </a:ln>
        </p:spPr>
        <p:txBody>
          <a:bodyPr wrap="none" lIns="0" tIns="0" rIns="0" bIns="0" anchor="t" anchorCtr="0">
            <a:spAutoFit/>
          </a:bodyPr>
          <a:lstStyle/>
          <a:p>
            <a:pPr algn="l"/>
            <a:r>
              <a:rPr lang="en-US" sz="13500" dirty="0">
                <a:solidFill>
                  <a:srgbClr val="E63946">
                    <a:alphaMod val="35000"/>
                  </a:srgbClr>
                </a:solidFill>
                <a:latin typeface="Times New Roman"/>
                <a:ea typeface="Nanum Myeongjo"/>
                <a:cs typeface="Times New Roman"/>
              </a:rPr>
              <a:t>”</a:t>
            </a:r>
          </a:p>
        </p:txBody>
      </p:sp>
      <p:sp>
        <p:nvSpPr>
          <p:cNvPr id="13" name="Rectangle 13"/>
          <p:cNvSpPr/>
          <p:nvPr/>
        </p:nvSpPr>
        <p:spPr>
          <a:xfrm>
            <a:off x="5143500" y="4762500"/>
            <a:ext cx="1905000" cy="19050"/>
          </a:xfrm>
          <a:prstGeom prst="rect">
            <a:avLst/>
          </a:prstGeom>
          <a:gradFill>
            <a:gsLst>
              <a:gs pos="0">
                <a:srgbClr val="00D9FF">
                  <a:alpha val="0"/>
                </a:srgbClr>
              </a:gs>
              <a:gs pos="50000">
                <a:srgbClr val="00D9FF"/>
              </a:gs>
              <a:gs pos="100000">
                <a:srgbClr val="00D9FF">
                  <a:alpha val="0"/>
                </a:srgbClr>
              </a:gs>
            </a:gsLst>
            <a:lin ang="0" scaled="1"/>
          </a:gradFill>
          <a:ln>
            <a:noFill/>
          </a:ln>
        </p:spPr>
      </p:sp>
      <p:sp>
        <p:nvSpPr>
          <p:cNvPr id="14" name="TextBox 14"/>
          <p:cNvSpPr txBox="1"/>
          <p:nvPr/>
        </p:nvSpPr>
        <p:spPr>
          <a:xfrm>
            <a:off x="4683895" y="4997768"/>
            <a:ext cx="2824210" cy="274320"/>
          </a:xfrm>
          <a:prstGeom prst="rect">
            <a:avLst/>
          </a:prstGeom>
          <a:noFill/>
          <a:ln>
            <a:noFill/>
          </a:ln>
        </p:spPr>
        <p:txBody>
          <a:bodyPr wrap="none" lIns="0" tIns="0" rIns="0" bIns="0" anchor="t" anchorCtr="0">
            <a:spAutoFit/>
          </a:bodyPr>
          <a:lstStyle/>
          <a:p>
            <a:pPr algn="ctr"/>
            <a:r>
              <a:rPr lang="ko-KR" sz="1350" dirty="0">
                <a:solidFill>
                  <a:srgbClr val="A0A8BD"/>
                </a:solidFill>
                <a:latin typeface="Malgun Gothic"/>
                <a:ea typeface="Malgun Gothic"/>
                <a:cs typeface="Malgun Gothic"/>
              </a:rPr>
              <a:t>— 윌리엄 깁슨 (William Gibson)</a:t>
            </a:r>
          </a:p>
        </p:txBody>
      </p:sp>
      <p:sp>
        <p:nvSpPr>
          <p:cNvPr id="15" name="TextBox 15"/>
          <p:cNvSpPr txBox="1"/>
          <p:nvPr/>
        </p:nvSpPr>
        <p:spPr>
          <a:xfrm>
            <a:off x="11392090" y="6475095"/>
            <a:ext cx="430340"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08 / 10</a:t>
            </a:r>
          </a:p>
        </p:txBody>
      </p:sp>
      <p:sp>
        <p:nvSpPr>
          <p:cNvPr id="16" name="TextBox 16"/>
          <p:cNvSpPr txBox="1"/>
          <p:nvPr/>
        </p:nvSpPr>
        <p:spPr>
          <a:xfrm>
            <a:off x="369570" y="6475095"/>
            <a:ext cx="1547622"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개발자의 종말 — AI의 시대</a:t>
            </a:r>
          </a:p>
        </p:txBody>
      </p:sp>
    </p:spTree>
  </p:cSld>
  <p:clrMapOvr>
    <a:masterClrMapping/>
  </p:clrMapOvr>
  <p:transition xmlns:p14="http://schemas.microsoft.com/office/powerpoint/2010/main" p14:dur="5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100000">
                <a:srgbClr val="141A2E"/>
              </a:gs>
            </a:gsLst>
            <a:lin ang="5400000" scaled="1"/>
          </a:gradFill>
          <a:ln>
            <a:noFill/>
          </a:ln>
        </p:spPr>
      </p:sp>
      <p:sp>
        <p:nvSpPr>
          <p:cNvPr id="3" name="TextBox 3"/>
          <p:cNvSpPr txBox="1"/>
          <p:nvPr/>
        </p:nvSpPr>
        <p:spPr>
          <a:xfrm>
            <a:off x="750570" y="493395"/>
            <a:ext cx="1619917" cy="182880"/>
          </a:xfrm>
          <a:prstGeom prst="rect">
            <a:avLst/>
          </a:prstGeom>
          <a:noFill/>
          <a:ln>
            <a:noFill/>
          </a:ln>
        </p:spPr>
        <p:txBody>
          <a:bodyPr wrap="none" lIns="0" tIns="0" rIns="0" bIns="0" anchor="t" anchorCtr="0">
            <a:spAutoFit/>
          </a:bodyPr>
          <a:lstStyle/>
          <a:p>
            <a:pPr algn="l"/>
            <a:r>
              <a:rPr lang="en-US" sz="900" dirty="0">
                <a:solidFill>
                  <a:srgbClr val="A0A8BD"/>
                </a:solidFill>
                <a:latin typeface="Malgun Gothic"/>
                <a:ea typeface="Malgun Gothic"/>
                <a:cs typeface="Malgun Gothic"/>
              </a:rPr>
              <a:t>CHAPTER 04 — ACTION PLAN</a:t>
            </a:r>
          </a:p>
        </p:txBody>
      </p:sp>
      <p:sp>
        <p:nvSpPr>
          <p:cNvPr id="4" name="Line 4"/>
          <p:cNvSpPr/>
          <p:nvPr/>
        </p:nvSpPr>
        <p:spPr>
          <a:xfrm>
            <a:off x="762000" y="742950"/>
            <a:ext cx="762000" cy="9525"/>
          </a:xfrm>
          <a:custGeom>
            <a:avLst/>
            <a:gdLst/>
            <a:ahLst/>
            <a:cxnLst/>
            <a:rect l="l" t="t" r="r" b="b"/>
            <a:pathLst>
              <a:path w="762000" h="9525">
                <a:moveTo>
                  <a:pt x="0" y="0"/>
                </a:moveTo>
                <a:lnTo>
                  <a:pt x="762000" y="0"/>
                </a:lnTo>
              </a:path>
            </a:pathLst>
          </a:custGeom>
          <a:noFill/>
          <a:ln w="19050">
            <a:solidFill>
              <a:srgbClr val="E63946"/>
            </a:solidFill>
          </a:ln>
        </p:spPr>
      </p:sp>
      <p:sp>
        <p:nvSpPr>
          <p:cNvPr id="5" name="TextBox 5"/>
          <p:cNvSpPr txBox="1"/>
          <p:nvPr/>
        </p:nvSpPr>
        <p:spPr>
          <a:xfrm>
            <a:off x="720090" y="958215"/>
            <a:ext cx="4739602" cy="670560"/>
          </a:xfrm>
          <a:prstGeom prst="rect">
            <a:avLst/>
          </a:prstGeom>
          <a:noFill/>
          <a:ln>
            <a:noFill/>
          </a:ln>
        </p:spPr>
        <p:txBody>
          <a:bodyPr wrap="none" lIns="0" tIns="0" rIns="0" bIns="0" anchor="t" anchorCtr="0">
            <a:spAutoFit/>
          </a:bodyPr>
          <a:lstStyle/>
          <a:p>
            <a:pPr algn="l"/>
            <a:r>
              <a:rPr lang="ko-KR" sz="3300" b="1" dirty="0">
                <a:solidFill>
                  <a:srgbClr val="F5F7FA"/>
                </a:solidFill>
                <a:latin typeface="Malgun Gothic"/>
                <a:ea typeface="Malgun Gothic"/>
                <a:cs typeface="Malgun Gothic"/>
              </a:rPr>
              <a:t>지금 당장 할 세 가지</a:t>
            </a:r>
          </a:p>
        </p:txBody>
      </p:sp>
      <p:sp>
        <p:nvSpPr>
          <p:cNvPr id="6" name="TextBox 6"/>
          <p:cNvSpPr txBox="1"/>
          <p:nvPr/>
        </p:nvSpPr>
        <p:spPr>
          <a:xfrm>
            <a:off x="742950" y="1533525"/>
            <a:ext cx="4353878" cy="304800"/>
          </a:xfrm>
          <a:prstGeom prst="rect">
            <a:avLst/>
          </a:prstGeom>
          <a:noFill/>
          <a:ln>
            <a:noFill/>
          </a:ln>
        </p:spPr>
        <p:txBody>
          <a:bodyPr wrap="none" lIns="0" tIns="0" rIns="0" bIns="0" anchor="t" anchorCtr="0">
            <a:spAutoFit/>
          </a:bodyPr>
          <a:lstStyle/>
          <a:p>
            <a:pPr algn="l"/>
            <a:r>
              <a:rPr lang="ko-KR" sz="1500" dirty="0">
                <a:solidFill>
                  <a:srgbClr val="A0A8BD"/>
                </a:solidFill>
                <a:latin typeface="Malgun Gothic"/>
                <a:ea typeface="Malgun Gothic"/>
                <a:cs typeface="Malgun Gothic"/>
              </a:rPr>
              <a:t>다음 30일 안에 시작하세요. 미루지 마세요.</a:t>
            </a:r>
          </a:p>
        </p:txBody>
      </p:sp>
      <p:grpSp>
        <p:nvGrpSpPr>
          <p:cNvPr id="22" name="Group 22"/>
          <p:cNvGrpSpPr/>
          <p:nvPr/>
        </p:nvGrpSpPr>
        <p:grpSpPr>
          <a:xfrm>
            <a:off x="762000" y="2190750"/>
            <a:ext cx="3429000" cy="3905250"/>
            <a:chOff x="762000" y="2190750"/>
            <a:chExt cx="3429000" cy="3905250"/>
          </a:xfrm>
        </p:grpSpPr>
        <p:sp>
          <p:nvSpPr>
            <p:cNvPr id="7" name="Rectangle 7"/>
            <p:cNvSpPr/>
            <p:nvPr/>
          </p:nvSpPr>
          <p:spPr>
            <a:xfrm>
              <a:off x="762000" y="2190750"/>
              <a:ext cx="3429000" cy="3905250"/>
            </a:xfrm>
            <a:prstGeom prst="roundRect">
              <a:avLst>
                <a:gd name="adj" fmla="val 4444"/>
              </a:avLst>
            </a:prstGeom>
            <a:gradFill>
              <a:gsLst>
                <a:gs pos="0">
                  <a:srgbClr val="1E2540"/>
                </a:gs>
                <a:gs pos="100000">
                  <a:srgbClr val="141A2E"/>
                </a:gs>
              </a:gsLst>
              <a:lin ang="5400000" scaled="1"/>
            </a:gradFill>
            <a:ln w="9525">
              <a:solidFill>
                <a:srgbClr val="2A3252"/>
              </a:solidFill>
            </a:ln>
          </p:spPr>
        </p:sp>
        <p:sp>
          <p:nvSpPr>
            <p:cNvPr id="8" name="Rectangle 8"/>
            <p:cNvSpPr/>
            <p:nvPr/>
          </p:nvSpPr>
          <p:spPr>
            <a:xfrm>
              <a:off x="762000" y="2190750"/>
              <a:ext cx="3429000" cy="38100"/>
            </a:xfrm>
            <a:prstGeom prst="roundRect">
              <a:avLst>
                <a:gd name="adj" fmla="val 50000"/>
              </a:avLst>
            </a:prstGeom>
            <a:solidFill>
              <a:srgbClr val="00D9FF"/>
            </a:solidFill>
            <a:ln>
              <a:noFill/>
            </a:ln>
          </p:spPr>
        </p:sp>
        <p:sp>
          <p:nvSpPr>
            <p:cNvPr id="9" name="TextBox 9"/>
            <p:cNvSpPr txBox="1"/>
            <p:nvPr/>
          </p:nvSpPr>
          <p:spPr>
            <a:xfrm>
              <a:off x="994410" y="2308860"/>
              <a:ext cx="654148" cy="853440"/>
            </a:xfrm>
            <a:prstGeom prst="rect">
              <a:avLst/>
            </a:prstGeom>
            <a:noFill/>
            <a:ln>
              <a:noFill/>
            </a:ln>
          </p:spPr>
          <p:txBody>
            <a:bodyPr wrap="none" lIns="0" tIns="0" rIns="0" bIns="0" anchor="t" anchorCtr="0">
              <a:spAutoFit/>
            </a:bodyPr>
            <a:lstStyle/>
            <a:p>
              <a:pPr algn="l"/>
              <a:r>
                <a:rPr lang="en-US" sz="4200" b="1" dirty="0">
                  <a:solidFill>
                    <a:srgbClr val="00D9FF">
                      <a:alphaMod val="25000"/>
                    </a:srgbClr>
                  </a:solidFill>
                  <a:latin typeface="Malgun Gothic"/>
                  <a:ea typeface="Malgun Gothic"/>
                  <a:cs typeface="Malgun Gothic"/>
                </a:rPr>
                <a:t>01</a:t>
              </a:r>
            </a:p>
          </p:txBody>
        </p:sp>
        <p:sp>
          <p:nvSpPr>
            <p:cNvPr id="10" name="Ellipse 10"/>
            <p:cNvSpPr/>
            <p:nvPr/>
          </p:nvSpPr>
          <p:spPr>
            <a:xfrm>
              <a:off x="3219450" y="2343150"/>
              <a:ext cx="609600" cy="609600"/>
            </a:xfrm>
            <a:prstGeom prst="ellipse">
              <a:avLst/>
            </a:prstGeom>
            <a:solidFill>
              <a:srgbClr val="00D9FF">
                <a:alpha val="12000"/>
              </a:srgbClr>
            </a:solidFill>
            <a:ln>
              <a:noFill/>
            </a:ln>
          </p:spPr>
        </p:sp>
        <p:sp>
          <p:nvSpPr>
            <p:cNvPr id="11" name="TextBox 11"/>
            <p:cNvSpPr txBox="1"/>
            <p:nvPr/>
          </p:nvSpPr>
          <p:spPr>
            <a:xfrm>
              <a:off x="1024890" y="3139440"/>
              <a:ext cx="2419617"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도구를 손에 익혀라</a:t>
              </a:r>
            </a:p>
          </p:txBody>
        </p:sp>
        <p:sp>
          <p:nvSpPr>
            <p:cNvPr id="12" name="Line 12"/>
            <p:cNvSpPr/>
            <p:nvPr/>
          </p:nvSpPr>
          <p:spPr>
            <a:xfrm>
              <a:off x="1047750" y="3543300"/>
              <a:ext cx="476250" cy="9525"/>
            </a:xfrm>
            <a:custGeom>
              <a:avLst/>
              <a:gdLst/>
              <a:ahLst/>
              <a:cxnLst/>
              <a:rect l="l" t="t" r="r" b="b"/>
              <a:pathLst>
                <a:path w="476250" h="9525">
                  <a:moveTo>
                    <a:pt x="0" y="0"/>
                  </a:moveTo>
                  <a:lnTo>
                    <a:pt x="476250" y="0"/>
                  </a:lnTo>
                </a:path>
              </a:pathLst>
            </a:custGeom>
            <a:noFill/>
            <a:ln w="19050">
              <a:solidFill>
                <a:srgbClr val="00D9FF"/>
              </a:solidFill>
            </a:ln>
          </p:spPr>
        </p:sp>
        <p:sp>
          <p:nvSpPr>
            <p:cNvPr id="13" name="Ellipse 13"/>
            <p:cNvSpPr/>
            <p:nvPr/>
          </p:nvSpPr>
          <p:spPr>
            <a:xfrm>
              <a:off x="1095375" y="3933825"/>
              <a:ext cx="57150" cy="57150"/>
            </a:xfrm>
            <a:prstGeom prst="ellipse">
              <a:avLst/>
            </a:prstGeom>
            <a:solidFill>
              <a:srgbClr val="00D9FF"/>
            </a:solidFill>
            <a:ln>
              <a:noFill/>
            </a:ln>
          </p:spPr>
        </p:sp>
        <p:sp>
          <p:nvSpPr>
            <p:cNvPr id="14" name="TextBox 14"/>
            <p:cNvSpPr txBox="1"/>
            <p:nvPr/>
          </p:nvSpPr>
          <p:spPr>
            <a:xfrm>
              <a:off x="1242060" y="3794760"/>
              <a:ext cx="2698814" cy="243840"/>
            </a:xfrm>
            <a:prstGeom prst="rect">
              <a:avLst/>
            </a:prstGeom>
            <a:noFill/>
            <a:ln>
              <a:noFill/>
            </a:ln>
          </p:spPr>
          <p:txBody>
            <a:bodyPr wrap="none" lIns="0" tIns="0" rIns="0" bIns="0" anchor="t" anchorCtr="0">
              <a:spAutoFit/>
            </a:bodyPr>
            <a:lstStyle/>
            <a:p>
              <a:pPr algn="l"/>
              <a:r>
                <a:rPr lang="en-US" sz="1200" b="1" dirty="0">
                  <a:solidFill>
                    <a:srgbClr val="F5F7FA"/>
                  </a:solidFill>
                  <a:latin typeface="Malgun Gothic"/>
                  <a:ea typeface="Malgun Gothic"/>
                  <a:cs typeface="Malgun Gothic"/>
                </a:rPr>
                <a:t>Copilot · Cursor · Claude Code</a:t>
              </a:r>
            </a:p>
          </p:txBody>
        </p:sp>
        <p:sp>
          <p:nvSpPr>
            <p:cNvPr id="15" name="TextBox 15"/>
            <p:cNvSpPr txBox="1"/>
            <p:nvPr/>
          </p:nvSpPr>
          <p:spPr>
            <a:xfrm>
              <a:off x="1243965" y="4039552"/>
              <a:ext cx="1897570" cy="213360"/>
            </a:xfrm>
            <a:prstGeom prst="rect">
              <a:avLst/>
            </a:prstGeom>
            <a:noFill/>
            <a:ln>
              <a:noFill/>
            </a:ln>
          </p:spPr>
          <p:txBody>
            <a:bodyPr wrap="none" lIns="0" tIns="0" rIns="0" bIns="0" anchor="t" anchorCtr="0">
              <a:spAutoFit/>
            </a:bodyPr>
            <a:lstStyle/>
            <a:p>
              <a:pPr algn="l"/>
              <a:r>
                <a:rPr lang="ko-KR" sz="1050" dirty="0">
                  <a:solidFill>
                    <a:srgbClr val="A0A8BD"/>
                  </a:solidFill>
                  <a:latin typeface="Malgun Gothic"/>
                  <a:ea typeface="Malgun Gothic"/>
                  <a:cs typeface="Malgun Gothic"/>
                </a:rPr>
                <a:t>세 가지를 매일 번갈아 사용</a:t>
              </a:r>
            </a:p>
          </p:txBody>
        </p:sp>
        <p:sp>
          <p:nvSpPr>
            <p:cNvPr id="16" name="Line 16"/>
            <p:cNvSpPr/>
            <p:nvPr/>
          </p:nvSpPr>
          <p:spPr>
            <a:xfrm>
              <a:off x="1047750" y="4552950"/>
              <a:ext cx="2857500" cy="9525"/>
            </a:xfrm>
            <a:custGeom>
              <a:avLst/>
              <a:gdLst/>
              <a:ahLst/>
              <a:cxnLst/>
              <a:rect l="l" t="t" r="r" b="b"/>
              <a:pathLst>
                <a:path w="2857500" h="9525">
                  <a:moveTo>
                    <a:pt x="0" y="0"/>
                  </a:moveTo>
                  <a:lnTo>
                    <a:pt x="2857500" y="0"/>
                  </a:lnTo>
                </a:path>
              </a:pathLst>
            </a:custGeom>
            <a:noFill/>
            <a:ln w="9525">
              <a:solidFill>
                <a:srgbClr val="2A3252"/>
              </a:solidFill>
            </a:ln>
          </p:spPr>
        </p:sp>
        <p:sp>
          <p:nvSpPr>
            <p:cNvPr id="17" name="Rectangle 17"/>
            <p:cNvSpPr/>
            <p:nvPr/>
          </p:nvSpPr>
          <p:spPr>
            <a:xfrm>
              <a:off x="1047750" y="4743450"/>
              <a:ext cx="2857500" cy="1104900"/>
            </a:xfrm>
            <a:prstGeom prst="roundRect">
              <a:avLst>
                <a:gd name="adj" fmla="val 8621"/>
              </a:avLst>
            </a:prstGeom>
            <a:solidFill>
              <a:srgbClr val="0A0E1A"/>
            </a:solidFill>
            <a:ln w="9525">
              <a:solidFill>
                <a:srgbClr val="00D9FF"/>
              </a:solidFill>
              <a:custDash>
                <a:ds d="400000" sp="300000"/>
              </a:custDash>
            </a:ln>
          </p:spPr>
        </p:sp>
        <p:sp>
          <p:nvSpPr>
            <p:cNvPr id="18" name="TextBox 18"/>
            <p:cNvSpPr txBox="1"/>
            <p:nvPr/>
          </p:nvSpPr>
          <p:spPr>
            <a:xfrm>
              <a:off x="1189672" y="4902041"/>
              <a:ext cx="1102665" cy="167640"/>
            </a:xfrm>
            <a:prstGeom prst="rect">
              <a:avLst/>
            </a:prstGeom>
            <a:noFill/>
            <a:ln>
              <a:noFill/>
            </a:ln>
          </p:spPr>
          <p:txBody>
            <a:bodyPr wrap="none" lIns="0" tIns="0" rIns="0" bIns="0" anchor="t" anchorCtr="0">
              <a:spAutoFit/>
            </a:bodyPr>
            <a:lstStyle/>
            <a:p>
              <a:pPr algn="l"/>
              <a:r>
                <a:rPr lang="en-US" sz="900" b="1" dirty="0">
                  <a:solidFill>
                    <a:srgbClr val="00D9FF"/>
                  </a:solidFill>
                  <a:latin typeface="Malgun Gothic"/>
                  <a:ea typeface="Malgun Gothic"/>
                  <a:cs typeface="Malgun Gothic"/>
                </a:rPr>
                <a:t>30-DAY CHALLENGE</a:t>
              </a:r>
            </a:p>
          </p:txBody>
        </p:sp>
        <p:sp>
          <p:nvSpPr>
            <p:cNvPr id="19" name="TextBox 19"/>
            <p:cNvSpPr txBox="1"/>
            <p:nvPr/>
          </p:nvSpPr>
          <p:spPr>
            <a:xfrm>
              <a:off x="1183005" y="5150168"/>
              <a:ext cx="1607687"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모든 코딩 작업에</a:t>
              </a:r>
            </a:p>
          </p:txBody>
        </p:sp>
        <p:sp>
          <p:nvSpPr>
            <p:cNvPr id="20" name="TextBox 20"/>
            <p:cNvSpPr txBox="1"/>
            <p:nvPr/>
          </p:nvSpPr>
          <p:spPr>
            <a:xfrm>
              <a:off x="1183005" y="5397818"/>
              <a:ext cx="1514525"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AI를 동반시킨다</a:t>
              </a:r>
            </a:p>
          </p:txBody>
        </p:sp>
        <p:sp>
          <p:nvSpPr>
            <p:cNvPr id="21" name="TextBox 21"/>
            <p:cNvSpPr txBox="1"/>
            <p:nvPr/>
          </p:nvSpPr>
          <p:spPr>
            <a:xfrm>
              <a:off x="1188720" y="5636895"/>
              <a:ext cx="1396460"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예외 없이, 한 줄이라도</a:t>
              </a:r>
            </a:p>
          </p:txBody>
        </p:sp>
      </p:grpSp>
      <p:grpSp>
        <p:nvGrpSpPr>
          <p:cNvPr id="38" name="Group 38"/>
          <p:cNvGrpSpPr/>
          <p:nvPr/>
        </p:nvGrpSpPr>
        <p:grpSpPr>
          <a:xfrm>
            <a:off x="4381500" y="2190750"/>
            <a:ext cx="3429000" cy="3905250"/>
            <a:chOff x="4381500" y="2190750"/>
            <a:chExt cx="3429000" cy="3905250"/>
          </a:xfrm>
        </p:grpSpPr>
        <p:sp>
          <p:nvSpPr>
            <p:cNvPr id="23" name="Rectangle 23"/>
            <p:cNvSpPr/>
            <p:nvPr/>
          </p:nvSpPr>
          <p:spPr>
            <a:xfrm>
              <a:off x="4381500" y="2190750"/>
              <a:ext cx="3429000" cy="3905250"/>
            </a:xfrm>
            <a:prstGeom prst="roundRect">
              <a:avLst>
                <a:gd name="adj" fmla="val 4444"/>
              </a:avLst>
            </a:prstGeom>
            <a:gradFill>
              <a:gsLst>
                <a:gs pos="0">
                  <a:srgbClr val="1E2540"/>
                </a:gs>
                <a:gs pos="100000">
                  <a:srgbClr val="141A2E"/>
                </a:gs>
              </a:gsLst>
              <a:lin ang="5400000" scaled="1"/>
            </a:gradFill>
            <a:ln w="9525">
              <a:solidFill>
                <a:srgbClr val="2A3252"/>
              </a:solidFill>
            </a:ln>
          </p:spPr>
        </p:sp>
        <p:sp>
          <p:nvSpPr>
            <p:cNvPr id="24" name="Rectangle 24"/>
            <p:cNvSpPr/>
            <p:nvPr/>
          </p:nvSpPr>
          <p:spPr>
            <a:xfrm>
              <a:off x="4381500" y="2190750"/>
              <a:ext cx="3429000" cy="38100"/>
            </a:xfrm>
            <a:prstGeom prst="roundRect">
              <a:avLst>
                <a:gd name="adj" fmla="val 50000"/>
              </a:avLst>
            </a:prstGeom>
            <a:solidFill>
              <a:srgbClr val="FFB627"/>
            </a:solidFill>
            <a:ln>
              <a:noFill/>
            </a:ln>
          </p:spPr>
        </p:sp>
        <p:sp>
          <p:nvSpPr>
            <p:cNvPr id="25" name="TextBox 25"/>
            <p:cNvSpPr txBox="1"/>
            <p:nvPr/>
          </p:nvSpPr>
          <p:spPr>
            <a:xfrm>
              <a:off x="4613910" y="2308860"/>
              <a:ext cx="815169" cy="853440"/>
            </a:xfrm>
            <a:prstGeom prst="rect">
              <a:avLst/>
            </a:prstGeom>
            <a:noFill/>
            <a:ln>
              <a:noFill/>
            </a:ln>
          </p:spPr>
          <p:txBody>
            <a:bodyPr wrap="none" lIns="0" tIns="0" rIns="0" bIns="0" anchor="t" anchorCtr="0">
              <a:spAutoFit/>
            </a:bodyPr>
            <a:lstStyle/>
            <a:p>
              <a:pPr algn="l"/>
              <a:r>
                <a:rPr lang="en-US" sz="4200" b="1" dirty="0">
                  <a:solidFill>
                    <a:srgbClr val="FFB627">
                      <a:alphaMod val="25000"/>
                    </a:srgbClr>
                  </a:solidFill>
                  <a:latin typeface="Malgun Gothic"/>
                  <a:ea typeface="Malgun Gothic"/>
                  <a:cs typeface="Malgun Gothic"/>
                </a:rPr>
                <a:t>02</a:t>
              </a:r>
            </a:p>
          </p:txBody>
        </p:sp>
        <p:sp>
          <p:nvSpPr>
            <p:cNvPr id="26" name="Ellipse 26"/>
            <p:cNvSpPr/>
            <p:nvPr/>
          </p:nvSpPr>
          <p:spPr>
            <a:xfrm>
              <a:off x="6838950" y="2343150"/>
              <a:ext cx="609600" cy="609600"/>
            </a:xfrm>
            <a:prstGeom prst="ellipse">
              <a:avLst/>
            </a:prstGeom>
            <a:solidFill>
              <a:srgbClr val="FFB627">
                <a:alpha val="12000"/>
              </a:srgbClr>
            </a:solidFill>
            <a:ln>
              <a:noFill/>
            </a:ln>
          </p:spPr>
        </p:sp>
        <p:sp>
          <p:nvSpPr>
            <p:cNvPr id="27" name="TextBox 27"/>
            <p:cNvSpPr txBox="1"/>
            <p:nvPr/>
          </p:nvSpPr>
          <p:spPr>
            <a:xfrm>
              <a:off x="4644390" y="3139440"/>
              <a:ext cx="2888875"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컨텍스트 엔지니어링을</a:t>
              </a:r>
            </a:p>
          </p:txBody>
        </p:sp>
        <p:sp>
          <p:nvSpPr>
            <p:cNvPr id="28" name="TextBox 28"/>
            <p:cNvSpPr txBox="1"/>
            <p:nvPr/>
          </p:nvSpPr>
          <p:spPr>
            <a:xfrm>
              <a:off x="4644390" y="3406140"/>
              <a:ext cx="873824"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배워라</a:t>
              </a:r>
            </a:p>
          </p:txBody>
        </p:sp>
        <p:sp>
          <p:nvSpPr>
            <p:cNvPr id="29" name="Line 29"/>
            <p:cNvSpPr/>
            <p:nvPr/>
          </p:nvSpPr>
          <p:spPr>
            <a:xfrm>
              <a:off x="4667250" y="3810000"/>
              <a:ext cx="476250" cy="9525"/>
            </a:xfrm>
            <a:custGeom>
              <a:avLst/>
              <a:gdLst/>
              <a:ahLst/>
              <a:cxnLst/>
              <a:rect l="l" t="t" r="r" b="b"/>
              <a:pathLst>
                <a:path w="476250" h="9525">
                  <a:moveTo>
                    <a:pt x="0" y="0"/>
                  </a:moveTo>
                  <a:lnTo>
                    <a:pt x="476250" y="0"/>
                  </a:lnTo>
                </a:path>
              </a:pathLst>
            </a:custGeom>
            <a:noFill/>
            <a:ln w="19050">
              <a:solidFill>
                <a:srgbClr val="FFB627"/>
              </a:solidFill>
            </a:ln>
          </p:spPr>
        </p:sp>
        <p:sp>
          <p:nvSpPr>
            <p:cNvPr id="30" name="Ellipse 30"/>
            <p:cNvSpPr/>
            <p:nvPr/>
          </p:nvSpPr>
          <p:spPr>
            <a:xfrm>
              <a:off x="4714875" y="4143375"/>
              <a:ext cx="57150" cy="57150"/>
            </a:xfrm>
            <a:prstGeom prst="ellipse">
              <a:avLst/>
            </a:prstGeom>
            <a:solidFill>
              <a:srgbClr val="FFB627"/>
            </a:solidFill>
            <a:ln>
              <a:noFill/>
            </a:ln>
          </p:spPr>
        </p:sp>
        <p:sp>
          <p:nvSpPr>
            <p:cNvPr id="31" name="TextBox 31"/>
            <p:cNvSpPr txBox="1"/>
            <p:nvPr/>
          </p:nvSpPr>
          <p:spPr>
            <a:xfrm>
              <a:off x="4861560" y="4004310"/>
              <a:ext cx="2165147" cy="243840"/>
            </a:xfrm>
            <a:prstGeom prst="rect">
              <a:avLst/>
            </a:prstGeom>
            <a:noFill/>
            <a:ln>
              <a:noFill/>
            </a:ln>
          </p:spPr>
          <p:txBody>
            <a:bodyPr wrap="none" lIns="0" tIns="0" rIns="0" bIns="0" anchor="t" anchorCtr="0">
              <a:spAutoFit/>
            </a:bodyPr>
            <a:lstStyle/>
            <a:p>
              <a:pPr algn="l"/>
              <a:r>
                <a:rPr lang="ko-KR" sz="1200" b="1" dirty="0">
                  <a:solidFill>
                    <a:srgbClr val="F5F7FA"/>
                  </a:solidFill>
                  <a:latin typeface="Malgun Gothic"/>
                  <a:ea typeface="Malgun Gothic"/>
                  <a:cs typeface="Malgun Gothic"/>
                </a:rPr>
                <a:t>프롬프트가 아니라 명세서</a:t>
              </a:r>
            </a:p>
          </p:txBody>
        </p:sp>
        <p:sp>
          <p:nvSpPr>
            <p:cNvPr id="32" name="TextBox 32"/>
            <p:cNvSpPr txBox="1"/>
            <p:nvPr/>
          </p:nvSpPr>
          <p:spPr>
            <a:xfrm>
              <a:off x="4863465" y="4249102"/>
              <a:ext cx="1958912" cy="213360"/>
            </a:xfrm>
            <a:prstGeom prst="rect">
              <a:avLst/>
            </a:prstGeom>
            <a:noFill/>
            <a:ln>
              <a:noFill/>
            </a:ln>
          </p:spPr>
          <p:txBody>
            <a:bodyPr wrap="none" lIns="0" tIns="0" rIns="0" bIns="0" anchor="t" anchorCtr="0">
              <a:spAutoFit/>
            </a:bodyPr>
            <a:lstStyle/>
            <a:p>
              <a:pPr algn="l"/>
              <a:r>
                <a:rPr lang="ko-KR" sz="1050" dirty="0">
                  <a:solidFill>
                    <a:srgbClr val="A0A8BD"/>
                  </a:solidFill>
                  <a:latin typeface="Malgun Gothic"/>
                  <a:ea typeface="Malgun Gothic"/>
                  <a:cs typeface="Malgun Gothic"/>
                </a:rPr>
                <a:t>요구사항을 문서로 정의한다</a:t>
              </a:r>
            </a:p>
          </p:txBody>
        </p:sp>
        <p:sp>
          <p:nvSpPr>
            <p:cNvPr id="33" name="Line 33"/>
            <p:cNvSpPr/>
            <p:nvPr/>
          </p:nvSpPr>
          <p:spPr>
            <a:xfrm>
              <a:off x="4667250" y="4648200"/>
              <a:ext cx="2857500" cy="9525"/>
            </a:xfrm>
            <a:custGeom>
              <a:avLst/>
              <a:gdLst/>
              <a:ahLst/>
              <a:cxnLst/>
              <a:rect l="l" t="t" r="r" b="b"/>
              <a:pathLst>
                <a:path w="2857500" h="9525">
                  <a:moveTo>
                    <a:pt x="0" y="0"/>
                  </a:moveTo>
                  <a:lnTo>
                    <a:pt x="2857500" y="0"/>
                  </a:lnTo>
                </a:path>
              </a:pathLst>
            </a:custGeom>
            <a:noFill/>
            <a:ln w="9525">
              <a:solidFill>
                <a:srgbClr val="2A3252"/>
              </a:solidFill>
            </a:ln>
          </p:spPr>
        </p:sp>
        <p:sp>
          <p:nvSpPr>
            <p:cNvPr id="34" name="Rectangle 34"/>
            <p:cNvSpPr/>
            <p:nvPr/>
          </p:nvSpPr>
          <p:spPr>
            <a:xfrm>
              <a:off x="4667250" y="4838700"/>
              <a:ext cx="2857500" cy="1009650"/>
            </a:xfrm>
            <a:prstGeom prst="roundRect">
              <a:avLst>
                <a:gd name="adj" fmla="val 9434"/>
              </a:avLst>
            </a:prstGeom>
            <a:solidFill>
              <a:srgbClr val="0A0E1A"/>
            </a:solidFill>
            <a:ln w="9525">
              <a:solidFill>
                <a:srgbClr val="FFB627"/>
              </a:solidFill>
              <a:custDash>
                <a:ds d="400000" sp="300000"/>
              </a:custDash>
            </a:ln>
          </p:spPr>
        </p:sp>
        <p:sp>
          <p:nvSpPr>
            <p:cNvPr id="35" name="TextBox 35"/>
            <p:cNvSpPr txBox="1"/>
            <p:nvPr/>
          </p:nvSpPr>
          <p:spPr>
            <a:xfrm>
              <a:off x="4809172" y="4997291"/>
              <a:ext cx="583950" cy="167640"/>
            </a:xfrm>
            <a:prstGeom prst="rect">
              <a:avLst/>
            </a:prstGeom>
            <a:noFill/>
            <a:ln>
              <a:noFill/>
            </a:ln>
          </p:spPr>
          <p:txBody>
            <a:bodyPr wrap="none" lIns="0" tIns="0" rIns="0" bIns="0" anchor="t" anchorCtr="0">
              <a:spAutoFit/>
            </a:bodyPr>
            <a:lstStyle/>
            <a:p>
              <a:pPr algn="l"/>
              <a:r>
                <a:rPr lang="en-US" sz="900" b="1" dirty="0">
                  <a:solidFill>
                    <a:srgbClr val="FFB627"/>
                  </a:solidFill>
                  <a:latin typeface="Malgun Gothic"/>
                  <a:ea typeface="Malgun Gothic"/>
                  <a:cs typeface="Malgun Gothic"/>
                </a:rPr>
                <a:t>KEY SKILL</a:t>
              </a:r>
            </a:p>
          </p:txBody>
        </p:sp>
        <p:sp>
          <p:nvSpPr>
            <p:cNvPr id="36" name="TextBox 36"/>
            <p:cNvSpPr txBox="1"/>
            <p:nvPr/>
          </p:nvSpPr>
          <p:spPr>
            <a:xfrm>
              <a:off x="4802505" y="5245418"/>
              <a:ext cx="1814713"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검증 가능한 출력을</a:t>
              </a:r>
            </a:p>
          </p:txBody>
        </p:sp>
        <p:sp>
          <p:nvSpPr>
            <p:cNvPr id="37" name="TextBox 37"/>
            <p:cNvSpPr txBox="1"/>
            <p:nvPr/>
          </p:nvSpPr>
          <p:spPr>
            <a:xfrm>
              <a:off x="4802505" y="5493068"/>
              <a:ext cx="1338553" cy="274320"/>
            </a:xfrm>
            <a:prstGeom prst="rect">
              <a:avLst/>
            </a:prstGeom>
            <a:noFill/>
            <a:ln>
              <a:noFill/>
            </a:ln>
          </p:spPr>
          <p:txBody>
            <a:bodyPr wrap="none" lIns="0" tIns="0" rIns="0" bIns="0" anchor="t" anchorCtr="0">
              <a:spAutoFit/>
            </a:bodyPr>
            <a:lstStyle/>
            <a:p>
              <a:pPr algn="l"/>
              <a:r>
                <a:rPr lang="ko-KR" sz="1350" b="1" dirty="0">
                  <a:solidFill>
                    <a:srgbClr val="F5F7FA"/>
                  </a:solidFill>
                  <a:latin typeface="Malgun Gothic"/>
                  <a:ea typeface="Malgun Gothic"/>
                  <a:cs typeface="Malgun Gothic"/>
                </a:rPr>
                <a:t>설계하는 능력</a:t>
              </a:r>
            </a:p>
          </p:txBody>
        </p:sp>
      </p:grpSp>
      <p:grpSp>
        <p:nvGrpSpPr>
          <p:cNvPr id="57" name="Group 57"/>
          <p:cNvGrpSpPr/>
          <p:nvPr/>
        </p:nvGrpSpPr>
        <p:grpSpPr>
          <a:xfrm>
            <a:off x="8001000" y="2190750"/>
            <a:ext cx="3429000" cy="3919538"/>
            <a:chOff x="8001000" y="2190750"/>
            <a:chExt cx="3429000" cy="3919538"/>
          </a:xfrm>
        </p:grpSpPr>
        <p:sp>
          <p:nvSpPr>
            <p:cNvPr id="39" name="Rectangle 39"/>
            <p:cNvSpPr/>
            <p:nvPr/>
          </p:nvSpPr>
          <p:spPr>
            <a:xfrm>
              <a:off x="8001000" y="2190750"/>
              <a:ext cx="3429000" cy="3905250"/>
            </a:xfrm>
            <a:prstGeom prst="roundRect">
              <a:avLst>
                <a:gd name="adj" fmla="val 4444"/>
              </a:avLst>
            </a:prstGeom>
            <a:gradFill>
              <a:gsLst>
                <a:gs pos="0">
                  <a:srgbClr val="1E2540"/>
                </a:gs>
                <a:gs pos="100000">
                  <a:srgbClr val="141A2E"/>
                </a:gs>
              </a:gsLst>
              <a:lin ang="5400000" scaled="1"/>
            </a:gradFill>
            <a:ln w="9525">
              <a:solidFill>
                <a:srgbClr val="2A3252"/>
              </a:solidFill>
            </a:ln>
          </p:spPr>
        </p:sp>
        <p:sp>
          <p:nvSpPr>
            <p:cNvPr id="40" name="Rectangle 40"/>
            <p:cNvSpPr/>
            <p:nvPr/>
          </p:nvSpPr>
          <p:spPr>
            <a:xfrm>
              <a:off x="8001000" y="2190750"/>
              <a:ext cx="3429000" cy="38100"/>
            </a:xfrm>
            <a:prstGeom prst="roundRect">
              <a:avLst>
                <a:gd name="adj" fmla="val 50000"/>
              </a:avLst>
            </a:prstGeom>
            <a:solidFill>
              <a:srgbClr val="E63946"/>
            </a:solidFill>
            <a:ln>
              <a:noFill/>
            </a:ln>
          </p:spPr>
        </p:sp>
        <p:sp>
          <p:nvSpPr>
            <p:cNvPr id="41" name="TextBox 41"/>
            <p:cNvSpPr txBox="1"/>
            <p:nvPr/>
          </p:nvSpPr>
          <p:spPr>
            <a:xfrm>
              <a:off x="8233410" y="2308860"/>
              <a:ext cx="815169" cy="853440"/>
            </a:xfrm>
            <a:prstGeom prst="rect">
              <a:avLst/>
            </a:prstGeom>
            <a:noFill/>
            <a:ln>
              <a:noFill/>
            </a:ln>
          </p:spPr>
          <p:txBody>
            <a:bodyPr wrap="none" lIns="0" tIns="0" rIns="0" bIns="0" anchor="t" anchorCtr="0">
              <a:spAutoFit/>
            </a:bodyPr>
            <a:lstStyle/>
            <a:p>
              <a:pPr algn="l"/>
              <a:r>
                <a:rPr lang="en-US" sz="4200" b="1" dirty="0">
                  <a:solidFill>
                    <a:srgbClr val="E63946">
                      <a:alphaMod val="25000"/>
                    </a:srgbClr>
                  </a:solidFill>
                  <a:latin typeface="Malgun Gothic"/>
                  <a:ea typeface="Malgun Gothic"/>
                  <a:cs typeface="Malgun Gothic"/>
                </a:rPr>
                <a:t>03</a:t>
              </a:r>
            </a:p>
          </p:txBody>
        </p:sp>
        <p:sp>
          <p:nvSpPr>
            <p:cNvPr id="42" name="Ellipse 42"/>
            <p:cNvSpPr/>
            <p:nvPr/>
          </p:nvSpPr>
          <p:spPr>
            <a:xfrm>
              <a:off x="10458450" y="2343150"/>
              <a:ext cx="609600" cy="609600"/>
            </a:xfrm>
            <a:prstGeom prst="ellipse">
              <a:avLst/>
            </a:prstGeom>
            <a:solidFill>
              <a:srgbClr val="E63946">
                <a:alpha val="12000"/>
              </a:srgbClr>
            </a:solidFill>
            <a:ln>
              <a:noFill/>
            </a:ln>
          </p:spPr>
        </p:sp>
        <p:sp>
          <p:nvSpPr>
            <p:cNvPr id="43" name="TextBox 43"/>
            <p:cNvSpPr txBox="1"/>
            <p:nvPr/>
          </p:nvSpPr>
          <p:spPr>
            <a:xfrm>
              <a:off x="8263890" y="3139440"/>
              <a:ext cx="2461022"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AI가 못 하는 영역을</a:t>
              </a:r>
            </a:p>
          </p:txBody>
        </p:sp>
        <p:sp>
          <p:nvSpPr>
            <p:cNvPr id="44" name="TextBox 44"/>
            <p:cNvSpPr txBox="1"/>
            <p:nvPr/>
          </p:nvSpPr>
          <p:spPr>
            <a:xfrm>
              <a:off x="8263890" y="3406140"/>
              <a:ext cx="873824" cy="365760"/>
            </a:xfrm>
            <a:prstGeom prst="rect">
              <a:avLst/>
            </a:prstGeom>
            <a:noFill/>
            <a:ln>
              <a:noFill/>
            </a:ln>
          </p:spPr>
          <p:txBody>
            <a:bodyPr wrap="none" lIns="0" tIns="0" rIns="0" bIns="0" anchor="t" anchorCtr="0">
              <a:spAutoFit/>
            </a:bodyPr>
            <a:lstStyle/>
            <a:p>
              <a:pPr algn="l"/>
              <a:r>
                <a:rPr lang="ko-KR" sz="1800" b="1" dirty="0">
                  <a:solidFill>
                    <a:srgbClr val="F5F7FA"/>
                  </a:solidFill>
                  <a:latin typeface="Malgun Gothic"/>
                  <a:ea typeface="Malgun Gothic"/>
                  <a:cs typeface="Malgun Gothic"/>
                </a:rPr>
                <a:t>키워라</a:t>
              </a:r>
            </a:p>
          </p:txBody>
        </p:sp>
        <p:sp>
          <p:nvSpPr>
            <p:cNvPr id="45" name="Line 45"/>
            <p:cNvSpPr/>
            <p:nvPr/>
          </p:nvSpPr>
          <p:spPr>
            <a:xfrm>
              <a:off x="8286750" y="3810000"/>
              <a:ext cx="476250" cy="9525"/>
            </a:xfrm>
            <a:custGeom>
              <a:avLst/>
              <a:gdLst/>
              <a:ahLst/>
              <a:cxnLst/>
              <a:rect l="l" t="t" r="r" b="b"/>
              <a:pathLst>
                <a:path w="476250" h="9525">
                  <a:moveTo>
                    <a:pt x="0" y="0"/>
                  </a:moveTo>
                  <a:lnTo>
                    <a:pt x="476250" y="0"/>
                  </a:lnTo>
                </a:path>
              </a:pathLst>
            </a:custGeom>
            <a:noFill/>
            <a:ln w="19050">
              <a:solidFill>
                <a:srgbClr val="E63946"/>
              </a:solidFill>
            </a:ln>
          </p:spPr>
        </p:sp>
        <p:grpSp>
          <p:nvGrpSpPr>
            <p:cNvPr id="52" name="Group 52"/>
            <p:cNvGrpSpPr/>
            <p:nvPr/>
          </p:nvGrpSpPr>
          <p:grpSpPr>
            <a:xfrm>
              <a:off x="8286750" y="4038600"/>
              <a:ext cx="2000250" cy="704850"/>
              <a:chOff x="8286750" y="4038600"/>
              <a:chExt cx="2000250" cy="704850"/>
            </a:xfrm>
          </p:grpSpPr>
          <p:sp>
            <p:nvSpPr>
              <p:cNvPr id="46" name="Rectangle 46"/>
              <p:cNvSpPr/>
              <p:nvPr/>
            </p:nvSpPr>
            <p:spPr>
              <a:xfrm>
                <a:off x="8286750" y="4038600"/>
                <a:ext cx="952500" cy="304800"/>
              </a:xfrm>
              <a:prstGeom prst="roundRect">
                <a:avLst>
                  <a:gd name="adj" fmla="val 50000"/>
                </a:avLst>
              </a:prstGeom>
              <a:solidFill>
                <a:srgbClr val="0A0E1A"/>
              </a:solidFill>
              <a:ln w="9525">
                <a:solidFill>
                  <a:srgbClr val="E63946"/>
                </a:solidFill>
              </a:ln>
            </p:spPr>
          </p:sp>
          <p:sp>
            <p:nvSpPr>
              <p:cNvPr id="47" name="TextBox 47"/>
              <p:cNvSpPr txBox="1"/>
              <p:nvPr/>
            </p:nvSpPr>
            <p:spPr>
              <a:xfrm>
                <a:off x="8354393" y="4133374"/>
                <a:ext cx="817214" cy="198120"/>
              </a:xfrm>
              <a:prstGeom prst="rect">
                <a:avLst/>
              </a:prstGeom>
              <a:noFill/>
              <a:ln>
                <a:noFill/>
              </a:ln>
            </p:spPr>
            <p:txBody>
              <a:bodyPr wrap="none" lIns="0" tIns="0" rIns="0" bIns="0" anchor="t" anchorCtr="0">
                <a:spAutoFit/>
              </a:bodyPr>
              <a:lstStyle/>
              <a:p>
                <a:pPr algn="ctr"/>
                <a:r>
                  <a:rPr lang="ko-KR" sz="975" b="1" dirty="0">
                    <a:solidFill>
                      <a:srgbClr val="F5F7FA"/>
                    </a:solidFill>
                    <a:latin typeface="Malgun Gothic"/>
                    <a:ea typeface="Malgun Gothic"/>
                    <a:cs typeface="Malgun Gothic"/>
                  </a:rPr>
                  <a:t>시스템 사고</a:t>
                </a:r>
              </a:p>
            </p:txBody>
          </p:sp>
          <p:sp>
            <p:nvSpPr>
              <p:cNvPr id="48" name="Rectangle 48"/>
              <p:cNvSpPr/>
              <p:nvPr/>
            </p:nvSpPr>
            <p:spPr>
              <a:xfrm>
                <a:off x="9334500" y="4038600"/>
                <a:ext cx="952500" cy="304800"/>
              </a:xfrm>
              <a:prstGeom prst="roundRect">
                <a:avLst>
                  <a:gd name="adj" fmla="val 50000"/>
                </a:avLst>
              </a:prstGeom>
              <a:solidFill>
                <a:srgbClr val="0A0E1A"/>
              </a:solidFill>
              <a:ln w="9525">
                <a:solidFill>
                  <a:srgbClr val="E63946"/>
                </a:solidFill>
              </a:ln>
            </p:spPr>
          </p:sp>
          <p:sp>
            <p:nvSpPr>
              <p:cNvPr id="49" name="TextBox 49"/>
              <p:cNvSpPr txBox="1"/>
              <p:nvPr/>
            </p:nvSpPr>
            <p:spPr>
              <a:xfrm>
                <a:off x="9402143" y="4133374"/>
                <a:ext cx="817214" cy="198120"/>
              </a:xfrm>
              <a:prstGeom prst="rect">
                <a:avLst/>
              </a:prstGeom>
              <a:noFill/>
              <a:ln>
                <a:noFill/>
              </a:ln>
            </p:spPr>
            <p:txBody>
              <a:bodyPr wrap="none" lIns="0" tIns="0" rIns="0" bIns="0" anchor="t" anchorCtr="0">
                <a:spAutoFit/>
              </a:bodyPr>
              <a:lstStyle/>
              <a:p>
                <a:pPr algn="ctr"/>
                <a:r>
                  <a:rPr lang="ko-KR" sz="975" b="1" dirty="0">
                    <a:solidFill>
                      <a:srgbClr val="F5F7FA"/>
                    </a:solidFill>
                    <a:latin typeface="Malgun Gothic"/>
                    <a:ea typeface="Malgun Gothic"/>
                    <a:cs typeface="Malgun Gothic"/>
                  </a:rPr>
                  <a:t>도메인 깊이</a:t>
                </a:r>
              </a:p>
            </p:txBody>
          </p:sp>
          <p:sp>
            <p:nvSpPr>
              <p:cNvPr id="50" name="Rectangle 50"/>
              <p:cNvSpPr/>
              <p:nvPr/>
            </p:nvSpPr>
            <p:spPr>
              <a:xfrm>
                <a:off x="8286750" y="4438650"/>
                <a:ext cx="952500" cy="304800"/>
              </a:xfrm>
              <a:prstGeom prst="roundRect">
                <a:avLst>
                  <a:gd name="adj" fmla="val 50000"/>
                </a:avLst>
              </a:prstGeom>
              <a:solidFill>
                <a:srgbClr val="0A0E1A"/>
              </a:solidFill>
              <a:ln w="9525">
                <a:solidFill>
                  <a:srgbClr val="E63946"/>
                </a:solidFill>
              </a:ln>
            </p:spPr>
          </p:sp>
          <p:sp>
            <p:nvSpPr>
              <p:cNvPr id="51" name="TextBox 51"/>
              <p:cNvSpPr txBox="1"/>
              <p:nvPr/>
            </p:nvSpPr>
            <p:spPr>
              <a:xfrm>
                <a:off x="8526339" y="4533424"/>
                <a:ext cx="473321" cy="198120"/>
              </a:xfrm>
              <a:prstGeom prst="rect">
                <a:avLst/>
              </a:prstGeom>
              <a:noFill/>
              <a:ln>
                <a:noFill/>
              </a:ln>
            </p:spPr>
            <p:txBody>
              <a:bodyPr wrap="none" lIns="0" tIns="0" rIns="0" bIns="0" anchor="t" anchorCtr="0">
                <a:spAutoFit/>
              </a:bodyPr>
              <a:lstStyle/>
              <a:p>
                <a:pPr algn="ctr"/>
                <a:r>
                  <a:rPr lang="ko-KR" sz="975" b="1" dirty="0">
                    <a:solidFill>
                      <a:srgbClr val="F5F7FA"/>
                    </a:solidFill>
                    <a:latin typeface="Malgun Gothic"/>
                    <a:ea typeface="Malgun Gothic"/>
                    <a:cs typeface="Malgun Gothic"/>
                  </a:rPr>
                  <a:t>협상력</a:t>
                </a:r>
              </a:p>
            </p:txBody>
          </p:sp>
        </p:grpSp>
        <p:sp>
          <p:nvSpPr>
            <p:cNvPr id="53" name="Line 53"/>
            <p:cNvSpPr/>
            <p:nvPr/>
          </p:nvSpPr>
          <p:spPr>
            <a:xfrm>
              <a:off x="8286750" y="4933950"/>
              <a:ext cx="2857500" cy="9525"/>
            </a:xfrm>
            <a:custGeom>
              <a:avLst/>
              <a:gdLst/>
              <a:ahLst/>
              <a:cxnLst/>
              <a:rect l="l" t="t" r="r" b="b"/>
              <a:pathLst>
                <a:path w="2857500" h="9525">
                  <a:moveTo>
                    <a:pt x="0" y="0"/>
                  </a:moveTo>
                  <a:lnTo>
                    <a:pt x="2857500" y="0"/>
                  </a:lnTo>
                </a:path>
              </a:pathLst>
            </a:custGeom>
            <a:noFill/>
            <a:ln w="9525">
              <a:solidFill>
                <a:srgbClr val="2A3252"/>
              </a:solidFill>
            </a:ln>
          </p:spPr>
        </p:sp>
        <p:sp>
          <p:nvSpPr>
            <p:cNvPr id="54" name="TextBox 54"/>
            <p:cNvSpPr txBox="1"/>
            <p:nvPr/>
          </p:nvSpPr>
          <p:spPr>
            <a:xfrm>
              <a:off x="8276272" y="5168741"/>
              <a:ext cx="1134294" cy="167640"/>
            </a:xfrm>
            <a:prstGeom prst="rect">
              <a:avLst/>
            </a:prstGeom>
            <a:noFill/>
            <a:ln>
              <a:noFill/>
            </a:ln>
          </p:spPr>
          <p:txBody>
            <a:bodyPr wrap="none" lIns="0" tIns="0" rIns="0" bIns="0" anchor="t" anchorCtr="0">
              <a:spAutoFit/>
            </a:bodyPr>
            <a:lstStyle/>
            <a:p>
              <a:pPr algn="l"/>
              <a:r>
                <a:rPr lang="en-US" sz="900" b="1" dirty="0">
                  <a:solidFill>
                    <a:srgbClr val="E63946"/>
                  </a:solidFill>
                  <a:latin typeface="Malgun Gothic"/>
                  <a:ea typeface="Malgun Gothic"/>
                  <a:cs typeface="Malgun Gothic"/>
                </a:rPr>
                <a:t>THE ULTIMATE EDGE</a:t>
              </a:r>
            </a:p>
          </p:txBody>
        </p:sp>
        <p:sp>
          <p:nvSpPr>
            <p:cNvPr id="55" name="TextBox 55"/>
            <p:cNvSpPr txBox="1"/>
            <p:nvPr/>
          </p:nvSpPr>
          <p:spPr>
            <a:xfrm>
              <a:off x="8261985" y="5428298"/>
              <a:ext cx="2262407"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Times New Roman"/>
                  <a:ea typeface="Nanum Myeongjo"/>
                  <a:cs typeface="Times New Roman"/>
                </a:rPr>
                <a:t>"왜"를 정의하는</a:t>
              </a:r>
            </a:p>
          </p:txBody>
        </p:sp>
        <p:sp>
          <p:nvSpPr>
            <p:cNvPr id="56" name="TextBox 56"/>
            <p:cNvSpPr txBox="1"/>
            <p:nvPr/>
          </p:nvSpPr>
          <p:spPr>
            <a:xfrm>
              <a:off x="8261985" y="5714048"/>
              <a:ext cx="647605" cy="396240"/>
            </a:xfrm>
            <a:prstGeom prst="rect">
              <a:avLst/>
            </a:prstGeom>
            <a:noFill/>
            <a:ln>
              <a:noFill/>
            </a:ln>
          </p:spPr>
          <p:txBody>
            <a:bodyPr wrap="none" lIns="0" tIns="0" rIns="0" bIns="0" anchor="t" anchorCtr="0">
              <a:spAutoFit/>
            </a:bodyPr>
            <a:lstStyle/>
            <a:p>
              <a:pPr algn="l"/>
              <a:r>
                <a:rPr lang="ko-KR" sz="1950" b="1" dirty="0">
                  <a:solidFill>
                    <a:srgbClr val="F5F7FA"/>
                  </a:solidFill>
                  <a:latin typeface="Times New Roman"/>
                  <a:ea typeface="Nanum Myeongjo"/>
                  <a:cs typeface="Times New Roman"/>
                </a:rPr>
                <a:t>능력</a:t>
              </a:r>
            </a:p>
          </p:txBody>
        </p:sp>
      </p:grpSp>
      <p:sp>
        <p:nvSpPr>
          <p:cNvPr id="58" name="Line 58"/>
          <p:cNvSpPr/>
          <p:nvPr/>
        </p:nvSpPr>
        <p:spPr>
          <a:xfrm>
            <a:off x="762000" y="6457950"/>
            <a:ext cx="10668000" cy="9525"/>
          </a:xfrm>
          <a:custGeom>
            <a:avLst/>
            <a:gdLst/>
            <a:ahLst/>
            <a:cxnLst/>
            <a:rect l="l" t="t" r="r" b="b"/>
            <a:pathLst>
              <a:path w="10668000" h="9525">
                <a:moveTo>
                  <a:pt x="0" y="0"/>
                </a:moveTo>
                <a:lnTo>
                  <a:pt x="10668000" y="0"/>
                </a:lnTo>
              </a:path>
            </a:pathLst>
          </a:custGeom>
          <a:noFill/>
          <a:ln w="9525">
            <a:solidFill>
              <a:srgbClr val="2A3252"/>
            </a:solidFill>
          </a:ln>
        </p:spPr>
      </p:sp>
      <p:sp>
        <p:nvSpPr>
          <p:cNvPr id="59" name="TextBox 59"/>
          <p:cNvSpPr txBox="1"/>
          <p:nvPr/>
        </p:nvSpPr>
        <p:spPr>
          <a:xfrm>
            <a:off x="750570" y="6570345"/>
            <a:ext cx="1547622"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개발자의 종말 — AI의 시대</a:t>
            </a:r>
          </a:p>
        </p:txBody>
      </p:sp>
      <p:sp>
        <p:nvSpPr>
          <p:cNvPr id="60" name="TextBox 60"/>
          <p:cNvSpPr txBox="1"/>
          <p:nvPr/>
        </p:nvSpPr>
        <p:spPr>
          <a:xfrm>
            <a:off x="11011090" y="6570345"/>
            <a:ext cx="430340" cy="182880"/>
          </a:xfrm>
          <a:prstGeom prst="rect">
            <a:avLst/>
          </a:prstGeom>
          <a:noFill/>
          <a:ln>
            <a:noFill/>
          </a:ln>
        </p:spPr>
        <p:txBody>
          <a:bodyPr wrap="none" lIns="0" tIns="0" rIns="0" bIns="0" anchor="t" anchorCtr="0">
            <a:spAutoFit/>
          </a:bodyPr>
          <a:lstStyle/>
          <a:p>
            <a:pPr algn="r"/>
            <a:r>
              <a:rPr lang="en-US" sz="900" dirty="0">
                <a:solidFill>
                  <a:srgbClr val="A0A8BD"/>
                </a:solidFill>
                <a:latin typeface="Malgun Gothic"/>
                <a:ea typeface="Malgun Gothic"/>
                <a:cs typeface="Malgun Gothic"/>
              </a:rPr>
              <a:t>09 / 10</a:t>
            </a:r>
          </a:p>
        </p:txBody>
      </p:sp>
    </p:spTree>
  </p:cSld>
  <p:clrMapOvr>
    <a:masterClrMapping/>
  </p:clrMapOvr>
  <p:transition xmlns:p14="http://schemas.microsoft.com/office/powerpoint/2010/main" p14:dur="5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rgbClr val="0A0E1A"/>
              </a:gs>
              <a:gs pos="55000">
                <a:srgbClr val="1A0A14"/>
              </a:gs>
              <a:gs pos="85000">
                <a:srgbClr val="3A1820"/>
              </a:gs>
              <a:gs pos="100000">
                <a:srgbClr val="FFB627"/>
              </a:gs>
            </a:gsLst>
            <a:lin ang="16200000" scaled="1"/>
          </a:gradFill>
          <a:ln>
            <a:noFill/>
          </a:ln>
        </p:spPr>
      </p:sp>
      <p:sp>
        <p:nvSpPr>
          <p:cNvPr id="3" name="Rectangle 3"/>
          <p:cNvSpPr/>
          <p:nvPr/>
        </p:nvSpPr>
        <p:spPr>
          <a:xfrm>
            <a:off x="0" y="0"/>
            <a:ext cx="12192000" cy="6858000"/>
          </a:xfrm>
          <a:prstGeom prst="rect">
            <a:avLst/>
          </a:prstGeom>
          <a:gradFill>
            <a:gsLst>
              <a:gs pos="0">
                <a:srgbClr val="FFB627">
                  <a:alpha val="55000"/>
                </a:srgbClr>
              </a:gs>
              <a:gs pos="50000">
                <a:srgbClr val="E63946">
                  <a:alpha val="15000"/>
                </a:srgbClr>
              </a:gs>
              <a:gs pos="100000">
                <a:srgbClr val="0A0E1A">
                  <a:alpha val="0"/>
                </a:srgbClr>
              </a:gs>
            </a:gsLst>
            <a:path path="circle">
              <a:fillToRect l="50000" t="50000" r="50000" b="50000"/>
            </a:path>
          </a:gradFill>
          <a:ln>
            <a:noFill/>
          </a:ln>
        </p:spPr>
      </p:sp>
      <p:sp>
        <p:nvSpPr>
          <p:cNvPr id="4" name="Rectangle 4"/>
          <p:cNvSpPr/>
          <p:nvPr/>
        </p:nvSpPr>
        <p:spPr>
          <a:xfrm>
            <a:off x="0" y="0"/>
            <a:ext cx="12192000" cy="1714500"/>
          </a:xfrm>
          <a:prstGeom prst="rect">
            <a:avLst/>
          </a:prstGeom>
          <a:gradFill>
            <a:gsLst>
              <a:gs pos="0">
                <a:srgbClr val="0A0E1A">
                  <a:alpha val="85000"/>
                </a:srgbClr>
              </a:gs>
              <a:gs pos="100000">
                <a:srgbClr val="0A0E1A">
                  <a:alpha val="0"/>
                </a:srgbClr>
              </a:gs>
            </a:gsLst>
            <a:lin ang="5400000" scaled="1"/>
          </a:gradFill>
          <a:ln>
            <a:noFill/>
          </a:ln>
        </p:spPr>
      </p:sp>
      <p:sp>
        <p:nvSpPr>
          <p:cNvPr id="5" name="Line 5"/>
          <p:cNvSpPr/>
          <p:nvPr/>
        </p:nvSpPr>
        <p:spPr>
          <a:xfrm>
            <a:off x="0" y="5334000"/>
            <a:ext cx="12192000" cy="9525"/>
          </a:xfrm>
          <a:custGeom>
            <a:avLst/>
            <a:gdLst/>
            <a:ahLst/>
            <a:cxnLst/>
            <a:rect l="l" t="t" r="r" b="b"/>
            <a:pathLst>
              <a:path w="12192000" h="9525">
                <a:moveTo>
                  <a:pt x="0" y="0"/>
                </a:moveTo>
                <a:lnTo>
                  <a:pt x="12192000" y="0"/>
                </a:lnTo>
              </a:path>
            </a:pathLst>
          </a:custGeom>
          <a:noFill/>
          <a:ln w="9525">
            <a:solidFill>
              <a:srgbClr val="FFB627">
                <a:alpha val="35000"/>
              </a:srgbClr>
            </a:solidFill>
          </a:ln>
        </p:spPr>
      </p:sp>
      <p:sp>
        <p:nvSpPr>
          <p:cNvPr id="6" name="Ellipse 6"/>
          <p:cNvSpPr/>
          <p:nvPr/>
        </p:nvSpPr>
        <p:spPr>
          <a:xfrm>
            <a:off x="5734050" y="5210175"/>
            <a:ext cx="723900" cy="723900"/>
          </a:xfrm>
          <a:prstGeom prst="ellipse">
            <a:avLst/>
          </a:prstGeom>
          <a:solidFill>
            <a:srgbClr val="FFB627">
              <a:alpha val="85000"/>
            </a:srgbClr>
          </a:solidFill>
          <a:ln>
            <a:noFill/>
          </a:ln>
        </p:spPr>
      </p:sp>
      <p:sp>
        <p:nvSpPr>
          <p:cNvPr id="7" name="Ellipse 7"/>
          <p:cNvSpPr/>
          <p:nvPr/>
        </p:nvSpPr>
        <p:spPr>
          <a:xfrm>
            <a:off x="5543550" y="5019675"/>
            <a:ext cx="1104900" cy="1104900"/>
          </a:xfrm>
          <a:prstGeom prst="ellipse">
            <a:avLst/>
          </a:prstGeom>
          <a:noFill/>
          <a:ln w="9525">
            <a:solidFill>
              <a:srgbClr val="FFB627">
                <a:alpha val="40000"/>
              </a:srgbClr>
            </a:solidFill>
          </a:ln>
        </p:spPr>
      </p:sp>
      <p:sp>
        <p:nvSpPr>
          <p:cNvPr id="8" name="Ellipse 8"/>
          <p:cNvSpPr/>
          <p:nvPr/>
        </p:nvSpPr>
        <p:spPr>
          <a:xfrm>
            <a:off x="5314950" y="4791075"/>
            <a:ext cx="1562100" cy="1562100"/>
          </a:xfrm>
          <a:prstGeom prst="ellipse">
            <a:avLst/>
          </a:prstGeom>
          <a:noFill/>
          <a:ln w="9525">
            <a:solidFill>
              <a:srgbClr val="FFB627">
                <a:alpha val="20000"/>
              </a:srgbClr>
            </a:solidFill>
          </a:ln>
        </p:spPr>
      </p:sp>
      <p:grpSp>
        <p:nvGrpSpPr>
          <p:cNvPr id="11" name="Group 11"/>
          <p:cNvGrpSpPr/>
          <p:nvPr/>
        </p:nvGrpSpPr>
        <p:grpSpPr>
          <a:xfrm>
            <a:off x="571500" y="488156"/>
            <a:ext cx="1753076" cy="228600"/>
            <a:chOff x="571500" y="488156"/>
            <a:chExt cx="1753076" cy="228600"/>
          </a:xfrm>
        </p:grpSpPr>
        <p:sp>
          <p:nvSpPr>
            <p:cNvPr id="9" name="Rectangle 9"/>
            <p:cNvSpPr/>
            <p:nvPr/>
          </p:nvSpPr>
          <p:spPr>
            <a:xfrm>
              <a:off x="571500" y="552450"/>
              <a:ext cx="342900" cy="19050"/>
            </a:xfrm>
            <a:prstGeom prst="rect">
              <a:avLst/>
            </a:prstGeom>
            <a:solidFill>
              <a:srgbClr val="00D9FF"/>
            </a:solidFill>
            <a:ln>
              <a:noFill/>
            </a:ln>
          </p:spPr>
        </p:sp>
        <p:sp>
          <p:nvSpPr>
            <p:cNvPr id="10" name="TextBox 10"/>
            <p:cNvSpPr txBox="1"/>
            <p:nvPr/>
          </p:nvSpPr>
          <p:spPr>
            <a:xfrm>
              <a:off x="1014412" y="488156"/>
              <a:ext cx="1310164" cy="228600"/>
            </a:xfrm>
            <a:prstGeom prst="rect">
              <a:avLst/>
            </a:prstGeom>
            <a:noFill/>
            <a:ln>
              <a:noFill/>
            </a:ln>
          </p:spPr>
          <p:txBody>
            <a:bodyPr wrap="none" lIns="0" tIns="0" rIns="0" bIns="0" anchor="t" anchorCtr="0">
              <a:spAutoFit/>
            </a:bodyPr>
            <a:lstStyle/>
            <a:p>
              <a:pPr algn="l"/>
              <a:r>
                <a:rPr lang="en-US" sz="1125" dirty="0">
                  <a:solidFill>
                    <a:srgbClr val="A0A8BD"/>
                  </a:solidFill>
                  <a:latin typeface="Malgun Gothic"/>
                  <a:ea typeface="Malgun Gothic"/>
                  <a:cs typeface="Malgun Gothic"/>
                </a:rPr>
                <a:t>CLOSING — 10 / 10</a:t>
              </a:r>
            </a:p>
          </p:txBody>
        </p:sp>
      </p:grpSp>
      <p:sp>
        <p:nvSpPr>
          <p:cNvPr id="12" name="Line 12"/>
          <p:cNvSpPr/>
          <p:nvPr/>
        </p:nvSpPr>
        <p:spPr>
          <a:xfrm>
            <a:off x="11620500" y="552450"/>
            <a:ext cx="9525" cy="400050"/>
          </a:xfrm>
          <a:custGeom>
            <a:avLst/>
            <a:gdLst/>
            <a:ahLst/>
            <a:cxnLst/>
            <a:rect l="l" t="t" r="r" b="b"/>
            <a:pathLst>
              <a:path w="9525" h="400050">
                <a:moveTo>
                  <a:pt x="0" y="0"/>
                </a:moveTo>
                <a:lnTo>
                  <a:pt x="0" y="400050"/>
                </a:lnTo>
              </a:path>
            </a:pathLst>
          </a:custGeom>
          <a:noFill/>
          <a:ln w="19050">
            <a:solidFill>
              <a:srgbClr val="00D9FF"/>
            </a:solidFill>
          </a:ln>
        </p:spPr>
      </p:sp>
      <p:sp>
        <p:nvSpPr>
          <p:cNvPr id="13" name="TextBox 13"/>
          <p:cNvSpPr txBox="1"/>
          <p:nvPr/>
        </p:nvSpPr>
        <p:spPr>
          <a:xfrm>
            <a:off x="11179302" y="626745"/>
            <a:ext cx="338328" cy="182880"/>
          </a:xfrm>
          <a:prstGeom prst="rect">
            <a:avLst/>
          </a:prstGeom>
          <a:noFill/>
          <a:ln>
            <a:noFill/>
          </a:ln>
        </p:spPr>
        <p:txBody>
          <a:bodyPr wrap="none" lIns="0" tIns="0" rIns="0" bIns="0" anchor="t" anchorCtr="0">
            <a:spAutoFit/>
          </a:bodyPr>
          <a:lstStyle/>
          <a:p>
            <a:pPr algn="r"/>
            <a:r>
              <a:rPr lang="en-US" sz="900" dirty="0">
                <a:solidFill>
                  <a:srgbClr val="00D9FF"/>
                </a:solidFill>
                <a:latin typeface="Malgun Gothic"/>
                <a:ea typeface="Malgun Gothic"/>
                <a:cs typeface="Malgun Gothic"/>
              </a:rPr>
              <a:t>DAWN</a:t>
            </a:r>
          </a:p>
        </p:txBody>
      </p:sp>
      <p:sp>
        <p:nvSpPr>
          <p:cNvPr id="14" name="TextBox 14"/>
          <p:cNvSpPr txBox="1"/>
          <p:nvPr/>
        </p:nvSpPr>
        <p:spPr>
          <a:xfrm>
            <a:off x="2191619" y="2276475"/>
            <a:ext cx="7808762" cy="914400"/>
          </a:xfrm>
          <a:prstGeom prst="rect">
            <a:avLst/>
          </a:prstGeom>
          <a:noFill/>
          <a:ln>
            <a:noFill/>
          </a:ln>
        </p:spPr>
        <p:txBody>
          <a:bodyPr wrap="none" lIns="0" tIns="0" rIns="0" bIns="0" anchor="t" anchorCtr="0">
            <a:spAutoFit/>
          </a:bodyPr>
          <a:lstStyle/>
          <a:p>
            <a:pPr algn="ctr"/>
            <a:r>
              <a:rPr lang="ko-KR" sz="4500" b="1" dirty="0">
                <a:solidFill>
                  <a:srgbClr val="F5F7FA"/>
                </a:solidFill>
                <a:latin typeface="Malgun Gothic"/>
                <a:ea typeface="Malgun Gothic"/>
                <a:cs typeface="Malgun Gothic"/>
              </a:rPr>
              <a:t>종말이 아니라 시작이다.</a:t>
            </a:r>
          </a:p>
        </p:txBody>
      </p:sp>
      <p:sp>
        <p:nvSpPr>
          <p:cNvPr id="15" name="Line 15"/>
          <p:cNvSpPr/>
          <p:nvPr/>
        </p:nvSpPr>
        <p:spPr>
          <a:xfrm>
            <a:off x="5143500" y="3048000"/>
            <a:ext cx="1905000" cy="9525"/>
          </a:xfrm>
          <a:custGeom>
            <a:avLst/>
            <a:gdLst/>
            <a:ahLst/>
            <a:cxnLst/>
            <a:rect l="l" t="t" r="r" b="b"/>
            <a:pathLst>
              <a:path w="1905000" h="9525">
                <a:moveTo>
                  <a:pt x="0" y="0"/>
                </a:moveTo>
                <a:lnTo>
                  <a:pt x="1905000" y="0"/>
                </a:lnTo>
              </a:path>
            </a:pathLst>
          </a:custGeom>
          <a:noFill/>
          <a:ln w="28575">
            <a:solidFill>
              <a:srgbClr val="E63946"/>
            </a:solidFill>
          </a:ln>
        </p:spPr>
      </p:sp>
      <p:sp>
        <p:nvSpPr>
          <p:cNvPr id="16" name="TextBox 16"/>
          <p:cNvSpPr txBox="1"/>
          <p:nvPr/>
        </p:nvSpPr>
        <p:spPr>
          <a:xfrm>
            <a:off x="4428458" y="3583305"/>
            <a:ext cx="3335084" cy="426720"/>
          </a:xfrm>
          <a:prstGeom prst="rect">
            <a:avLst/>
          </a:prstGeom>
          <a:noFill/>
          <a:ln>
            <a:noFill/>
          </a:ln>
        </p:spPr>
        <p:txBody>
          <a:bodyPr wrap="none" lIns="0" tIns="0" rIns="0" bIns="0" anchor="t" anchorCtr="0">
            <a:spAutoFit/>
          </a:bodyPr>
          <a:lstStyle/>
          <a:p>
            <a:pPr algn="ctr"/>
            <a:r>
              <a:rPr lang="ko-KR" sz="2100" dirty="0">
                <a:solidFill>
                  <a:srgbClr val="00D9FF"/>
                </a:solidFill>
                <a:latin typeface="Times New Roman"/>
                <a:ea typeface="Nanum Myeongjo"/>
                <a:cs typeface="Times New Roman"/>
              </a:rPr>
              <a:t>단, 움직이는 자에게만.</a:t>
            </a:r>
          </a:p>
        </p:txBody>
      </p:sp>
      <p:sp>
        <p:nvSpPr>
          <p:cNvPr id="17" name="Line 17"/>
          <p:cNvSpPr/>
          <p:nvPr/>
        </p:nvSpPr>
        <p:spPr>
          <a:xfrm>
            <a:off x="5715000" y="4286250"/>
            <a:ext cx="762000" cy="9525"/>
          </a:xfrm>
          <a:custGeom>
            <a:avLst/>
            <a:gdLst/>
            <a:ahLst/>
            <a:cxnLst/>
            <a:rect l="l" t="t" r="r" b="b"/>
            <a:pathLst>
              <a:path w="762000" h="9525">
                <a:moveTo>
                  <a:pt x="0" y="0"/>
                </a:moveTo>
                <a:lnTo>
                  <a:pt x="762000" y="0"/>
                </a:lnTo>
              </a:path>
            </a:pathLst>
          </a:custGeom>
          <a:noFill/>
          <a:ln w="9525">
            <a:solidFill>
              <a:srgbClr val="A0A8BD">
                <a:alpha val="40000"/>
              </a:srgbClr>
            </a:solidFill>
          </a:ln>
        </p:spPr>
      </p:sp>
      <p:grpSp>
        <p:nvGrpSpPr>
          <p:cNvPr id="19" name="Group 19"/>
          <p:cNvGrpSpPr/>
          <p:nvPr/>
        </p:nvGrpSpPr>
        <p:grpSpPr>
          <a:xfrm>
            <a:off x="4963478" y="4585335"/>
            <a:ext cx="2265045" cy="243840"/>
            <a:chOff x="4963478" y="4585335"/>
            <a:chExt cx="2265045" cy="243840"/>
          </a:xfrm>
        </p:grpSpPr>
        <p:sp>
          <p:nvSpPr>
            <p:cNvPr id="18" name="TextBox 18"/>
            <p:cNvSpPr txBox="1"/>
            <p:nvPr/>
          </p:nvSpPr>
          <p:spPr>
            <a:xfrm>
              <a:off x="4963478" y="4585335"/>
              <a:ext cx="2265045" cy="243840"/>
            </a:xfrm>
            <a:prstGeom prst="rect">
              <a:avLst/>
            </a:prstGeom>
            <a:noFill/>
            <a:ln>
              <a:noFill/>
            </a:ln>
          </p:spPr>
          <p:txBody>
            <a:bodyPr wrap="none" lIns="0" tIns="0" rIns="0" bIns="0" anchor="t" anchorCtr="0">
              <a:spAutoFit/>
            </a:bodyPr>
            <a:lstStyle/>
            <a:p>
              <a:pPr algn="ctr"/>
              <a:r>
                <a:rPr lang="ko-KR" sz="1200" dirty="0">
                  <a:solidFill>
                    <a:srgbClr val="A0A8BD"/>
                  </a:solidFill>
                  <a:latin typeface="Malgun Gothic"/>
                  <a:ea typeface="Malgun Gothic"/>
                  <a:cs typeface="Malgun Gothic"/>
                </a:rPr>
                <a:t>오늘 밤, 한 가지를 시작하라</a:t>
              </a:r>
            </a:p>
          </p:txBody>
        </p:sp>
      </p:grpSp>
      <p:grpSp>
        <p:nvGrpSpPr>
          <p:cNvPr id="26" name="Group 26"/>
          <p:cNvGrpSpPr/>
          <p:nvPr/>
        </p:nvGrpSpPr>
        <p:grpSpPr>
          <a:xfrm>
            <a:off x="3619500" y="6048375"/>
            <a:ext cx="4953000" cy="361950"/>
            <a:chOff x="3619500" y="6048375"/>
            <a:chExt cx="4953000" cy="361950"/>
          </a:xfrm>
        </p:grpSpPr>
        <p:sp>
          <p:nvSpPr>
            <p:cNvPr id="20" name="Rectangle 20"/>
            <p:cNvSpPr/>
            <p:nvPr/>
          </p:nvSpPr>
          <p:spPr>
            <a:xfrm>
              <a:off x="3619500" y="6048375"/>
              <a:ext cx="1524000" cy="361950"/>
            </a:xfrm>
            <a:prstGeom prst="roundRect">
              <a:avLst>
                <a:gd name="adj" fmla="val 50000"/>
              </a:avLst>
            </a:prstGeom>
            <a:noFill/>
            <a:ln w="14288">
              <a:solidFill>
                <a:srgbClr val="00D9FF">
                  <a:alpha val="70000"/>
                </a:srgbClr>
              </a:solidFill>
            </a:ln>
          </p:spPr>
        </p:sp>
        <p:sp>
          <p:nvSpPr>
            <p:cNvPr id="21" name="TextBox 21"/>
            <p:cNvSpPr txBox="1"/>
            <p:nvPr/>
          </p:nvSpPr>
          <p:spPr>
            <a:xfrm>
              <a:off x="3800569" y="6173152"/>
              <a:ext cx="1161862" cy="213360"/>
            </a:xfrm>
            <a:prstGeom prst="rect">
              <a:avLst/>
            </a:prstGeom>
            <a:noFill/>
            <a:ln>
              <a:noFill/>
            </a:ln>
          </p:spPr>
          <p:txBody>
            <a:bodyPr wrap="none" lIns="0" tIns="0" rIns="0" bIns="0" anchor="t" anchorCtr="0">
              <a:spAutoFit/>
            </a:bodyPr>
            <a:lstStyle/>
            <a:p>
              <a:pPr algn="ctr"/>
              <a:r>
                <a:rPr lang="ko-KR" sz="1050" b="1" dirty="0">
                  <a:solidFill>
                    <a:srgbClr val="00D9FF"/>
                  </a:solidFill>
                  <a:latin typeface="Malgun Gothic"/>
                  <a:ea typeface="Malgun Gothic"/>
                  <a:cs typeface="Malgun Gothic"/>
                </a:rPr>
                <a:t>AI 도구 1개 실습</a:t>
              </a:r>
            </a:p>
          </p:txBody>
        </p:sp>
        <p:sp>
          <p:nvSpPr>
            <p:cNvPr id="22" name="Rectangle 22"/>
            <p:cNvSpPr/>
            <p:nvPr/>
          </p:nvSpPr>
          <p:spPr>
            <a:xfrm>
              <a:off x="5334000" y="6048375"/>
              <a:ext cx="1524000" cy="361950"/>
            </a:xfrm>
            <a:prstGeom prst="roundRect">
              <a:avLst>
                <a:gd name="adj" fmla="val 50000"/>
              </a:avLst>
            </a:prstGeom>
            <a:noFill/>
            <a:ln w="14288">
              <a:solidFill>
                <a:srgbClr val="FFB627">
                  <a:alpha val="70000"/>
                </a:srgbClr>
              </a:solidFill>
            </a:ln>
          </p:spPr>
        </p:sp>
        <p:sp>
          <p:nvSpPr>
            <p:cNvPr id="23" name="TextBox 23"/>
            <p:cNvSpPr txBox="1"/>
            <p:nvPr/>
          </p:nvSpPr>
          <p:spPr>
            <a:xfrm>
              <a:off x="5502993" y="6173152"/>
              <a:ext cx="1186015" cy="213360"/>
            </a:xfrm>
            <a:prstGeom prst="rect">
              <a:avLst/>
            </a:prstGeom>
            <a:noFill/>
            <a:ln>
              <a:noFill/>
            </a:ln>
          </p:spPr>
          <p:txBody>
            <a:bodyPr wrap="none" lIns="0" tIns="0" rIns="0" bIns="0" anchor="t" anchorCtr="0">
              <a:spAutoFit/>
            </a:bodyPr>
            <a:lstStyle/>
            <a:p>
              <a:pPr algn="ctr"/>
              <a:r>
                <a:rPr lang="ko-KR" sz="1050" b="1" dirty="0">
                  <a:solidFill>
                    <a:srgbClr val="FFB627"/>
                  </a:solidFill>
                  <a:latin typeface="Malgun Gothic"/>
                  <a:ea typeface="Malgun Gothic"/>
                  <a:cs typeface="Malgun Gothic"/>
                </a:rPr>
                <a:t>새 분야 1개 학습</a:t>
              </a:r>
            </a:p>
          </p:txBody>
        </p:sp>
        <p:sp>
          <p:nvSpPr>
            <p:cNvPr id="24" name="Rectangle 24"/>
            <p:cNvSpPr/>
            <p:nvPr/>
          </p:nvSpPr>
          <p:spPr>
            <a:xfrm>
              <a:off x="7048500" y="6048375"/>
              <a:ext cx="1524000" cy="361950"/>
            </a:xfrm>
            <a:prstGeom prst="roundRect">
              <a:avLst>
                <a:gd name="adj" fmla="val 50000"/>
              </a:avLst>
            </a:prstGeom>
            <a:noFill/>
            <a:ln w="14288">
              <a:solidFill>
                <a:srgbClr val="E63946">
                  <a:alpha val="70000"/>
                </a:srgbClr>
              </a:solidFill>
            </a:ln>
          </p:spPr>
        </p:sp>
        <p:sp>
          <p:nvSpPr>
            <p:cNvPr id="25" name="TextBox 25"/>
            <p:cNvSpPr txBox="1"/>
            <p:nvPr/>
          </p:nvSpPr>
          <p:spPr>
            <a:xfrm>
              <a:off x="7185289" y="6173152"/>
              <a:ext cx="1250423" cy="213360"/>
            </a:xfrm>
            <a:prstGeom prst="rect">
              <a:avLst/>
            </a:prstGeom>
            <a:noFill/>
            <a:ln>
              <a:noFill/>
            </a:ln>
          </p:spPr>
          <p:txBody>
            <a:bodyPr wrap="none" lIns="0" tIns="0" rIns="0" bIns="0" anchor="t" anchorCtr="0">
              <a:spAutoFit/>
            </a:bodyPr>
            <a:lstStyle/>
            <a:p>
              <a:pPr algn="ctr"/>
              <a:r>
                <a:rPr lang="ko-KR" sz="1050" b="1" dirty="0">
                  <a:solidFill>
                    <a:srgbClr val="E63946"/>
                  </a:solidFill>
                  <a:latin typeface="Malgun Gothic"/>
                  <a:ea typeface="Malgun Gothic"/>
                  <a:cs typeface="Malgun Gothic"/>
                </a:rPr>
                <a:t>현재 직무 재정의</a:t>
              </a:r>
            </a:p>
          </p:txBody>
        </p:sp>
      </p:grpSp>
      <p:sp>
        <p:nvSpPr>
          <p:cNvPr id="27" name="Line 27"/>
          <p:cNvSpPr/>
          <p:nvPr/>
        </p:nvSpPr>
        <p:spPr>
          <a:xfrm>
            <a:off x="571500" y="6572250"/>
            <a:ext cx="11049000" cy="9525"/>
          </a:xfrm>
          <a:custGeom>
            <a:avLst/>
            <a:gdLst/>
            <a:ahLst/>
            <a:cxnLst/>
            <a:rect l="l" t="t" r="r" b="b"/>
            <a:pathLst>
              <a:path w="11049000" h="9525">
                <a:moveTo>
                  <a:pt x="0" y="0"/>
                </a:moveTo>
                <a:lnTo>
                  <a:pt x="11049000" y="0"/>
                </a:lnTo>
              </a:path>
            </a:pathLst>
          </a:custGeom>
          <a:noFill/>
          <a:ln w="9525">
            <a:solidFill>
              <a:srgbClr val="2A3252"/>
            </a:solidFill>
          </a:ln>
        </p:spPr>
      </p:sp>
      <p:sp>
        <p:nvSpPr>
          <p:cNvPr id="28" name="TextBox 28"/>
          <p:cNvSpPr txBox="1"/>
          <p:nvPr/>
        </p:nvSpPr>
        <p:spPr>
          <a:xfrm>
            <a:off x="560070" y="6665595"/>
            <a:ext cx="2533459" cy="182880"/>
          </a:xfrm>
          <a:prstGeom prst="rect">
            <a:avLst/>
          </a:prstGeom>
          <a:noFill/>
          <a:ln>
            <a:noFill/>
          </a:ln>
        </p:spPr>
        <p:txBody>
          <a:bodyPr wrap="none" lIns="0" tIns="0" rIns="0" bIns="0" anchor="t" anchorCtr="0">
            <a:spAutoFit/>
          </a:bodyPr>
          <a:lstStyle/>
          <a:p>
            <a:pPr algn="l"/>
            <a:r>
              <a:rPr lang="ko-KR" sz="900" dirty="0">
                <a:solidFill>
                  <a:srgbClr val="A0A8BD"/>
                </a:solidFill>
                <a:latin typeface="Malgun Gothic"/>
                <a:ea typeface="Malgun Gothic"/>
                <a:cs typeface="Malgun Gothic"/>
              </a:rPr>
              <a:t>개발자의 종말 — AI의 시대 / Keynote 2025</a:t>
            </a:r>
          </a:p>
        </p:txBody>
      </p:sp>
      <p:sp>
        <p:nvSpPr>
          <p:cNvPr id="29" name="TextBox 29"/>
          <p:cNvSpPr txBox="1"/>
          <p:nvPr/>
        </p:nvSpPr>
        <p:spPr>
          <a:xfrm>
            <a:off x="10636377" y="6665595"/>
            <a:ext cx="995553" cy="182880"/>
          </a:xfrm>
          <a:prstGeom prst="rect">
            <a:avLst/>
          </a:prstGeom>
          <a:noFill/>
          <a:ln>
            <a:noFill/>
          </a:ln>
        </p:spPr>
        <p:txBody>
          <a:bodyPr wrap="none" lIns="0" tIns="0" rIns="0" bIns="0" anchor="t" anchorCtr="0">
            <a:spAutoFit/>
          </a:bodyPr>
          <a:lstStyle/>
          <a:p>
            <a:pPr algn="r"/>
            <a:r>
              <a:rPr lang="ko-KR" sz="900" dirty="0">
                <a:solidFill>
                  <a:srgbClr val="F5F7FA"/>
                </a:solidFill>
                <a:latin typeface="Malgun Gothic"/>
                <a:ea typeface="Malgun Gothic"/>
                <a:cs typeface="Malgun Gothic"/>
              </a:rPr>
              <a:t>움직여라. 지금.</a:t>
            </a:r>
          </a:p>
        </p:txBody>
      </p:sp>
    </p:spTree>
  </p:cSld>
  <p:clrMapOvr>
    <a:masterClrMapping/>
  </p:clrMapOvr>
  <p:transition xmlns:p14="http://schemas.microsoft.com/office/powerpoint/2010/main" p14:dur="5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