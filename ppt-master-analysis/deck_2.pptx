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01_cover</a:t>
            </a:r>
          </a:p>
          <a:p>
            <a:endParaRPr lang="ko-KR" dirty="0"/>
          </a:p>
          <a:p>
            <a:r>
              <a:rPr lang="ko-KR" dirty="0"/>
              <a:t>자, 시작하기 전에 한 가지만 묻겠습니다. 여러분은 지금 어디에 서 있다고 생각하십니까. 오늘 우리가 함께 들여다볼 주제는 다소 도발적입니다. 개발자의 종말. 정말로 끝났다는 이야기가 아닙니다. 다만, 코드를 한 줄씩 직접 쓰던 시대는 분명히 저물고 있습니다. 지금부터 약 한 시간 동안, AI 시대에 우리가 서 있는 좌표와, 그다음 한 걸음을 어디로 내디뎌야 할지를 함께 그려보겠습니다.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02_질문_하나</a:t>
            </a:r>
          </a:p>
          <a:p>
            <a:endParaRPr lang="ko-KR" dirty="0"/>
          </a:p>
          <a:p>
            <a:r>
              <a:rPr lang="ko-KR" dirty="0"/>
              <a:t>본격적인 이야기를 시작하기 전에, 한 가지 질문을 던지고 싶습니다. 당신이 어제 하루 종일 작성한 코드의 몇 퍼센트를, AI는 오늘 단 1분 안에 만들어낼 수 있을까요. 십 퍼센트일까요, 오십 퍼센트일까요, 아니면 그 이상일까요. 이 발표는 바로 그 질문에서 시작합니다. 답을 미리 드리지는 않겠습니다. 다만, 다음 페이지부터 이어질 내용을 보시면서 각자 마음속으로 그 숫자를 가늠해 보시기 바랍니다.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03_the_numbers</a:t>
            </a:r>
          </a:p>
          <a:p>
            <a:endParaRPr lang="ko-KR" dirty="0"/>
          </a:p>
          <a:p>
            <a:r>
              <a:rPr lang="ko-KR" dirty="0"/>
              <a:t>숫자 하나로 시작하겠습니다. 사십일 퍼센트. GitHub가 자체 저장소를 분석한 결과, 2024년 기준 Copilot이 직접 작성한 코드의 비중입니다. 더 중요한 건 추세입니다. 2021년에 일 퍼센트였던 이 숫자가 불과 3년 만에 사십 배가 됐고, 2025년에는 절반을 넘길 것으로 추정됩니다. 의견이 아니라 데이터입니다. 우리가 인정하든 인정하지 않든, 코드의 다수는 이미 사람이 아닌 시스템이 쓰고 있습니다.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04_무엇이_사라지고_있는가</a:t>
            </a:r>
          </a:p>
          <a:p>
            <a:endParaRPr lang="ko-KR" dirty="0"/>
          </a:p>
          <a:p>
            <a:r>
              <a:rPr lang="ko-KR" dirty="0"/>
              <a:t>앞서 살펴본 현실을 좀 더 구체적으로 들여다보겠습니다. 한때 "코드를 잘 쓰는 사람"이라는 정의 자체가 개발자의 핵심 정체성이었지만, 이제 그 정의에 물음표가 붙기 시작했습니다. 오른쪽 목록을 보시면 다섯 가지 작업이 이미 다른 방식으로 처리되고 있다는 것을 확인할 수 있습니다. 보일러플레이트 작성과 단순 CRUD 구현은 사실상 사라지고 있고, 문법 암기와 디버깅은 자동화 도구의 보조로 전환되었으며, API 통합 코드와 단위 테스트 작성은 AI가 인간보다 더 빠르고 정확하게 수행하는 영역이 되었습니다. 중요한 것은 이것이 미래의 예측이 아니라 지금 이 순간 일어나고 있는 현실이라는 점입니다.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05_5년_만에_일어난_일</a:t>
            </a:r>
          </a:p>
          <a:p>
            <a:endParaRPr lang="ko-KR" dirty="0"/>
          </a:p>
          <a:p>
            <a:r>
              <a:rPr lang="ko-KR" dirty="0"/>
              <a:t>불과 5년 전, GPT-3가 자연어를 코드로 바꿀 수 있다는 가능성을 처음 보여줬을 때만 해도 이건 그저 흥미로운 데모였습니다. 그런데 2021년 Copilot이 우리의 에디터에 들어오고, 2022년 ChatGPT가 모든 개발자의 책상 위에 올라오면서 흐름이 바뀌기 시작했습니다. 2023년에는 Cursor와 Devin 같은 자율 코딩 에이전트가 등장했고, 2024년에는 AI가 PR 단위로 직접 작업을 수행하기 시작했습니다. 그리고 2025년 지금, 멀티 에이전트들이 서로 협업하며 코드를 만들어내고, 인간의 역할은 작성자에서 검토자로 한 칸 밀려났습니다. 5년 동안 우리는 제안받는 자에서, 실행을 지시하는 자로, 그리고 이제는 결과를 승인하는 자로 단계마다 한 칸씩 옆으로 이동해 왔습니다.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06_the_turning_point</a:t>
            </a:r>
          </a:p>
          <a:p>
            <a:endParaRPr lang="ko-KR" dirty="0"/>
          </a:p>
          <a:p>
            <a:r>
              <a:rPr lang="ko-KR" dirty="0"/>
              <a:t>여기서 잠시 호흡을 가다듬어 보겠습니다. 지금까지 우리는 코드를 쓰는 일이 어떻게 자동화의 영역으로 빠르게 넘어가고 있는지를 살펴봤습니다. 그래서 결론이 비관일까요. 저는 정반대라고 생각합니다. 코드를 쓰는 시대는 끝나가지만, 개발자의 시대는 오히려 지금부터 다시 시작됩니다. 손으로 키보드를 두드리는 능력이 아니라, 무엇을 만들지 정의하고 시스템 전체를 설계하는 능력이 진짜 개발자의 일이 되는 거죠. 다음 장부터는 그 새로운 역할이 구체적으로 어떤 모습인지를 함께 보겠습니다.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07_three_new_roles</a:t>
            </a:r>
          </a:p>
          <a:p>
            <a:endParaRPr lang="ko-KR" dirty="0"/>
          </a:p>
          <a:p>
            <a:r>
              <a:rPr lang="ko-KR" dirty="0"/>
              <a:t>개발자는 사라지지 않습니다. 다만 역할이 바뀝니다. 앞으로 세 가지 새로운 자리가 열립니다. 첫째는 문제 정의자입니다. 무엇을 만들 것인가를 결정하는 사람, 도메인을 이해하고 비즈니스를 꿰뚫어 보며 시스템 전체를 사고하는 사람입니다. 둘째는 AI 오케스트레이터입니다. 여러 AI 에이전트를 조율하고 그 결과를 검증하는 지휘자, 프롬프트 엔지니어링과 평가 설계, 워크플로우 설계가 핵심 무기가 됩니다. 셋째는 신뢰의 수호자입니다. 보안과 윤리, 품질과 책임을 지키는 사람으로, 리뷰의 대상이 코드에서 시스템으로, 다시 의사결정으로 한 단계씩 올라갑니다. 코드를 쓰는 손에서 시스템을 설계하는 머리로, 우리는 이렇게 진화합니다.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07_action_5_shifts</a:t>
            </a:r>
          </a:p>
          <a:p>
            <a:endParaRPr lang="ko-KR" dirty="0"/>
          </a:p>
          <a:p>
            <a:r>
              <a:rPr lang="ko-KR" dirty="0"/>
              <a:t>자, 이제 가장 중요한 질문에 답할 차례입니다. 그래서 우리는 무엇을 해야 하는가. 답은 다섯 가지 전환에 있습니다. 그 중심에는 단 하나의 단어, TRANSFORM, 즉 변형이 있습니다.</a:t>
            </a:r>
          </a:p>
          <a:p>
            <a:endParaRPr lang="ko-KR" dirty="0"/>
          </a:p>
          <a:p>
            <a:r>
              <a:rPr lang="ko-KR" dirty="0"/>
              <a:t>첫째, 읽기보다 정의하기입니다. AI가 코드를 읽고 쓰는 시대에, 인간의 가치는 무엇을 만들지 정확하게 명세하는 능력에서 나옵니다. 둘째, 쓰기보다 검증하기입니다. 코드는 AI가 생산하지만, 그것이 옳은지 판단하는 테스트와 리뷰는 우리의 몫입니다. 셋째, 혼자보다 조율하기입니다. 이제 동료는 사람뿐 아니라 AI 도구이며, 그들과 협업하는 역량이 곧 생산성이 됩니다.</a:t>
            </a:r>
          </a:p>
          <a:p>
            <a:endParaRPr lang="ko-KR" dirty="0"/>
          </a:p>
          <a:p>
            <a:r>
              <a:rPr lang="ko-KR" dirty="0"/>
              <a:t>넷째, 기술보다 도메인입니다. 같은 기술을 다루는 사람은 넘쳐납니다. 차이를 만드는 것은 비즈니스에 대한 깊이입니다. 다섯째, 속도보다 판단입니다. 빠르게 짜는 것이 아니라, 무엇을 만들고 무엇을 만들지 않을지 결정하는 책임, 그것이 살아남는 개발자의 본질입니다.</a:t>
            </a:r>
          </a:p>
          <a:p>
            <a:endParaRPr lang="ko-KR" dirty="0"/>
          </a:p>
          <a:p>
            <a:r>
              <a:rPr lang="ko-KR" dirty="0"/>
              <a:t>화면 오른쪽의 문장을 함께 읽어주십시오. 코드를 쓰는 사람에서, 코드를 설계하는 사람으로. 이것이 지금 우리에게 요구되는 단 하나의 변화입니다.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09_the_declaration</a:t>
            </a:r>
          </a:p>
          <a:p>
            <a:endParaRPr lang="ko-KR" dirty="0"/>
          </a:p>
          <a:p>
            <a:r>
              <a:rPr lang="ko-KR" dirty="0"/>
              <a:t>자, 이제 결론을 말씀드리겠습니다. 코더는 끝났습니다. 키보드 앞에 앉아 코드를 받아 적는 사람은, 이제 더 이상 필요하지 않습니다. 하지만 엔지니어는, 지금부터 시작입니다. 문제를 정의하고, 시스템을 설계하고, 책임을 지는 사람 말입니다. AI는 도구입니다. 그저 도구일 뿐입니다. 그 도구를 쥔 손이 누구의 것인가는, 여전히 당신이 정합니다. 끝났다는 두려움이 아니라, 시작한다는 각오로 이 페이지를 닫아주십시오.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지금까지 우리는 개발자라는 직업의 종말, 혹은 재정의에 대해 이야기했습니다. 한 가지는 분명합니다. 내일의 개발자는 어제의 코드를 쓰지 않습니다. 그들은 도구를 다루는 사람이 아니라, 미래를 정의하는 사람입니다. 지금 이 순간, 우리 각자가 어떤 선택을 하느냐가 5년 뒤의 자리를 결정할 것입니다. 질문을 환영합니다. 감사합니다.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B0D12"/>
              </a:gs>
              <a:gs pos="60000">
                <a:srgbClr val="2A0A12"/>
              </a:gs>
              <a:gs pos="100000">
                <a:srgbClr val="E63946"/>
              </a:gs>
            </a:gsLst>
            <a:lin ang="2700000" scaled="1"/>
          </a:gradFill>
          <a:ln>
            <a:noFill/>
          </a:ln>
        </p:spPr>
      </p:sp>
      <p:sp>
        <p:nvSpPr>
          <p:cNvPr id="3" name="Line 3"/>
          <p:cNvSpPr/>
          <p:nvPr/>
        </p:nvSpPr>
        <p:spPr>
          <a:xfrm>
            <a:off x="0" y="571500"/>
            <a:ext cx="12192000" cy="762000"/>
          </a:xfrm>
          <a:custGeom>
            <a:avLst/>
            <a:gdLst/>
            <a:ahLst/>
            <a:cxnLst/>
            <a:rect l="l" t="t" r="r" b="b"/>
            <a:pathLst>
              <a:path w="12192000" h="762000">
                <a:moveTo>
                  <a:pt x="0" y="762000"/>
                </a:moveTo>
                <a:lnTo>
                  <a:pt x="12192000" y="0"/>
                </a:lnTo>
              </a:path>
            </a:pathLst>
          </a:custGeom>
          <a:noFill/>
          <a:ln w="9525">
            <a:solidFill>
              <a:srgbClr val="F2F4F8">
                <a:alpha val="4000"/>
              </a:srgbClr>
            </a:solidFill>
          </a:ln>
        </p:spPr>
      </p:sp>
      <p:sp>
        <p:nvSpPr>
          <p:cNvPr id="4" name="Line 4"/>
          <p:cNvSpPr/>
          <p:nvPr/>
        </p:nvSpPr>
        <p:spPr>
          <a:xfrm>
            <a:off x="0" y="2286000"/>
            <a:ext cx="12192000" cy="762000"/>
          </a:xfrm>
          <a:custGeom>
            <a:avLst/>
            <a:gdLst/>
            <a:ahLst/>
            <a:cxnLst/>
            <a:rect l="l" t="t" r="r" b="b"/>
            <a:pathLst>
              <a:path w="12192000" h="762000">
                <a:moveTo>
                  <a:pt x="0" y="762000"/>
                </a:moveTo>
                <a:lnTo>
                  <a:pt x="12192000" y="0"/>
                </a:lnTo>
              </a:path>
            </a:pathLst>
          </a:custGeom>
          <a:noFill/>
          <a:ln w="9525">
            <a:solidFill>
              <a:srgbClr val="F2F4F8">
                <a:alpha val="3000"/>
              </a:srgbClr>
            </a:solidFill>
          </a:ln>
        </p:spPr>
      </p:sp>
      <p:sp>
        <p:nvSpPr>
          <p:cNvPr id="5" name="Line 5"/>
          <p:cNvSpPr/>
          <p:nvPr/>
        </p:nvSpPr>
        <p:spPr>
          <a:xfrm>
            <a:off x="0" y="4191000"/>
            <a:ext cx="12192000" cy="762000"/>
          </a:xfrm>
          <a:custGeom>
            <a:avLst/>
            <a:gdLst/>
            <a:ahLst/>
            <a:cxnLst/>
            <a:rect l="l" t="t" r="r" b="b"/>
            <a:pathLst>
              <a:path w="12192000" h="762000">
                <a:moveTo>
                  <a:pt x="0" y="762000"/>
                </a:moveTo>
                <a:lnTo>
                  <a:pt x="12192000" y="0"/>
                </a:lnTo>
              </a:path>
            </a:pathLst>
          </a:custGeom>
          <a:noFill/>
          <a:ln w="9525">
            <a:solidFill>
              <a:srgbClr val="F2F4F8">
                <a:alpha val="4000"/>
              </a:srgbClr>
            </a:solidFill>
          </a:ln>
        </p:spPr>
      </p:sp>
      <p:sp>
        <p:nvSpPr>
          <p:cNvPr id="6" name="Line 6"/>
          <p:cNvSpPr/>
          <p:nvPr/>
        </p:nvSpPr>
        <p:spPr>
          <a:xfrm>
            <a:off x="0" y="5715000"/>
            <a:ext cx="12192000" cy="762000"/>
          </a:xfrm>
          <a:custGeom>
            <a:avLst/>
            <a:gdLst/>
            <a:ahLst/>
            <a:cxnLst/>
            <a:rect l="l" t="t" r="r" b="b"/>
            <a:pathLst>
              <a:path w="12192000" h="762000">
                <a:moveTo>
                  <a:pt x="0" y="762000"/>
                </a:moveTo>
                <a:lnTo>
                  <a:pt x="12192000" y="0"/>
                </a:lnTo>
              </a:path>
            </a:pathLst>
          </a:custGeom>
          <a:noFill/>
          <a:ln w="9525">
            <a:solidFill>
              <a:srgbClr val="F2F4F8">
                <a:alpha val="3000"/>
              </a:srgbClr>
            </a:solidFill>
          </a:ln>
        </p:spPr>
      </p:sp>
      <p:sp>
        <p:nvSpPr>
          <p:cNvPr id="7" name="Rectangle 7"/>
          <p:cNvSpPr/>
          <p:nvPr/>
        </p:nvSpPr>
        <p:spPr>
          <a:xfrm>
            <a:off x="7429500" y="1714500"/>
            <a:ext cx="571500" cy="571500"/>
          </a:xfrm>
          <a:prstGeom prst="rect">
            <a:avLst/>
          </a:prstGeom>
          <a:noFill/>
          <a:ln w="9525">
            <a:solidFill>
              <a:srgbClr val="4CC9F0">
                <a:alpha val="12000"/>
              </a:srgbClr>
            </a:solidFill>
          </a:ln>
        </p:spPr>
      </p:sp>
      <p:sp>
        <p:nvSpPr>
          <p:cNvPr id="8" name="Rectangle 8"/>
          <p:cNvSpPr/>
          <p:nvPr/>
        </p:nvSpPr>
        <p:spPr>
          <a:xfrm>
            <a:off x="8096250" y="1714500"/>
            <a:ext cx="571500" cy="571500"/>
          </a:xfrm>
          <a:prstGeom prst="rect">
            <a:avLst/>
          </a:prstGeom>
          <a:noFill/>
          <a:ln w="9525">
            <a:solidFill>
              <a:srgbClr val="4CC9F0">
                <a:alpha val="10000"/>
              </a:srgbClr>
            </a:solidFill>
          </a:ln>
        </p:spPr>
      </p:sp>
      <p:sp>
        <p:nvSpPr>
          <p:cNvPr id="9" name="Rectangle 9"/>
          <p:cNvSpPr/>
          <p:nvPr/>
        </p:nvSpPr>
        <p:spPr>
          <a:xfrm>
            <a:off x="8763000" y="1714500"/>
            <a:ext cx="571500" cy="571500"/>
          </a:xfrm>
          <a:prstGeom prst="rect">
            <a:avLst/>
          </a:prstGeom>
          <a:noFill/>
          <a:ln w="9525">
            <a:solidFill>
              <a:srgbClr val="4CC9F0">
                <a:alpha val="8000"/>
              </a:srgbClr>
            </a:solidFill>
          </a:ln>
        </p:spPr>
      </p:sp>
      <p:sp>
        <p:nvSpPr>
          <p:cNvPr id="10" name="Rectangle 10"/>
          <p:cNvSpPr/>
          <p:nvPr/>
        </p:nvSpPr>
        <p:spPr>
          <a:xfrm>
            <a:off x="7429500" y="2381250"/>
            <a:ext cx="571500" cy="571500"/>
          </a:xfrm>
          <a:prstGeom prst="rect">
            <a:avLst/>
          </a:prstGeom>
          <a:noFill/>
          <a:ln w="9525">
            <a:solidFill>
              <a:srgbClr val="4CC9F0">
                <a:alpha val="10000"/>
              </a:srgbClr>
            </a:solidFill>
          </a:ln>
        </p:spPr>
      </p:sp>
      <p:sp>
        <p:nvSpPr>
          <p:cNvPr id="11" name="Rectangle 11"/>
          <p:cNvSpPr/>
          <p:nvPr/>
        </p:nvSpPr>
        <p:spPr>
          <a:xfrm>
            <a:off x="8096250" y="2381250"/>
            <a:ext cx="571500" cy="571500"/>
          </a:xfrm>
          <a:prstGeom prst="rect">
            <a:avLst/>
          </a:prstGeom>
          <a:noFill/>
          <a:ln w="9525">
            <a:solidFill>
              <a:srgbClr val="4CC9F0">
                <a:alpha val="8000"/>
              </a:srgbClr>
            </a:solidFill>
          </a:ln>
        </p:spPr>
      </p:sp>
      <p:sp>
        <p:nvSpPr>
          <p:cNvPr id="12" name="Rectangle 12"/>
          <p:cNvSpPr/>
          <p:nvPr/>
        </p:nvSpPr>
        <p:spPr>
          <a:xfrm>
            <a:off x="8763000" y="2381250"/>
            <a:ext cx="571500" cy="571500"/>
          </a:xfrm>
          <a:prstGeom prst="rect">
            <a:avLst/>
          </a:prstGeom>
          <a:noFill/>
          <a:ln w="9525">
            <a:solidFill>
              <a:srgbClr val="4CC9F0">
                <a:alpha val="6000"/>
              </a:srgbClr>
            </a:solidFill>
          </a:ln>
        </p:spPr>
      </p:sp>
      <p:sp>
        <p:nvSpPr>
          <p:cNvPr id="13" name="Rectangle 13"/>
          <p:cNvSpPr/>
          <p:nvPr/>
        </p:nvSpPr>
        <p:spPr>
          <a:xfrm>
            <a:off x="762000" y="2095500"/>
            <a:ext cx="38100" cy="2667000"/>
          </a:xfrm>
          <a:prstGeom prst="rect">
            <a:avLst/>
          </a:prstGeom>
          <a:gradFill>
            <a:gsLst>
              <a:gs pos="0">
                <a:srgbClr val="E63946"/>
              </a:gs>
              <a:gs pos="100000">
                <a:srgbClr val="F4A261"/>
              </a:gs>
            </a:gsLst>
            <a:lin ang="0" scaled="1"/>
          </a:gradFill>
          <a:ln>
            <a:noFill/>
          </a:ln>
        </p:spPr>
      </p:sp>
      <p:sp>
        <p:nvSpPr>
          <p:cNvPr id="14" name="Rectangle 14"/>
          <p:cNvSpPr/>
          <p:nvPr/>
        </p:nvSpPr>
        <p:spPr>
          <a:xfrm>
            <a:off x="0" y="0"/>
            <a:ext cx="12192000" cy="6858000"/>
          </a:xfrm>
          <a:prstGeom prst="rect">
            <a:avLst/>
          </a:prstGeom>
          <a:gradFill>
            <a:gsLst>
              <a:gs pos="0">
                <a:srgbClr val="0B0D12">
                  <a:alpha val="85000"/>
                </a:srgbClr>
              </a:gs>
              <a:gs pos="50000">
                <a:srgbClr val="0B0D12">
                  <a:alpha val="55000"/>
                </a:srgbClr>
              </a:gs>
              <a:gs pos="100000">
                <a:srgbClr val="0B0D12">
                  <a:alpha val="95000"/>
                </a:srgbClr>
              </a:gs>
            </a:gsLst>
            <a:lin ang="5400000" scaled="1"/>
          </a:gradFill>
          <a:ln>
            <a:noFill/>
          </a:ln>
        </p:spPr>
      </p:sp>
      <p:sp>
        <p:nvSpPr>
          <p:cNvPr id="15" name="Line 15"/>
          <p:cNvSpPr/>
          <p:nvPr/>
        </p:nvSpPr>
        <p:spPr>
          <a:xfrm>
            <a:off x="952500" y="762000"/>
            <a:ext cx="952500" cy="9525"/>
          </a:xfrm>
          <a:custGeom>
            <a:avLst/>
            <a:gdLst/>
            <a:ahLst/>
            <a:cxnLst/>
            <a:rect l="l" t="t" r="r" b="b"/>
            <a:pathLst>
              <a:path w="952500" h="9525">
                <a:moveTo>
                  <a:pt x="0" y="0"/>
                </a:moveTo>
                <a:lnTo>
                  <a:pt x="952500" y="0"/>
                </a:lnTo>
              </a:path>
            </a:pathLst>
          </a:custGeom>
          <a:noFill/>
          <a:ln w="19050">
            <a:solidFill>
              <a:srgbClr val="E63946"/>
            </a:solidFill>
          </a:ln>
        </p:spPr>
      </p:sp>
      <p:sp>
        <p:nvSpPr>
          <p:cNvPr id="16" name="TextBox 16"/>
          <p:cNvSpPr txBox="1"/>
          <p:nvPr/>
        </p:nvSpPr>
        <p:spPr>
          <a:xfrm>
            <a:off x="2082165" y="705802"/>
            <a:ext cx="1218219" cy="213360"/>
          </a:xfrm>
          <a:prstGeom prst="rect">
            <a:avLst/>
          </a:prstGeom>
          <a:noFill/>
          <a:ln>
            <a:noFill/>
          </a:ln>
        </p:spPr>
        <p:txBody>
          <a:bodyPr wrap="none" lIns="0" tIns="0" rIns="0" bIns="0" anchor="t" anchorCtr="0">
            <a:spAutoFit/>
          </a:bodyPr>
          <a:lstStyle/>
          <a:p>
            <a:pPr algn="l"/>
            <a:r>
              <a:rPr lang="en-US" sz="1200" b="1" dirty="0">
                <a:solidFill>
                  <a:srgbClr val="F2F4F8"/>
                </a:solidFill>
                <a:latin typeface="Malgun Gothic"/>
                <a:ea typeface="Malgun Gothic"/>
                <a:cs typeface="Malgun Gothic"/>
              </a:rPr>
              <a:t>KEYNOTE · 2026</a:t>
            </a:r>
          </a:p>
        </p:txBody>
      </p:sp>
      <p:sp>
        <p:nvSpPr>
          <p:cNvPr id="17" name="TextBox 17"/>
          <p:cNvSpPr txBox="1"/>
          <p:nvPr/>
        </p:nvSpPr>
        <p:spPr>
          <a:xfrm>
            <a:off x="935355" y="2521268"/>
            <a:ext cx="2352980" cy="274320"/>
          </a:xfrm>
          <a:prstGeom prst="rect">
            <a:avLst/>
          </a:prstGeom>
          <a:noFill/>
          <a:ln>
            <a:noFill/>
          </a:ln>
        </p:spPr>
        <p:txBody>
          <a:bodyPr wrap="none" lIns="0" tIns="0" rIns="0" bIns="0" anchor="t" anchorCtr="0">
            <a:spAutoFit/>
          </a:bodyPr>
          <a:lstStyle/>
          <a:p>
            <a:pPr algn="l"/>
            <a:r>
              <a:rPr lang="en-US" sz="1350" b="1" dirty="0">
                <a:solidFill>
                  <a:srgbClr val="F4A261"/>
                </a:solidFill>
                <a:latin typeface="Malgun Gothic"/>
                <a:ea typeface="Malgun Gothic"/>
                <a:cs typeface="Malgun Gothic"/>
              </a:rPr>
              <a:t>CHAPTER 00 · PROLOGUE</a:t>
            </a:r>
          </a:p>
        </p:txBody>
      </p:sp>
      <p:sp>
        <p:nvSpPr>
          <p:cNvPr id="18" name="TextBox 18"/>
          <p:cNvSpPr txBox="1"/>
          <p:nvPr/>
        </p:nvSpPr>
        <p:spPr>
          <a:xfrm>
            <a:off x="861060" y="3032760"/>
            <a:ext cx="7138949" cy="1463040"/>
          </a:xfrm>
          <a:prstGeom prst="rect">
            <a:avLst/>
          </a:prstGeom>
          <a:noFill/>
          <a:ln>
            <a:noFill/>
          </a:ln>
        </p:spPr>
        <p:txBody>
          <a:bodyPr wrap="none" lIns="0" tIns="0" rIns="0" bIns="0" anchor="t" anchorCtr="0">
            <a:spAutoFit/>
          </a:bodyPr>
          <a:lstStyle/>
          <a:p>
            <a:pPr algn="l"/>
            <a:r>
              <a:rPr lang="ko-KR" sz="7200" b="1" dirty="0">
                <a:solidFill>
                  <a:srgbClr val="F2F4F8"/>
                </a:solidFill>
                <a:latin typeface="Malgun Gothic"/>
                <a:ea typeface="Malgun Gothic"/>
                <a:cs typeface="Malgun Gothic"/>
              </a:rPr>
              <a:t>개발자의 종말</a:t>
            </a:r>
          </a:p>
        </p:txBody>
      </p:sp>
      <p:sp>
        <p:nvSpPr>
          <p:cNvPr id="19" name="Rectangle 19"/>
          <p:cNvSpPr/>
          <p:nvPr/>
        </p:nvSpPr>
        <p:spPr>
          <a:xfrm>
            <a:off x="952500" y="4048125"/>
            <a:ext cx="1714500" cy="57150"/>
          </a:xfrm>
          <a:prstGeom prst="rect">
            <a:avLst/>
          </a:prstGeom>
          <a:solidFill>
            <a:srgbClr val="E63946"/>
          </a:solidFill>
          <a:ln>
            <a:noFill/>
          </a:ln>
        </p:spPr>
      </p:sp>
      <p:sp>
        <p:nvSpPr>
          <p:cNvPr id="20" name="TextBox 20"/>
          <p:cNvSpPr txBox="1"/>
          <p:nvPr/>
        </p:nvSpPr>
        <p:spPr>
          <a:xfrm>
            <a:off x="925830" y="4440555"/>
            <a:ext cx="5592432" cy="426720"/>
          </a:xfrm>
          <a:prstGeom prst="rect">
            <a:avLst/>
          </a:prstGeom>
          <a:noFill/>
          <a:ln>
            <a:noFill/>
          </a:ln>
        </p:spPr>
        <p:txBody>
          <a:bodyPr wrap="none" lIns="0" tIns="0" rIns="0" bIns="0" anchor="t" anchorCtr="0">
            <a:spAutoFit/>
          </a:bodyPr>
          <a:lstStyle/>
          <a:p>
            <a:pPr algn="l"/>
            <a:r>
              <a:rPr lang="ko-KR" sz="2100" b="1" dirty="0">
                <a:solidFill>
                  <a:srgbClr val="F2F4F8">
                    <a:alphaMod val="92000"/>
                  </a:srgbClr>
                </a:solidFill>
                <a:latin typeface="Malgun Gothic"/>
                <a:ea typeface="Malgun Gothic"/>
                <a:cs typeface="Malgun Gothic"/>
              </a:rPr>
              <a:t>AI 시대, 우리는 지금 어디에 서 있는가</a:t>
            </a:r>
          </a:p>
        </p:txBody>
      </p:sp>
      <p:sp>
        <p:nvSpPr>
          <p:cNvPr id="21" name="TextBox 21"/>
          <p:cNvSpPr txBox="1"/>
          <p:nvPr/>
        </p:nvSpPr>
        <p:spPr>
          <a:xfrm>
            <a:off x="933450" y="4981575"/>
            <a:ext cx="5054917" cy="304800"/>
          </a:xfrm>
          <a:prstGeom prst="rect">
            <a:avLst/>
          </a:prstGeom>
          <a:noFill/>
          <a:ln>
            <a:noFill/>
          </a:ln>
        </p:spPr>
        <p:txBody>
          <a:bodyPr wrap="none" lIns="0" tIns="0" rIns="0" bIns="0" anchor="t" anchorCtr="0">
            <a:spAutoFit/>
          </a:bodyPr>
          <a:lstStyle/>
          <a:p>
            <a:pPr algn="l"/>
            <a:r>
              <a:rPr lang="ko-KR" sz="1500" dirty="0">
                <a:solidFill>
                  <a:srgbClr val="8A92A6"/>
                </a:solidFill>
                <a:latin typeface="Nanum Myeongjo"/>
                <a:ea typeface="Nanum Myeongjo"/>
                <a:cs typeface="Nanum Myeongjo"/>
              </a:rPr>
              <a:t>— 코드를 쓰는 사람에서, 코드를 지휘하는 사람으로</a:t>
            </a:r>
          </a:p>
        </p:txBody>
      </p:sp>
      <p:sp>
        <p:nvSpPr>
          <p:cNvPr id="22" name="Line 22"/>
          <p:cNvSpPr/>
          <p:nvPr/>
        </p:nvSpPr>
        <p:spPr>
          <a:xfrm>
            <a:off x="952500" y="6096000"/>
            <a:ext cx="10287000" cy="9525"/>
          </a:xfrm>
          <a:custGeom>
            <a:avLst/>
            <a:gdLst/>
            <a:ahLst/>
            <a:cxnLst/>
            <a:rect l="l" t="t" r="r" b="b"/>
            <a:pathLst>
              <a:path w="10287000" h="9525">
                <a:moveTo>
                  <a:pt x="0" y="0"/>
                </a:moveTo>
                <a:lnTo>
                  <a:pt x="10287000" y="0"/>
                </a:lnTo>
              </a:path>
            </a:pathLst>
          </a:custGeom>
          <a:noFill/>
          <a:ln w="9525">
            <a:solidFill>
              <a:srgbClr val="2A2F3A"/>
            </a:solidFill>
          </a:ln>
        </p:spPr>
      </p:sp>
      <p:sp>
        <p:nvSpPr>
          <p:cNvPr id="23" name="TextBox 23"/>
          <p:cNvSpPr txBox="1"/>
          <p:nvPr/>
        </p:nvSpPr>
        <p:spPr>
          <a:xfrm>
            <a:off x="941070" y="6379845"/>
            <a:ext cx="995553" cy="182880"/>
          </a:xfrm>
          <a:prstGeom prst="rect">
            <a:avLst/>
          </a:prstGeom>
          <a:noFill/>
          <a:ln>
            <a:noFill/>
          </a:ln>
        </p:spPr>
        <p:txBody>
          <a:bodyPr wrap="none" lIns="0" tIns="0" rIns="0" bIns="0" anchor="t" anchorCtr="0">
            <a:spAutoFit/>
          </a:bodyPr>
          <a:lstStyle/>
          <a:p>
            <a:pPr algn="l"/>
            <a:r>
              <a:rPr lang="en-US" sz="1200" dirty="0">
                <a:solidFill>
                  <a:srgbClr val="8A92A6"/>
                </a:solidFill>
                <a:latin typeface="Malgun Gothic"/>
                <a:ea typeface="Malgun Gothic"/>
                <a:cs typeface="Malgun Gothic"/>
              </a:rPr>
              <a:t>2026 · KEYNOTE</a:t>
            </a:r>
          </a:p>
        </p:txBody>
      </p:sp>
      <p:sp>
        <p:nvSpPr>
          <p:cNvPr id="24" name="TextBox 24"/>
          <p:cNvSpPr txBox="1"/>
          <p:nvPr/>
        </p:nvSpPr>
        <p:spPr>
          <a:xfrm>
            <a:off x="10853452" y="6379845"/>
            <a:ext cx="397478" cy="182880"/>
          </a:xfrm>
          <a:prstGeom prst="rect">
            <a:avLst/>
          </a:prstGeom>
          <a:noFill/>
          <a:ln>
            <a:noFill/>
          </a:ln>
        </p:spPr>
        <p:txBody>
          <a:bodyPr wrap="none" lIns="0" tIns="0" rIns="0" bIns="0" anchor="t" anchorCtr="0">
            <a:spAutoFit/>
          </a:bodyPr>
          <a:lstStyle/>
          <a:p>
            <a:pPr algn="r"/>
            <a:r>
              <a:rPr lang="en-US" sz="1200" dirty="0">
                <a:solidFill>
                  <a:srgbClr val="8A92A6"/>
                </a:solidFill>
                <a:latin typeface="Malgun Gothic"/>
                <a:ea typeface="Malgun Gothic"/>
                <a:cs typeface="Malgun Gothic"/>
              </a:rPr>
              <a:t>01 / 10</a:t>
            </a:r>
          </a:p>
        </p:txBody>
      </p:sp>
      <p:sp>
        <p:nvSpPr>
          <p:cNvPr id="25" name="Ellipse 25"/>
          <p:cNvSpPr/>
          <p:nvPr/>
        </p:nvSpPr>
        <p:spPr>
          <a:xfrm>
            <a:off x="11106150" y="685800"/>
            <a:ext cx="76200" cy="76200"/>
          </a:xfrm>
          <a:prstGeom prst="ellipse">
            <a:avLst/>
          </a:prstGeom>
          <a:solidFill>
            <a:srgbClr val="E63946"/>
          </a:solidFill>
          <a:ln>
            <a:noFill/>
          </a:ln>
        </p:spPr>
      </p:sp>
      <p:sp>
        <p:nvSpPr>
          <p:cNvPr id="26" name="TextBox 26"/>
          <p:cNvSpPr txBox="1"/>
          <p:nvPr/>
        </p:nvSpPr>
        <p:spPr>
          <a:xfrm>
            <a:off x="10781252" y="664845"/>
            <a:ext cx="279178" cy="182880"/>
          </a:xfrm>
          <a:prstGeom prst="rect">
            <a:avLst/>
          </a:prstGeom>
          <a:noFill/>
          <a:ln>
            <a:noFill/>
          </a:ln>
        </p:spPr>
        <p:txBody>
          <a:bodyPr wrap="none" lIns="0" tIns="0" rIns="0" bIns="0" anchor="t" anchorCtr="0">
            <a:spAutoFit/>
          </a:bodyPr>
          <a:lstStyle/>
          <a:p>
            <a:pPr algn="r"/>
            <a:r>
              <a:rPr lang="en-US" sz="1200" dirty="0">
                <a:solidFill>
                  <a:srgbClr val="F2F4F8"/>
                </a:solidFill>
                <a:latin typeface="D2 Coding"/>
                <a:ea typeface="Microsoft YaHei"/>
                <a:cs typeface="D2 Coding"/>
              </a:rPr>
              <a:t>LIVE</a:t>
            </a:r>
          </a:p>
        </p:txBody>
      </p:sp>
    </p:spTree>
  </p:cSld>
  <p:clrMapOvr>
    <a:masterClrMapping/>
  </p:clrMapOvr>
  <p:transition xmlns:p14="http://schemas.microsoft.com/office/powerpoint/2010/main" p14:dur="5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B0D12"/>
          </a:solidFill>
          <a:ln>
            <a:noFill/>
          </a:ln>
        </p:spPr>
      </p:sp>
      <p:sp>
        <p:nvSpPr>
          <p:cNvPr id="3" name="Rectangle 3"/>
          <p:cNvSpPr/>
          <p:nvPr/>
        </p:nvSpPr>
        <p:spPr>
          <a:xfrm>
            <a:off x="0" y="0"/>
            <a:ext cx="12192000" cy="6858000"/>
          </a:xfrm>
          <a:prstGeom prst="rect">
            <a:avLst/>
          </a:prstGeom>
          <a:gradFill>
            <a:gsLst>
              <a:gs pos="0">
                <a:srgbClr val="161A22">
                  <a:alpha val="60000"/>
                </a:srgbClr>
              </a:gs>
              <a:gs pos="100000">
                <a:srgbClr val="0B0D12">
                  <a:alpha val="0"/>
                </a:srgbClr>
              </a:gs>
            </a:gsLst>
            <a:path path="circle">
              <a:fillToRect l="50000" t="50000" r="50000" b="50000"/>
            </a:path>
          </a:gradFill>
          <a:ln>
            <a:noFill/>
          </a:ln>
        </p:spPr>
      </p:sp>
      <p:grpSp>
        <p:nvGrpSpPr>
          <p:cNvPr id="6" name="Group 6"/>
          <p:cNvGrpSpPr/>
          <p:nvPr/>
        </p:nvGrpSpPr>
        <p:grpSpPr>
          <a:xfrm>
            <a:off x="748665" y="496252"/>
            <a:ext cx="10694670" cy="213360"/>
            <a:chOff x="748665" y="496252"/>
            <a:chExt cx="10694670" cy="213360"/>
          </a:xfrm>
        </p:grpSpPr>
        <p:sp>
          <p:nvSpPr>
            <p:cNvPr id="4" name="TextBox 4"/>
            <p:cNvSpPr txBox="1"/>
            <p:nvPr/>
          </p:nvSpPr>
          <p:spPr>
            <a:xfrm>
              <a:off x="748665" y="496252"/>
              <a:ext cx="1636871" cy="213360"/>
            </a:xfrm>
            <a:prstGeom prst="rect">
              <a:avLst/>
            </a:prstGeom>
            <a:noFill/>
            <a:ln>
              <a:noFill/>
            </a:ln>
          </p:spPr>
          <p:txBody>
            <a:bodyPr wrap="none" lIns="0" tIns="0" rIns="0" bIns="0" anchor="t" anchorCtr="0">
              <a:spAutoFit/>
            </a:bodyPr>
            <a:lstStyle/>
            <a:p>
              <a:pPr algn="l"/>
              <a:r>
                <a:rPr lang="en-US" sz="1200" b="1" dirty="0">
                  <a:solidFill>
                    <a:srgbClr val="E63946"/>
                  </a:solidFill>
                  <a:latin typeface="Malgun Gothic"/>
                  <a:ea typeface="Malgun Gothic"/>
                  <a:cs typeface="Malgun Gothic"/>
                </a:rPr>
                <a:t>CHAPTER 02 · REALITY</a:t>
              </a:r>
            </a:p>
          </p:txBody>
        </p:sp>
        <p:sp>
          <p:nvSpPr>
            <p:cNvPr id="5" name="TextBox 5"/>
            <p:cNvSpPr txBox="1"/>
            <p:nvPr/>
          </p:nvSpPr>
          <p:spPr>
            <a:xfrm>
              <a:off x="10941272" y="496252"/>
              <a:ext cx="502063" cy="213360"/>
            </a:xfrm>
            <a:prstGeom prst="rect">
              <a:avLst/>
            </a:prstGeom>
            <a:noFill/>
            <a:ln>
              <a:noFill/>
            </a:ln>
          </p:spPr>
          <p:txBody>
            <a:bodyPr wrap="none" lIns="0" tIns="0" rIns="0" bIns="0" anchor="t" anchorCtr="0">
              <a:spAutoFit/>
            </a:bodyPr>
            <a:lstStyle/>
            <a:p>
              <a:pPr algn="r"/>
              <a:r>
                <a:rPr lang="en-US" sz="1200" dirty="0">
                  <a:solidFill>
                    <a:srgbClr val="8A92A6"/>
                  </a:solidFill>
                  <a:latin typeface="Malgun Gothic"/>
                  <a:ea typeface="Malgun Gothic"/>
                  <a:cs typeface="Malgun Gothic"/>
                </a:rPr>
                <a:t>02 / 10</a:t>
              </a:r>
            </a:p>
          </p:txBody>
        </p:sp>
      </p:grpSp>
      <p:grpSp>
        <p:nvGrpSpPr>
          <p:cNvPr id="10" name="Group 10"/>
          <p:cNvGrpSpPr/>
          <p:nvPr/>
        </p:nvGrpSpPr>
        <p:grpSpPr>
          <a:xfrm>
            <a:off x="5376943" y="1697355"/>
            <a:ext cx="1438113" cy="426720"/>
            <a:chOff x="5376943" y="1697355"/>
            <a:chExt cx="1438113" cy="426720"/>
          </a:xfrm>
        </p:grpSpPr>
        <p:sp>
          <p:nvSpPr>
            <p:cNvPr id="7" name="Line 7"/>
            <p:cNvSpPr/>
            <p:nvPr/>
          </p:nvSpPr>
          <p:spPr>
            <a:xfrm>
              <a:off x="5791200" y="1866900"/>
              <a:ext cx="190500" cy="9525"/>
            </a:xfrm>
            <a:custGeom>
              <a:avLst/>
              <a:gdLst/>
              <a:ahLst/>
              <a:cxnLst/>
              <a:rect l="l" t="t" r="r" b="b"/>
              <a:pathLst>
                <a:path w="190500" h="9525">
                  <a:moveTo>
                    <a:pt x="0" y="0"/>
                  </a:moveTo>
                  <a:lnTo>
                    <a:pt x="190500" y="0"/>
                  </a:lnTo>
                </a:path>
              </a:pathLst>
            </a:custGeom>
            <a:noFill/>
            <a:ln w="19050">
              <a:solidFill>
                <a:srgbClr val="E63946"/>
              </a:solidFill>
            </a:ln>
          </p:spPr>
        </p:sp>
        <p:sp>
          <p:nvSpPr>
            <p:cNvPr id="8" name="TextBox 8"/>
            <p:cNvSpPr txBox="1"/>
            <p:nvPr/>
          </p:nvSpPr>
          <p:spPr>
            <a:xfrm>
              <a:off x="5376943" y="1697355"/>
              <a:ext cx="1438113" cy="426720"/>
            </a:xfrm>
            <a:prstGeom prst="rect">
              <a:avLst/>
            </a:prstGeom>
            <a:noFill/>
            <a:ln>
              <a:noFill/>
            </a:ln>
          </p:spPr>
          <p:txBody>
            <a:bodyPr wrap="none" lIns="0" tIns="0" rIns="0" bIns="0" anchor="t" anchorCtr="0">
              <a:spAutoFit/>
            </a:bodyPr>
            <a:lstStyle/>
            <a:p>
              <a:pPr algn="ctr"/>
              <a:r>
                <a:rPr lang="ko-KR" sz="2100" b="1" dirty="0">
                  <a:solidFill>
                    <a:srgbClr val="F2F4F8"/>
                  </a:solidFill>
                  <a:latin typeface="Malgun Gothic"/>
                  <a:ea typeface="Malgun Gothic"/>
                  <a:cs typeface="Malgun Gothic"/>
                </a:rPr>
                <a:t>질문 하나</a:t>
              </a:r>
            </a:p>
          </p:txBody>
        </p:sp>
        <p:sp>
          <p:nvSpPr>
            <p:cNvPr id="9" name="Line 9"/>
            <p:cNvSpPr/>
            <p:nvPr/>
          </p:nvSpPr>
          <p:spPr>
            <a:xfrm>
              <a:off x="6210300" y="1866900"/>
              <a:ext cx="190500" cy="9525"/>
            </a:xfrm>
            <a:custGeom>
              <a:avLst/>
              <a:gdLst/>
              <a:ahLst/>
              <a:cxnLst/>
              <a:rect l="l" t="t" r="r" b="b"/>
              <a:pathLst>
                <a:path w="190500" h="9525">
                  <a:moveTo>
                    <a:pt x="0" y="0"/>
                  </a:moveTo>
                  <a:lnTo>
                    <a:pt x="190500" y="0"/>
                  </a:lnTo>
                </a:path>
              </a:pathLst>
            </a:custGeom>
            <a:noFill/>
            <a:ln w="19050">
              <a:solidFill>
                <a:srgbClr val="E63946"/>
              </a:solidFill>
            </a:ln>
          </p:spPr>
        </p:sp>
      </p:grpSp>
      <p:grpSp>
        <p:nvGrpSpPr>
          <p:cNvPr id="16" name="Group 16"/>
          <p:cNvGrpSpPr/>
          <p:nvPr/>
        </p:nvGrpSpPr>
        <p:grpSpPr>
          <a:xfrm>
            <a:off x="1409700" y="2076450"/>
            <a:ext cx="9182100" cy="3733800"/>
            <a:chOff x="1409700" y="2076450"/>
            <a:chExt cx="9182100" cy="3733800"/>
          </a:xfrm>
        </p:grpSpPr>
        <p:sp>
          <p:nvSpPr>
            <p:cNvPr id="11" name="TextBox 11"/>
            <p:cNvSpPr txBox="1"/>
            <p:nvPr/>
          </p:nvSpPr>
          <p:spPr>
            <a:xfrm>
              <a:off x="1409700" y="2076450"/>
              <a:ext cx="987695" cy="1828800"/>
            </a:xfrm>
            <a:prstGeom prst="rect">
              <a:avLst/>
            </a:prstGeom>
            <a:noFill/>
            <a:ln>
              <a:noFill/>
            </a:ln>
          </p:spPr>
          <p:txBody>
            <a:bodyPr wrap="none" lIns="0" tIns="0" rIns="0" bIns="0" anchor="t" anchorCtr="0">
              <a:spAutoFit/>
            </a:bodyPr>
            <a:lstStyle/>
            <a:p>
              <a:pPr algn="l"/>
              <a:r>
                <a:rPr lang="en-US" sz="9000" b="1" dirty="0">
                  <a:solidFill>
                    <a:srgbClr val="E63946">
                      <a:alphaMod val="35000"/>
                    </a:srgbClr>
                  </a:solidFill>
                  <a:latin typeface="Times New Roman"/>
                  <a:ea typeface="Nanum Myeongjo"/>
                  <a:cs typeface="Times New Roman"/>
                </a:rPr>
                <a:t>"</a:t>
              </a:r>
            </a:p>
          </p:txBody>
        </p:sp>
        <p:sp>
          <p:nvSpPr>
            <p:cNvPr id="12" name="TextBox 12"/>
            <p:cNvSpPr txBox="1"/>
            <p:nvPr/>
          </p:nvSpPr>
          <p:spPr>
            <a:xfrm>
              <a:off x="3186398" y="3187065"/>
              <a:ext cx="5819203" cy="670560"/>
            </a:xfrm>
            <a:prstGeom prst="rect">
              <a:avLst/>
            </a:prstGeom>
            <a:noFill/>
            <a:ln>
              <a:noFill/>
            </a:ln>
          </p:spPr>
          <p:txBody>
            <a:bodyPr wrap="none" lIns="0" tIns="0" rIns="0" bIns="0" anchor="t" anchorCtr="0">
              <a:spAutoFit/>
            </a:bodyPr>
            <a:lstStyle/>
            <a:p>
              <a:pPr algn="ctr"/>
              <a:r>
                <a:rPr lang="ko-KR" sz="3300" dirty="0">
                  <a:solidFill>
                    <a:srgbClr val="F2F4F8"/>
                  </a:solidFill>
                  <a:latin typeface="Times New Roman"/>
                  <a:ea typeface="Nanum Myeongjo"/>
                  <a:cs typeface="Times New Roman"/>
                </a:rPr>
                <a:t>당신이 어제 작성한 코드의</a:t>
              </a:r>
            </a:p>
          </p:txBody>
        </p:sp>
        <p:sp>
          <p:nvSpPr>
            <p:cNvPr id="13" name="TextBox 13"/>
            <p:cNvSpPr txBox="1"/>
            <p:nvPr/>
          </p:nvSpPr>
          <p:spPr>
            <a:xfrm>
              <a:off x="2130590" y="3783330"/>
              <a:ext cx="7930820" cy="731520"/>
            </a:xfrm>
            <a:prstGeom prst="rect">
              <a:avLst/>
            </a:prstGeom>
            <a:noFill/>
            <a:ln>
              <a:noFill/>
            </a:ln>
          </p:spPr>
          <p:txBody>
            <a:bodyPr wrap="none" lIns="0" tIns="0" rIns="0" bIns="0" anchor="t" anchorCtr="0">
              <a:spAutoFit/>
            </a:bodyPr>
            <a:lstStyle/>
            <a:p>
              <a:pPr algn="ctr"/>
              <a:r>
                <a:rPr lang="ko-KR" sz="3600" b="1" dirty="0">
                  <a:solidFill>
                    <a:srgbClr val="F2F4F8"/>
                  </a:solidFill>
                  <a:latin typeface="Times New Roman"/>
                  <a:ea typeface="Nanum Myeongjo"/>
                  <a:cs typeface="Times New Roman"/>
                </a:rPr>
                <a:t xml:space="preserve">몇 퍼센트를, AI는 오늘 </a:t>
              </a:r>
              <a:r>
                <a:rPr lang="ko-KR" sz="3600" b="1" dirty="0">
                  <a:solidFill>
                    <a:srgbClr val="E63946"/>
                  </a:solidFill>
                  <a:latin typeface="Times New Roman"/>
                  <a:ea typeface="Nanum Myeongjo"/>
                  <a:cs typeface="Times New Roman"/>
                </a:rPr>
                <a:t>1분 안에</a:t>
              </a:r>
            </a:p>
          </p:txBody>
        </p:sp>
        <p:sp>
          <p:nvSpPr>
            <p:cNvPr id="14" name="TextBox 14"/>
            <p:cNvSpPr txBox="1"/>
            <p:nvPr/>
          </p:nvSpPr>
          <p:spPr>
            <a:xfrm>
              <a:off x="4475655" y="4387215"/>
              <a:ext cx="3240691" cy="670560"/>
            </a:xfrm>
            <a:prstGeom prst="rect">
              <a:avLst/>
            </a:prstGeom>
            <a:noFill/>
            <a:ln>
              <a:noFill/>
            </a:ln>
          </p:spPr>
          <p:txBody>
            <a:bodyPr wrap="none" lIns="0" tIns="0" rIns="0" bIns="0" anchor="t" anchorCtr="0">
              <a:spAutoFit/>
            </a:bodyPr>
            <a:lstStyle/>
            <a:p>
              <a:pPr algn="ctr"/>
              <a:r>
                <a:rPr lang="ko-KR" sz="3300" dirty="0">
                  <a:solidFill>
                    <a:srgbClr val="F2F4F8"/>
                  </a:solidFill>
                  <a:latin typeface="Times New Roman"/>
                  <a:ea typeface="Nanum Myeongjo"/>
                  <a:cs typeface="Times New Roman"/>
                </a:rPr>
                <a:t>만들어냅니다.</a:t>
              </a:r>
            </a:p>
          </p:txBody>
        </p:sp>
        <p:sp>
          <p:nvSpPr>
            <p:cNvPr id="15" name="TextBox 15"/>
            <p:cNvSpPr txBox="1"/>
            <p:nvPr/>
          </p:nvSpPr>
          <p:spPr>
            <a:xfrm>
              <a:off x="9604105" y="3981450"/>
              <a:ext cx="987695" cy="1828800"/>
            </a:xfrm>
            <a:prstGeom prst="rect">
              <a:avLst/>
            </a:prstGeom>
            <a:noFill/>
            <a:ln>
              <a:noFill/>
            </a:ln>
          </p:spPr>
          <p:txBody>
            <a:bodyPr wrap="none" lIns="0" tIns="0" rIns="0" bIns="0" anchor="t" anchorCtr="0">
              <a:spAutoFit/>
            </a:bodyPr>
            <a:lstStyle/>
            <a:p>
              <a:pPr algn="r"/>
              <a:r>
                <a:rPr lang="en-US" sz="9000" b="1" dirty="0">
                  <a:solidFill>
                    <a:srgbClr val="E63946">
                      <a:alphaMod val="35000"/>
                    </a:srgbClr>
                  </a:solidFill>
                  <a:latin typeface="Times New Roman"/>
                  <a:ea typeface="Nanum Myeongjo"/>
                  <a:cs typeface="Times New Roman"/>
                </a:rPr>
                <a:t>"</a:t>
              </a:r>
            </a:p>
          </p:txBody>
        </p:sp>
      </p:grpSp>
      <p:sp>
        <p:nvSpPr>
          <p:cNvPr id="17" name="Rectangle 17"/>
          <p:cNvSpPr/>
          <p:nvPr/>
        </p:nvSpPr>
        <p:spPr>
          <a:xfrm>
            <a:off x="5143500" y="5543550"/>
            <a:ext cx="1905000" cy="9525"/>
          </a:xfrm>
          <a:prstGeom prst="rect">
            <a:avLst/>
          </a:prstGeom>
          <a:gradFill>
            <a:gsLst>
              <a:gs pos="0">
                <a:srgbClr val="2A2F3A">
                  <a:alpha val="0"/>
                </a:srgbClr>
              </a:gs>
              <a:gs pos="50000">
                <a:srgbClr val="E63946">
                  <a:alpha val="70000"/>
                </a:srgbClr>
              </a:gs>
              <a:gs pos="100000">
                <a:srgbClr val="2A2F3A">
                  <a:alpha val="0"/>
                </a:srgbClr>
              </a:gs>
            </a:gsLst>
            <a:lin ang="0" scaled="1"/>
          </a:gradFill>
          <a:ln>
            <a:noFill/>
          </a:ln>
        </p:spPr>
      </p:sp>
      <p:sp>
        <p:nvSpPr>
          <p:cNvPr id="18" name="TextBox 18"/>
          <p:cNvSpPr txBox="1"/>
          <p:nvPr/>
        </p:nvSpPr>
        <p:spPr>
          <a:xfrm>
            <a:off x="4526161" y="5740718"/>
            <a:ext cx="3139678" cy="274320"/>
          </a:xfrm>
          <a:prstGeom prst="rect">
            <a:avLst/>
          </a:prstGeom>
          <a:noFill/>
          <a:ln>
            <a:noFill/>
          </a:ln>
        </p:spPr>
        <p:txBody>
          <a:bodyPr wrap="none" lIns="0" tIns="0" rIns="0" bIns="0" anchor="t" anchorCtr="0">
            <a:spAutoFit/>
          </a:bodyPr>
          <a:lstStyle/>
          <a:p>
            <a:pPr algn="ctr"/>
            <a:r>
              <a:rPr lang="ko-KR" sz="1350" dirty="0">
                <a:solidFill>
                  <a:srgbClr val="8A92A6"/>
                </a:solidFill>
                <a:latin typeface="Malgun Gothic"/>
                <a:ea typeface="Malgun Gothic"/>
                <a:cs typeface="Malgun Gothic"/>
              </a:rPr>
              <a:t>이 발표는 그 질문에서 시작합니다.</a:t>
            </a:r>
          </a:p>
        </p:txBody>
      </p:sp>
      <p:sp>
        <p:nvSpPr>
          <p:cNvPr id="19" name="TextBox 19"/>
          <p:cNvSpPr txBox="1"/>
          <p:nvPr/>
        </p:nvSpPr>
        <p:spPr>
          <a:xfrm>
            <a:off x="750570" y="6456045"/>
            <a:ext cx="2014252" cy="182880"/>
          </a:xfrm>
          <a:prstGeom prst="rect">
            <a:avLst/>
          </a:prstGeom>
          <a:noFill/>
          <a:ln>
            <a:noFill/>
          </a:ln>
        </p:spPr>
        <p:txBody>
          <a:bodyPr wrap="none" lIns="0" tIns="0" rIns="0" bIns="0" anchor="t" anchorCtr="0">
            <a:spAutoFit/>
          </a:bodyPr>
          <a:lstStyle/>
          <a:p>
            <a:pPr algn="l"/>
            <a:r>
              <a:rPr lang="en-US" sz="1200" dirty="0">
                <a:solidFill>
                  <a:srgbClr val="8A92A6"/>
                </a:solidFill>
                <a:latin typeface="Malgun Gothic"/>
                <a:ea typeface="Malgun Gothic"/>
                <a:cs typeface="Malgun Gothic"/>
              </a:rPr>
              <a:t>THE END OF DEVELOPERS · AI ERA</a:t>
            </a:r>
          </a:p>
        </p:txBody>
      </p:sp>
      <p:sp>
        <p:nvSpPr>
          <p:cNvPr id="20" name="TextBox 20"/>
          <p:cNvSpPr txBox="1"/>
          <p:nvPr/>
        </p:nvSpPr>
        <p:spPr>
          <a:xfrm>
            <a:off x="10215848" y="6456045"/>
            <a:ext cx="1225582" cy="182880"/>
          </a:xfrm>
          <a:prstGeom prst="rect">
            <a:avLst/>
          </a:prstGeom>
          <a:noFill/>
          <a:ln>
            <a:noFill/>
          </a:ln>
        </p:spPr>
        <p:txBody>
          <a:bodyPr wrap="none" lIns="0" tIns="0" rIns="0" bIns="0" anchor="t" anchorCtr="0">
            <a:spAutoFit/>
          </a:bodyPr>
          <a:lstStyle/>
          <a:p>
            <a:pPr algn="r"/>
            <a:r>
              <a:rPr lang="en-US" sz="1200" dirty="0">
                <a:solidFill>
                  <a:srgbClr val="8A92A6"/>
                </a:solidFill>
                <a:latin typeface="D2 Coding"/>
                <a:ea typeface="Microsoft YaHei"/>
                <a:cs typeface="D2 Coding"/>
              </a:rPr>
              <a:t>// reality.check()</a:t>
            </a:r>
          </a:p>
        </p:txBody>
      </p:sp>
    </p:spTree>
  </p:cSld>
  <p:clrMapOvr>
    <a:masterClrMapping/>
  </p:clrMapOvr>
  <p:transition xmlns:p14="http://schemas.microsoft.com/office/powerpoint/2010/main" p14:dur="5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B0D12"/>
          </a:solidFill>
          <a:ln>
            <a:noFill/>
          </a:ln>
        </p:spPr>
      </p:sp>
      <p:sp>
        <p:nvSpPr>
          <p:cNvPr id="3" name="Rectangle 3"/>
          <p:cNvSpPr/>
          <p:nvPr/>
        </p:nvSpPr>
        <p:spPr>
          <a:xfrm>
            <a:off x="0" y="0"/>
            <a:ext cx="12192000" cy="6858000"/>
          </a:xfrm>
          <a:prstGeom prst="rect">
            <a:avLst/>
          </a:prstGeom>
          <a:gradFill>
            <a:gsLst>
              <a:gs pos="0">
                <a:srgbClr val="0B0D12">
                  <a:alpha val="55000"/>
                </a:srgbClr>
              </a:gs>
              <a:gs pos="60000">
                <a:srgbClr val="2A0A12">
                  <a:alpha val="55000"/>
                </a:srgbClr>
              </a:gs>
              <a:gs pos="100000">
                <a:srgbClr val="E63946">
                  <a:alpha val="55000"/>
                </a:srgbClr>
              </a:gs>
            </a:gsLst>
            <a:lin ang="2700000" scaled="1"/>
          </a:gradFill>
          <a:ln>
            <a:noFill/>
          </a:ln>
        </p:spPr>
      </p:sp>
      <p:grpSp>
        <p:nvGrpSpPr>
          <p:cNvPr id="7" name="Group 7"/>
          <p:cNvGrpSpPr/>
          <p:nvPr/>
        </p:nvGrpSpPr>
        <p:grpSpPr>
          <a:xfrm>
            <a:off x="609600" y="340995"/>
            <a:ext cx="10984230" cy="182880"/>
            <a:chOff x="609600" y="340995"/>
            <a:chExt cx="10984230" cy="182880"/>
          </a:xfrm>
        </p:grpSpPr>
        <p:sp>
          <p:nvSpPr>
            <p:cNvPr id="4" name="Rectangle 4"/>
            <p:cNvSpPr/>
            <p:nvPr/>
          </p:nvSpPr>
          <p:spPr>
            <a:xfrm>
              <a:off x="609600" y="381000"/>
              <a:ext cx="304800" cy="19050"/>
            </a:xfrm>
            <a:prstGeom prst="rect">
              <a:avLst/>
            </a:prstGeom>
            <a:solidFill>
              <a:srgbClr val="E63946"/>
            </a:solidFill>
            <a:ln>
              <a:noFill/>
            </a:ln>
          </p:spPr>
        </p:sp>
        <p:sp>
          <p:nvSpPr>
            <p:cNvPr id="5" name="TextBox 5"/>
            <p:cNvSpPr txBox="1"/>
            <p:nvPr/>
          </p:nvSpPr>
          <p:spPr>
            <a:xfrm>
              <a:off x="1017270" y="340995"/>
              <a:ext cx="1619917" cy="182880"/>
            </a:xfrm>
            <a:prstGeom prst="rect">
              <a:avLst/>
            </a:prstGeom>
            <a:noFill/>
            <a:ln>
              <a:noFill/>
            </a:ln>
          </p:spPr>
          <p:txBody>
            <a:bodyPr wrap="none" lIns="0" tIns="0" rIns="0" bIns="0" anchor="t" anchorCtr="0">
              <a:spAutoFit/>
            </a:bodyPr>
            <a:lstStyle/>
            <a:p>
              <a:pPr algn="l"/>
              <a:r>
                <a:rPr lang="en-US" sz="1200" dirty="0">
                  <a:solidFill>
                    <a:srgbClr val="8A92A6"/>
                  </a:solidFill>
                  <a:latin typeface="Malgun Gothic"/>
                  <a:ea typeface="Malgun Gothic"/>
                  <a:cs typeface="Malgun Gothic"/>
                </a:rPr>
                <a:t>CHAPTER 01 · THE NUMBERS</a:t>
              </a:r>
            </a:p>
          </p:txBody>
        </p:sp>
        <p:sp>
          <p:nvSpPr>
            <p:cNvPr id="6" name="TextBox 6"/>
            <p:cNvSpPr txBox="1"/>
            <p:nvPr/>
          </p:nvSpPr>
          <p:spPr>
            <a:xfrm>
              <a:off x="11163490" y="340995"/>
              <a:ext cx="430340" cy="182880"/>
            </a:xfrm>
            <a:prstGeom prst="rect">
              <a:avLst/>
            </a:prstGeom>
            <a:noFill/>
            <a:ln>
              <a:noFill/>
            </a:ln>
          </p:spPr>
          <p:txBody>
            <a:bodyPr wrap="none" lIns="0" tIns="0" rIns="0" bIns="0" anchor="t" anchorCtr="0">
              <a:spAutoFit/>
            </a:bodyPr>
            <a:lstStyle/>
            <a:p>
              <a:pPr algn="r"/>
              <a:r>
                <a:rPr lang="en-US" sz="1200" dirty="0">
                  <a:solidFill>
                    <a:srgbClr val="8A92A6"/>
                  </a:solidFill>
                  <a:latin typeface="Malgun Gothic"/>
                  <a:ea typeface="Malgun Gothic"/>
                  <a:cs typeface="Malgun Gothic"/>
                </a:rPr>
                <a:t>03 / 10</a:t>
              </a:r>
            </a:p>
          </p:txBody>
        </p:sp>
      </p:grpSp>
      <p:grpSp>
        <p:nvGrpSpPr>
          <p:cNvPr id="10" name="Group 10"/>
          <p:cNvGrpSpPr/>
          <p:nvPr/>
        </p:nvGrpSpPr>
        <p:grpSpPr>
          <a:xfrm>
            <a:off x="571500" y="914400"/>
            <a:ext cx="5619893" cy="795338"/>
            <a:chOff x="571500" y="914400"/>
            <a:chExt cx="5619893" cy="795338"/>
          </a:xfrm>
        </p:grpSpPr>
        <p:sp>
          <p:nvSpPr>
            <p:cNvPr id="8" name="TextBox 8"/>
            <p:cNvSpPr txBox="1"/>
            <p:nvPr/>
          </p:nvSpPr>
          <p:spPr>
            <a:xfrm>
              <a:off x="571500" y="914400"/>
              <a:ext cx="5619893" cy="609600"/>
            </a:xfrm>
            <a:prstGeom prst="rect">
              <a:avLst/>
            </a:prstGeom>
            <a:noFill/>
            <a:ln>
              <a:noFill/>
            </a:ln>
          </p:spPr>
          <p:txBody>
            <a:bodyPr wrap="none" lIns="0" tIns="0" rIns="0" bIns="0" anchor="t" anchorCtr="0">
              <a:spAutoFit/>
            </a:bodyPr>
            <a:lstStyle/>
            <a:p>
              <a:pPr algn="l"/>
              <a:r>
                <a:rPr lang="ko-KR" sz="3000" b="1" dirty="0">
                  <a:solidFill>
                    <a:srgbClr val="F2F4F8"/>
                  </a:solidFill>
                  <a:latin typeface="Malgun Gothic"/>
                  <a:ea typeface="Malgun Gothic"/>
                  <a:cs typeface="Malgun Gothic"/>
                </a:rPr>
                <a:t>이미 코드는 AI가 쓰고 있다</a:t>
              </a:r>
            </a:p>
          </p:txBody>
        </p:sp>
        <p:sp>
          <p:nvSpPr>
            <p:cNvPr id="9" name="TextBox 9"/>
            <p:cNvSpPr txBox="1"/>
            <p:nvPr/>
          </p:nvSpPr>
          <p:spPr>
            <a:xfrm>
              <a:off x="592455" y="1435418"/>
              <a:ext cx="5200078" cy="274320"/>
            </a:xfrm>
            <a:prstGeom prst="rect">
              <a:avLst/>
            </a:prstGeom>
            <a:noFill/>
            <a:ln>
              <a:noFill/>
            </a:ln>
          </p:spPr>
          <p:txBody>
            <a:bodyPr wrap="none" lIns="0" tIns="0" rIns="0" bIns="0" anchor="t" anchorCtr="0">
              <a:spAutoFit/>
            </a:bodyPr>
            <a:lstStyle/>
            <a:p>
              <a:pPr algn="l"/>
              <a:r>
                <a:rPr lang="ko-KR" sz="1350" dirty="0">
                  <a:solidFill>
                    <a:srgbClr val="8A92A6"/>
                  </a:solidFill>
                  <a:latin typeface="Malgun Gothic"/>
                  <a:ea typeface="Malgun Gothic"/>
                  <a:cs typeface="Malgun Gothic"/>
                </a:rPr>
                <a:t>숫자는 의견을 가지지 않는다. 단지 추세를 보여줄 뿐이다.</a:t>
              </a:r>
            </a:p>
          </p:txBody>
        </p:sp>
      </p:grpSp>
      <p:sp>
        <p:nvSpPr>
          <p:cNvPr id="11" name="Line 11"/>
          <p:cNvSpPr/>
          <p:nvPr/>
        </p:nvSpPr>
        <p:spPr>
          <a:xfrm>
            <a:off x="609600" y="1905000"/>
            <a:ext cx="10972800" cy="9525"/>
          </a:xfrm>
          <a:custGeom>
            <a:avLst/>
            <a:gdLst/>
            <a:ahLst/>
            <a:cxnLst/>
            <a:rect l="l" t="t" r="r" b="b"/>
            <a:pathLst>
              <a:path w="10972800" h="9525">
                <a:moveTo>
                  <a:pt x="0" y="0"/>
                </a:moveTo>
                <a:lnTo>
                  <a:pt x="10972800" y="0"/>
                </a:lnTo>
              </a:path>
            </a:pathLst>
          </a:custGeom>
          <a:noFill/>
          <a:ln w="9525">
            <a:solidFill>
              <a:srgbClr val="2A2F3A"/>
            </a:solidFill>
          </a:ln>
        </p:spPr>
      </p:sp>
      <p:grpSp>
        <p:nvGrpSpPr>
          <p:cNvPr id="19" name="Group 19"/>
          <p:cNvGrpSpPr/>
          <p:nvPr/>
        </p:nvGrpSpPr>
        <p:grpSpPr>
          <a:xfrm>
            <a:off x="400050" y="2314575"/>
            <a:ext cx="4165147" cy="3529013"/>
            <a:chOff x="400050" y="2314575"/>
            <a:chExt cx="4165147" cy="3529013"/>
          </a:xfrm>
        </p:grpSpPr>
        <p:sp>
          <p:nvSpPr>
            <p:cNvPr id="12" name="TextBox 12"/>
            <p:cNvSpPr txBox="1"/>
            <p:nvPr/>
          </p:nvSpPr>
          <p:spPr>
            <a:xfrm>
              <a:off x="596265" y="2363152"/>
              <a:ext cx="1966963" cy="213360"/>
            </a:xfrm>
            <a:prstGeom prst="rect">
              <a:avLst/>
            </a:prstGeom>
            <a:noFill/>
            <a:ln>
              <a:noFill/>
            </a:ln>
          </p:spPr>
          <p:txBody>
            <a:bodyPr wrap="none" lIns="0" tIns="0" rIns="0" bIns="0" anchor="t" anchorCtr="0">
              <a:spAutoFit/>
            </a:bodyPr>
            <a:lstStyle/>
            <a:p>
              <a:pPr algn="l"/>
              <a:r>
                <a:rPr lang="en-US" sz="1200" b="1" dirty="0">
                  <a:solidFill>
                    <a:srgbClr val="E63946"/>
                  </a:solidFill>
                  <a:latin typeface="Malgun Gothic"/>
                  <a:ea typeface="Malgun Gothic"/>
                  <a:cs typeface="Malgun Gothic"/>
                </a:rPr>
                <a:t>2024 · GITHUB OCTOVERSE</a:t>
              </a:r>
            </a:p>
          </p:txBody>
        </p:sp>
        <p:sp>
          <p:nvSpPr>
            <p:cNvPr id="13" name="TextBox 13"/>
            <p:cNvSpPr txBox="1"/>
            <p:nvPr/>
          </p:nvSpPr>
          <p:spPr>
            <a:xfrm>
              <a:off x="400050" y="2314575"/>
              <a:ext cx="2569869" cy="3352800"/>
            </a:xfrm>
            <a:prstGeom prst="rect">
              <a:avLst/>
            </a:prstGeom>
            <a:noFill/>
            <a:ln>
              <a:noFill/>
            </a:ln>
          </p:spPr>
          <p:txBody>
            <a:bodyPr wrap="none" lIns="0" tIns="0" rIns="0" bIns="0" anchor="t" anchorCtr="0">
              <a:spAutoFit/>
            </a:bodyPr>
            <a:lstStyle/>
            <a:p>
              <a:pPr algn="l"/>
              <a:r>
                <a:rPr lang="en-US" sz="16500" b="1" dirty="0">
                  <a:solidFill>
                    <a:srgbClr val="F2F4F8"/>
                  </a:solidFill>
                  <a:latin typeface="Malgun Gothic"/>
                  <a:ea typeface="Malgun Gothic"/>
                  <a:cs typeface="Malgun Gothic"/>
                </a:rPr>
                <a:t>41</a:t>
              </a:r>
            </a:p>
          </p:txBody>
        </p:sp>
        <p:sp>
          <p:nvSpPr>
            <p:cNvPr id="14" name="TextBox 14"/>
            <p:cNvSpPr txBox="1"/>
            <p:nvPr/>
          </p:nvSpPr>
          <p:spPr>
            <a:xfrm>
              <a:off x="495300" y="2647950"/>
              <a:ext cx="987695" cy="1828800"/>
            </a:xfrm>
            <a:prstGeom prst="rect">
              <a:avLst/>
            </a:prstGeom>
            <a:noFill/>
            <a:ln>
              <a:noFill/>
            </a:ln>
          </p:spPr>
          <p:txBody>
            <a:bodyPr wrap="none" lIns="0" tIns="0" rIns="0" bIns="0" anchor="t" anchorCtr="0">
              <a:spAutoFit/>
            </a:bodyPr>
            <a:lstStyle/>
            <a:p>
              <a:pPr algn="l"/>
              <a:r>
                <a:rPr lang="en-US" sz="9000" b="1" dirty="0">
                  <a:solidFill>
                    <a:srgbClr val="E63946"/>
                  </a:solidFill>
                  <a:latin typeface="Malgun Gothic"/>
                  <a:ea typeface="Malgun Gothic"/>
                  <a:cs typeface="Malgun Gothic"/>
                </a:rPr>
                <a:t>%</a:t>
              </a:r>
            </a:p>
          </p:txBody>
        </p:sp>
        <p:sp>
          <p:nvSpPr>
            <p:cNvPr id="15" name="TextBox 15"/>
            <p:cNvSpPr txBox="1"/>
            <p:nvPr/>
          </p:nvSpPr>
          <p:spPr>
            <a:xfrm>
              <a:off x="588645" y="4393882"/>
              <a:ext cx="2951774" cy="335280"/>
            </a:xfrm>
            <a:prstGeom prst="rect">
              <a:avLst/>
            </a:prstGeom>
            <a:noFill/>
            <a:ln>
              <a:noFill/>
            </a:ln>
          </p:spPr>
          <p:txBody>
            <a:bodyPr wrap="none" lIns="0" tIns="0" rIns="0" bIns="0" anchor="t" anchorCtr="0">
              <a:spAutoFit/>
            </a:bodyPr>
            <a:lstStyle/>
            <a:p>
              <a:pPr algn="l"/>
              <a:r>
                <a:rPr lang="ko-KR" sz="1650" b="1" dirty="0">
                  <a:solidFill>
                    <a:srgbClr val="F2F4F8"/>
                  </a:solidFill>
                  <a:latin typeface="Malgun Gothic"/>
                  <a:ea typeface="Malgun Gothic"/>
                  <a:cs typeface="Malgun Gothic"/>
                </a:rPr>
                <a:t>GitHub 저장소 분석 기준,</a:t>
              </a:r>
            </a:p>
          </p:txBody>
        </p:sp>
        <p:sp>
          <p:nvSpPr>
            <p:cNvPr id="16" name="TextBox 16"/>
            <p:cNvSpPr txBox="1"/>
            <p:nvPr/>
          </p:nvSpPr>
          <p:spPr>
            <a:xfrm>
              <a:off x="588645" y="4679632"/>
              <a:ext cx="3976552" cy="335280"/>
            </a:xfrm>
            <a:prstGeom prst="rect">
              <a:avLst/>
            </a:prstGeom>
            <a:noFill/>
            <a:ln>
              <a:noFill/>
            </a:ln>
          </p:spPr>
          <p:txBody>
            <a:bodyPr wrap="none" lIns="0" tIns="0" rIns="0" bIns="0" anchor="t" anchorCtr="0">
              <a:spAutoFit/>
            </a:bodyPr>
            <a:lstStyle/>
            <a:p>
              <a:pPr algn="l"/>
              <a:r>
                <a:rPr lang="ko-KR" sz="1650" b="1" dirty="0">
                  <a:solidFill>
                    <a:srgbClr val="F2F4F8"/>
                  </a:solidFill>
                  <a:latin typeface="Malgun Gothic"/>
                  <a:ea typeface="Malgun Gothic"/>
                  <a:cs typeface="Malgun Gothic"/>
                </a:rPr>
                <a:t>Copilot이 직접 작성한 코드의 비중</a:t>
              </a:r>
            </a:p>
          </p:txBody>
        </p:sp>
        <p:sp>
          <p:nvSpPr>
            <p:cNvPr id="17" name="Line 17"/>
            <p:cNvSpPr/>
            <p:nvPr/>
          </p:nvSpPr>
          <p:spPr>
            <a:xfrm>
              <a:off x="609600" y="5334000"/>
              <a:ext cx="342900" cy="9525"/>
            </a:xfrm>
            <a:custGeom>
              <a:avLst/>
              <a:gdLst/>
              <a:ahLst/>
              <a:cxnLst/>
              <a:rect l="l" t="t" r="r" b="b"/>
              <a:pathLst>
                <a:path w="342900" h="9525">
                  <a:moveTo>
                    <a:pt x="0" y="0"/>
                  </a:moveTo>
                  <a:lnTo>
                    <a:pt x="342900" y="0"/>
                  </a:lnTo>
                </a:path>
              </a:pathLst>
            </a:custGeom>
            <a:noFill/>
            <a:ln w="19050">
              <a:solidFill>
                <a:srgbClr val="E63946"/>
              </a:solidFill>
            </a:ln>
          </p:spPr>
        </p:sp>
        <p:sp>
          <p:nvSpPr>
            <p:cNvPr id="18" name="TextBox 18"/>
            <p:cNvSpPr txBox="1"/>
            <p:nvPr/>
          </p:nvSpPr>
          <p:spPr>
            <a:xfrm>
              <a:off x="592455" y="5569268"/>
              <a:ext cx="2558034" cy="274320"/>
            </a:xfrm>
            <a:prstGeom prst="rect">
              <a:avLst/>
            </a:prstGeom>
            <a:noFill/>
            <a:ln>
              <a:noFill/>
            </a:ln>
          </p:spPr>
          <p:txBody>
            <a:bodyPr wrap="none" lIns="0" tIns="0" rIns="0" bIns="0" anchor="t" anchorCtr="0">
              <a:spAutoFit/>
            </a:bodyPr>
            <a:lstStyle/>
            <a:p>
              <a:pPr algn="l"/>
              <a:r>
                <a:rPr lang="ko-KR" sz="1350" i="1" dirty="0">
                  <a:solidFill>
                    <a:srgbClr val="8A92A6"/>
                  </a:solidFill>
                  <a:latin typeface="Times New Roman"/>
                  <a:ea typeface="Nanum Myeongjo"/>
                  <a:cs typeface="Times New Roman"/>
                </a:rPr>
                <a:t>"3년 전, 이 숫자는 1%였다."</a:t>
              </a:r>
            </a:p>
          </p:txBody>
        </p:sp>
      </p:grpSp>
      <p:sp>
        <p:nvSpPr>
          <p:cNvPr id="20" name="Line 20"/>
          <p:cNvSpPr/>
          <p:nvPr/>
        </p:nvSpPr>
        <p:spPr>
          <a:xfrm>
            <a:off x="6477000" y="2190750"/>
            <a:ext cx="9525" cy="3905250"/>
          </a:xfrm>
          <a:custGeom>
            <a:avLst/>
            <a:gdLst/>
            <a:ahLst/>
            <a:cxnLst/>
            <a:rect l="l" t="t" r="r" b="b"/>
            <a:pathLst>
              <a:path w="9525" h="3905250">
                <a:moveTo>
                  <a:pt x="0" y="0"/>
                </a:moveTo>
                <a:lnTo>
                  <a:pt x="0" y="3905250"/>
                </a:lnTo>
              </a:path>
            </a:pathLst>
          </a:custGeom>
          <a:noFill/>
          <a:ln w="9525">
            <a:solidFill>
              <a:srgbClr val="2A2F3A"/>
            </a:solidFill>
          </a:ln>
        </p:spPr>
      </p:sp>
      <p:grpSp>
        <p:nvGrpSpPr>
          <p:cNvPr id="56" name="Group 56"/>
          <p:cNvGrpSpPr/>
          <p:nvPr/>
        </p:nvGrpSpPr>
        <p:grpSpPr>
          <a:xfrm>
            <a:off x="6842284" y="2363152"/>
            <a:ext cx="4778216" cy="3659029"/>
            <a:chOff x="6842284" y="2363152"/>
            <a:chExt cx="4778216" cy="3659029"/>
          </a:xfrm>
        </p:grpSpPr>
        <p:sp>
          <p:nvSpPr>
            <p:cNvPr id="21" name="TextBox 21"/>
            <p:cNvSpPr txBox="1"/>
            <p:nvPr/>
          </p:nvSpPr>
          <p:spPr>
            <a:xfrm>
              <a:off x="6844665" y="2363152"/>
              <a:ext cx="1644922" cy="213360"/>
            </a:xfrm>
            <a:prstGeom prst="rect">
              <a:avLst/>
            </a:prstGeom>
            <a:noFill/>
            <a:ln>
              <a:noFill/>
            </a:ln>
          </p:spPr>
          <p:txBody>
            <a:bodyPr wrap="none" lIns="0" tIns="0" rIns="0" bIns="0" anchor="t" anchorCtr="0">
              <a:spAutoFit/>
            </a:bodyPr>
            <a:lstStyle/>
            <a:p>
              <a:pPr algn="l"/>
              <a:r>
                <a:rPr lang="ko-KR" sz="1200" b="1" dirty="0">
                  <a:solidFill>
                    <a:srgbClr val="8A92A6"/>
                  </a:solidFill>
                  <a:latin typeface="Malgun Gothic"/>
                  <a:ea typeface="Malgun Gothic"/>
                  <a:cs typeface="Malgun Gothic"/>
                </a:rPr>
                <a:t>AI 코드 생성 비중 추이</a:t>
              </a:r>
            </a:p>
          </p:txBody>
        </p:sp>
        <p:sp>
          <p:nvSpPr>
            <p:cNvPr id="22" name="TextBox 22"/>
            <p:cNvSpPr txBox="1"/>
            <p:nvPr/>
          </p:nvSpPr>
          <p:spPr>
            <a:xfrm>
              <a:off x="6846570" y="2607945"/>
              <a:ext cx="1015270" cy="18288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단위: % · 연도별</a:t>
              </a:r>
            </a:p>
          </p:txBody>
        </p:sp>
        <p:grpSp>
          <p:nvGrpSpPr>
            <p:cNvPr id="50" name="Group 50"/>
            <p:cNvGrpSpPr/>
            <p:nvPr/>
          </p:nvGrpSpPr>
          <p:grpSpPr>
            <a:xfrm>
              <a:off x="6842284" y="3005138"/>
              <a:ext cx="4778216" cy="2624137"/>
              <a:chOff x="6842284" y="3005138"/>
              <a:chExt cx="4778216" cy="2624137"/>
            </a:xfrm>
          </p:grpSpPr>
          <p:sp>
            <p:nvSpPr>
              <p:cNvPr id="23" name="Line 23"/>
              <p:cNvSpPr/>
              <p:nvPr/>
            </p:nvSpPr>
            <p:spPr>
              <a:xfrm>
                <a:off x="7048500" y="3048000"/>
                <a:ext cx="9525" cy="2286000"/>
              </a:xfrm>
              <a:custGeom>
                <a:avLst/>
                <a:gdLst/>
                <a:ahLst/>
                <a:cxnLst/>
                <a:rect l="l" t="t" r="r" b="b"/>
                <a:pathLst>
                  <a:path w="9525" h="2286000">
                    <a:moveTo>
                      <a:pt x="0" y="0"/>
                    </a:moveTo>
                    <a:lnTo>
                      <a:pt x="0" y="2286000"/>
                    </a:lnTo>
                  </a:path>
                </a:pathLst>
              </a:custGeom>
              <a:noFill/>
              <a:ln w="9525">
                <a:solidFill>
                  <a:srgbClr val="2A2F3A"/>
                </a:solidFill>
              </a:ln>
            </p:spPr>
          </p:sp>
          <p:sp>
            <p:nvSpPr>
              <p:cNvPr id="24" name="Line 24"/>
              <p:cNvSpPr/>
              <p:nvPr/>
            </p:nvSpPr>
            <p:spPr>
              <a:xfrm>
                <a:off x="7048500" y="5334000"/>
                <a:ext cx="4533900" cy="9525"/>
              </a:xfrm>
              <a:custGeom>
                <a:avLst/>
                <a:gdLst/>
                <a:ahLst/>
                <a:cxnLst/>
                <a:rect l="l" t="t" r="r" b="b"/>
                <a:pathLst>
                  <a:path w="4533900" h="9525">
                    <a:moveTo>
                      <a:pt x="0" y="0"/>
                    </a:moveTo>
                    <a:lnTo>
                      <a:pt x="4533900" y="0"/>
                    </a:lnTo>
                  </a:path>
                </a:pathLst>
              </a:custGeom>
              <a:noFill/>
              <a:ln w="9525">
                <a:solidFill>
                  <a:srgbClr val="2A2F3A"/>
                </a:solidFill>
              </a:ln>
            </p:spPr>
          </p:sp>
          <p:sp>
            <p:nvSpPr>
              <p:cNvPr id="25" name="Line 25"/>
              <p:cNvSpPr/>
              <p:nvPr/>
            </p:nvSpPr>
            <p:spPr>
              <a:xfrm>
                <a:off x="7048500" y="3048000"/>
                <a:ext cx="4533900" cy="9525"/>
              </a:xfrm>
              <a:custGeom>
                <a:avLst/>
                <a:gdLst/>
                <a:ahLst/>
                <a:cxnLst/>
                <a:rect l="l" t="t" r="r" b="b"/>
                <a:pathLst>
                  <a:path w="4533900" h="9525">
                    <a:moveTo>
                      <a:pt x="0" y="0"/>
                    </a:moveTo>
                    <a:lnTo>
                      <a:pt x="4533900" y="0"/>
                    </a:lnTo>
                  </a:path>
                </a:pathLst>
              </a:custGeom>
              <a:noFill/>
              <a:ln w="4762">
                <a:solidFill>
                  <a:srgbClr val="2A2F3A"/>
                </a:solidFill>
                <a:custDash>
                  <a:ds d="400000" sp="800000"/>
                </a:custDash>
              </a:ln>
            </p:spPr>
          </p:sp>
          <p:sp>
            <p:nvSpPr>
              <p:cNvPr id="26" name="Line 26"/>
              <p:cNvSpPr/>
              <p:nvPr/>
            </p:nvSpPr>
            <p:spPr>
              <a:xfrm>
                <a:off x="7048500" y="3619500"/>
                <a:ext cx="4533900" cy="9525"/>
              </a:xfrm>
              <a:custGeom>
                <a:avLst/>
                <a:gdLst/>
                <a:ahLst/>
                <a:cxnLst/>
                <a:rect l="l" t="t" r="r" b="b"/>
                <a:pathLst>
                  <a:path w="4533900" h="9525">
                    <a:moveTo>
                      <a:pt x="0" y="0"/>
                    </a:moveTo>
                    <a:lnTo>
                      <a:pt x="4533900" y="0"/>
                    </a:lnTo>
                  </a:path>
                </a:pathLst>
              </a:custGeom>
              <a:noFill/>
              <a:ln w="4762">
                <a:solidFill>
                  <a:srgbClr val="2A2F3A"/>
                </a:solidFill>
                <a:custDash>
                  <a:ds d="400000" sp="800000"/>
                </a:custDash>
              </a:ln>
            </p:spPr>
          </p:sp>
          <p:sp>
            <p:nvSpPr>
              <p:cNvPr id="27" name="Line 27"/>
              <p:cNvSpPr/>
              <p:nvPr/>
            </p:nvSpPr>
            <p:spPr>
              <a:xfrm>
                <a:off x="7048500" y="4191000"/>
                <a:ext cx="4533900" cy="9525"/>
              </a:xfrm>
              <a:custGeom>
                <a:avLst/>
                <a:gdLst/>
                <a:ahLst/>
                <a:cxnLst/>
                <a:rect l="l" t="t" r="r" b="b"/>
                <a:pathLst>
                  <a:path w="4533900" h="9525">
                    <a:moveTo>
                      <a:pt x="0" y="0"/>
                    </a:moveTo>
                    <a:lnTo>
                      <a:pt x="4533900" y="0"/>
                    </a:lnTo>
                  </a:path>
                </a:pathLst>
              </a:custGeom>
              <a:noFill/>
              <a:ln w="4762">
                <a:solidFill>
                  <a:srgbClr val="2A2F3A"/>
                </a:solidFill>
                <a:custDash>
                  <a:ds d="400000" sp="800000"/>
                </a:custDash>
              </a:ln>
            </p:spPr>
          </p:sp>
          <p:sp>
            <p:nvSpPr>
              <p:cNvPr id="28" name="Line 28"/>
              <p:cNvSpPr/>
              <p:nvPr/>
            </p:nvSpPr>
            <p:spPr>
              <a:xfrm>
                <a:off x="7048500" y="4762500"/>
                <a:ext cx="4533900" cy="9525"/>
              </a:xfrm>
              <a:custGeom>
                <a:avLst/>
                <a:gdLst/>
                <a:ahLst/>
                <a:cxnLst/>
                <a:rect l="l" t="t" r="r" b="b"/>
                <a:pathLst>
                  <a:path w="4533900" h="9525">
                    <a:moveTo>
                      <a:pt x="0" y="0"/>
                    </a:moveTo>
                    <a:lnTo>
                      <a:pt x="4533900" y="0"/>
                    </a:lnTo>
                  </a:path>
                </a:pathLst>
              </a:custGeom>
              <a:noFill/>
              <a:ln w="4762">
                <a:solidFill>
                  <a:srgbClr val="2A2F3A"/>
                </a:solidFill>
                <a:custDash>
                  <a:ds d="400000" sp="800000"/>
                </a:custDash>
              </a:ln>
            </p:spPr>
          </p:sp>
          <p:sp>
            <p:nvSpPr>
              <p:cNvPr id="29" name="TextBox 29"/>
              <p:cNvSpPr txBox="1"/>
              <p:nvPr/>
            </p:nvSpPr>
            <p:spPr>
              <a:xfrm>
                <a:off x="6842284" y="3005138"/>
                <a:ext cx="139541" cy="152400"/>
              </a:xfrm>
              <a:prstGeom prst="rect">
                <a:avLst/>
              </a:prstGeom>
              <a:noFill/>
              <a:ln>
                <a:noFill/>
              </a:ln>
            </p:spPr>
            <p:txBody>
              <a:bodyPr wrap="none" lIns="0" tIns="0" rIns="0" bIns="0" anchor="t" anchorCtr="0">
                <a:spAutoFit/>
              </a:bodyPr>
              <a:lstStyle/>
              <a:p>
                <a:pPr algn="r"/>
                <a:r>
                  <a:rPr lang="en-US" sz="1200" dirty="0">
                    <a:solidFill>
                      <a:srgbClr val="8A92A6"/>
                    </a:solidFill>
                    <a:latin typeface="Malgun Gothic"/>
                    <a:ea typeface="Malgun Gothic"/>
                    <a:cs typeface="Malgun Gothic"/>
                  </a:rPr>
                  <a:t>60</a:t>
                </a:r>
              </a:p>
            </p:txBody>
          </p:sp>
          <p:sp>
            <p:nvSpPr>
              <p:cNvPr id="30" name="TextBox 30"/>
              <p:cNvSpPr txBox="1"/>
              <p:nvPr/>
            </p:nvSpPr>
            <p:spPr>
              <a:xfrm>
                <a:off x="6842284" y="3576638"/>
                <a:ext cx="139541" cy="152400"/>
              </a:xfrm>
              <a:prstGeom prst="rect">
                <a:avLst/>
              </a:prstGeom>
              <a:noFill/>
              <a:ln>
                <a:noFill/>
              </a:ln>
            </p:spPr>
            <p:txBody>
              <a:bodyPr wrap="none" lIns="0" tIns="0" rIns="0" bIns="0" anchor="t" anchorCtr="0">
                <a:spAutoFit/>
              </a:bodyPr>
              <a:lstStyle/>
              <a:p>
                <a:pPr algn="r"/>
                <a:r>
                  <a:rPr lang="en-US" sz="1200" dirty="0">
                    <a:solidFill>
                      <a:srgbClr val="8A92A6"/>
                    </a:solidFill>
                    <a:latin typeface="Malgun Gothic"/>
                    <a:ea typeface="Malgun Gothic"/>
                    <a:cs typeface="Malgun Gothic"/>
                  </a:rPr>
                  <a:t>45</a:t>
                </a:r>
              </a:p>
            </p:txBody>
          </p:sp>
          <p:sp>
            <p:nvSpPr>
              <p:cNvPr id="31" name="TextBox 31"/>
              <p:cNvSpPr txBox="1"/>
              <p:nvPr/>
            </p:nvSpPr>
            <p:spPr>
              <a:xfrm>
                <a:off x="6842284" y="4148138"/>
                <a:ext cx="139541" cy="152400"/>
              </a:xfrm>
              <a:prstGeom prst="rect">
                <a:avLst/>
              </a:prstGeom>
              <a:noFill/>
              <a:ln>
                <a:noFill/>
              </a:ln>
            </p:spPr>
            <p:txBody>
              <a:bodyPr wrap="none" lIns="0" tIns="0" rIns="0" bIns="0" anchor="t" anchorCtr="0">
                <a:spAutoFit/>
              </a:bodyPr>
              <a:lstStyle/>
              <a:p>
                <a:pPr algn="r"/>
                <a:r>
                  <a:rPr lang="en-US" sz="1200" dirty="0">
                    <a:solidFill>
                      <a:srgbClr val="8A92A6"/>
                    </a:solidFill>
                    <a:latin typeface="Malgun Gothic"/>
                    <a:ea typeface="Malgun Gothic"/>
                    <a:cs typeface="Malgun Gothic"/>
                  </a:rPr>
                  <a:t>30</a:t>
                </a:r>
              </a:p>
            </p:txBody>
          </p:sp>
          <p:sp>
            <p:nvSpPr>
              <p:cNvPr id="32" name="TextBox 32"/>
              <p:cNvSpPr txBox="1"/>
              <p:nvPr/>
            </p:nvSpPr>
            <p:spPr>
              <a:xfrm>
                <a:off x="6869668" y="4719638"/>
                <a:ext cx="112157" cy="152400"/>
              </a:xfrm>
              <a:prstGeom prst="rect">
                <a:avLst/>
              </a:prstGeom>
              <a:noFill/>
              <a:ln>
                <a:noFill/>
              </a:ln>
            </p:spPr>
            <p:txBody>
              <a:bodyPr wrap="none" lIns="0" tIns="0" rIns="0" bIns="0" anchor="t" anchorCtr="0">
                <a:spAutoFit/>
              </a:bodyPr>
              <a:lstStyle/>
              <a:p>
                <a:pPr algn="r"/>
                <a:r>
                  <a:rPr lang="en-US" sz="1200" dirty="0">
                    <a:solidFill>
                      <a:srgbClr val="8A92A6"/>
                    </a:solidFill>
                    <a:latin typeface="Malgun Gothic"/>
                    <a:ea typeface="Malgun Gothic"/>
                    <a:cs typeface="Malgun Gothic"/>
                  </a:rPr>
                  <a:t>15</a:t>
                </a:r>
              </a:p>
            </p:txBody>
          </p:sp>
          <p:sp>
            <p:nvSpPr>
              <p:cNvPr id="33" name="TextBox 33"/>
              <p:cNvSpPr txBox="1"/>
              <p:nvPr/>
            </p:nvSpPr>
            <p:spPr>
              <a:xfrm>
                <a:off x="6902529" y="5291138"/>
                <a:ext cx="79296" cy="152400"/>
              </a:xfrm>
              <a:prstGeom prst="rect">
                <a:avLst/>
              </a:prstGeom>
              <a:noFill/>
              <a:ln>
                <a:noFill/>
              </a:ln>
            </p:spPr>
            <p:txBody>
              <a:bodyPr wrap="none" lIns="0" tIns="0" rIns="0" bIns="0" anchor="t" anchorCtr="0">
                <a:spAutoFit/>
              </a:bodyPr>
              <a:lstStyle/>
              <a:p>
                <a:pPr algn="r"/>
                <a:r>
                  <a:rPr lang="en-US" sz="1200" dirty="0">
                    <a:solidFill>
                      <a:srgbClr val="8A92A6"/>
                    </a:solidFill>
                    <a:latin typeface="Malgun Gothic"/>
                    <a:ea typeface="Malgun Gothic"/>
                    <a:cs typeface="Malgun Gothic"/>
                  </a:rPr>
                  <a:t>0</a:t>
                </a:r>
              </a:p>
            </p:txBody>
          </p:sp>
          <p:sp>
            <p:nvSpPr>
              <p:cNvPr id="34" name="Rectangle 34"/>
              <p:cNvSpPr/>
              <p:nvPr/>
            </p:nvSpPr>
            <p:spPr>
              <a:xfrm>
                <a:off x="7429500" y="5295900"/>
                <a:ext cx="571500" cy="38100"/>
              </a:xfrm>
              <a:prstGeom prst="rect">
                <a:avLst/>
              </a:prstGeom>
              <a:gradFill>
                <a:gsLst>
                  <a:gs pos="0">
                    <a:srgbClr val="E63946">
                      <a:alpha val="60000"/>
                    </a:srgbClr>
                  </a:gs>
                  <a:gs pos="100000">
                    <a:srgbClr val="E63946"/>
                  </a:gs>
                </a:gsLst>
                <a:lin ang="16200000" scaled="1"/>
              </a:gradFill>
              <a:ln>
                <a:noFill/>
              </a:ln>
            </p:spPr>
          </p:sp>
          <p:sp>
            <p:nvSpPr>
              <p:cNvPr id="35" name="TextBox 35"/>
              <p:cNvSpPr txBox="1"/>
              <p:nvPr/>
            </p:nvSpPr>
            <p:spPr>
              <a:xfrm>
                <a:off x="7633481" y="5030152"/>
                <a:ext cx="163537" cy="213360"/>
              </a:xfrm>
              <a:prstGeom prst="rect">
                <a:avLst/>
              </a:prstGeom>
              <a:noFill/>
              <a:ln>
                <a:noFill/>
              </a:ln>
            </p:spPr>
            <p:txBody>
              <a:bodyPr wrap="none" lIns="0" tIns="0" rIns="0" bIns="0" anchor="t" anchorCtr="0">
                <a:spAutoFit/>
              </a:bodyPr>
              <a:lstStyle/>
              <a:p>
                <a:pPr algn="ctr"/>
                <a:r>
                  <a:rPr lang="en-US" sz="1200" b="1" dirty="0">
                    <a:solidFill>
                      <a:srgbClr val="F2F4F8"/>
                    </a:solidFill>
                    <a:latin typeface="Malgun Gothic"/>
                    <a:ea typeface="Malgun Gothic"/>
                    <a:cs typeface="Malgun Gothic"/>
                  </a:rPr>
                  <a:t>1%</a:t>
                </a:r>
              </a:p>
            </p:txBody>
          </p:sp>
          <p:sp>
            <p:nvSpPr>
              <p:cNvPr id="36" name="Rectangle 36"/>
              <p:cNvSpPr/>
              <p:nvPr/>
            </p:nvSpPr>
            <p:spPr>
              <a:xfrm>
                <a:off x="8334375" y="4838700"/>
                <a:ext cx="571500" cy="495300"/>
              </a:xfrm>
              <a:prstGeom prst="rect">
                <a:avLst/>
              </a:prstGeom>
              <a:gradFill>
                <a:gsLst>
                  <a:gs pos="0">
                    <a:srgbClr val="E63946">
                      <a:alpha val="60000"/>
                    </a:srgbClr>
                  </a:gs>
                  <a:gs pos="100000">
                    <a:srgbClr val="E63946"/>
                  </a:gs>
                </a:gsLst>
                <a:lin ang="16200000" scaled="1"/>
              </a:gradFill>
              <a:ln>
                <a:noFill/>
              </a:ln>
            </p:spPr>
          </p:sp>
          <p:sp>
            <p:nvSpPr>
              <p:cNvPr id="37" name="TextBox 37"/>
              <p:cNvSpPr txBox="1"/>
              <p:nvPr/>
            </p:nvSpPr>
            <p:spPr>
              <a:xfrm>
                <a:off x="8494076" y="4630102"/>
                <a:ext cx="252098" cy="213360"/>
              </a:xfrm>
              <a:prstGeom prst="rect">
                <a:avLst/>
              </a:prstGeom>
              <a:noFill/>
              <a:ln>
                <a:noFill/>
              </a:ln>
            </p:spPr>
            <p:txBody>
              <a:bodyPr wrap="none" lIns="0" tIns="0" rIns="0" bIns="0" anchor="t" anchorCtr="0">
                <a:spAutoFit/>
              </a:bodyPr>
              <a:lstStyle/>
              <a:p>
                <a:pPr algn="ctr"/>
                <a:r>
                  <a:rPr lang="en-US" sz="1200" b="1" dirty="0">
                    <a:solidFill>
                      <a:srgbClr val="F2F4F8"/>
                    </a:solidFill>
                    <a:latin typeface="Malgun Gothic"/>
                    <a:ea typeface="Malgun Gothic"/>
                    <a:cs typeface="Malgun Gothic"/>
                  </a:rPr>
                  <a:t>13%</a:t>
                </a:r>
              </a:p>
            </p:txBody>
          </p:sp>
          <p:sp>
            <p:nvSpPr>
              <p:cNvPr id="38" name="Rectangle 38"/>
              <p:cNvSpPr/>
              <p:nvPr/>
            </p:nvSpPr>
            <p:spPr>
              <a:xfrm>
                <a:off x="9239250" y="4267200"/>
                <a:ext cx="571500" cy="1066800"/>
              </a:xfrm>
              <a:prstGeom prst="rect">
                <a:avLst/>
              </a:prstGeom>
              <a:gradFill>
                <a:gsLst>
                  <a:gs pos="0">
                    <a:srgbClr val="E63946">
                      <a:alpha val="60000"/>
                    </a:srgbClr>
                  </a:gs>
                  <a:gs pos="100000">
                    <a:srgbClr val="E63946"/>
                  </a:gs>
                </a:gsLst>
                <a:lin ang="16200000" scaled="1"/>
              </a:gradFill>
              <a:ln>
                <a:noFill/>
              </a:ln>
            </p:spPr>
          </p:sp>
          <p:sp>
            <p:nvSpPr>
              <p:cNvPr id="39" name="TextBox 39"/>
              <p:cNvSpPr txBox="1"/>
              <p:nvPr/>
            </p:nvSpPr>
            <p:spPr>
              <a:xfrm>
                <a:off x="9378823" y="4058602"/>
                <a:ext cx="292353" cy="213360"/>
              </a:xfrm>
              <a:prstGeom prst="rect">
                <a:avLst/>
              </a:prstGeom>
              <a:noFill/>
              <a:ln>
                <a:noFill/>
              </a:ln>
            </p:spPr>
            <p:txBody>
              <a:bodyPr wrap="none" lIns="0" tIns="0" rIns="0" bIns="0" anchor="t" anchorCtr="0">
                <a:spAutoFit/>
              </a:bodyPr>
              <a:lstStyle/>
              <a:p>
                <a:pPr algn="ctr"/>
                <a:r>
                  <a:rPr lang="en-US" sz="1200" b="1" dirty="0">
                    <a:solidFill>
                      <a:srgbClr val="F2F4F8"/>
                    </a:solidFill>
                    <a:latin typeface="Malgun Gothic"/>
                    <a:ea typeface="Malgun Gothic"/>
                    <a:cs typeface="Malgun Gothic"/>
                  </a:rPr>
                  <a:t>28%</a:t>
                </a:r>
              </a:p>
            </p:txBody>
          </p:sp>
          <p:sp>
            <p:nvSpPr>
              <p:cNvPr id="40" name="Rectangle 40"/>
              <p:cNvSpPr/>
              <p:nvPr/>
            </p:nvSpPr>
            <p:spPr>
              <a:xfrm>
                <a:off x="10144125" y="3771900"/>
                <a:ext cx="571500" cy="1562100"/>
              </a:xfrm>
              <a:prstGeom prst="rect">
                <a:avLst/>
              </a:prstGeom>
              <a:solidFill>
                <a:srgbClr val="E63946"/>
              </a:solidFill>
              <a:ln>
                <a:noFill/>
              </a:ln>
            </p:spPr>
          </p:sp>
          <p:sp>
            <p:nvSpPr>
              <p:cNvPr id="41" name="Rectangle 41"/>
              <p:cNvSpPr/>
              <p:nvPr/>
            </p:nvSpPr>
            <p:spPr>
              <a:xfrm>
                <a:off x="10144125" y="3771900"/>
                <a:ext cx="571500" cy="38100"/>
              </a:xfrm>
              <a:prstGeom prst="rect">
                <a:avLst/>
              </a:prstGeom>
              <a:solidFill>
                <a:srgbClr val="F2F4F8"/>
              </a:solidFill>
              <a:ln>
                <a:noFill/>
              </a:ln>
            </p:spPr>
          </p:sp>
          <p:sp>
            <p:nvSpPr>
              <p:cNvPr id="42" name="TextBox 42"/>
              <p:cNvSpPr txBox="1"/>
              <p:nvPr/>
            </p:nvSpPr>
            <p:spPr>
              <a:xfrm>
                <a:off x="10285819" y="3547110"/>
                <a:ext cx="288112" cy="243840"/>
              </a:xfrm>
              <a:prstGeom prst="rect">
                <a:avLst/>
              </a:prstGeom>
              <a:noFill/>
              <a:ln>
                <a:noFill/>
              </a:ln>
            </p:spPr>
            <p:txBody>
              <a:bodyPr wrap="none" lIns="0" tIns="0" rIns="0" bIns="0" anchor="t" anchorCtr="0">
                <a:spAutoFit/>
              </a:bodyPr>
              <a:lstStyle/>
              <a:p>
                <a:pPr algn="ctr"/>
                <a:r>
                  <a:rPr lang="en-US" sz="1200" b="1" dirty="0">
                    <a:solidFill>
                      <a:srgbClr val="E63946"/>
                    </a:solidFill>
                    <a:latin typeface="Malgun Gothic"/>
                    <a:ea typeface="Malgun Gothic"/>
                    <a:cs typeface="Malgun Gothic"/>
                  </a:rPr>
                  <a:t>41%</a:t>
                </a:r>
              </a:p>
            </p:txBody>
          </p:sp>
          <p:sp>
            <p:nvSpPr>
              <p:cNvPr id="43" name="Rectangle 43"/>
              <p:cNvSpPr/>
              <p:nvPr/>
            </p:nvSpPr>
            <p:spPr>
              <a:xfrm>
                <a:off x="11049000" y="3238500"/>
                <a:ext cx="571500" cy="2095500"/>
              </a:xfrm>
              <a:prstGeom prst="rect">
                <a:avLst/>
              </a:prstGeom>
              <a:gradFill>
                <a:gsLst>
                  <a:gs pos="0">
                    <a:srgbClr val="F4A261">
                      <a:alpha val="50000"/>
                    </a:srgbClr>
                  </a:gs>
                  <a:gs pos="100000">
                    <a:srgbClr val="F4A261">
                      <a:alpha val="90000"/>
                    </a:srgbClr>
                  </a:gs>
                </a:gsLst>
                <a:lin ang="16200000" scaled="1"/>
              </a:gradFill>
              <a:ln w="9525">
                <a:solidFill>
                  <a:srgbClr val="F4A261"/>
                </a:solidFill>
                <a:custDash>
                  <a:ds d="300000" sp="300000"/>
                </a:custDash>
              </a:ln>
            </p:spPr>
          </p:sp>
          <p:sp>
            <p:nvSpPr>
              <p:cNvPr id="44" name="TextBox 44"/>
              <p:cNvSpPr txBox="1"/>
              <p:nvPr/>
            </p:nvSpPr>
            <p:spPr>
              <a:xfrm>
                <a:off x="11188573" y="3029902"/>
                <a:ext cx="292353" cy="213360"/>
              </a:xfrm>
              <a:prstGeom prst="rect">
                <a:avLst/>
              </a:prstGeom>
              <a:noFill/>
              <a:ln>
                <a:noFill/>
              </a:ln>
            </p:spPr>
            <p:txBody>
              <a:bodyPr wrap="none" lIns="0" tIns="0" rIns="0" bIns="0" anchor="t" anchorCtr="0">
                <a:spAutoFit/>
              </a:bodyPr>
              <a:lstStyle/>
              <a:p>
                <a:pPr algn="ctr"/>
                <a:r>
                  <a:rPr lang="en-US" sz="1200" b="1" dirty="0">
                    <a:solidFill>
                      <a:srgbClr val="F4A261"/>
                    </a:solidFill>
                    <a:latin typeface="Malgun Gothic"/>
                    <a:ea typeface="Malgun Gothic"/>
                    <a:cs typeface="Malgun Gothic"/>
                  </a:rPr>
                  <a:t>55%</a:t>
                </a:r>
              </a:p>
            </p:txBody>
          </p:sp>
          <p:sp>
            <p:nvSpPr>
              <p:cNvPr id="45" name="TextBox 45"/>
              <p:cNvSpPr txBox="1"/>
              <p:nvPr/>
            </p:nvSpPr>
            <p:spPr>
              <a:xfrm>
                <a:off x="7575661" y="5446395"/>
                <a:ext cx="279178" cy="182880"/>
              </a:xfrm>
              <a:prstGeom prst="rect">
                <a:avLst/>
              </a:prstGeom>
              <a:noFill/>
              <a:ln>
                <a:noFill/>
              </a:ln>
            </p:spPr>
            <p:txBody>
              <a:bodyPr wrap="none" lIns="0" tIns="0" rIns="0" bIns="0" anchor="t" anchorCtr="0">
                <a:spAutoFit/>
              </a:bodyPr>
              <a:lstStyle/>
              <a:p>
                <a:pPr algn="ctr"/>
                <a:r>
                  <a:rPr lang="en-US" sz="1200" dirty="0">
                    <a:solidFill>
                      <a:srgbClr val="8A92A6"/>
                    </a:solidFill>
                    <a:latin typeface="Malgun Gothic"/>
                    <a:ea typeface="Malgun Gothic"/>
                    <a:cs typeface="Malgun Gothic"/>
                  </a:rPr>
                  <a:t>2021</a:t>
                </a:r>
              </a:p>
            </p:txBody>
          </p:sp>
          <p:sp>
            <p:nvSpPr>
              <p:cNvPr id="46" name="TextBox 46"/>
              <p:cNvSpPr txBox="1"/>
              <p:nvPr/>
            </p:nvSpPr>
            <p:spPr>
              <a:xfrm>
                <a:off x="8464106" y="5446395"/>
                <a:ext cx="312039" cy="182880"/>
              </a:xfrm>
              <a:prstGeom prst="rect">
                <a:avLst/>
              </a:prstGeom>
              <a:noFill/>
              <a:ln>
                <a:noFill/>
              </a:ln>
            </p:spPr>
            <p:txBody>
              <a:bodyPr wrap="none" lIns="0" tIns="0" rIns="0" bIns="0" anchor="t" anchorCtr="0">
                <a:spAutoFit/>
              </a:bodyPr>
              <a:lstStyle/>
              <a:p>
                <a:pPr algn="ctr"/>
                <a:r>
                  <a:rPr lang="en-US" sz="1200" dirty="0">
                    <a:solidFill>
                      <a:srgbClr val="8A92A6"/>
                    </a:solidFill>
                    <a:latin typeface="Malgun Gothic"/>
                    <a:ea typeface="Malgun Gothic"/>
                    <a:cs typeface="Malgun Gothic"/>
                  </a:rPr>
                  <a:t>2022</a:t>
                </a:r>
              </a:p>
            </p:txBody>
          </p:sp>
          <p:sp>
            <p:nvSpPr>
              <p:cNvPr id="47" name="TextBox 47"/>
              <p:cNvSpPr txBox="1"/>
              <p:nvPr/>
            </p:nvSpPr>
            <p:spPr>
              <a:xfrm>
                <a:off x="9368980" y="5446395"/>
                <a:ext cx="312039" cy="182880"/>
              </a:xfrm>
              <a:prstGeom prst="rect">
                <a:avLst/>
              </a:prstGeom>
              <a:noFill/>
              <a:ln>
                <a:noFill/>
              </a:ln>
            </p:spPr>
            <p:txBody>
              <a:bodyPr wrap="none" lIns="0" tIns="0" rIns="0" bIns="0" anchor="t" anchorCtr="0">
                <a:spAutoFit/>
              </a:bodyPr>
              <a:lstStyle/>
              <a:p>
                <a:pPr algn="ctr"/>
                <a:r>
                  <a:rPr lang="en-US" sz="1200" dirty="0">
                    <a:solidFill>
                      <a:srgbClr val="8A92A6"/>
                    </a:solidFill>
                    <a:latin typeface="Malgun Gothic"/>
                    <a:ea typeface="Malgun Gothic"/>
                    <a:cs typeface="Malgun Gothic"/>
                  </a:rPr>
                  <a:t>2023</a:t>
                </a:r>
              </a:p>
            </p:txBody>
          </p:sp>
          <p:sp>
            <p:nvSpPr>
              <p:cNvPr id="48" name="TextBox 48"/>
              <p:cNvSpPr txBox="1"/>
              <p:nvPr/>
            </p:nvSpPr>
            <p:spPr>
              <a:xfrm>
                <a:off x="10266626" y="5446395"/>
                <a:ext cx="326498" cy="182880"/>
              </a:xfrm>
              <a:prstGeom prst="rect">
                <a:avLst/>
              </a:prstGeom>
              <a:noFill/>
              <a:ln>
                <a:noFill/>
              </a:ln>
            </p:spPr>
            <p:txBody>
              <a:bodyPr wrap="none" lIns="0" tIns="0" rIns="0" bIns="0" anchor="t" anchorCtr="0">
                <a:spAutoFit/>
              </a:bodyPr>
              <a:lstStyle/>
              <a:p>
                <a:pPr algn="ctr"/>
                <a:r>
                  <a:rPr lang="en-US" sz="1200" b="1" dirty="0">
                    <a:solidFill>
                      <a:srgbClr val="F2F4F8"/>
                    </a:solidFill>
                    <a:latin typeface="Malgun Gothic"/>
                    <a:ea typeface="Malgun Gothic"/>
                    <a:cs typeface="Malgun Gothic"/>
                  </a:rPr>
                  <a:t>2024</a:t>
                </a:r>
              </a:p>
            </p:txBody>
          </p:sp>
          <p:sp>
            <p:nvSpPr>
              <p:cNvPr id="49" name="TextBox 49"/>
              <p:cNvSpPr txBox="1"/>
              <p:nvPr/>
            </p:nvSpPr>
            <p:spPr>
              <a:xfrm>
                <a:off x="11142583" y="5446395"/>
                <a:ext cx="384334" cy="182880"/>
              </a:xfrm>
              <a:prstGeom prst="rect">
                <a:avLst/>
              </a:prstGeom>
              <a:noFill/>
              <a:ln>
                <a:noFill/>
              </a:ln>
            </p:spPr>
            <p:txBody>
              <a:bodyPr wrap="none" lIns="0" tIns="0" rIns="0" bIns="0" anchor="t" anchorCtr="0">
                <a:spAutoFit/>
              </a:bodyPr>
              <a:lstStyle/>
              <a:p>
                <a:pPr algn="ctr"/>
                <a:r>
                  <a:rPr lang="en-US" sz="1200" dirty="0">
                    <a:solidFill>
                      <a:srgbClr val="F4A261"/>
                    </a:solidFill>
                    <a:latin typeface="Malgun Gothic"/>
                    <a:ea typeface="Malgun Gothic"/>
                    <a:cs typeface="Malgun Gothic"/>
                  </a:rPr>
                  <a:t>2025*</a:t>
                </a:r>
              </a:p>
            </p:txBody>
          </p:sp>
        </p:grpSp>
        <p:grpSp>
          <p:nvGrpSpPr>
            <p:cNvPr id="55" name="Group 55"/>
            <p:cNvGrpSpPr/>
            <p:nvPr/>
          </p:nvGrpSpPr>
          <p:grpSpPr>
            <a:xfrm>
              <a:off x="6858000" y="5854541"/>
              <a:ext cx="3160609" cy="167640"/>
              <a:chOff x="6858000" y="5854541"/>
              <a:chExt cx="3160609" cy="167640"/>
            </a:xfrm>
          </p:grpSpPr>
          <p:sp>
            <p:nvSpPr>
              <p:cNvPr id="51" name="Rectangle 51"/>
              <p:cNvSpPr/>
              <p:nvPr/>
            </p:nvSpPr>
            <p:spPr>
              <a:xfrm>
                <a:off x="6858000" y="5857875"/>
                <a:ext cx="95250" cy="95250"/>
              </a:xfrm>
              <a:prstGeom prst="rect">
                <a:avLst/>
              </a:prstGeom>
              <a:solidFill>
                <a:srgbClr val="E63946"/>
              </a:solidFill>
              <a:ln>
                <a:noFill/>
              </a:ln>
            </p:spPr>
          </p:sp>
          <p:sp>
            <p:nvSpPr>
              <p:cNvPr id="52" name="TextBox 52"/>
              <p:cNvSpPr txBox="1"/>
              <p:nvPr/>
            </p:nvSpPr>
            <p:spPr>
              <a:xfrm>
                <a:off x="6999922" y="5854541"/>
                <a:ext cx="1575292" cy="16764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실측치 (GitHub Octoverse)</a:t>
                </a:r>
              </a:p>
            </p:txBody>
          </p:sp>
          <p:sp>
            <p:nvSpPr>
              <p:cNvPr id="53" name="Rectangle 53"/>
              <p:cNvSpPr/>
              <p:nvPr/>
            </p:nvSpPr>
            <p:spPr>
              <a:xfrm>
                <a:off x="8572500" y="5857875"/>
                <a:ext cx="95250" cy="95250"/>
              </a:xfrm>
              <a:prstGeom prst="rect">
                <a:avLst/>
              </a:prstGeom>
              <a:gradFill>
                <a:gsLst>
                  <a:gs pos="0">
                    <a:srgbClr val="F4A261">
                      <a:alpha val="50000"/>
                    </a:srgbClr>
                  </a:gs>
                  <a:gs pos="100000">
                    <a:srgbClr val="F4A261">
                      <a:alpha val="90000"/>
                    </a:srgbClr>
                  </a:gs>
                </a:gsLst>
                <a:lin ang="16200000" scaled="1"/>
              </a:gradFill>
              <a:ln w="9525">
                <a:solidFill>
                  <a:srgbClr val="F4A261"/>
                </a:solidFill>
                <a:prstDash val="sysDot"/>
              </a:ln>
            </p:spPr>
          </p:sp>
          <p:sp>
            <p:nvSpPr>
              <p:cNvPr id="54" name="TextBox 54"/>
              <p:cNvSpPr txBox="1"/>
              <p:nvPr/>
            </p:nvSpPr>
            <p:spPr>
              <a:xfrm>
                <a:off x="8714422" y="5854541"/>
                <a:ext cx="1304187" cy="16764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 2025년은 외삽 추정치</a:t>
                </a:r>
              </a:p>
            </p:txBody>
          </p:sp>
        </p:grpSp>
      </p:grpSp>
      <p:grpSp>
        <p:nvGrpSpPr>
          <p:cNvPr id="60" name="Group 60"/>
          <p:cNvGrpSpPr/>
          <p:nvPr/>
        </p:nvGrpSpPr>
        <p:grpSpPr>
          <a:xfrm>
            <a:off x="598170" y="6286500"/>
            <a:ext cx="10995659" cy="352425"/>
            <a:chOff x="598170" y="6286500"/>
            <a:chExt cx="10995659" cy="352425"/>
          </a:xfrm>
        </p:grpSpPr>
        <p:sp>
          <p:nvSpPr>
            <p:cNvPr id="57" name="Line 57"/>
            <p:cNvSpPr/>
            <p:nvPr/>
          </p:nvSpPr>
          <p:spPr>
            <a:xfrm>
              <a:off x="609600" y="6286500"/>
              <a:ext cx="10972800" cy="9525"/>
            </a:xfrm>
            <a:custGeom>
              <a:avLst/>
              <a:gdLst/>
              <a:ahLst/>
              <a:cxnLst/>
              <a:rect l="l" t="t" r="r" b="b"/>
              <a:pathLst>
                <a:path w="10972800" h="9525">
                  <a:moveTo>
                    <a:pt x="0" y="0"/>
                  </a:moveTo>
                  <a:lnTo>
                    <a:pt x="10972800" y="0"/>
                  </a:lnTo>
                </a:path>
              </a:pathLst>
            </a:custGeom>
            <a:noFill/>
            <a:ln w="9525">
              <a:solidFill>
                <a:srgbClr val="2A2F3A"/>
              </a:solidFill>
            </a:ln>
          </p:spPr>
        </p:sp>
        <p:sp>
          <p:nvSpPr>
            <p:cNvPr id="58" name="TextBox 58"/>
            <p:cNvSpPr txBox="1"/>
            <p:nvPr/>
          </p:nvSpPr>
          <p:spPr>
            <a:xfrm>
              <a:off x="598170" y="6456045"/>
              <a:ext cx="5017770" cy="18288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출처: GitHub Octoverse 2024, Stack Overflow Developer Survey 2024 종합 분석</a:t>
              </a:r>
            </a:p>
          </p:txBody>
        </p:sp>
        <p:sp>
          <p:nvSpPr>
            <p:cNvPr id="59" name="TextBox 59"/>
            <p:cNvSpPr txBox="1"/>
            <p:nvPr/>
          </p:nvSpPr>
          <p:spPr>
            <a:xfrm>
              <a:off x="10217086" y="6456045"/>
              <a:ext cx="1376743" cy="182880"/>
            </a:xfrm>
            <a:prstGeom prst="rect">
              <a:avLst/>
            </a:prstGeom>
            <a:noFill/>
            <a:ln>
              <a:noFill/>
            </a:ln>
          </p:spPr>
          <p:txBody>
            <a:bodyPr wrap="none" lIns="0" tIns="0" rIns="0" bIns="0" anchor="t" anchorCtr="0">
              <a:spAutoFit/>
            </a:bodyPr>
            <a:lstStyle/>
            <a:p>
              <a:pPr algn="r"/>
              <a:r>
                <a:rPr lang="ko-KR" sz="1200" dirty="0">
                  <a:solidFill>
                    <a:srgbClr val="8A92A6"/>
                  </a:solidFill>
                  <a:latin typeface="Malgun Gothic"/>
                  <a:ea typeface="Malgun Gothic"/>
                  <a:cs typeface="Malgun Gothic"/>
                </a:rPr>
                <a:t>개발자의 종말: AI 시대</a:t>
              </a:r>
            </a:p>
          </p:txBody>
        </p:sp>
      </p:grpSp>
    </p:spTree>
  </p:cSld>
  <p:clrMapOvr>
    <a:masterClrMapping/>
  </p:clrMapOvr>
  <p:transition xmlns:p14="http://schemas.microsoft.com/office/powerpoint/2010/main" p14:dur="5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B0D12"/>
          </a:solidFill>
          <a:ln>
            <a:noFill/>
          </a:ln>
        </p:spPr>
      </p:sp>
      <p:sp>
        <p:nvSpPr>
          <p:cNvPr id="3" name="Rectangle 3"/>
          <p:cNvSpPr/>
          <p:nvPr/>
        </p:nvSpPr>
        <p:spPr>
          <a:xfrm>
            <a:off x="0" y="0"/>
            <a:ext cx="12192000" cy="6858000"/>
          </a:xfrm>
          <a:prstGeom prst="rect">
            <a:avLst/>
          </a:prstGeom>
          <a:gradFill>
            <a:gsLst>
              <a:gs pos="0">
                <a:srgbClr val="E63946">
                  <a:alpha val="18000"/>
                </a:srgbClr>
              </a:gs>
              <a:gs pos="60000">
                <a:srgbClr val="2A0A12">
                  <a:alpha val="8000"/>
                </a:srgbClr>
              </a:gs>
              <a:gs pos="100000">
                <a:srgbClr val="0B0D12">
                  <a:alpha val="0"/>
                </a:srgbClr>
              </a:gs>
            </a:gsLst>
            <a:path path="circle">
              <a:fillToRect l="50000" t="50000" r="50000" b="50000"/>
            </a:path>
          </a:gradFill>
          <a:ln>
            <a:noFill/>
          </a:ln>
        </p:spPr>
      </p:sp>
      <p:sp>
        <p:nvSpPr>
          <p:cNvPr id="4" name="Rectangle 4"/>
          <p:cNvSpPr/>
          <p:nvPr/>
        </p:nvSpPr>
        <p:spPr>
          <a:xfrm>
            <a:off x="609600" y="533400"/>
            <a:ext cx="381000" cy="28575"/>
          </a:xfrm>
          <a:prstGeom prst="rect">
            <a:avLst/>
          </a:prstGeom>
          <a:solidFill>
            <a:srgbClr val="E63946"/>
          </a:solidFill>
          <a:ln>
            <a:noFill/>
          </a:ln>
        </p:spPr>
      </p:sp>
      <p:sp>
        <p:nvSpPr>
          <p:cNvPr id="5" name="TextBox 5"/>
          <p:cNvSpPr txBox="1"/>
          <p:nvPr/>
        </p:nvSpPr>
        <p:spPr>
          <a:xfrm>
            <a:off x="1091565" y="477202"/>
            <a:ext cx="1741534" cy="213360"/>
          </a:xfrm>
          <a:prstGeom prst="rect">
            <a:avLst/>
          </a:prstGeom>
          <a:noFill/>
          <a:ln>
            <a:noFill/>
          </a:ln>
        </p:spPr>
        <p:txBody>
          <a:bodyPr wrap="none" lIns="0" tIns="0" rIns="0" bIns="0" anchor="t" anchorCtr="0">
            <a:spAutoFit/>
          </a:bodyPr>
          <a:lstStyle/>
          <a:p>
            <a:pPr algn="l"/>
            <a:r>
              <a:rPr lang="ko-KR" sz="1200" b="1" dirty="0">
                <a:solidFill>
                  <a:srgbClr val="8A92A6"/>
                </a:solidFill>
                <a:latin typeface="Malgun Gothic"/>
                <a:ea typeface="Malgun Gothic"/>
                <a:cs typeface="Malgun Gothic"/>
              </a:rPr>
              <a:t>SECTION 02 — 현실 진단</a:t>
            </a:r>
          </a:p>
        </p:txBody>
      </p:sp>
      <p:sp>
        <p:nvSpPr>
          <p:cNvPr id="6" name="TextBox 6"/>
          <p:cNvSpPr txBox="1"/>
          <p:nvPr/>
        </p:nvSpPr>
        <p:spPr>
          <a:xfrm>
            <a:off x="571500" y="895350"/>
            <a:ext cx="4952810" cy="609600"/>
          </a:xfrm>
          <a:prstGeom prst="rect">
            <a:avLst/>
          </a:prstGeom>
          <a:noFill/>
          <a:ln>
            <a:noFill/>
          </a:ln>
        </p:spPr>
        <p:txBody>
          <a:bodyPr wrap="none" lIns="0" tIns="0" rIns="0" bIns="0" anchor="t" anchorCtr="0">
            <a:spAutoFit/>
          </a:bodyPr>
          <a:lstStyle/>
          <a:p>
            <a:pPr algn="l"/>
            <a:r>
              <a:rPr lang="ko-KR" sz="3000" b="1" dirty="0">
                <a:solidFill>
                  <a:srgbClr val="F2F4F8"/>
                </a:solidFill>
                <a:latin typeface="Malgun Gothic"/>
                <a:ea typeface="Malgun Gothic"/>
                <a:cs typeface="Malgun Gothic"/>
              </a:rPr>
              <a:t>무엇이 사라지고 있는가</a:t>
            </a:r>
          </a:p>
        </p:txBody>
      </p:sp>
      <p:sp>
        <p:nvSpPr>
          <p:cNvPr id="7" name="TextBox 7"/>
          <p:cNvSpPr txBox="1"/>
          <p:nvPr/>
        </p:nvSpPr>
        <p:spPr>
          <a:xfrm>
            <a:off x="592455" y="1435418"/>
            <a:ext cx="6166199" cy="274320"/>
          </a:xfrm>
          <a:prstGeom prst="rect">
            <a:avLst/>
          </a:prstGeom>
          <a:noFill/>
          <a:ln>
            <a:noFill/>
          </a:ln>
        </p:spPr>
        <p:txBody>
          <a:bodyPr wrap="none" lIns="0" tIns="0" rIns="0" bIns="0" anchor="t" anchorCtr="0">
            <a:spAutoFit/>
          </a:bodyPr>
          <a:lstStyle/>
          <a:p>
            <a:pPr algn="l"/>
            <a:r>
              <a:rPr lang="ko-KR" sz="1350" dirty="0">
                <a:solidFill>
                  <a:srgbClr val="8A92A6"/>
                </a:solidFill>
                <a:latin typeface="Malgun Gothic"/>
                <a:ea typeface="Malgun Gothic"/>
                <a:cs typeface="Malgun Gothic"/>
              </a:rPr>
              <a:t>한때 개발자의 핵심 역량이었던 작업들이 빠르게 자동화되고 있습니다</a:t>
            </a:r>
          </a:p>
        </p:txBody>
      </p:sp>
      <p:sp>
        <p:nvSpPr>
          <p:cNvPr id="8" name="Rectangle 8"/>
          <p:cNvSpPr/>
          <p:nvPr/>
        </p:nvSpPr>
        <p:spPr>
          <a:xfrm>
            <a:off x="609600" y="1809750"/>
            <a:ext cx="10972800" cy="9525"/>
          </a:xfrm>
          <a:prstGeom prst="rect">
            <a:avLst/>
          </a:prstGeom>
          <a:solidFill>
            <a:srgbClr val="2A2F3A"/>
          </a:solidFill>
          <a:ln>
            <a:noFill/>
          </a:ln>
        </p:spPr>
      </p:sp>
      <p:sp>
        <p:nvSpPr>
          <p:cNvPr id="9" name="TextBox 9"/>
          <p:cNvSpPr txBox="1"/>
          <p:nvPr/>
        </p:nvSpPr>
        <p:spPr>
          <a:xfrm>
            <a:off x="476250" y="1628775"/>
            <a:ext cx="1152311" cy="2133600"/>
          </a:xfrm>
          <a:prstGeom prst="rect">
            <a:avLst/>
          </a:prstGeom>
          <a:noFill/>
          <a:ln>
            <a:noFill/>
          </a:ln>
        </p:spPr>
        <p:txBody>
          <a:bodyPr wrap="none" lIns="0" tIns="0" rIns="0" bIns="0" anchor="t" anchorCtr="0">
            <a:spAutoFit/>
          </a:bodyPr>
          <a:lstStyle/>
          <a:p>
            <a:pPr algn="l"/>
            <a:r>
              <a:rPr lang="en-US" sz="10500" b="1" dirty="0">
                <a:solidFill>
                  <a:srgbClr val="E63946">
                    <a:alphaMod val="85000"/>
                  </a:srgbClr>
                </a:solidFill>
                <a:latin typeface="Times New Roman"/>
                <a:ea typeface="Nanum Myeongjo"/>
                <a:cs typeface="Times New Roman"/>
              </a:rPr>
              <a:t>“</a:t>
            </a:r>
          </a:p>
        </p:txBody>
      </p:sp>
      <p:sp>
        <p:nvSpPr>
          <p:cNvPr id="10" name="TextBox 10"/>
          <p:cNvSpPr txBox="1"/>
          <p:nvPr/>
        </p:nvSpPr>
        <p:spPr>
          <a:xfrm>
            <a:off x="579120" y="3265170"/>
            <a:ext cx="2490064" cy="487680"/>
          </a:xfrm>
          <a:prstGeom prst="rect">
            <a:avLst/>
          </a:prstGeom>
          <a:noFill/>
          <a:ln>
            <a:noFill/>
          </a:ln>
        </p:spPr>
        <p:txBody>
          <a:bodyPr wrap="none" lIns="0" tIns="0" rIns="0" bIns="0" anchor="t" anchorCtr="0">
            <a:spAutoFit/>
          </a:bodyPr>
          <a:lstStyle/>
          <a:p>
            <a:pPr algn="l"/>
            <a:r>
              <a:rPr lang="ko-KR" sz="2400" b="1" dirty="0">
                <a:solidFill>
                  <a:srgbClr val="F2F4F8"/>
                </a:solidFill>
                <a:latin typeface="Times New Roman"/>
                <a:ea typeface="Nanum Myeongjo"/>
                <a:cs typeface="Times New Roman"/>
              </a:rPr>
              <a:t>코드를 잘 쓰는</a:t>
            </a:r>
          </a:p>
        </p:txBody>
      </p:sp>
      <p:sp>
        <p:nvSpPr>
          <p:cNvPr id="11" name="TextBox 11"/>
          <p:cNvSpPr txBox="1"/>
          <p:nvPr/>
        </p:nvSpPr>
        <p:spPr>
          <a:xfrm>
            <a:off x="579120" y="3665220"/>
            <a:ext cx="797052" cy="487680"/>
          </a:xfrm>
          <a:prstGeom prst="rect">
            <a:avLst/>
          </a:prstGeom>
          <a:noFill/>
          <a:ln>
            <a:noFill/>
          </a:ln>
        </p:spPr>
        <p:txBody>
          <a:bodyPr wrap="none" lIns="0" tIns="0" rIns="0" bIns="0" anchor="t" anchorCtr="0">
            <a:spAutoFit/>
          </a:bodyPr>
          <a:lstStyle/>
          <a:p>
            <a:pPr algn="l"/>
            <a:r>
              <a:rPr lang="ko-KR" sz="2400" b="1" dirty="0">
                <a:solidFill>
                  <a:srgbClr val="F2F4F8"/>
                </a:solidFill>
                <a:latin typeface="Times New Roman"/>
                <a:ea typeface="Nanum Myeongjo"/>
                <a:cs typeface="Times New Roman"/>
              </a:rPr>
              <a:t>사람</a:t>
            </a:r>
          </a:p>
        </p:txBody>
      </p:sp>
      <p:sp>
        <p:nvSpPr>
          <p:cNvPr id="12" name="Line 12"/>
          <p:cNvSpPr/>
          <p:nvPr/>
        </p:nvSpPr>
        <p:spPr>
          <a:xfrm>
            <a:off x="609600" y="4381500"/>
            <a:ext cx="914400" cy="9525"/>
          </a:xfrm>
          <a:custGeom>
            <a:avLst/>
            <a:gdLst/>
            <a:ahLst/>
            <a:cxnLst/>
            <a:rect l="l" t="t" r="r" b="b"/>
            <a:pathLst>
              <a:path w="914400" h="9525">
                <a:moveTo>
                  <a:pt x="0" y="0"/>
                </a:moveTo>
                <a:lnTo>
                  <a:pt x="914400" y="0"/>
                </a:lnTo>
              </a:path>
            </a:pathLst>
          </a:custGeom>
          <a:noFill/>
          <a:ln w="19050">
            <a:solidFill>
              <a:srgbClr val="E63946"/>
            </a:solidFill>
          </a:ln>
        </p:spPr>
      </p:sp>
      <p:sp>
        <p:nvSpPr>
          <p:cNvPr id="13" name="Polygon 13"/>
          <p:cNvSpPr/>
          <p:nvPr/>
        </p:nvSpPr>
        <p:spPr>
          <a:xfrm>
            <a:off x="1524000" y="4333875"/>
            <a:ext cx="114300" cy="95250"/>
          </a:xfrm>
          <a:custGeom>
            <a:avLst/>
            <a:gdLst/>
            <a:ahLst/>
            <a:cxnLst/>
            <a:rect l="l" t="t" r="r" b="b"/>
            <a:pathLst>
              <a:path w="114300" h="95250">
                <a:moveTo>
                  <a:pt x="0" y="0"/>
                </a:moveTo>
                <a:lnTo>
                  <a:pt x="114300" y="47625"/>
                </a:lnTo>
                <a:lnTo>
                  <a:pt x="0" y="95250"/>
                </a:lnTo>
                <a:close/>
              </a:path>
            </a:pathLst>
          </a:custGeom>
          <a:solidFill>
            <a:srgbClr val="E63946"/>
          </a:solidFill>
          <a:ln>
            <a:noFill/>
          </a:ln>
        </p:spPr>
      </p:sp>
      <p:sp>
        <p:nvSpPr>
          <p:cNvPr id="14" name="TextBox 14"/>
          <p:cNvSpPr txBox="1"/>
          <p:nvPr/>
        </p:nvSpPr>
        <p:spPr>
          <a:xfrm>
            <a:off x="518160" y="4366260"/>
            <a:ext cx="790156" cy="1463040"/>
          </a:xfrm>
          <a:prstGeom prst="rect">
            <a:avLst/>
          </a:prstGeom>
          <a:noFill/>
          <a:ln>
            <a:noFill/>
          </a:ln>
        </p:spPr>
        <p:txBody>
          <a:bodyPr wrap="none" lIns="0" tIns="0" rIns="0" bIns="0" anchor="t" anchorCtr="0">
            <a:spAutoFit/>
          </a:bodyPr>
          <a:lstStyle/>
          <a:p>
            <a:pPr algn="l"/>
            <a:r>
              <a:rPr lang="en-US" sz="7200" b="1" dirty="0">
                <a:solidFill>
                  <a:srgbClr val="E63946"/>
                </a:solidFill>
                <a:latin typeface="Malgun Gothic"/>
                <a:ea typeface="Malgun Gothic"/>
                <a:cs typeface="Malgun Gothic"/>
              </a:rPr>
              <a:t>?</a:t>
            </a:r>
          </a:p>
        </p:txBody>
      </p:sp>
      <p:sp>
        <p:nvSpPr>
          <p:cNvPr id="15" name="TextBox 15"/>
          <p:cNvSpPr txBox="1"/>
          <p:nvPr/>
        </p:nvSpPr>
        <p:spPr>
          <a:xfrm>
            <a:off x="596265" y="5601652"/>
            <a:ext cx="1897570" cy="21336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이제 다시 정의해야 할 시점</a:t>
            </a:r>
          </a:p>
        </p:txBody>
      </p:sp>
      <p:sp>
        <p:nvSpPr>
          <p:cNvPr id="16" name="Rectangle 16"/>
          <p:cNvSpPr/>
          <p:nvPr/>
        </p:nvSpPr>
        <p:spPr>
          <a:xfrm>
            <a:off x="4286250" y="2095500"/>
            <a:ext cx="9525" cy="4191000"/>
          </a:xfrm>
          <a:prstGeom prst="rect">
            <a:avLst/>
          </a:prstGeom>
          <a:solidFill>
            <a:srgbClr val="2A2F3A"/>
          </a:solidFill>
          <a:ln>
            <a:noFill/>
          </a:ln>
        </p:spPr>
      </p:sp>
      <p:sp>
        <p:nvSpPr>
          <p:cNvPr id="17" name="TextBox 17"/>
          <p:cNvSpPr txBox="1"/>
          <p:nvPr/>
        </p:nvSpPr>
        <p:spPr>
          <a:xfrm>
            <a:off x="4751070" y="2112645"/>
            <a:ext cx="616334" cy="182880"/>
          </a:xfrm>
          <a:prstGeom prst="rect">
            <a:avLst/>
          </a:prstGeom>
          <a:noFill/>
          <a:ln>
            <a:noFill/>
          </a:ln>
        </p:spPr>
        <p:txBody>
          <a:bodyPr wrap="none" lIns="0" tIns="0" rIns="0" bIns="0" anchor="t" anchorCtr="0">
            <a:spAutoFit/>
          </a:bodyPr>
          <a:lstStyle/>
          <a:p>
            <a:pPr algn="l"/>
            <a:r>
              <a:rPr lang="ko-KR" sz="1200" b="1" dirty="0">
                <a:solidFill>
                  <a:srgbClr val="8A92A6"/>
                </a:solidFill>
                <a:latin typeface="Malgun Gothic"/>
                <a:ea typeface="Malgun Gothic"/>
                <a:cs typeface="Malgun Gothic"/>
              </a:rPr>
              <a:t>작업 영역</a:t>
            </a:r>
          </a:p>
        </p:txBody>
      </p:sp>
      <p:sp>
        <p:nvSpPr>
          <p:cNvPr id="18" name="TextBox 18"/>
          <p:cNvSpPr txBox="1"/>
          <p:nvPr/>
        </p:nvSpPr>
        <p:spPr>
          <a:xfrm>
            <a:off x="10275570" y="2112645"/>
            <a:ext cx="616334" cy="182880"/>
          </a:xfrm>
          <a:prstGeom prst="rect">
            <a:avLst/>
          </a:prstGeom>
          <a:noFill/>
          <a:ln>
            <a:noFill/>
          </a:ln>
        </p:spPr>
        <p:txBody>
          <a:bodyPr wrap="none" lIns="0" tIns="0" rIns="0" bIns="0" anchor="t" anchorCtr="0">
            <a:spAutoFit/>
          </a:bodyPr>
          <a:lstStyle/>
          <a:p>
            <a:pPr algn="l"/>
            <a:r>
              <a:rPr lang="ko-KR" sz="1200" b="1" dirty="0">
                <a:solidFill>
                  <a:srgbClr val="8A92A6"/>
                </a:solidFill>
                <a:latin typeface="Malgun Gothic"/>
                <a:ea typeface="Malgun Gothic"/>
                <a:cs typeface="Malgun Gothic"/>
              </a:rPr>
              <a:t>현재 상태</a:t>
            </a:r>
          </a:p>
        </p:txBody>
      </p:sp>
      <p:sp>
        <p:nvSpPr>
          <p:cNvPr id="19" name="Rectangle 19"/>
          <p:cNvSpPr/>
          <p:nvPr/>
        </p:nvSpPr>
        <p:spPr>
          <a:xfrm>
            <a:off x="4762500" y="2362200"/>
            <a:ext cx="6819900" cy="9525"/>
          </a:xfrm>
          <a:prstGeom prst="rect">
            <a:avLst/>
          </a:prstGeom>
          <a:solidFill>
            <a:srgbClr val="2A2F3A"/>
          </a:solidFill>
          <a:ln>
            <a:noFill/>
          </a:ln>
        </p:spPr>
      </p:sp>
      <p:sp>
        <p:nvSpPr>
          <p:cNvPr id="20" name="TextBox 20"/>
          <p:cNvSpPr txBox="1"/>
          <p:nvPr/>
        </p:nvSpPr>
        <p:spPr>
          <a:xfrm>
            <a:off x="4750118" y="2695099"/>
            <a:ext cx="151856" cy="198120"/>
          </a:xfrm>
          <a:prstGeom prst="rect">
            <a:avLst/>
          </a:prstGeom>
          <a:noFill/>
          <a:ln>
            <a:noFill/>
          </a:ln>
        </p:spPr>
        <p:txBody>
          <a:bodyPr wrap="none" lIns="0" tIns="0" rIns="0" bIns="0" anchor="t" anchorCtr="0">
            <a:spAutoFit/>
          </a:bodyPr>
          <a:lstStyle/>
          <a:p>
            <a:pPr algn="l"/>
            <a:r>
              <a:rPr lang="en-US" sz="1200" b="1" dirty="0">
                <a:solidFill>
                  <a:srgbClr val="E63946"/>
                </a:solidFill>
                <a:latin typeface="Malgun Gothic"/>
                <a:ea typeface="Malgun Gothic"/>
                <a:cs typeface="Malgun Gothic"/>
              </a:rPr>
              <a:t>01</a:t>
            </a:r>
          </a:p>
        </p:txBody>
      </p:sp>
      <p:sp>
        <p:nvSpPr>
          <p:cNvPr id="21" name="TextBox 21"/>
          <p:cNvSpPr txBox="1"/>
          <p:nvPr/>
        </p:nvSpPr>
        <p:spPr>
          <a:xfrm>
            <a:off x="5122545" y="2622232"/>
            <a:ext cx="2395104" cy="335280"/>
          </a:xfrm>
          <a:prstGeom prst="rect">
            <a:avLst/>
          </a:prstGeom>
          <a:noFill/>
          <a:ln>
            <a:noFill/>
          </a:ln>
        </p:spPr>
        <p:txBody>
          <a:bodyPr wrap="none" lIns="0" tIns="0" rIns="0" bIns="0" anchor="t" anchorCtr="0">
            <a:spAutoFit/>
          </a:bodyPr>
          <a:lstStyle/>
          <a:p>
            <a:pPr algn="l"/>
            <a:r>
              <a:rPr lang="ko-KR" sz="1650" b="1" dirty="0">
                <a:solidFill>
                  <a:srgbClr val="F2F4F8"/>
                </a:solidFill>
                <a:latin typeface="Malgun Gothic"/>
                <a:ea typeface="Malgun Gothic"/>
                <a:cs typeface="Malgun Gothic"/>
              </a:rPr>
              <a:t>보일러플레이트 작성</a:t>
            </a:r>
          </a:p>
        </p:txBody>
      </p:sp>
      <p:sp>
        <p:nvSpPr>
          <p:cNvPr id="22" name="Rectangle 22"/>
          <p:cNvSpPr/>
          <p:nvPr/>
        </p:nvSpPr>
        <p:spPr>
          <a:xfrm>
            <a:off x="10153650" y="2628900"/>
            <a:ext cx="1428750" cy="266700"/>
          </a:xfrm>
          <a:prstGeom prst="roundRect">
            <a:avLst>
              <a:gd name="adj" fmla="val 50000"/>
            </a:avLst>
          </a:prstGeom>
          <a:solidFill>
            <a:srgbClr val="E63946">
              <a:alpha val="15000"/>
            </a:srgbClr>
          </a:solidFill>
          <a:ln>
            <a:noFill/>
          </a:ln>
        </p:spPr>
      </p:sp>
      <p:sp>
        <p:nvSpPr>
          <p:cNvPr id="23" name="Rectangle 23"/>
          <p:cNvSpPr/>
          <p:nvPr/>
        </p:nvSpPr>
        <p:spPr>
          <a:xfrm>
            <a:off x="10153650" y="2628900"/>
            <a:ext cx="1428750" cy="266700"/>
          </a:xfrm>
          <a:prstGeom prst="roundRect">
            <a:avLst>
              <a:gd name="adj" fmla="val 50000"/>
            </a:avLst>
          </a:prstGeom>
          <a:noFill/>
          <a:ln w="9525">
            <a:solidFill>
              <a:srgbClr val="E63946">
                <a:alpha val="60000"/>
              </a:srgbClr>
            </a:solidFill>
          </a:ln>
        </p:spPr>
      </p:sp>
      <p:sp>
        <p:nvSpPr>
          <p:cNvPr id="24" name="Ellipse 24"/>
          <p:cNvSpPr/>
          <p:nvPr/>
        </p:nvSpPr>
        <p:spPr>
          <a:xfrm>
            <a:off x="10277475" y="2733675"/>
            <a:ext cx="57150" cy="57150"/>
          </a:xfrm>
          <a:prstGeom prst="ellipse">
            <a:avLst/>
          </a:prstGeom>
          <a:solidFill>
            <a:srgbClr val="E63946"/>
          </a:solidFill>
          <a:ln>
            <a:noFill/>
          </a:ln>
        </p:spPr>
      </p:sp>
      <p:sp>
        <p:nvSpPr>
          <p:cNvPr id="25" name="TextBox 25"/>
          <p:cNvSpPr txBox="1"/>
          <p:nvPr/>
        </p:nvSpPr>
        <p:spPr>
          <a:xfrm>
            <a:off x="10407015" y="2696528"/>
            <a:ext cx="509730" cy="213360"/>
          </a:xfrm>
          <a:prstGeom prst="rect">
            <a:avLst/>
          </a:prstGeom>
          <a:noFill/>
          <a:ln>
            <a:noFill/>
          </a:ln>
        </p:spPr>
        <p:txBody>
          <a:bodyPr wrap="none" lIns="0" tIns="0" rIns="0" bIns="0" anchor="t" anchorCtr="0">
            <a:spAutoFit/>
          </a:bodyPr>
          <a:lstStyle/>
          <a:p>
            <a:pPr algn="l"/>
            <a:r>
              <a:rPr lang="ko-KR" sz="1200" b="1" dirty="0">
                <a:solidFill>
                  <a:srgbClr val="E63946"/>
                </a:solidFill>
                <a:latin typeface="Malgun Gothic"/>
                <a:ea typeface="Malgun Gothic"/>
                <a:cs typeface="Malgun Gothic"/>
              </a:rPr>
              <a:t>사라짐</a:t>
            </a:r>
          </a:p>
        </p:txBody>
      </p:sp>
      <p:sp>
        <p:nvSpPr>
          <p:cNvPr id="26" name="Rectangle 26"/>
          <p:cNvSpPr/>
          <p:nvPr/>
        </p:nvSpPr>
        <p:spPr>
          <a:xfrm>
            <a:off x="4762500" y="3048000"/>
            <a:ext cx="6819900" cy="9525"/>
          </a:xfrm>
          <a:prstGeom prst="rect">
            <a:avLst/>
          </a:prstGeom>
          <a:solidFill>
            <a:srgbClr val="2A2F3A"/>
          </a:solidFill>
          <a:ln>
            <a:noFill/>
          </a:ln>
        </p:spPr>
      </p:sp>
      <p:sp>
        <p:nvSpPr>
          <p:cNvPr id="27" name="TextBox 27"/>
          <p:cNvSpPr txBox="1"/>
          <p:nvPr/>
        </p:nvSpPr>
        <p:spPr>
          <a:xfrm>
            <a:off x="4750118" y="3380899"/>
            <a:ext cx="189236" cy="198120"/>
          </a:xfrm>
          <a:prstGeom prst="rect">
            <a:avLst/>
          </a:prstGeom>
          <a:noFill/>
          <a:ln>
            <a:noFill/>
          </a:ln>
        </p:spPr>
        <p:txBody>
          <a:bodyPr wrap="none" lIns="0" tIns="0" rIns="0" bIns="0" anchor="t" anchorCtr="0">
            <a:spAutoFit/>
          </a:bodyPr>
          <a:lstStyle/>
          <a:p>
            <a:pPr algn="l"/>
            <a:r>
              <a:rPr lang="en-US" sz="1200" b="1" dirty="0">
                <a:solidFill>
                  <a:srgbClr val="E63946"/>
                </a:solidFill>
                <a:latin typeface="Malgun Gothic"/>
                <a:ea typeface="Malgun Gothic"/>
                <a:cs typeface="Malgun Gothic"/>
              </a:rPr>
              <a:t>02</a:t>
            </a:r>
          </a:p>
        </p:txBody>
      </p:sp>
      <p:sp>
        <p:nvSpPr>
          <p:cNvPr id="28" name="TextBox 28"/>
          <p:cNvSpPr txBox="1"/>
          <p:nvPr/>
        </p:nvSpPr>
        <p:spPr>
          <a:xfrm>
            <a:off x="5122545" y="3308032"/>
            <a:ext cx="1762525" cy="335280"/>
          </a:xfrm>
          <a:prstGeom prst="rect">
            <a:avLst/>
          </a:prstGeom>
          <a:noFill/>
          <a:ln>
            <a:noFill/>
          </a:ln>
        </p:spPr>
        <p:txBody>
          <a:bodyPr wrap="none" lIns="0" tIns="0" rIns="0" bIns="0" anchor="t" anchorCtr="0">
            <a:spAutoFit/>
          </a:bodyPr>
          <a:lstStyle/>
          <a:p>
            <a:pPr algn="l"/>
            <a:r>
              <a:rPr lang="ko-KR" sz="1650" b="1" dirty="0">
                <a:solidFill>
                  <a:srgbClr val="F2F4F8"/>
                </a:solidFill>
                <a:latin typeface="Malgun Gothic"/>
                <a:ea typeface="Malgun Gothic"/>
                <a:cs typeface="Malgun Gothic"/>
              </a:rPr>
              <a:t>단순 CRUD 구현</a:t>
            </a:r>
          </a:p>
        </p:txBody>
      </p:sp>
      <p:sp>
        <p:nvSpPr>
          <p:cNvPr id="29" name="Rectangle 29"/>
          <p:cNvSpPr/>
          <p:nvPr/>
        </p:nvSpPr>
        <p:spPr>
          <a:xfrm>
            <a:off x="10153650" y="3314700"/>
            <a:ext cx="1428750" cy="266700"/>
          </a:xfrm>
          <a:prstGeom prst="roundRect">
            <a:avLst>
              <a:gd name="adj" fmla="val 50000"/>
            </a:avLst>
          </a:prstGeom>
          <a:solidFill>
            <a:srgbClr val="E63946">
              <a:alpha val="15000"/>
            </a:srgbClr>
          </a:solidFill>
          <a:ln>
            <a:noFill/>
          </a:ln>
        </p:spPr>
      </p:sp>
      <p:sp>
        <p:nvSpPr>
          <p:cNvPr id="30" name="Rectangle 30"/>
          <p:cNvSpPr/>
          <p:nvPr/>
        </p:nvSpPr>
        <p:spPr>
          <a:xfrm>
            <a:off x="10153650" y="3314700"/>
            <a:ext cx="1428750" cy="266700"/>
          </a:xfrm>
          <a:prstGeom prst="roundRect">
            <a:avLst>
              <a:gd name="adj" fmla="val 50000"/>
            </a:avLst>
          </a:prstGeom>
          <a:noFill/>
          <a:ln w="9525">
            <a:solidFill>
              <a:srgbClr val="E63946">
                <a:alpha val="60000"/>
              </a:srgbClr>
            </a:solidFill>
          </a:ln>
        </p:spPr>
      </p:sp>
      <p:sp>
        <p:nvSpPr>
          <p:cNvPr id="31" name="Ellipse 31"/>
          <p:cNvSpPr/>
          <p:nvPr/>
        </p:nvSpPr>
        <p:spPr>
          <a:xfrm>
            <a:off x="10277475" y="3419475"/>
            <a:ext cx="57150" cy="57150"/>
          </a:xfrm>
          <a:prstGeom prst="ellipse">
            <a:avLst/>
          </a:prstGeom>
          <a:solidFill>
            <a:srgbClr val="E63946"/>
          </a:solidFill>
          <a:ln>
            <a:noFill/>
          </a:ln>
        </p:spPr>
      </p:sp>
      <p:sp>
        <p:nvSpPr>
          <p:cNvPr id="32" name="TextBox 32"/>
          <p:cNvSpPr txBox="1"/>
          <p:nvPr/>
        </p:nvSpPr>
        <p:spPr>
          <a:xfrm>
            <a:off x="10407015" y="3382328"/>
            <a:ext cx="509730" cy="213360"/>
          </a:xfrm>
          <a:prstGeom prst="rect">
            <a:avLst/>
          </a:prstGeom>
          <a:noFill/>
          <a:ln>
            <a:noFill/>
          </a:ln>
        </p:spPr>
        <p:txBody>
          <a:bodyPr wrap="none" lIns="0" tIns="0" rIns="0" bIns="0" anchor="t" anchorCtr="0">
            <a:spAutoFit/>
          </a:bodyPr>
          <a:lstStyle/>
          <a:p>
            <a:pPr algn="l"/>
            <a:r>
              <a:rPr lang="ko-KR" sz="1200" b="1" dirty="0">
                <a:solidFill>
                  <a:srgbClr val="E63946"/>
                </a:solidFill>
                <a:latin typeface="Malgun Gothic"/>
                <a:ea typeface="Malgun Gothic"/>
                <a:cs typeface="Malgun Gothic"/>
              </a:rPr>
              <a:t>사라짐</a:t>
            </a:r>
          </a:p>
        </p:txBody>
      </p:sp>
      <p:sp>
        <p:nvSpPr>
          <p:cNvPr id="33" name="Rectangle 33"/>
          <p:cNvSpPr/>
          <p:nvPr/>
        </p:nvSpPr>
        <p:spPr>
          <a:xfrm>
            <a:off x="4762500" y="3733800"/>
            <a:ext cx="6819900" cy="9525"/>
          </a:xfrm>
          <a:prstGeom prst="rect">
            <a:avLst/>
          </a:prstGeom>
          <a:solidFill>
            <a:srgbClr val="2A2F3A"/>
          </a:solidFill>
          <a:ln>
            <a:noFill/>
          </a:ln>
        </p:spPr>
      </p:sp>
      <p:sp>
        <p:nvSpPr>
          <p:cNvPr id="34" name="TextBox 34"/>
          <p:cNvSpPr txBox="1"/>
          <p:nvPr/>
        </p:nvSpPr>
        <p:spPr>
          <a:xfrm>
            <a:off x="4750118" y="4066699"/>
            <a:ext cx="189236" cy="198120"/>
          </a:xfrm>
          <a:prstGeom prst="rect">
            <a:avLst/>
          </a:prstGeom>
          <a:noFill/>
          <a:ln>
            <a:noFill/>
          </a:ln>
        </p:spPr>
        <p:txBody>
          <a:bodyPr wrap="none" lIns="0" tIns="0" rIns="0" bIns="0" anchor="t" anchorCtr="0">
            <a:spAutoFit/>
          </a:bodyPr>
          <a:lstStyle/>
          <a:p>
            <a:pPr algn="l"/>
            <a:r>
              <a:rPr lang="en-US" sz="1200" b="1" dirty="0">
                <a:solidFill>
                  <a:srgbClr val="F4A261"/>
                </a:solidFill>
                <a:latin typeface="Malgun Gothic"/>
                <a:ea typeface="Malgun Gothic"/>
                <a:cs typeface="Malgun Gothic"/>
              </a:rPr>
              <a:t>03</a:t>
            </a:r>
          </a:p>
        </p:txBody>
      </p:sp>
      <p:sp>
        <p:nvSpPr>
          <p:cNvPr id="35" name="TextBox 35"/>
          <p:cNvSpPr txBox="1"/>
          <p:nvPr/>
        </p:nvSpPr>
        <p:spPr>
          <a:xfrm>
            <a:off x="5122545" y="3993832"/>
            <a:ext cx="2217982" cy="335280"/>
          </a:xfrm>
          <a:prstGeom prst="rect">
            <a:avLst/>
          </a:prstGeom>
          <a:noFill/>
          <a:ln>
            <a:noFill/>
          </a:ln>
        </p:spPr>
        <p:txBody>
          <a:bodyPr wrap="none" lIns="0" tIns="0" rIns="0" bIns="0" anchor="t" anchorCtr="0">
            <a:spAutoFit/>
          </a:bodyPr>
          <a:lstStyle/>
          <a:p>
            <a:pPr algn="l"/>
            <a:r>
              <a:rPr lang="ko-KR" sz="1650" b="1" dirty="0">
                <a:solidFill>
                  <a:srgbClr val="F2F4F8"/>
                </a:solidFill>
                <a:latin typeface="Malgun Gothic"/>
                <a:ea typeface="Malgun Gothic"/>
                <a:cs typeface="Malgun Gothic"/>
              </a:rPr>
              <a:t>문법 암기와 디버깅</a:t>
            </a:r>
          </a:p>
        </p:txBody>
      </p:sp>
      <p:sp>
        <p:nvSpPr>
          <p:cNvPr id="36" name="Rectangle 36"/>
          <p:cNvSpPr/>
          <p:nvPr/>
        </p:nvSpPr>
        <p:spPr>
          <a:xfrm>
            <a:off x="10153650" y="4000500"/>
            <a:ext cx="1428750" cy="266700"/>
          </a:xfrm>
          <a:prstGeom prst="roundRect">
            <a:avLst>
              <a:gd name="adj" fmla="val 50000"/>
            </a:avLst>
          </a:prstGeom>
          <a:solidFill>
            <a:srgbClr val="F4A261">
              <a:alpha val="15000"/>
            </a:srgbClr>
          </a:solidFill>
          <a:ln>
            <a:noFill/>
          </a:ln>
        </p:spPr>
      </p:sp>
      <p:sp>
        <p:nvSpPr>
          <p:cNvPr id="37" name="Rectangle 37"/>
          <p:cNvSpPr/>
          <p:nvPr/>
        </p:nvSpPr>
        <p:spPr>
          <a:xfrm>
            <a:off x="10153650" y="4000500"/>
            <a:ext cx="1428750" cy="266700"/>
          </a:xfrm>
          <a:prstGeom prst="roundRect">
            <a:avLst>
              <a:gd name="adj" fmla="val 50000"/>
            </a:avLst>
          </a:prstGeom>
          <a:noFill/>
          <a:ln w="9525">
            <a:solidFill>
              <a:srgbClr val="F4A261">
                <a:alpha val="60000"/>
              </a:srgbClr>
            </a:solidFill>
          </a:ln>
        </p:spPr>
      </p:sp>
      <p:sp>
        <p:nvSpPr>
          <p:cNvPr id="38" name="Ellipse 38"/>
          <p:cNvSpPr/>
          <p:nvPr/>
        </p:nvSpPr>
        <p:spPr>
          <a:xfrm>
            <a:off x="10277475" y="4105275"/>
            <a:ext cx="57150" cy="57150"/>
          </a:xfrm>
          <a:prstGeom prst="ellipse">
            <a:avLst/>
          </a:prstGeom>
          <a:solidFill>
            <a:srgbClr val="F4A261"/>
          </a:solidFill>
          <a:ln>
            <a:noFill/>
          </a:ln>
        </p:spPr>
      </p:sp>
      <p:sp>
        <p:nvSpPr>
          <p:cNvPr id="39" name="TextBox 39"/>
          <p:cNvSpPr txBox="1"/>
          <p:nvPr/>
        </p:nvSpPr>
        <p:spPr>
          <a:xfrm>
            <a:off x="10407015" y="4068128"/>
            <a:ext cx="509730" cy="213360"/>
          </a:xfrm>
          <a:prstGeom prst="rect">
            <a:avLst/>
          </a:prstGeom>
          <a:noFill/>
          <a:ln>
            <a:noFill/>
          </a:ln>
        </p:spPr>
        <p:txBody>
          <a:bodyPr wrap="none" lIns="0" tIns="0" rIns="0" bIns="0" anchor="t" anchorCtr="0">
            <a:spAutoFit/>
          </a:bodyPr>
          <a:lstStyle/>
          <a:p>
            <a:pPr algn="l"/>
            <a:r>
              <a:rPr lang="ko-KR" sz="1200" b="1" dirty="0">
                <a:solidFill>
                  <a:srgbClr val="F4A261"/>
                </a:solidFill>
                <a:latin typeface="Malgun Gothic"/>
                <a:ea typeface="Malgun Gothic"/>
                <a:cs typeface="Malgun Gothic"/>
              </a:rPr>
              <a:t>자동화</a:t>
            </a:r>
          </a:p>
        </p:txBody>
      </p:sp>
      <p:sp>
        <p:nvSpPr>
          <p:cNvPr id="40" name="Rectangle 40"/>
          <p:cNvSpPr/>
          <p:nvPr/>
        </p:nvSpPr>
        <p:spPr>
          <a:xfrm>
            <a:off x="4762500" y="4419600"/>
            <a:ext cx="6819900" cy="9525"/>
          </a:xfrm>
          <a:prstGeom prst="rect">
            <a:avLst/>
          </a:prstGeom>
          <a:solidFill>
            <a:srgbClr val="2A2F3A"/>
          </a:solidFill>
          <a:ln>
            <a:noFill/>
          </a:ln>
        </p:spPr>
      </p:sp>
      <p:sp>
        <p:nvSpPr>
          <p:cNvPr id="41" name="TextBox 41"/>
          <p:cNvSpPr txBox="1"/>
          <p:nvPr/>
        </p:nvSpPr>
        <p:spPr>
          <a:xfrm>
            <a:off x="4750118" y="4752499"/>
            <a:ext cx="189236" cy="198120"/>
          </a:xfrm>
          <a:prstGeom prst="rect">
            <a:avLst/>
          </a:prstGeom>
          <a:noFill/>
          <a:ln>
            <a:noFill/>
          </a:ln>
        </p:spPr>
        <p:txBody>
          <a:bodyPr wrap="none" lIns="0" tIns="0" rIns="0" bIns="0" anchor="t" anchorCtr="0">
            <a:spAutoFit/>
          </a:bodyPr>
          <a:lstStyle/>
          <a:p>
            <a:pPr algn="l"/>
            <a:r>
              <a:rPr lang="en-US" sz="1200" b="1" dirty="0">
                <a:solidFill>
                  <a:srgbClr val="4CC9F0"/>
                </a:solidFill>
                <a:latin typeface="Malgun Gothic"/>
                <a:ea typeface="Malgun Gothic"/>
                <a:cs typeface="Malgun Gothic"/>
              </a:rPr>
              <a:t>04</a:t>
            </a:r>
          </a:p>
        </p:txBody>
      </p:sp>
      <p:sp>
        <p:nvSpPr>
          <p:cNvPr id="42" name="TextBox 42"/>
          <p:cNvSpPr txBox="1"/>
          <p:nvPr/>
        </p:nvSpPr>
        <p:spPr>
          <a:xfrm>
            <a:off x="5122545" y="4679632"/>
            <a:ext cx="1560100" cy="335280"/>
          </a:xfrm>
          <a:prstGeom prst="rect">
            <a:avLst/>
          </a:prstGeom>
          <a:noFill/>
          <a:ln>
            <a:noFill/>
          </a:ln>
        </p:spPr>
        <p:txBody>
          <a:bodyPr wrap="none" lIns="0" tIns="0" rIns="0" bIns="0" anchor="t" anchorCtr="0">
            <a:spAutoFit/>
          </a:bodyPr>
          <a:lstStyle/>
          <a:p>
            <a:pPr algn="l"/>
            <a:r>
              <a:rPr lang="ko-KR" sz="1650" b="1" dirty="0">
                <a:solidFill>
                  <a:srgbClr val="F2F4F8"/>
                </a:solidFill>
                <a:latin typeface="Malgun Gothic"/>
                <a:ea typeface="Malgun Gothic"/>
                <a:cs typeface="Malgun Gothic"/>
              </a:rPr>
              <a:t>API 통합 코드</a:t>
            </a:r>
          </a:p>
        </p:txBody>
      </p:sp>
      <p:sp>
        <p:nvSpPr>
          <p:cNvPr id="43" name="Rectangle 43"/>
          <p:cNvSpPr/>
          <p:nvPr/>
        </p:nvSpPr>
        <p:spPr>
          <a:xfrm>
            <a:off x="10153650" y="4686300"/>
            <a:ext cx="1428750" cy="266700"/>
          </a:xfrm>
          <a:prstGeom prst="roundRect">
            <a:avLst>
              <a:gd name="adj" fmla="val 50000"/>
            </a:avLst>
          </a:prstGeom>
          <a:solidFill>
            <a:srgbClr val="4CC9F0">
              <a:alpha val="15000"/>
            </a:srgbClr>
          </a:solidFill>
          <a:ln>
            <a:noFill/>
          </a:ln>
        </p:spPr>
      </p:sp>
      <p:sp>
        <p:nvSpPr>
          <p:cNvPr id="44" name="Rectangle 44"/>
          <p:cNvSpPr/>
          <p:nvPr/>
        </p:nvSpPr>
        <p:spPr>
          <a:xfrm>
            <a:off x="10153650" y="4686300"/>
            <a:ext cx="1428750" cy="266700"/>
          </a:xfrm>
          <a:prstGeom prst="roundRect">
            <a:avLst>
              <a:gd name="adj" fmla="val 50000"/>
            </a:avLst>
          </a:prstGeom>
          <a:noFill/>
          <a:ln w="9525">
            <a:solidFill>
              <a:srgbClr val="4CC9F0">
                <a:alpha val="60000"/>
              </a:srgbClr>
            </a:solidFill>
          </a:ln>
        </p:spPr>
      </p:sp>
      <p:sp>
        <p:nvSpPr>
          <p:cNvPr id="45" name="Ellipse 45"/>
          <p:cNvSpPr/>
          <p:nvPr/>
        </p:nvSpPr>
        <p:spPr>
          <a:xfrm>
            <a:off x="10277475" y="4791075"/>
            <a:ext cx="57150" cy="57150"/>
          </a:xfrm>
          <a:prstGeom prst="ellipse">
            <a:avLst/>
          </a:prstGeom>
          <a:solidFill>
            <a:srgbClr val="4CC9F0"/>
          </a:solidFill>
          <a:ln>
            <a:noFill/>
          </a:ln>
        </p:spPr>
      </p:sp>
      <p:sp>
        <p:nvSpPr>
          <p:cNvPr id="46" name="TextBox 46"/>
          <p:cNvSpPr txBox="1"/>
          <p:nvPr/>
        </p:nvSpPr>
        <p:spPr>
          <a:xfrm>
            <a:off x="10407015" y="4753928"/>
            <a:ext cx="533883" cy="213360"/>
          </a:xfrm>
          <a:prstGeom prst="rect">
            <a:avLst/>
          </a:prstGeom>
          <a:noFill/>
          <a:ln>
            <a:noFill/>
          </a:ln>
        </p:spPr>
        <p:txBody>
          <a:bodyPr wrap="none" lIns="0" tIns="0" rIns="0" bIns="0" anchor="t" anchorCtr="0">
            <a:spAutoFit/>
          </a:bodyPr>
          <a:lstStyle/>
          <a:p>
            <a:pPr algn="l"/>
            <a:r>
              <a:rPr lang="ko-KR" sz="1200" b="1" dirty="0">
                <a:solidFill>
                  <a:srgbClr val="4CC9F0"/>
                </a:solidFill>
                <a:latin typeface="Malgun Gothic"/>
                <a:ea typeface="Malgun Gothic"/>
                <a:cs typeface="Malgun Gothic"/>
              </a:rPr>
              <a:t>AI 우위</a:t>
            </a:r>
          </a:p>
        </p:txBody>
      </p:sp>
      <p:sp>
        <p:nvSpPr>
          <p:cNvPr id="47" name="Rectangle 47"/>
          <p:cNvSpPr/>
          <p:nvPr/>
        </p:nvSpPr>
        <p:spPr>
          <a:xfrm>
            <a:off x="4762500" y="5105400"/>
            <a:ext cx="6819900" cy="9525"/>
          </a:xfrm>
          <a:prstGeom prst="rect">
            <a:avLst/>
          </a:prstGeom>
          <a:solidFill>
            <a:srgbClr val="2A2F3A"/>
          </a:solidFill>
          <a:ln>
            <a:noFill/>
          </a:ln>
        </p:spPr>
      </p:sp>
      <p:sp>
        <p:nvSpPr>
          <p:cNvPr id="48" name="TextBox 48"/>
          <p:cNvSpPr txBox="1"/>
          <p:nvPr/>
        </p:nvSpPr>
        <p:spPr>
          <a:xfrm>
            <a:off x="4750118" y="5438299"/>
            <a:ext cx="189236" cy="198120"/>
          </a:xfrm>
          <a:prstGeom prst="rect">
            <a:avLst/>
          </a:prstGeom>
          <a:noFill/>
          <a:ln>
            <a:noFill/>
          </a:ln>
        </p:spPr>
        <p:txBody>
          <a:bodyPr wrap="none" lIns="0" tIns="0" rIns="0" bIns="0" anchor="t" anchorCtr="0">
            <a:spAutoFit/>
          </a:bodyPr>
          <a:lstStyle/>
          <a:p>
            <a:pPr algn="l"/>
            <a:r>
              <a:rPr lang="en-US" sz="1200" b="1" dirty="0">
                <a:solidFill>
                  <a:srgbClr val="4CC9F0"/>
                </a:solidFill>
                <a:latin typeface="Malgun Gothic"/>
                <a:ea typeface="Malgun Gothic"/>
                <a:cs typeface="Malgun Gothic"/>
              </a:rPr>
              <a:t>05</a:t>
            </a:r>
          </a:p>
        </p:txBody>
      </p:sp>
      <p:sp>
        <p:nvSpPr>
          <p:cNvPr id="49" name="TextBox 49"/>
          <p:cNvSpPr txBox="1"/>
          <p:nvPr/>
        </p:nvSpPr>
        <p:spPr>
          <a:xfrm>
            <a:off x="5122545" y="5365432"/>
            <a:ext cx="1964950" cy="335280"/>
          </a:xfrm>
          <a:prstGeom prst="rect">
            <a:avLst/>
          </a:prstGeom>
          <a:noFill/>
          <a:ln>
            <a:noFill/>
          </a:ln>
        </p:spPr>
        <p:txBody>
          <a:bodyPr wrap="none" lIns="0" tIns="0" rIns="0" bIns="0" anchor="t" anchorCtr="0">
            <a:spAutoFit/>
          </a:bodyPr>
          <a:lstStyle/>
          <a:p>
            <a:pPr algn="l"/>
            <a:r>
              <a:rPr lang="ko-KR" sz="1650" b="1" dirty="0">
                <a:solidFill>
                  <a:srgbClr val="F2F4F8"/>
                </a:solidFill>
                <a:latin typeface="Malgun Gothic"/>
                <a:ea typeface="Malgun Gothic"/>
                <a:cs typeface="Malgun Gothic"/>
              </a:rPr>
              <a:t>단위 테스트 작성</a:t>
            </a:r>
          </a:p>
        </p:txBody>
      </p:sp>
      <p:sp>
        <p:nvSpPr>
          <p:cNvPr id="50" name="Rectangle 50"/>
          <p:cNvSpPr/>
          <p:nvPr/>
        </p:nvSpPr>
        <p:spPr>
          <a:xfrm>
            <a:off x="10153650" y="5372100"/>
            <a:ext cx="1428750" cy="266700"/>
          </a:xfrm>
          <a:prstGeom prst="roundRect">
            <a:avLst>
              <a:gd name="adj" fmla="val 50000"/>
            </a:avLst>
          </a:prstGeom>
          <a:solidFill>
            <a:srgbClr val="4CC9F0">
              <a:alpha val="15000"/>
            </a:srgbClr>
          </a:solidFill>
          <a:ln>
            <a:noFill/>
          </a:ln>
        </p:spPr>
      </p:sp>
      <p:sp>
        <p:nvSpPr>
          <p:cNvPr id="51" name="Rectangle 51"/>
          <p:cNvSpPr/>
          <p:nvPr/>
        </p:nvSpPr>
        <p:spPr>
          <a:xfrm>
            <a:off x="10153650" y="5372100"/>
            <a:ext cx="1428750" cy="266700"/>
          </a:xfrm>
          <a:prstGeom prst="roundRect">
            <a:avLst>
              <a:gd name="adj" fmla="val 50000"/>
            </a:avLst>
          </a:prstGeom>
          <a:noFill/>
          <a:ln w="9525">
            <a:solidFill>
              <a:srgbClr val="4CC9F0">
                <a:alpha val="60000"/>
              </a:srgbClr>
            </a:solidFill>
          </a:ln>
        </p:spPr>
      </p:sp>
      <p:sp>
        <p:nvSpPr>
          <p:cNvPr id="52" name="Ellipse 52"/>
          <p:cNvSpPr/>
          <p:nvPr/>
        </p:nvSpPr>
        <p:spPr>
          <a:xfrm>
            <a:off x="10277475" y="5476875"/>
            <a:ext cx="57150" cy="57150"/>
          </a:xfrm>
          <a:prstGeom prst="ellipse">
            <a:avLst/>
          </a:prstGeom>
          <a:solidFill>
            <a:srgbClr val="4CC9F0"/>
          </a:solidFill>
          <a:ln>
            <a:noFill/>
          </a:ln>
        </p:spPr>
      </p:sp>
      <p:sp>
        <p:nvSpPr>
          <p:cNvPr id="53" name="TextBox 53"/>
          <p:cNvSpPr txBox="1"/>
          <p:nvPr/>
        </p:nvSpPr>
        <p:spPr>
          <a:xfrm>
            <a:off x="10407015" y="5439728"/>
            <a:ext cx="533883" cy="213360"/>
          </a:xfrm>
          <a:prstGeom prst="rect">
            <a:avLst/>
          </a:prstGeom>
          <a:noFill/>
          <a:ln>
            <a:noFill/>
          </a:ln>
        </p:spPr>
        <p:txBody>
          <a:bodyPr wrap="none" lIns="0" tIns="0" rIns="0" bIns="0" anchor="t" anchorCtr="0">
            <a:spAutoFit/>
          </a:bodyPr>
          <a:lstStyle/>
          <a:p>
            <a:pPr algn="l"/>
            <a:r>
              <a:rPr lang="ko-KR" sz="1200" b="1" dirty="0">
                <a:solidFill>
                  <a:srgbClr val="4CC9F0"/>
                </a:solidFill>
                <a:latin typeface="Malgun Gothic"/>
                <a:ea typeface="Malgun Gothic"/>
                <a:cs typeface="Malgun Gothic"/>
              </a:rPr>
              <a:t>AI 우위</a:t>
            </a:r>
          </a:p>
        </p:txBody>
      </p:sp>
      <p:sp>
        <p:nvSpPr>
          <p:cNvPr id="54" name="Rectangle 54"/>
          <p:cNvSpPr/>
          <p:nvPr/>
        </p:nvSpPr>
        <p:spPr>
          <a:xfrm>
            <a:off x="4762500" y="5791200"/>
            <a:ext cx="6819900" cy="9525"/>
          </a:xfrm>
          <a:prstGeom prst="rect">
            <a:avLst/>
          </a:prstGeom>
          <a:solidFill>
            <a:srgbClr val="2A2F3A"/>
          </a:solidFill>
          <a:ln>
            <a:noFill/>
          </a:ln>
        </p:spPr>
      </p:sp>
      <p:sp>
        <p:nvSpPr>
          <p:cNvPr id="55" name="Ellipse 55"/>
          <p:cNvSpPr/>
          <p:nvPr/>
        </p:nvSpPr>
        <p:spPr>
          <a:xfrm>
            <a:off x="4724400" y="6248400"/>
            <a:ext cx="76200" cy="76200"/>
          </a:xfrm>
          <a:prstGeom prst="ellipse">
            <a:avLst/>
          </a:prstGeom>
          <a:solidFill>
            <a:srgbClr val="E63946"/>
          </a:solidFill>
          <a:ln>
            <a:noFill/>
          </a:ln>
        </p:spPr>
      </p:sp>
      <p:sp>
        <p:nvSpPr>
          <p:cNvPr id="56" name="TextBox 56"/>
          <p:cNvSpPr txBox="1"/>
          <p:nvPr/>
        </p:nvSpPr>
        <p:spPr>
          <a:xfrm>
            <a:off x="4864418" y="6219349"/>
            <a:ext cx="2310265" cy="19812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사라짐 — 인간의 작업 영역에서 제외</a:t>
            </a:r>
          </a:p>
        </p:txBody>
      </p:sp>
      <p:sp>
        <p:nvSpPr>
          <p:cNvPr id="57" name="Ellipse 57"/>
          <p:cNvSpPr/>
          <p:nvPr/>
        </p:nvSpPr>
        <p:spPr>
          <a:xfrm>
            <a:off x="7200900" y="6248400"/>
            <a:ext cx="76200" cy="76200"/>
          </a:xfrm>
          <a:prstGeom prst="ellipse">
            <a:avLst/>
          </a:prstGeom>
          <a:solidFill>
            <a:srgbClr val="F4A261"/>
          </a:solidFill>
          <a:ln>
            <a:noFill/>
          </a:ln>
        </p:spPr>
      </p:sp>
      <p:sp>
        <p:nvSpPr>
          <p:cNvPr id="58" name="TextBox 58"/>
          <p:cNvSpPr txBox="1"/>
          <p:nvPr/>
        </p:nvSpPr>
        <p:spPr>
          <a:xfrm>
            <a:off x="7340918" y="6219349"/>
            <a:ext cx="1697950" cy="19812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자동화 — 도구 보조로 전환</a:t>
            </a:r>
          </a:p>
        </p:txBody>
      </p:sp>
      <p:sp>
        <p:nvSpPr>
          <p:cNvPr id="59" name="Ellipse 59"/>
          <p:cNvSpPr/>
          <p:nvPr/>
        </p:nvSpPr>
        <p:spPr>
          <a:xfrm>
            <a:off x="9296400" y="6248400"/>
            <a:ext cx="76200" cy="76200"/>
          </a:xfrm>
          <a:prstGeom prst="ellipse">
            <a:avLst/>
          </a:prstGeom>
          <a:solidFill>
            <a:srgbClr val="4CC9F0"/>
          </a:solidFill>
          <a:ln>
            <a:noFill/>
          </a:ln>
        </p:spPr>
      </p:sp>
      <p:sp>
        <p:nvSpPr>
          <p:cNvPr id="60" name="TextBox 60"/>
          <p:cNvSpPr txBox="1"/>
          <p:nvPr/>
        </p:nvSpPr>
        <p:spPr>
          <a:xfrm>
            <a:off x="9436418" y="6219349"/>
            <a:ext cx="1598271" cy="19812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AI 우위 — AI가 더 잘 수행</a:t>
            </a:r>
          </a:p>
        </p:txBody>
      </p:sp>
      <p:sp>
        <p:nvSpPr>
          <p:cNvPr id="61" name="TextBox 61"/>
          <p:cNvSpPr txBox="1"/>
          <p:nvPr/>
        </p:nvSpPr>
        <p:spPr>
          <a:xfrm>
            <a:off x="11163490" y="6456045"/>
            <a:ext cx="430340" cy="182880"/>
          </a:xfrm>
          <a:prstGeom prst="rect">
            <a:avLst/>
          </a:prstGeom>
          <a:noFill/>
          <a:ln>
            <a:noFill/>
          </a:ln>
        </p:spPr>
        <p:txBody>
          <a:bodyPr wrap="none" lIns="0" tIns="0" rIns="0" bIns="0" anchor="t" anchorCtr="0">
            <a:spAutoFit/>
          </a:bodyPr>
          <a:lstStyle/>
          <a:p>
            <a:pPr algn="r"/>
            <a:r>
              <a:rPr lang="en-US" sz="1200" dirty="0">
                <a:solidFill>
                  <a:srgbClr val="8A92A6"/>
                </a:solidFill>
                <a:latin typeface="Malgun Gothic"/>
                <a:ea typeface="Malgun Gothic"/>
                <a:cs typeface="Malgun Gothic"/>
              </a:rPr>
              <a:t>04 / 10</a:t>
            </a:r>
          </a:p>
        </p:txBody>
      </p:sp>
    </p:spTree>
  </p:cSld>
  <p:clrMapOvr>
    <a:masterClrMapping/>
  </p:clrMapOvr>
  <p:transition xmlns:p14="http://schemas.microsoft.com/office/powerpoint/2010/main" p14:dur="5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B0D12"/>
          </a:solidFill>
          <a:ln>
            <a:noFill/>
          </a:ln>
        </p:spPr>
      </p:sp>
      <p:sp>
        <p:nvSpPr>
          <p:cNvPr id="3" name="Rectangle 3"/>
          <p:cNvSpPr/>
          <p:nvPr/>
        </p:nvSpPr>
        <p:spPr>
          <a:xfrm>
            <a:off x="0" y="0"/>
            <a:ext cx="12192000" cy="6858000"/>
          </a:xfrm>
          <a:prstGeom prst="rect">
            <a:avLst/>
          </a:prstGeom>
          <a:gradFill>
            <a:gsLst>
              <a:gs pos="0">
                <a:srgbClr val="0B0D12">
                  <a:alpha val="85000"/>
                </a:srgbClr>
              </a:gs>
              <a:gs pos="60000">
                <a:srgbClr val="2A0A12">
                  <a:alpha val="85000"/>
                </a:srgbClr>
              </a:gs>
              <a:gs pos="100000">
                <a:srgbClr val="E63946">
                  <a:alpha val="46750"/>
                </a:srgbClr>
              </a:gs>
            </a:gsLst>
            <a:lin ang="2700000" scaled="1"/>
          </a:gradFill>
          <a:ln>
            <a:noFill/>
          </a:ln>
        </p:spPr>
      </p:sp>
      <p:grpSp>
        <p:nvGrpSpPr>
          <p:cNvPr id="13" name="Group 13"/>
          <p:cNvGrpSpPr/>
          <p:nvPr/>
        </p:nvGrpSpPr>
        <p:grpSpPr>
          <a:xfrm>
            <a:off x="556260" y="533400"/>
            <a:ext cx="10785681" cy="1338262"/>
            <a:chOff x="556260" y="533400"/>
            <a:chExt cx="10785681" cy="1338262"/>
          </a:xfrm>
        </p:grpSpPr>
        <p:grpSp>
          <p:nvGrpSpPr>
            <p:cNvPr id="6" name="Group 6"/>
            <p:cNvGrpSpPr/>
            <p:nvPr/>
          </p:nvGrpSpPr>
          <p:grpSpPr>
            <a:xfrm>
              <a:off x="609600" y="533400"/>
              <a:ext cx="1611968" cy="242888"/>
              <a:chOff x="609600" y="533400"/>
              <a:chExt cx="1611968" cy="242888"/>
            </a:xfrm>
          </p:grpSpPr>
          <p:sp>
            <p:nvSpPr>
              <p:cNvPr id="4" name="Rectangle 4"/>
              <p:cNvSpPr/>
              <p:nvPr/>
            </p:nvSpPr>
            <p:spPr>
              <a:xfrm>
                <a:off x="609600" y="533400"/>
                <a:ext cx="28575" cy="190500"/>
              </a:xfrm>
              <a:prstGeom prst="rect">
                <a:avLst/>
              </a:prstGeom>
              <a:solidFill>
                <a:srgbClr val="E63946"/>
              </a:solidFill>
              <a:ln>
                <a:noFill/>
              </a:ln>
            </p:spPr>
          </p:sp>
          <p:sp>
            <p:nvSpPr>
              <p:cNvPr id="5" name="TextBox 5"/>
              <p:cNvSpPr txBox="1"/>
              <p:nvPr/>
            </p:nvSpPr>
            <p:spPr>
              <a:xfrm>
                <a:off x="729615" y="562928"/>
                <a:ext cx="1491953" cy="213360"/>
              </a:xfrm>
              <a:prstGeom prst="rect">
                <a:avLst/>
              </a:prstGeom>
              <a:noFill/>
              <a:ln>
                <a:noFill/>
              </a:ln>
            </p:spPr>
            <p:txBody>
              <a:bodyPr wrap="none" lIns="0" tIns="0" rIns="0" bIns="0" anchor="t" anchorCtr="0">
                <a:spAutoFit/>
              </a:bodyPr>
              <a:lstStyle/>
              <a:p>
                <a:pPr algn="l"/>
                <a:r>
                  <a:rPr lang="en-US" sz="1200" b="1" dirty="0">
                    <a:solidFill>
                      <a:srgbClr val="8A92A6"/>
                    </a:solidFill>
                    <a:latin typeface="Malgun Gothic"/>
                    <a:ea typeface="Malgun Gothic"/>
                    <a:cs typeface="Malgun Gothic"/>
                  </a:rPr>
                  <a:t>CHAPTER 03 · PIVOT</a:t>
                </a:r>
              </a:p>
            </p:txBody>
          </p:sp>
        </p:grpSp>
        <p:sp>
          <p:nvSpPr>
            <p:cNvPr id="7" name="TextBox 7"/>
            <p:cNvSpPr txBox="1"/>
            <p:nvPr/>
          </p:nvSpPr>
          <p:spPr>
            <a:xfrm>
              <a:off x="556260" y="880110"/>
              <a:ext cx="5549160" cy="853440"/>
            </a:xfrm>
            <a:prstGeom prst="rect">
              <a:avLst/>
            </a:prstGeom>
            <a:noFill/>
            <a:ln>
              <a:noFill/>
            </a:ln>
          </p:spPr>
          <p:txBody>
            <a:bodyPr wrap="none" lIns="0" tIns="0" rIns="0" bIns="0" anchor="t" anchorCtr="0">
              <a:spAutoFit/>
            </a:bodyPr>
            <a:lstStyle/>
            <a:p>
              <a:pPr algn="l"/>
              <a:r>
                <a:rPr lang="ko-KR" sz="4200" b="1" dirty="0">
                  <a:solidFill>
                    <a:srgbClr val="F2F4F8"/>
                  </a:solidFill>
                  <a:latin typeface="Malgun Gothic"/>
                  <a:ea typeface="Malgun Gothic"/>
                  <a:cs typeface="Malgun Gothic"/>
                </a:rPr>
                <a:t>5년 만에 일어난 일</a:t>
              </a:r>
            </a:p>
          </p:txBody>
        </p:sp>
        <p:sp>
          <p:nvSpPr>
            <p:cNvPr id="8" name="TextBox 8"/>
            <p:cNvSpPr txBox="1"/>
            <p:nvPr/>
          </p:nvSpPr>
          <p:spPr>
            <a:xfrm>
              <a:off x="588645" y="1536382"/>
              <a:ext cx="5741146" cy="335280"/>
            </a:xfrm>
            <a:prstGeom prst="rect">
              <a:avLst/>
            </a:prstGeom>
            <a:noFill/>
            <a:ln>
              <a:noFill/>
            </a:ln>
          </p:spPr>
          <p:txBody>
            <a:bodyPr wrap="none" lIns="0" tIns="0" rIns="0" bIns="0" anchor="t" anchorCtr="0">
              <a:spAutoFit/>
            </a:bodyPr>
            <a:lstStyle/>
            <a:p>
              <a:pPr algn="l"/>
              <a:r>
                <a:rPr lang="ko-KR" sz="1650" dirty="0">
                  <a:solidFill>
                    <a:srgbClr val="8A92A6"/>
                  </a:solidFill>
                  <a:latin typeface="Malgun Gothic"/>
                  <a:ea typeface="Malgun Gothic"/>
                  <a:cs typeface="Malgun Gothic"/>
                </a:rPr>
                <a:t>자연어 한 줄에서 자율 에이전트까지 — 변화의 가속도</a:t>
              </a:r>
            </a:p>
          </p:txBody>
        </p:sp>
        <p:grpSp>
          <p:nvGrpSpPr>
            <p:cNvPr id="12" name="Group 12"/>
            <p:cNvGrpSpPr/>
            <p:nvPr/>
          </p:nvGrpSpPr>
          <p:grpSpPr>
            <a:xfrm>
              <a:off x="10439400" y="839152"/>
              <a:ext cx="902541" cy="765810"/>
              <a:chOff x="10439400" y="839152"/>
              <a:chExt cx="902541" cy="765810"/>
            </a:xfrm>
          </p:grpSpPr>
          <p:sp>
            <p:nvSpPr>
              <p:cNvPr id="9" name="TextBox 9"/>
              <p:cNvSpPr txBox="1"/>
              <p:nvPr/>
            </p:nvSpPr>
            <p:spPr>
              <a:xfrm>
                <a:off x="10464165" y="839152"/>
                <a:ext cx="380914" cy="213360"/>
              </a:xfrm>
              <a:prstGeom prst="rect">
                <a:avLst/>
              </a:prstGeom>
              <a:noFill/>
              <a:ln>
                <a:noFill/>
              </a:ln>
            </p:spPr>
            <p:txBody>
              <a:bodyPr wrap="none" lIns="0" tIns="0" rIns="0" bIns="0" anchor="t" anchorCtr="0">
                <a:spAutoFit/>
              </a:bodyPr>
              <a:lstStyle/>
              <a:p>
                <a:pPr algn="l"/>
                <a:r>
                  <a:rPr lang="en-US" sz="1200" b="1" dirty="0">
                    <a:solidFill>
                      <a:srgbClr val="8A92A6"/>
                    </a:solidFill>
                    <a:latin typeface="Nanum Myeongjo"/>
                    <a:ea typeface="Nanum Myeongjo"/>
                    <a:cs typeface="Nanum Myeongjo"/>
                  </a:rPr>
                  <a:t>SPAN</a:t>
                </a:r>
              </a:p>
            </p:txBody>
          </p:sp>
          <p:sp>
            <p:nvSpPr>
              <p:cNvPr id="10" name="TextBox 10"/>
              <p:cNvSpPr txBox="1"/>
              <p:nvPr/>
            </p:nvSpPr>
            <p:spPr>
              <a:xfrm>
                <a:off x="10439400" y="971550"/>
                <a:ext cx="789289" cy="609600"/>
              </a:xfrm>
              <a:prstGeom prst="rect">
                <a:avLst/>
              </a:prstGeom>
              <a:noFill/>
              <a:ln>
                <a:noFill/>
              </a:ln>
            </p:spPr>
            <p:txBody>
              <a:bodyPr wrap="none" lIns="0" tIns="0" rIns="0" bIns="0" anchor="t" anchorCtr="0">
                <a:spAutoFit/>
              </a:bodyPr>
              <a:lstStyle/>
              <a:p>
                <a:pPr algn="l"/>
                <a:r>
                  <a:rPr lang="ko-KR" sz="3000" b="1" dirty="0">
                    <a:solidFill>
                      <a:srgbClr val="E63946"/>
                    </a:solidFill>
                    <a:latin typeface="Malgun Gothic"/>
                    <a:ea typeface="Malgun Gothic"/>
                    <a:cs typeface="Malgun Gothic"/>
                  </a:rPr>
                  <a:t>5년</a:t>
                </a:r>
              </a:p>
            </p:txBody>
          </p:sp>
          <p:sp>
            <p:nvSpPr>
              <p:cNvPr id="11" name="TextBox 11"/>
              <p:cNvSpPr txBox="1"/>
              <p:nvPr/>
            </p:nvSpPr>
            <p:spPr>
              <a:xfrm>
                <a:off x="10464165" y="1391602"/>
                <a:ext cx="877776" cy="213360"/>
              </a:xfrm>
              <a:prstGeom prst="rect">
                <a:avLst/>
              </a:prstGeom>
              <a:noFill/>
              <a:ln>
                <a:noFill/>
              </a:ln>
            </p:spPr>
            <p:txBody>
              <a:bodyPr wrap="none" lIns="0" tIns="0" rIns="0" bIns="0" anchor="t" anchorCtr="0">
                <a:spAutoFit/>
              </a:bodyPr>
              <a:lstStyle/>
              <a:p>
                <a:pPr algn="l"/>
                <a:r>
                  <a:rPr lang="en-US" sz="1200" dirty="0">
                    <a:solidFill>
                      <a:srgbClr val="8A92A6"/>
                    </a:solidFill>
                    <a:latin typeface="Malgun Gothic"/>
                    <a:ea typeface="Malgun Gothic"/>
                    <a:cs typeface="Malgun Gothic"/>
                  </a:rPr>
                  <a:t>2020 → 2025</a:t>
                </a:r>
              </a:p>
            </p:txBody>
          </p:sp>
        </p:grpSp>
      </p:grpSp>
      <p:sp>
        <p:nvSpPr>
          <p:cNvPr id="14" name="Line 14"/>
          <p:cNvSpPr/>
          <p:nvPr/>
        </p:nvSpPr>
        <p:spPr>
          <a:xfrm>
            <a:off x="609600" y="2095500"/>
            <a:ext cx="10972800" cy="9525"/>
          </a:xfrm>
          <a:custGeom>
            <a:avLst/>
            <a:gdLst/>
            <a:ahLst/>
            <a:cxnLst/>
            <a:rect l="l" t="t" r="r" b="b"/>
            <a:pathLst>
              <a:path w="10972800" h="9525">
                <a:moveTo>
                  <a:pt x="0" y="0"/>
                </a:moveTo>
                <a:lnTo>
                  <a:pt x="10972800" y="0"/>
                </a:lnTo>
              </a:path>
            </a:pathLst>
          </a:custGeom>
          <a:noFill/>
          <a:ln w="9525">
            <a:solidFill>
              <a:srgbClr val="2A2F3A"/>
            </a:solidFill>
          </a:ln>
        </p:spPr>
      </p:sp>
      <p:grpSp>
        <p:nvGrpSpPr>
          <p:cNvPr id="73" name="Group 73"/>
          <p:cNvGrpSpPr/>
          <p:nvPr/>
        </p:nvGrpSpPr>
        <p:grpSpPr>
          <a:xfrm>
            <a:off x="663102" y="3474720"/>
            <a:ext cx="10980811" cy="2237899"/>
            <a:chOff x="663102" y="3474720"/>
            <a:chExt cx="10980811" cy="2237899"/>
          </a:xfrm>
        </p:grpSpPr>
        <p:sp>
          <p:nvSpPr>
            <p:cNvPr id="15" name="Line 15"/>
            <p:cNvSpPr/>
            <p:nvPr/>
          </p:nvSpPr>
          <p:spPr>
            <a:xfrm>
              <a:off x="1143000" y="4191000"/>
              <a:ext cx="9906000" cy="9525"/>
            </a:xfrm>
            <a:custGeom>
              <a:avLst/>
              <a:gdLst/>
              <a:ahLst/>
              <a:cxnLst/>
              <a:rect l="l" t="t" r="r" b="b"/>
              <a:pathLst>
                <a:path w="9906000" h="9525">
                  <a:moveTo>
                    <a:pt x="0" y="0"/>
                  </a:moveTo>
                  <a:lnTo>
                    <a:pt x="9906000" y="0"/>
                  </a:lnTo>
                </a:path>
              </a:pathLst>
            </a:custGeom>
            <a:noFill/>
            <a:ln w="19050">
              <a:gradFill>
                <a:gsLst>
                  <a:gs pos="0">
                    <a:srgbClr val="4CC9F0">
                      <a:alpha val="40000"/>
                    </a:srgbClr>
                  </a:gs>
                  <a:gs pos="50000">
                    <a:srgbClr val="F4A261"/>
                  </a:gs>
                  <a:gs pos="100000">
                    <a:srgbClr val="E63946"/>
                  </a:gs>
                </a:gsLst>
                <a:lin ang="0" scaled="1"/>
              </a:gradFill>
            </a:ln>
          </p:spPr>
        </p:sp>
        <p:grpSp>
          <p:nvGrpSpPr>
            <p:cNvPr id="22" name="Group 22"/>
            <p:cNvGrpSpPr/>
            <p:nvPr/>
          </p:nvGrpSpPr>
          <p:grpSpPr>
            <a:xfrm>
              <a:off x="1143000" y="4191000"/>
              <a:ext cx="9915525" cy="190500"/>
              <a:chOff x="1143000" y="4191000"/>
              <a:chExt cx="9915525" cy="190500"/>
            </a:xfrm>
          </p:grpSpPr>
          <p:sp>
            <p:nvSpPr>
              <p:cNvPr id="16" name="Line 16"/>
              <p:cNvSpPr/>
              <p:nvPr/>
            </p:nvSpPr>
            <p:spPr>
              <a:xfrm>
                <a:off x="1143000" y="4191000"/>
                <a:ext cx="9525" cy="190500"/>
              </a:xfrm>
              <a:custGeom>
                <a:avLst/>
                <a:gdLst/>
                <a:ahLst/>
                <a:cxnLst/>
                <a:rect l="l" t="t" r="r" b="b"/>
                <a:pathLst>
                  <a:path w="9525" h="190500">
                    <a:moveTo>
                      <a:pt x="0" y="0"/>
                    </a:moveTo>
                    <a:lnTo>
                      <a:pt x="0" y="190500"/>
                    </a:lnTo>
                  </a:path>
                </a:pathLst>
              </a:custGeom>
              <a:noFill/>
              <a:ln w="9525">
                <a:solidFill>
                  <a:srgbClr val="2A2F3A"/>
                </a:solidFill>
              </a:ln>
            </p:spPr>
          </p:sp>
          <p:sp>
            <p:nvSpPr>
              <p:cNvPr id="17" name="Line 17"/>
              <p:cNvSpPr/>
              <p:nvPr/>
            </p:nvSpPr>
            <p:spPr>
              <a:xfrm>
                <a:off x="3124200" y="4191000"/>
                <a:ext cx="9525" cy="190500"/>
              </a:xfrm>
              <a:custGeom>
                <a:avLst/>
                <a:gdLst/>
                <a:ahLst/>
                <a:cxnLst/>
                <a:rect l="l" t="t" r="r" b="b"/>
                <a:pathLst>
                  <a:path w="9525" h="190500">
                    <a:moveTo>
                      <a:pt x="0" y="0"/>
                    </a:moveTo>
                    <a:lnTo>
                      <a:pt x="0" y="190500"/>
                    </a:lnTo>
                  </a:path>
                </a:pathLst>
              </a:custGeom>
              <a:noFill/>
              <a:ln w="9525">
                <a:solidFill>
                  <a:srgbClr val="2A2F3A"/>
                </a:solidFill>
              </a:ln>
            </p:spPr>
          </p:sp>
          <p:sp>
            <p:nvSpPr>
              <p:cNvPr id="18" name="Line 18"/>
              <p:cNvSpPr/>
              <p:nvPr/>
            </p:nvSpPr>
            <p:spPr>
              <a:xfrm>
                <a:off x="5105400" y="4191000"/>
                <a:ext cx="9525" cy="190500"/>
              </a:xfrm>
              <a:custGeom>
                <a:avLst/>
                <a:gdLst/>
                <a:ahLst/>
                <a:cxnLst/>
                <a:rect l="l" t="t" r="r" b="b"/>
                <a:pathLst>
                  <a:path w="9525" h="190500">
                    <a:moveTo>
                      <a:pt x="0" y="0"/>
                    </a:moveTo>
                    <a:lnTo>
                      <a:pt x="0" y="190500"/>
                    </a:lnTo>
                  </a:path>
                </a:pathLst>
              </a:custGeom>
              <a:noFill/>
              <a:ln w="9525">
                <a:solidFill>
                  <a:srgbClr val="2A2F3A"/>
                </a:solidFill>
              </a:ln>
            </p:spPr>
          </p:sp>
          <p:sp>
            <p:nvSpPr>
              <p:cNvPr id="19" name="Line 19"/>
              <p:cNvSpPr/>
              <p:nvPr/>
            </p:nvSpPr>
            <p:spPr>
              <a:xfrm>
                <a:off x="7086600" y="4191000"/>
                <a:ext cx="9525" cy="190500"/>
              </a:xfrm>
              <a:custGeom>
                <a:avLst/>
                <a:gdLst/>
                <a:ahLst/>
                <a:cxnLst/>
                <a:rect l="l" t="t" r="r" b="b"/>
                <a:pathLst>
                  <a:path w="9525" h="190500">
                    <a:moveTo>
                      <a:pt x="0" y="0"/>
                    </a:moveTo>
                    <a:lnTo>
                      <a:pt x="0" y="190500"/>
                    </a:lnTo>
                  </a:path>
                </a:pathLst>
              </a:custGeom>
              <a:noFill/>
              <a:ln w="9525">
                <a:solidFill>
                  <a:srgbClr val="2A2F3A"/>
                </a:solidFill>
              </a:ln>
            </p:spPr>
          </p:sp>
          <p:sp>
            <p:nvSpPr>
              <p:cNvPr id="20" name="Line 20"/>
              <p:cNvSpPr/>
              <p:nvPr/>
            </p:nvSpPr>
            <p:spPr>
              <a:xfrm>
                <a:off x="9067800" y="4191000"/>
                <a:ext cx="9525" cy="190500"/>
              </a:xfrm>
              <a:custGeom>
                <a:avLst/>
                <a:gdLst/>
                <a:ahLst/>
                <a:cxnLst/>
                <a:rect l="l" t="t" r="r" b="b"/>
                <a:pathLst>
                  <a:path w="9525" h="190500">
                    <a:moveTo>
                      <a:pt x="0" y="0"/>
                    </a:moveTo>
                    <a:lnTo>
                      <a:pt x="0" y="190500"/>
                    </a:lnTo>
                  </a:path>
                </a:pathLst>
              </a:custGeom>
              <a:noFill/>
              <a:ln w="9525">
                <a:solidFill>
                  <a:srgbClr val="2A2F3A"/>
                </a:solidFill>
              </a:ln>
            </p:spPr>
          </p:sp>
          <p:sp>
            <p:nvSpPr>
              <p:cNvPr id="21" name="Line 21"/>
              <p:cNvSpPr/>
              <p:nvPr/>
            </p:nvSpPr>
            <p:spPr>
              <a:xfrm>
                <a:off x="11049000" y="4191000"/>
                <a:ext cx="9525" cy="190500"/>
              </a:xfrm>
              <a:custGeom>
                <a:avLst/>
                <a:gdLst/>
                <a:ahLst/>
                <a:cxnLst/>
                <a:rect l="l" t="t" r="r" b="b"/>
                <a:pathLst>
                  <a:path w="9525" h="190500">
                    <a:moveTo>
                      <a:pt x="0" y="0"/>
                    </a:moveTo>
                    <a:lnTo>
                      <a:pt x="0" y="190500"/>
                    </a:lnTo>
                  </a:path>
                </a:pathLst>
              </a:custGeom>
              <a:noFill/>
              <a:ln w="9525">
                <a:solidFill>
                  <a:srgbClr val="2A2F3A"/>
                </a:solidFill>
              </a:ln>
            </p:spPr>
          </p:sp>
        </p:grpSp>
        <p:grpSp>
          <p:nvGrpSpPr>
            <p:cNvPr id="30" name="Group 30"/>
            <p:cNvGrpSpPr/>
            <p:nvPr/>
          </p:nvGrpSpPr>
          <p:grpSpPr>
            <a:xfrm>
              <a:off x="663102" y="3545205"/>
              <a:ext cx="959796" cy="2129314"/>
              <a:chOff x="663102" y="3545205"/>
              <a:chExt cx="959796" cy="2129314"/>
            </a:xfrm>
          </p:grpSpPr>
          <p:sp>
            <p:nvSpPr>
              <p:cNvPr id="23" name="Ellipse 23"/>
              <p:cNvSpPr/>
              <p:nvPr/>
            </p:nvSpPr>
            <p:spPr>
              <a:xfrm>
                <a:off x="933450" y="3981450"/>
                <a:ext cx="419100" cy="419100"/>
              </a:xfrm>
              <a:prstGeom prst="ellipse">
                <a:avLst/>
              </a:prstGeom>
              <a:solidFill>
                <a:srgbClr val="0B0D12"/>
              </a:solidFill>
              <a:ln w="19050">
                <a:solidFill>
                  <a:srgbClr val="4CC9F0"/>
                </a:solidFill>
              </a:ln>
            </p:spPr>
          </p:sp>
          <p:sp>
            <p:nvSpPr>
              <p:cNvPr id="24" name="Ellipse 24"/>
              <p:cNvSpPr/>
              <p:nvPr/>
            </p:nvSpPr>
            <p:spPr>
              <a:xfrm>
                <a:off x="1085850" y="4133850"/>
                <a:ext cx="114300" cy="114300"/>
              </a:xfrm>
              <a:prstGeom prst="ellipse">
                <a:avLst/>
              </a:prstGeom>
              <a:solidFill>
                <a:srgbClr val="4CC9F0"/>
              </a:solidFill>
              <a:ln>
                <a:noFill/>
              </a:ln>
            </p:spPr>
          </p:sp>
          <p:sp>
            <p:nvSpPr>
              <p:cNvPr id="25" name="TextBox 25"/>
              <p:cNvSpPr txBox="1"/>
              <p:nvPr/>
            </p:nvSpPr>
            <p:spPr>
              <a:xfrm>
                <a:off x="762086" y="3545205"/>
                <a:ext cx="761829" cy="426720"/>
              </a:xfrm>
              <a:prstGeom prst="rect">
                <a:avLst/>
              </a:prstGeom>
              <a:noFill/>
              <a:ln>
                <a:noFill/>
              </a:ln>
            </p:spPr>
            <p:txBody>
              <a:bodyPr wrap="none" lIns="0" tIns="0" rIns="0" bIns="0" anchor="t" anchorCtr="0">
                <a:spAutoFit/>
              </a:bodyPr>
              <a:lstStyle/>
              <a:p>
                <a:pPr algn="ctr"/>
                <a:r>
                  <a:rPr lang="en-US" sz="2100" b="1" dirty="0">
                    <a:solidFill>
                      <a:srgbClr val="4CC9F0"/>
                    </a:solidFill>
                    <a:latin typeface="Malgun Gothic"/>
                    <a:ea typeface="Malgun Gothic"/>
                    <a:cs typeface="Malgun Gothic"/>
                  </a:rPr>
                  <a:t>2020</a:t>
                </a:r>
              </a:p>
            </p:txBody>
          </p:sp>
          <p:grpSp>
            <p:nvGrpSpPr>
              <p:cNvPr id="29" name="Group 29"/>
              <p:cNvGrpSpPr/>
              <p:nvPr/>
            </p:nvGrpSpPr>
            <p:grpSpPr>
              <a:xfrm>
                <a:off x="663102" y="5052060"/>
                <a:ext cx="959796" cy="622459"/>
                <a:chOff x="663102" y="5052060"/>
                <a:chExt cx="959796" cy="622459"/>
              </a:xfrm>
            </p:grpSpPr>
            <p:sp>
              <p:nvSpPr>
                <p:cNvPr id="26" name="TextBox 26"/>
                <p:cNvSpPr txBox="1"/>
                <p:nvPr/>
              </p:nvSpPr>
              <p:spPr>
                <a:xfrm>
                  <a:off x="663102" y="5052060"/>
                  <a:ext cx="959796" cy="243840"/>
                </a:xfrm>
                <a:prstGeom prst="rect">
                  <a:avLst/>
                </a:prstGeom>
                <a:noFill/>
                <a:ln>
                  <a:noFill/>
                </a:ln>
              </p:spPr>
              <p:txBody>
                <a:bodyPr wrap="none" lIns="0" tIns="0" rIns="0" bIns="0" anchor="t" anchorCtr="0">
                  <a:spAutoFit/>
                </a:bodyPr>
                <a:lstStyle/>
                <a:p>
                  <a:pPr algn="ctr"/>
                  <a:r>
                    <a:rPr lang="ko-KR" sz="1200" b="1" dirty="0">
                      <a:solidFill>
                        <a:srgbClr val="F2F4F8"/>
                      </a:solidFill>
                      <a:latin typeface="Malgun Gothic"/>
                      <a:ea typeface="Malgun Gothic"/>
                      <a:cs typeface="Malgun Gothic"/>
                    </a:rPr>
                    <a:t>GPT-3 등장</a:t>
                  </a:r>
                </a:p>
              </p:txBody>
            </p:sp>
            <p:sp>
              <p:nvSpPr>
                <p:cNvPr id="27" name="TextBox 27"/>
                <p:cNvSpPr txBox="1"/>
                <p:nvPr/>
              </p:nvSpPr>
              <p:spPr>
                <a:xfrm>
                  <a:off x="692741" y="5304949"/>
                  <a:ext cx="900517" cy="198120"/>
                </a:xfrm>
                <a:prstGeom prst="rect">
                  <a:avLst/>
                </a:prstGeom>
                <a:noFill/>
                <a:ln>
                  <a:noFill/>
                </a:ln>
              </p:spPr>
              <p:txBody>
                <a:bodyPr wrap="none" lIns="0" tIns="0" rIns="0" bIns="0" anchor="t" anchorCtr="0">
                  <a:spAutoFit/>
                </a:bodyPr>
                <a:lstStyle/>
                <a:p>
                  <a:pPr algn="ctr"/>
                  <a:r>
                    <a:rPr lang="ko-KR" sz="1200" dirty="0">
                      <a:solidFill>
                        <a:srgbClr val="8A92A6"/>
                      </a:solidFill>
                      <a:latin typeface="Malgun Gothic"/>
                      <a:ea typeface="Malgun Gothic"/>
                      <a:cs typeface="Malgun Gothic"/>
                    </a:rPr>
                    <a:t>자연어 → 코드</a:t>
                  </a:r>
                </a:p>
              </p:txBody>
            </p:sp>
            <p:sp>
              <p:nvSpPr>
                <p:cNvPr id="28" name="TextBox 28"/>
                <p:cNvSpPr txBox="1"/>
                <p:nvPr/>
              </p:nvSpPr>
              <p:spPr>
                <a:xfrm>
                  <a:off x="753261" y="5476399"/>
                  <a:ext cx="779478" cy="198120"/>
                </a:xfrm>
                <a:prstGeom prst="rect">
                  <a:avLst/>
                </a:prstGeom>
                <a:noFill/>
                <a:ln>
                  <a:noFill/>
                </a:ln>
              </p:spPr>
              <p:txBody>
                <a:bodyPr wrap="none" lIns="0" tIns="0" rIns="0" bIns="0" anchor="t" anchorCtr="0">
                  <a:spAutoFit/>
                </a:bodyPr>
                <a:lstStyle/>
                <a:p>
                  <a:pPr algn="ctr"/>
                  <a:r>
                    <a:rPr lang="ko-KR" sz="1200" dirty="0">
                      <a:solidFill>
                        <a:srgbClr val="8A92A6"/>
                      </a:solidFill>
                      <a:latin typeface="Malgun Gothic"/>
                      <a:ea typeface="Malgun Gothic"/>
                      <a:cs typeface="Malgun Gothic"/>
                    </a:rPr>
                    <a:t>가능성 입증</a:t>
                  </a:r>
                </a:p>
              </p:txBody>
            </p:sp>
          </p:grpSp>
        </p:grpSp>
        <p:grpSp>
          <p:nvGrpSpPr>
            <p:cNvPr id="38" name="Group 38"/>
            <p:cNvGrpSpPr/>
            <p:nvPr/>
          </p:nvGrpSpPr>
          <p:grpSpPr>
            <a:xfrm>
              <a:off x="2492483" y="3545205"/>
              <a:ext cx="1263434" cy="2129314"/>
              <a:chOff x="2492483" y="3545205"/>
              <a:chExt cx="1263434" cy="2129314"/>
            </a:xfrm>
          </p:grpSpPr>
          <p:sp>
            <p:nvSpPr>
              <p:cNvPr id="31" name="Ellipse 31"/>
              <p:cNvSpPr/>
              <p:nvPr/>
            </p:nvSpPr>
            <p:spPr>
              <a:xfrm>
                <a:off x="2914650" y="3981450"/>
                <a:ext cx="419100" cy="419100"/>
              </a:xfrm>
              <a:prstGeom prst="ellipse">
                <a:avLst/>
              </a:prstGeom>
              <a:solidFill>
                <a:srgbClr val="0B0D12"/>
              </a:solidFill>
              <a:ln w="19050">
                <a:solidFill>
                  <a:srgbClr val="4CC9F0"/>
                </a:solidFill>
              </a:ln>
            </p:spPr>
          </p:sp>
          <p:sp>
            <p:nvSpPr>
              <p:cNvPr id="32" name="Ellipse 32"/>
              <p:cNvSpPr/>
              <p:nvPr/>
            </p:nvSpPr>
            <p:spPr>
              <a:xfrm>
                <a:off x="3067050" y="4133850"/>
                <a:ext cx="114300" cy="114300"/>
              </a:xfrm>
              <a:prstGeom prst="ellipse">
                <a:avLst/>
              </a:prstGeom>
              <a:solidFill>
                <a:srgbClr val="4CC9F0"/>
              </a:solidFill>
              <a:ln>
                <a:noFill/>
              </a:ln>
            </p:spPr>
          </p:sp>
          <p:sp>
            <p:nvSpPr>
              <p:cNvPr id="33" name="TextBox 33"/>
              <p:cNvSpPr txBox="1"/>
              <p:nvPr/>
            </p:nvSpPr>
            <p:spPr>
              <a:xfrm>
                <a:off x="2783541" y="3545205"/>
                <a:ext cx="681318" cy="426720"/>
              </a:xfrm>
              <a:prstGeom prst="rect">
                <a:avLst/>
              </a:prstGeom>
              <a:noFill/>
              <a:ln>
                <a:noFill/>
              </a:ln>
            </p:spPr>
            <p:txBody>
              <a:bodyPr wrap="none" lIns="0" tIns="0" rIns="0" bIns="0" anchor="t" anchorCtr="0">
                <a:spAutoFit/>
              </a:bodyPr>
              <a:lstStyle/>
              <a:p>
                <a:pPr algn="ctr"/>
                <a:r>
                  <a:rPr lang="en-US" sz="2100" b="1" dirty="0">
                    <a:solidFill>
                      <a:srgbClr val="4CC9F0"/>
                    </a:solidFill>
                    <a:latin typeface="Malgun Gothic"/>
                    <a:ea typeface="Malgun Gothic"/>
                    <a:cs typeface="Malgun Gothic"/>
                  </a:rPr>
                  <a:t>2021</a:t>
                </a:r>
              </a:p>
            </p:txBody>
          </p:sp>
          <p:grpSp>
            <p:nvGrpSpPr>
              <p:cNvPr id="37" name="Group 37"/>
              <p:cNvGrpSpPr/>
              <p:nvPr/>
            </p:nvGrpSpPr>
            <p:grpSpPr>
              <a:xfrm>
                <a:off x="2492483" y="5052060"/>
                <a:ext cx="1263434" cy="622459"/>
                <a:chOff x="2492483" y="5052060"/>
                <a:chExt cx="1263434" cy="622459"/>
              </a:xfrm>
            </p:grpSpPr>
            <p:sp>
              <p:nvSpPr>
                <p:cNvPr id="34" name="TextBox 34"/>
                <p:cNvSpPr txBox="1"/>
                <p:nvPr/>
              </p:nvSpPr>
              <p:spPr>
                <a:xfrm>
                  <a:off x="2492483" y="5052060"/>
                  <a:ext cx="1263434" cy="243840"/>
                </a:xfrm>
                <a:prstGeom prst="rect">
                  <a:avLst/>
                </a:prstGeom>
                <a:noFill/>
                <a:ln>
                  <a:noFill/>
                </a:ln>
              </p:spPr>
              <p:txBody>
                <a:bodyPr wrap="none" lIns="0" tIns="0" rIns="0" bIns="0" anchor="t" anchorCtr="0">
                  <a:spAutoFit/>
                </a:bodyPr>
                <a:lstStyle/>
                <a:p>
                  <a:pPr algn="ctr"/>
                  <a:r>
                    <a:rPr lang="en-US" sz="1200" b="1" dirty="0">
                      <a:solidFill>
                        <a:srgbClr val="F2F4F8"/>
                      </a:solidFill>
                      <a:latin typeface="Malgun Gothic"/>
                      <a:ea typeface="Malgun Gothic"/>
                      <a:cs typeface="Malgun Gothic"/>
                    </a:rPr>
                    <a:t>GitHub Copilot</a:t>
                  </a:r>
                </a:p>
              </p:txBody>
            </p:sp>
            <p:sp>
              <p:nvSpPr>
                <p:cNvPr id="35" name="TextBox 35"/>
                <p:cNvSpPr txBox="1"/>
                <p:nvPr/>
              </p:nvSpPr>
              <p:spPr>
                <a:xfrm>
                  <a:off x="2969419" y="5304949"/>
                  <a:ext cx="309562" cy="198120"/>
                </a:xfrm>
                <a:prstGeom prst="rect">
                  <a:avLst/>
                </a:prstGeom>
                <a:noFill/>
                <a:ln>
                  <a:noFill/>
                </a:ln>
              </p:spPr>
              <p:txBody>
                <a:bodyPr wrap="none" lIns="0" tIns="0" rIns="0" bIns="0" anchor="t" anchorCtr="0">
                  <a:spAutoFit/>
                </a:bodyPr>
                <a:lstStyle/>
                <a:p>
                  <a:pPr algn="ctr"/>
                  <a:r>
                    <a:rPr lang="ko-KR" sz="1200" dirty="0">
                      <a:solidFill>
                        <a:srgbClr val="8A92A6"/>
                      </a:solidFill>
                      <a:latin typeface="Malgun Gothic"/>
                      <a:ea typeface="Malgun Gothic"/>
                      <a:cs typeface="Malgun Gothic"/>
                    </a:rPr>
                    <a:t>출시</a:t>
                  </a:r>
                </a:p>
              </p:txBody>
            </p:sp>
            <p:sp>
              <p:nvSpPr>
                <p:cNvPr id="36" name="TextBox 36"/>
                <p:cNvSpPr txBox="1"/>
                <p:nvPr/>
              </p:nvSpPr>
              <p:spPr>
                <a:xfrm>
                  <a:off x="2499503" y="5476399"/>
                  <a:ext cx="1249394" cy="198120"/>
                </a:xfrm>
                <a:prstGeom prst="rect">
                  <a:avLst/>
                </a:prstGeom>
                <a:noFill/>
                <a:ln>
                  <a:noFill/>
                </a:ln>
              </p:spPr>
              <p:txBody>
                <a:bodyPr wrap="none" lIns="0" tIns="0" rIns="0" bIns="0" anchor="t" anchorCtr="0">
                  <a:spAutoFit/>
                </a:bodyPr>
                <a:lstStyle/>
                <a:p>
                  <a:pPr algn="ctr"/>
                  <a:r>
                    <a:rPr lang="ko-KR" sz="1200" dirty="0">
                      <a:solidFill>
                        <a:srgbClr val="8A92A6"/>
                      </a:solidFill>
                      <a:latin typeface="Malgun Gothic"/>
                      <a:ea typeface="Malgun Gothic"/>
                      <a:cs typeface="Malgun Gothic"/>
                    </a:rPr>
                    <a:t>코드 자동완성 시대</a:t>
                  </a:r>
                </a:p>
              </p:txBody>
            </p:sp>
          </p:grpSp>
        </p:grpSp>
        <p:grpSp>
          <p:nvGrpSpPr>
            <p:cNvPr id="46" name="Group 46"/>
            <p:cNvGrpSpPr/>
            <p:nvPr/>
          </p:nvGrpSpPr>
          <p:grpSpPr>
            <a:xfrm>
              <a:off x="4644461" y="3545205"/>
              <a:ext cx="921877" cy="2129314"/>
              <a:chOff x="4644461" y="3545205"/>
              <a:chExt cx="921877" cy="2129314"/>
            </a:xfrm>
          </p:grpSpPr>
          <p:sp>
            <p:nvSpPr>
              <p:cNvPr id="39" name="Ellipse 39"/>
              <p:cNvSpPr/>
              <p:nvPr/>
            </p:nvSpPr>
            <p:spPr>
              <a:xfrm>
                <a:off x="4895850" y="3981450"/>
                <a:ext cx="419100" cy="419100"/>
              </a:xfrm>
              <a:prstGeom prst="ellipse">
                <a:avLst/>
              </a:prstGeom>
              <a:solidFill>
                <a:srgbClr val="0B0D12"/>
              </a:solidFill>
              <a:ln w="19050">
                <a:solidFill>
                  <a:srgbClr val="F4A261"/>
                </a:solidFill>
              </a:ln>
            </p:spPr>
          </p:sp>
          <p:sp>
            <p:nvSpPr>
              <p:cNvPr id="40" name="Ellipse 40"/>
              <p:cNvSpPr/>
              <p:nvPr/>
            </p:nvSpPr>
            <p:spPr>
              <a:xfrm>
                <a:off x="5048250" y="4133850"/>
                <a:ext cx="114300" cy="114300"/>
              </a:xfrm>
              <a:prstGeom prst="ellipse">
                <a:avLst/>
              </a:prstGeom>
              <a:solidFill>
                <a:srgbClr val="F4A261"/>
              </a:solidFill>
              <a:ln>
                <a:noFill/>
              </a:ln>
            </p:spPr>
          </p:sp>
          <p:sp>
            <p:nvSpPr>
              <p:cNvPr id="41" name="TextBox 41"/>
              <p:cNvSpPr txBox="1"/>
              <p:nvPr/>
            </p:nvSpPr>
            <p:spPr>
              <a:xfrm>
                <a:off x="4724486" y="3545205"/>
                <a:ext cx="761829" cy="426720"/>
              </a:xfrm>
              <a:prstGeom prst="rect">
                <a:avLst/>
              </a:prstGeom>
              <a:noFill/>
              <a:ln>
                <a:noFill/>
              </a:ln>
            </p:spPr>
            <p:txBody>
              <a:bodyPr wrap="none" lIns="0" tIns="0" rIns="0" bIns="0" anchor="t" anchorCtr="0">
                <a:spAutoFit/>
              </a:bodyPr>
              <a:lstStyle/>
              <a:p>
                <a:pPr algn="ctr"/>
                <a:r>
                  <a:rPr lang="en-US" sz="2100" b="1" dirty="0">
                    <a:solidFill>
                      <a:srgbClr val="F4A261"/>
                    </a:solidFill>
                    <a:latin typeface="Malgun Gothic"/>
                    <a:ea typeface="Malgun Gothic"/>
                    <a:cs typeface="Malgun Gothic"/>
                  </a:rPr>
                  <a:t>2022</a:t>
                </a:r>
              </a:p>
            </p:txBody>
          </p:sp>
          <p:grpSp>
            <p:nvGrpSpPr>
              <p:cNvPr id="45" name="Group 45"/>
              <p:cNvGrpSpPr/>
              <p:nvPr/>
            </p:nvGrpSpPr>
            <p:grpSpPr>
              <a:xfrm>
                <a:off x="4644461" y="5052060"/>
                <a:ext cx="921877" cy="622459"/>
                <a:chOff x="4644461" y="5052060"/>
                <a:chExt cx="921877" cy="622459"/>
              </a:xfrm>
            </p:grpSpPr>
            <p:sp>
              <p:nvSpPr>
                <p:cNvPr id="42" name="TextBox 42"/>
                <p:cNvSpPr txBox="1"/>
                <p:nvPr/>
              </p:nvSpPr>
              <p:spPr>
                <a:xfrm>
                  <a:off x="4735916" y="5052060"/>
                  <a:ext cx="738969" cy="243840"/>
                </a:xfrm>
                <a:prstGeom prst="rect">
                  <a:avLst/>
                </a:prstGeom>
                <a:noFill/>
                <a:ln>
                  <a:noFill/>
                </a:ln>
              </p:spPr>
              <p:txBody>
                <a:bodyPr wrap="none" lIns="0" tIns="0" rIns="0" bIns="0" anchor="t" anchorCtr="0">
                  <a:spAutoFit/>
                </a:bodyPr>
                <a:lstStyle/>
                <a:p>
                  <a:pPr algn="ctr"/>
                  <a:r>
                    <a:rPr lang="en-US" sz="1200" b="1" dirty="0">
                      <a:solidFill>
                        <a:srgbClr val="F2F4F8"/>
                      </a:solidFill>
                      <a:latin typeface="Malgun Gothic"/>
                      <a:ea typeface="Malgun Gothic"/>
                      <a:cs typeface="Malgun Gothic"/>
                    </a:rPr>
                    <a:t>ChatGPT</a:t>
                  </a:r>
                </a:p>
              </p:txBody>
            </p:sp>
            <p:sp>
              <p:nvSpPr>
                <p:cNvPr id="43" name="TextBox 43"/>
                <p:cNvSpPr txBox="1"/>
                <p:nvPr/>
              </p:nvSpPr>
              <p:spPr>
                <a:xfrm>
                  <a:off x="4644461" y="5304949"/>
                  <a:ext cx="921877" cy="198120"/>
                </a:xfrm>
                <a:prstGeom prst="rect">
                  <a:avLst/>
                </a:prstGeom>
                <a:noFill/>
                <a:ln>
                  <a:noFill/>
                </a:ln>
              </p:spPr>
              <p:txBody>
                <a:bodyPr wrap="none" lIns="0" tIns="0" rIns="0" bIns="0" anchor="t" anchorCtr="0">
                  <a:spAutoFit/>
                </a:bodyPr>
                <a:lstStyle/>
                <a:p>
                  <a:pPr algn="ctr"/>
                  <a:r>
                    <a:rPr lang="ko-KR" sz="1200" dirty="0">
                      <a:solidFill>
                        <a:srgbClr val="8A92A6"/>
                      </a:solidFill>
                      <a:latin typeface="Malgun Gothic"/>
                      <a:ea typeface="Malgun Gothic"/>
                      <a:cs typeface="Malgun Gothic"/>
                    </a:rPr>
                    <a:t>모든 개발자의</a:t>
                  </a:r>
                </a:p>
              </p:txBody>
            </p:sp>
            <p:sp>
              <p:nvSpPr>
                <p:cNvPr id="44" name="TextBox 44"/>
                <p:cNvSpPr txBox="1"/>
                <p:nvPr/>
              </p:nvSpPr>
              <p:spPr>
                <a:xfrm>
                  <a:off x="4786860" y="5476399"/>
                  <a:ext cx="637080" cy="198120"/>
                </a:xfrm>
                <a:prstGeom prst="rect">
                  <a:avLst/>
                </a:prstGeom>
                <a:noFill/>
                <a:ln>
                  <a:noFill/>
                </a:ln>
              </p:spPr>
              <p:txBody>
                <a:bodyPr wrap="none" lIns="0" tIns="0" rIns="0" bIns="0" anchor="t" anchorCtr="0">
                  <a:spAutoFit/>
                </a:bodyPr>
                <a:lstStyle/>
                <a:p>
                  <a:pPr algn="ctr"/>
                  <a:r>
                    <a:rPr lang="ko-KR" sz="1200" dirty="0">
                      <a:solidFill>
                        <a:srgbClr val="8A92A6"/>
                      </a:solidFill>
                      <a:latin typeface="Malgun Gothic"/>
                      <a:ea typeface="Malgun Gothic"/>
                      <a:cs typeface="Malgun Gothic"/>
                    </a:rPr>
                    <a:t>책상 위로</a:t>
                  </a:r>
                </a:p>
              </p:txBody>
            </p:sp>
          </p:grpSp>
        </p:grpSp>
        <p:grpSp>
          <p:nvGrpSpPr>
            <p:cNvPr id="54" name="Group 54"/>
            <p:cNvGrpSpPr/>
            <p:nvPr/>
          </p:nvGrpSpPr>
          <p:grpSpPr>
            <a:xfrm>
              <a:off x="6431880" y="3545205"/>
              <a:ext cx="1309440" cy="2129314"/>
              <a:chOff x="6431880" y="3545205"/>
              <a:chExt cx="1309440" cy="2129314"/>
            </a:xfrm>
          </p:grpSpPr>
          <p:sp>
            <p:nvSpPr>
              <p:cNvPr id="47" name="Ellipse 47"/>
              <p:cNvSpPr/>
              <p:nvPr/>
            </p:nvSpPr>
            <p:spPr>
              <a:xfrm>
                <a:off x="6877050" y="3981450"/>
                <a:ext cx="419100" cy="419100"/>
              </a:xfrm>
              <a:prstGeom prst="ellipse">
                <a:avLst/>
              </a:prstGeom>
              <a:solidFill>
                <a:srgbClr val="0B0D12"/>
              </a:solidFill>
              <a:ln w="19050">
                <a:solidFill>
                  <a:srgbClr val="F4A261"/>
                </a:solidFill>
              </a:ln>
            </p:spPr>
          </p:sp>
          <p:sp>
            <p:nvSpPr>
              <p:cNvPr id="48" name="Ellipse 48"/>
              <p:cNvSpPr/>
              <p:nvPr/>
            </p:nvSpPr>
            <p:spPr>
              <a:xfrm>
                <a:off x="7029450" y="4133850"/>
                <a:ext cx="114300" cy="114300"/>
              </a:xfrm>
              <a:prstGeom prst="ellipse">
                <a:avLst/>
              </a:prstGeom>
              <a:solidFill>
                <a:srgbClr val="F4A261"/>
              </a:solidFill>
              <a:ln>
                <a:noFill/>
              </a:ln>
            </p:spPr>
          </p:sp>
          <p:sp>
            <p:nvSpPr>
              <p:cNvPr id="49" name="TextBox 49"/>
              <p:cNvSpPr txBox="1"/>
              <p:nvPr/>
            </p:nvSpPr>
            <p:spPr>
              <a:xfrm>
                <a:off x="6705686" y="3545205"/>
                <a:ext cx="761829" cy="426720"/>
              </a:xfrm>
              <a:prstGeom prst="rect">
                <a:avLst/>
              </a:prstGeom>
              <a:noFill/>
              <a:ln>
                <a:noFill/>
              </a:ln>
            </p:spPr>
            <p:txBody>
              <a:bodyPr wrap="none" lIns="0" tIns="0" rIns="0" bIns="0" anchor="t" anchorCtr="0">
                <a:spAutoFit/>
              </a:bodyPr>
              <a:lstStyle/>
              <a:p>
                <a:pPr algn="ctr"/>
                <a:r>
                  <a:rPr lang="en-US" sz="2100" b="1" dirty="0">
                    <a:solidFill>
                      <a:srgbClr val="F4A261"/>
                    </a:solidFill>
                    <a:latin typeface="Malgun Gothic"/>
                    <a:ea typeface="Malgun Gothic"/>
                    <a:cs typeface="Malgun Gothic"/>
                  </a:rPr>
                  <a:t>2023</a:t>
                </a:r>
              </a:p>
            </p:txBody>
          </p:sp>
          <p:grpSp>
            <p:nvGrpSpPr>
              <p:cNvPr id="53" name="Group 53"/>
              <p:cNvGrpSpPr/>
              <p:nvPr/>
            </p:nvGrpSpPr>
            <p:grpSpPr>
              <a:xfrm>
                <a:off x="6431880" y="5052060"/>
                <a:ext cx="1309440" cy="622459"/>
                <a:chOff x="6431880" y="5052060"/>
                <a:chExt cx="1309440" cy="622459"/>
              </a:xfrm>
            </p:grpSpPr>
            <p:sp>
              <p:nvSpPr>
                <p:cNvPr id="50" name="TextBox 50"/>
                <p:cNvSpPr txBox="1"/>
                <p:nvPr/>
              </p:nvSpPr>
              <p:spPr>
                <a:xfrm>
                  <a:off x="6431880" y="5052060"/>
                  <a:ext cx="1309440" cy="243840"/>
                </a:xfrm>
                <a:prstGeom prst="rect">
                  <a:avLst/>
                </a:prstGeom>
                <a:noFill/>
                <a:ln>
                  <a:noFill/>
                </a:ln>
              </p:spPr>
              <p:txBody>
                <a:bodyPr wrap="none" lIns="0" tIns="0" rIns="0" bIns="0" anchor="t" anchorCtr="0">
                  <a:spAutoFit/>
                </a:bodyPr>
                <a:lstStyle/>
                <a:p>
                  <a:pPr algn="ctr"/>
                  <a:r>
                    <a:rPr lang="en-US" sz="1200" b="1" dirty="0">
                      <a:solidFill>
                        <a:srgbClr val="F2F4F8"/>
                      </a:solidFill>
                      <a:latin typeface="Malgun Gothic"/>
                      <a:ea typeface="Malgun Gothic"/>
                      <a:cs typeface="Malgun Gothic"/>
                    </a:rPr>
                    <a:t>Cursor · Devin</a:t>
                  </a:r>
                </a:p>
              </p:txBody>
            </p:sp>
            <p:sp>
              <p:nvSpPr>
                <p:cNvPr id="51" name="TextBox 51"/>
                <p:cNvSpPr txBox="1"/>
                <p:nvPr/>
              </p:nvSpPr>
              <p:spPr>
                <a:xfrm>
                  <a:off x="6768060" y="5304949"/>
                  <a:ext cx="637080" cy="198120"/>
                </a:xfrm>
                <a:prstGeom prst="rect">
                  <a:avLst/>
                </a:prstGeom>
                <a:noFill/>
                <a:ln>
                  <a:noFill/>
                </a:ln>
              </p:spPr>
              <p:txBody>
                <a:bodyPr wrap="none" lIns="0" tIns="0" rIns="0" bIns="0" anchor="t" anchorCtr="0">
                  <a:spAutoFit/>
                </a:bodyPr>
                <a:lstStyle/>
                <a:p>
                  <a:pPr algn="ctr"/>
                  <a:r>
                    <a:rPr lang="ko-KR" sz="1200" dirty="0">
                      <a:solidFill>
                        <a:srgbClr val="8A92A6"/>
                      </a:solidFill>
                      <a:latin typeface="Malgun Gothic"/>
                      <a:ea typeface="Malgun Gothic"/>
                      <a:cs typeface="Malgun Gothic"/>
                    </a:rPr>
                    <a:t>자율 코딩</a:t>
                  </a:r>
                </a:p>
              </p:txBody>
            </p:sp>
            <p:sp>
              <p:nvSpPr>
                <p:cNvPr id="52" name="TextBox 52"/>
                <p:cNvSpPr txBox="1"/>
                <p:nvPr/>
              </p:nvSpPr>
              <p:spPr>
                <a:xfrm>
                  <a:off x="6625661" y="5476399"/>
                  <a:ext cx="921877" cy="198120"/>
                </a:xfrm>
                <a:prstGeom prst="rect">
                  <a:avLst/>
                </a:prstGeom>
                <a:noFill/>
                <a:ln>
                  <a:noFill/>
                </a:ln>
              </p:spPr>
              <p:txBody>
                <a:bodyPr wrap="none" lIns="0" tIns="0" rIns="0" bIns="0" anchor="t" anchorCtr="0">
                  <a:spAutoFit/>
                </a:bodyPr>
                <a:lstStyle/>
                <a:p>
                  <a:pPr algn="ctr"/>
                  <a:r>
                    <a:rPr lang="ko-KR" sz="1200" dirty="0">
                      <a:solidFill>
                        <a:srgbClr val="8A92A6"/>
                      </a:solidFill>
                      <a:latin typeface="Malgun Gothic"/>
                      <a:ea typeface="Malgun Gothic"/>
                      <a:cs typeface="Malgun Gothic"/>
                    </a:rPr>
                    <a:t>에이전트 등장</a:t>
                  </a:r>
                </a:p>
              </p:txBody>
            </p:sp>
          </p:grpSp>
        </p:grpSp>
        <p:grpSp>
          <p:nvGrpSpPr>
            <p:cNvPr id="63" name="Group 63"/>
            <p:cNvGrpSpPr/>
            <p:nvPr/>
          </p:nvGrpSpPr>
          <p:grpSpPr>
            <a:xfrm>
              <a:off x="8528094" y="3545205"/>
              <a:ext cx="1079411" cy="2129314"/>
              <a:chOff x="8528094" y="3545205"/>
              <a:chExt cx="1079411" cy="2129314"/>
            </a:xfrm>
          </p:grpSpPr>
          <p:sp>
            <p:nvSpPr>
              <p:cNvPr id="55" name="Ellipse 55"/>
              <p:cNvSpPr/>
              <p:nvPr/>
            </p:nvSpPr>
            <p:spPr>
              <a:xfrm>
                <a:off x="8724900" y="3848100"/>
                <a:ext cx="685800" cy="685800"/>
              </a:xfrm>
              <a:prstGeom prst="ellipse">
                <a:avLst/>
              </a:prstGeom>
              <a:gradFill>
                <a:gsLst>
                  <a:gs pos="0">
                    <a:srgbClr val="E63946">
                      <a:alpha val="60000"/>
                    </a:srgbClr>
                  </a:gs>
                  <a:gs pos="100000">
                    <a:srgbClr val="E63946">
                      <a:alpha val="0"/>
                    </a:srgbClr>
                  </a:gs>
                </a:gsLst>
                <a:path path="circle">
                  <a:fillToRect l="50000" t="50000" r="50000" b="50000"/>
                </a:path>
              </a:gradFill>
              <a:ln>
                <a:noFill/>
              </a:ln>
            </p:spPr>
          </p:sp>
          <p:sp>
            <p:nvSpPr>
              <p:cNvPr id="56" name="Ellipse 56"/>
              <p:cNvSpPr/>
              <p:nvPr/>
            </p:nvSpPr>
            <p:spPr>
              <a:xfrm>
                <a:off x="8858250" y="3981450"/>
                <a:ext cx="419100" cy="419100"/>
              </a:xfrm>
              <a:prstGeom prst="ellipse">
                <a:avLst/>
              </a:prstGeom>
              <a:solidFill>
                <a:srgbClr val="0B0D12"/>
              </a:solidFill>
              <a:ln w="19050">
                <a:solidFill>
                  <a:srgbClr val="E63946"/>
                </a:solidFill>
              </a:ln>
            </p:spPr>
          </p:sp>
          <p:sp>
            <p:nvSpPr>
              <p:cNvPr id="57" name="Ellipse 57"/>
              <p:cNvSpPr/>
              <p:nvPr/>
            </p:nvSpPr>
            <p:spPr>
              <a:xfrm>
                <a:off x="9010650" y="4133850"/>
                <a:ext cx="114300" cy="114300"/>
              </a:xfrm>
              <a:prstGeom prst="ellipse">
                <a:avLst/>
              </a:prstGeom>
              <a:solidFill>
                <a:srgbClr val="E63946"/>
              </a:solidFill>
              <a:ln>
                <a:noFill/>
              </a:ln>
            </p:spPr>
          </p:sp>
          <p:sp>
            <p:nvSpPr>
              <p:cNvPr id="58" name="TextBox 58"/>
              <p:cNvSpPr txBox="1"/>
              <p:nvPr/>
            </p:nvSpPr>
            <p:spPr>
              <a:xfrm>
                <a:off x="8686886" y="3545205"/>
                <a:ext cx="761829" cy="426720"/>
              </a:xfrm>
              <a:prstGeom prst="rect">
                <a:avLst/>
              </a:prstGeom>
              <a:noFill/>
              <a:ln>
                <a:noFill/>
              </a:ln>
            </p:spPr>
            <p:txBody>
              <a:bodyPr wrap="none" lIns="0" tIns="0" rIns="0" bIns="0" anchor="t" anchorCtr="0">
                <a:spAutoFit/>
              </a:bodyPr>
              <a:lstStyle/>
              <a:p>
                <a:pPr algn="ctr"/>
                <a:r>
                  <a:rPr lang="en-US" sz="2100" b="1" dirty="0">
                    <a:solidFill>
                      <a:srgbClr val="E63946"/>
                    </a:solidFill>
                    <a:latin typeface="Malgun Gothic"/>
                    <a:ea typeface="Malgun Gothic"/>
                    <a:cs typeface="Malgun Gothic"/>
                  </a:rPr>
                  <a:t>2024</a:t>
                </a:r>
              </a:p>
            </p:txBody>
          </p:sp>
          <p:grpSp>
            <p:nvGrpSpPr>
              <p:cNvPr id="62" name="Group 62"/>
              <p:cNvGrpSpPr/>
              <p:nvPr/>
            </p:nvGrpSpPr>
            <p:grpSpPr>
              <a:xfrm>
                <a:off x="8528094" y="5052060"/>
                <a:ext cx="1079411" cy="622459"/>
                <a:chOff x="8528094" y="5052060"/>
                <a:chExt cx="1079411" cy="622459"/>
              </a:xfrm>
            </p:grpSpPr>
            <p:sp>
              <p:nvSpPr>
                <p:cNvPr id="59" name="TextBox 59"/>
                <p:cNvSpPr txBox="1"/>
                <p:nvPr/>
              </p:nvSpPr>
              <p:spPr>
                <a:xfrm>
                  <a:off x="8528094" y="5052060"/>
                  <a:ext cx="1079411" cy="243840"/>
                </a:xfrm>
                <a:prstGeom prst="rect">
                  <a:avLst/>
                </a:prstGeom>
                <a:noFill/>
                <a:ln>
                  <a:noFill/>
                </a:ln>
              </p:spPr>
              <p:txBody>
                <a:bodyPr wrap="none" lIns="0" tIns="0" rIns="0" bIns="0" anchor="t" anchorCtr="0">
                  <a:spAutoFit/>
                </a:bodyPr>
                <a:lstStyle/>
                <a:p>
                  <a:pPr algn="ctr"/>
                  <a:r>
                    <a:rPr lang="ko-KR" sz="1200" b="1" dirty="0">
                      <a:solidFill>
                        <a:srgbClr val="F2F4F8"/>
                      </a:solidFill>
                      <a:latin typeface="Malgun Gothic"/>
                      <a:ea typeface="Malgun Gothic"/>
                      <a:cs typeface="Malgun Gothic"/>
                    </a:rPr>
                    <a:t>PR 단위 작업</a:t>
                  </a:r>
                </a:p>
              </p:txBody>
            </p:sp>
            <p:sp>
              <p:nvSpPr>
                <p:cNvPr id="60" name="TextBox 60"/>
                <p:cNvSpPr txBox="1"/>
                <p:nvPr/>
              </p:nvSpPr>
              <p:spPr>
                <a:xfrm>
                  <a:off x="8759940" y="5304949"/>
                  <a:ext cx="615720" cy="198120"/>
                </a:xfrm>
                <a:prstGeom prst="rect">
                  <a:avLst/>
                </a:prstGeom>
                <a:noFill/>
                <a:ln>
                  <a:noFill/>
                </a:ln>
              </p:spPr>
              <p:txBody>
                <a:bodyPr wrap="none" lIns="0" tIns="0" rIns="0" bIns="0" anchor="t" anchorCtr="0">
                  <a:spAutoFit/>
                </a:bodyPr>
                <a:lstStyle/>
                <a:p>
                  <a:pPr algn="ctr"/>
                  <a:r>
                    <a:rPr lang="ko-KR" sz="1200" dirty="0">
                      <a:solidFill>
                        <a:srgbClr val="8A92A6"/>
                      </a:solidFill>
                      <a:latin typeface="Malgun Gothic"/>
                      <a:ea typeface="Malgun Gothic"/>
                      <a:cs typeface="Malgun Gothic"/>
                    </a:rPr>
                    <a:t>AI가 직접</a:t>
                  </a:r>
                </a:p>
              </p:txBody>
            </p:sp>
            <p:sp>
              <p:nvSpPr>
                <p:cNvPr id="61" name="TextBox 61"/>
                <p:cNvSpPr txBox="1"/>
                <p:nvPr/>
              </p:nvSpPr>
              <p:spPr>
                <a:xfrm>
                  <a:off x="8813340" y="5476399"/>
                  <a:ext cx="508921" cy="198120"/>
                </a:xfrm>
                <a:prstGeom prst="rect">
                  <a:avLst/>
                </a:prstGeom>
                <a:noFill/>
                <a:ln>
                  <a:noFill/>
                </a:ln>
              </p:spPr>
              <p:txBody>
                <a:bodyPr wrap="none" lIns="0" tIns="0" rIns="0" bIns="0" anchor="t" anchorCtr="0">
                  <a:spAutoFit/>
                </a:bodyPr>
                <a:lstStyle/>
                <a:p>
                  <a:pPr algn="ctr"/>
                  <a:r>
                    <a:rPr lang="ko-KR" sz="1200" dirty="0">
                      <a:solidFill>
                        <a:srgbClr val="8A92A6"/>
                      </a:solidFill>
                      <a:latin typeface="Malgun Gothic"/>
                      <a:ea typeface="Malgun Gothic"/>
                      <a:cs typeface="Malgun Gothic"/>
                    </a:rPr>
                    <a:t>PR 수행</a:t>
                  </a:r>
                </a:p>
              </p:txBody>
            </p:sp>
          </p:grpSp>
        </p:grpSp>
        <p:grpSp>
          <p:nvGrpSpPr>
            <p:cNvPr id="72" name="Group 72"/>
            <p:cNvGrpSpPr/>
            <p:nvPr/>
          </p:nvGrpSpPr>
          <p:grpSpPr>
            <a:xfrm>
              <a:off x="10454088" y="3474720"/>
              <a:ext cx="1189825" cy="2237899"/>
              <a:chOff x="10454088" y="3474720"/>
              <a:chExt cx="1189825" cy="2237899"/>
            </a:xfrm>
          </p:grpSpPr>
          <p:sp>
            <p:nvSpPr>
              <p:cNvPr id="64" name="Ellipse 64"/>
              <p:cNvSpPr/>
              <p:nvPr/>
            </p:nvSpPr>
            <p:spPr>
              <a:xfrm>
                <a:off x="10629900" y="3771900"/>
                <a:ext cx="838200" cy="838200"/>
              </a:xfrm>
              <a:prstGeom prst="ellipse">
                <a:avLst/>
              </a:prstGeom>
              <a:gradFill>
                <a:gsLst>
                  <a:gs pos="0">
                    <a:srgbClr val="E63946">
                      <a:alpha val="60000"/>
                    </a:srgbClr>
                  </a:gs>
                  <a:gs pos="100000">
                    <a:srgbClr val="E63946">
                      <a:alpha val="0"/>
                    </a:srgbClr>
                  </a:gs>
                </a:gsLst>
                <a:path path="circle">
                  <a:fillToRect l="50000" t="50000" r="50000" b="50000"/>
                </a:path>
              </a:gradFill>
              <a:ln>
                <a:noFill/>
              </a:ln>
            </p:spPr>
          </p:sp>
          <p:sp>
            <p:nvSpPr>
              <p:cNvPr id="65" name="Ellipse 65"/>
              <p:cNvSpPr/>
              <p:nvPr/>
            </p:nvSpPr>
            <p:spPr>
              <a:xfrm>
                <a:off x="10801350" y="3943350"/>
                <a:ext cx="495300" cy="495300"/>
              </a:xfrm>
              <a:prstGeom prst="ellipse">
                <a:avLst/>
              </a:prstGeom>
              <a:solidFill>
                <a:srgbClr val="E63946"/>
              </a:solidFill>
              <a:ln w="19050">
                <a:solidFill>
                  <a:srgbClr val="F2F4F8"/>
                </a:solidFill>
              </a:ln>
            </p:spPr>
          </p:sp>
          <p:sp>
            <p:nvSpPr>
              <p:cNvPr id="66" name="Ellipse 66"/>
              <p:cNvSpPr/>
              <p:nvPr/>
            </p:nvSpPr>
            <p:spPr>
              <a:xfrm>
                <a:off x="10972800" y="4114800"/>
                <a:ext cx="152400" cy="152400"/>
              </a:xfrm>
              <a:prstGeom prst="ellipse">
                <a:avLst/>
              </a:prstGeom>
              <a:solidFill>
                <a:srgbClr val="F2F4F8"/>
              </a:solidFill>
              <a:ln>
                <a:noFill/>
              </a:ln>
            </p:spPr>
          </p:sp>
          <p:sp>
            <p:nvSpPr>
              <p:cNvPr id="67" name="TextBox 67"/>
              <p:cNvSpPr txBox="1"/>
              <p:nvPr/>
            </p:nvSpPr>
            <p:spPr>
              <a:xfrm>
                <a:off x="10613669" y="3474720"/>
                <a:ext cx="870661" cy="487680"/>
              </a:xfrm>
              <a:prstGeom prst="rect">
                <a:avLst/>
              </a:prstGeom>
              <a:noFill/>
              <a:ln>
                <a:noFill/>
              </a:ln>
            </p:spPr>
            <p:txBody>
              <a:bodyPr wrap="none" lIns="0" tIns="0" rIns="0" bIns="0" anchor="t" anchorCtr="0">
                <a:spAutoFit/>
              </a:bodyPr>
              <a:lstStyle/>
              <a:p>
                <a:pPr algn="ctr"/>
                <a:r>
                  <a:rPr lang="en-US" sz="2400" b="1" dirty="0">
                    <a:solidFill>
                      <a:srgbClr val="E63946"/>
                    </a:solidFill>
                    <a:latin typeface="Malgun Gothic"/>
                    <a:ea typeface="Malgun Gothic"/>
                    <a:cs typeface="Malgun Gothic"/>
                  </a:rPr>
                  <a:t>2025</a:t>
                </a:r>
              </a:p>
            </p:txBody>
          </p:sp>
          <p:grpSp>
            <p:nvGrpSpPr>
              <p:cNvPr id="71" name="Group 71"/>
              <p:cNvGrpSpPr/>
              <p:nvPr/>
            </p:nvGrpSpPr>
            <p:grpSpPr>
              <a:xfrm>
                <a:off x="10454088" y="5090160"/>
                <a:ext cx="1189825" cy="622459"/>
                <a:chOff x="10454088" y="5090160"/>
                <a:chExt cx="1189825" cy="622459"/>
              </a:xfrm>
            </p:grpSpPr>
            <p:sp>
              <p:nvSpPr>
                <p:cNvPr id="68" name="TextBox 68"/>
                <p:cNvSpPr txBox="1"/>
                <p:nvPr/>
              </p:nvSpPr>
              <p:spPr>
                <a:xfrm>
                  <a:off x="10454088" y="5090160"/>
                  <a:ext cx="1189825" cy="243840"/>
                </a:xfrm>
                <a:prstGeom prst="rect">
                  <a:avLst/>
                </a:prstGeom>
                <a:noFill/>
                <a:ln>
                  <a:noFill/>
                </a:ln>
              </p:spPr>
              <p:txBody>
                <a:bodyPr wrap="none" lIns="0" tIns="0" rIns="0" bIns="0" anchor="t" anchorCtr="0">
                  <a:spAutoFit/>
                </a:bodyPr>
                <a:lstStyle/>
                <a:p>
                  <a:pPr algn="ctr"/>
                  <a:r>
                    <a:rPr lang="ko-KR" sz="1200" b="1" dirty="0">
                      <a:solidFill>
                        <a:srgbClr val="F2F4F8"/>
                      </a:solidFill>
                      <a:latin typeface="Malgun Gothic"/>
                      <a:ea typeface="Malgun Gothic"/>
                      <a:cs typeface="Malgun Gothic"/>
                    </a:rPr>
                    <a:t>멀티 에이전트</a:t>
                  </a:r>
                </a:p>
              </p:txBody>
            </p:sp>
            <p:sp>
              <p:nvSpPr>
                <p:cNvPr id="69" name="TextBox 69"/>
                <p:cNvSpPr txBox="1"/>
                <p:nvPr/>
              </p:nvSpPr>
              <p:spPr>
                <a:xfrm>
                  <a:off x="10823019" y="5343049"/>
                  <a:ext cx="451961" cy="198120"/>
                </a:xfrm>
                <a:prstGeom prst="rect">
                  <a:avLst/>
                </a:prstGeom>
                <a:noFill/>
                <a:ln>
                  <a:noFill/>
                </a:ln>
              </p:spPr>
              <p:txBody>
                <a:bodyPr wrap="none" lIns="0" tIns="0" rIns="0" bIns="0" anchor="t" anchorCtr="0">
                  <a:spAutoFit/>
                </a:bodyPr>
                <a:lstStyle/>
                <a:p>
                  <a:pPr algn="ctr"/>
                  <a:r>
                    <a:rPr lang="ko-KR" sz="1200" dirty="0">
                      <a:solidFill>
                        <a:srgbClr val="8A92A6"/>
                      </a:solidFill>
                      <a:latin typeface="Malgun Gothic"/>
                      <a:ea typeface="Malgun Gothic"/>
                      <a:cs typeface="Malgun Gothic"/>
                    </a:rPr>
                    <a:t>인간은</a:t>
                  </a:r>
                </a:p>
              </p:txBody>
            </p:sp>
            <p:sp>
              <p:nvSpPr>
                <p:cNvPr id="70" name="TextBox 70"/>
                <p:cNvSpPr txBox="1"/>
                <p:nvPr/>
              </p:nvSpPr>
              <p:spPr>
                <a:xfrm>
                  <a:off x="10812339" y="5514499"/>
                  <a:ext cx="473321" cy="198120"/>
                </a:xfrm>
                <a:prstGeom prst="rect">
                  <a:avLst/>
                </a:prstGeom>
                <a:noFill/>
                <a:ln>
                  <a:noFill/>
                </a:ln>
              </p:spPr>
              <p:txBody>
                <a:bodyPr wrap="none" lIns="0" tIns="0" rIns="0" bIns="0" anchor="t" anchorCtr="0">
                  <a:spAutoFit/>
                </a:bodyPr>
                <a:lstStyle/>
                <a:p>
                  <a:pPr algn="ctr"/>
                  <a:r>
                    <a:rPr lang="ko-KR" sz="1200" b="1" dirty="0">
                      <a:solidFill>
                        <a:srgbClr val="E63946"/>
                      </a:solidFill>
                      <a:latin typeface="Malgun Gothic"/>
                      <a:ea typeface="Malgun Gothic"/>
                      <a:cs typeface="Malgun Gothic"/>
                    </a:rPr>
                    <a:t>검토자</a:t>
                  </a:r>
                </a:p>
              </p:txBody>
            </p:sp>
          </p:grpSp>
        </p:grpSp>
      </p:grpSp>
      <p:grpSp>
        <p:nvGrpSpPr>
          <p:cNvPr id="77" name="Group 77"/>
          <p:cNvGrpSpPr/>
          <p:nvPr/>
        </p:nvGrpSpPr>
        <p:grpSpPr>
          <a:xfrm>
            <a:off x="596265" y="6286500"/>
            <a:ext cx="10997565" cy="366712"/>
            <a:chOff x="596265" y="6286500"/>
            <a:chExt cx="10997565" cy="366712"/>
          </a:xfrm>
        </p:grpSpPr>
        <p:sp>
          <p:nvSpPr>
            <p:cNvPr id="74" name="Line 74"/>
            <p:cNvSpPr/>
            <p:nvPr/>
          </p:nvSpPr>
          <p:spPr>
            <a:xfrm>
              <a:off x="609600" y="6286500"/>
              <a:ext cx="10972800" cy="9525"/>
            </a:xfrm>
            <a:custGeom>
              <a:avLst/>
              <a:gdLst/>
              <a:ahLst/>
              <a:cxnLst/>
              <a:rect l="l" t="t" r="r" b="b"/>
              <a:pathLst>
                <a:path w="10972800" h="9525">
                  <a:moveTo>
                    <a:pt x="0" y="0"/>
                  </a:moveTo>
                  <a:lnTo>
                    <a:pt x="10972800" y="0"/>
                  </a:lnTo>
                </a:path>
              </a:pathLst>
            </a:custGeom>
            <a:noFill/>
            <a:ln w="9525">
              <a:solidFill>
                <a:srgbClr val="2A2F3A"/>
              </a:solidFill>
            </a:ln>
          </p:spPr>
        </p:sp>
        <p:sp>
          <p:nvSpPr>
            <p:cNvPr id="75" name="TextBox 75"/>
            <p:cNvSpPr txBox="1"/>
            <p:nvPr/>
          </p:nvSpPr>
          <p:spPr>
            <a:xfrm>
              <a:off x="596265" y="6439852"/>
              <a:ext cx="4312872" cy="21336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제안 → 실행 → 자율 — 인간의 역할이 단계마다 한 칸씩 밀려났다</a:t>
              </a:r>
            </a:p>
          </p:txBody>
        </p:sp>
        <p:sp>
          <p:nvSpPr>
            <p:cNvPr id="76" name="TextBox 76"/>
            <p:cNvSpPr txBox="1"/>
            <p:nvPr/>
          </p:nvSpPr>
          <p:spPr>
            <a:xfrm>
              <a:off x="11163490" y="6456045"/>
              <a:ext cx="430340" cy="182880"/>
            </a:xfrm>
            <a:prstGeom prst="rect">
              <a:avLst/>
            </a:prstGeom>
            <a:noFill/>
            <a:ln>
              <a:noFill/>
            </a:ln>
          </p:spPr>
          <p:txBody>
            <a:bodyPr wrap="none" lIns="0" tIns="0" rIns="0" bIns="0" anchor="t" anchorCtr="0">
              <a:spAutoFit/>
            </a:bodyPr>
            <a:lstStyle/>
            <a:p>
              <a:pPr algn="r"/>
              <a:r>
                <a:rPr lang="en-US" sz="1200" dirty="0">
                  <a:solidFill>
                    <a:srgbClr val="8A92A6"/>
                  </a:solidFill>
                  <a:latin typeface="Malgun Gothic"/>
                  <a:ea typeface="Malgun Gothic"/>
                  <a:cs typeface="Malgun Gothic"/>
                </a:rPr>
                <a:t>05 / 10</a:t>
              </a:r>
            </a:p>
          </p:txBody>
        </p:sp>
      </p:grpSp>
    </p:spTree>
  </p:cSld>
  <p:clrMapOvr>
    <a:masterClrMapping/>
  </p:clrMapOvr>
  <p:transition xmlns:p14="http://schemas.microsoft.com/office/powerpoint/2010/main" p14:dur="5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B0D12"/>
              </a:gs>
              <a:gs pos="55000">
                <a:srgbClr val="2A0A12"/>
              </a:gs>
              <a:gs pos="100000">
                <a:srgbClr val="0F2A3F"/>
              </a:gs>
            </a:gsLst>
            <a:lin ang="2700000" scaled="1"/>
          </a:gradFill>
          <a:ln>
            <a:noFill/>
          </a:ln>
        </p:spPr>
      </p:sp>
      <p:sp>
        <p:nvSpPr>
          <p:cNvPr id="3" name="Ellipse 3"/>
          <p:cNvSpPr/>
          <p:nvPr/>
        </p:nvSpPr>
        <p:spPr>
          <a:xfrm>
            <a:off x="0" y="0"/>
            <a:ext cx="12192000" cy="6858000"/>
          </a:xfrm>
          <a:prstGeom prst="ellipse">
            <a:avLst/>
          </a:prstGeom>
          <a:gradFill>
            <a:gsLst>
              <a:gs pos="0">
                <a:srgbClr val="E63946">
                  <a:alpha val="18000"/>
                </a:srgbClr>
              </a:gs>
              <a:gs pos="50000">
                <a:srgbClr val="F4A261">
                  <a:alpha val="6000"/>
                </a:srgbClr>
              </a:gs>
              <a:gs pos="100000">
                <a:srgbClr val="0B0D12">
                  <a:alpha val="0"/>
                </a:srgbClr>
              </a:gs>
            </a:gsLst>
            <a:path path="circle">
              <a:fillToRect l="50000" t="50000" r="50000" b="50000"/>
            </a:path>
          </a:gradFill>
          <a:ln>
            <a:noFill/>
          </a:ln>
        </p:spPr>
      </p:sp>
      <p:sp>
        <p:nvSpPr>
          <p:cNvPr id="4" name="Line 4"/>
          <p:cNvSpPr/>
          <p:nvPr/>
        </p:nvSpPr>
        <p:spPr>
          <a:xfrm>
            <a:off x="0" y="1905000"/>
            <a:ext cx="12192000" cy="9525"/>
          </a:xfrm>
          <a:custGeom>
            <a:avLst/>
            <a:gdLst/>
            <a:ahLst/>
            <a:cxnLst/>
            <a:rect l="l" t="t" r="r" b="b"/>
            <a:pathLst>
              <a:path w="12192000" h="9525">
                <a:moveTo>
                  <a:pt x="0" y="0"/>
                </a:moveTo>
                <a:lnTo>
                  <a:pt x="12192000" y="0"/>
                </a:lnTo>
              </a:path>
            </a:pathLst>
          </a:custGeom>
          <a:noFill/>
          <a:ln w="9525">
            <a:solidFill>
              <a:srgbClr val="2A2F3A">
                <a:alpha val="40000"/>
              </a:srgbClr>
            </a:solidFill>
          </a:ln>
        </p:spPr>
      </p:sp>
      <p:sp>
        <p:nvSpPr>
          <p:cNvPr id="5" name="Line 5"/>
          <p:cNvSpPr/>
          <p:nvPr/>
        </p:nvSpPr>
        <p:spPr>
          <a:xfrm>
            <a:off x="0" y="5143500"/>
            <a:ext cx="12192000" cy="9525"/>
          </a:xfrm>
          <a:custGeom>
            <a:avLst/>
            <a:gdLst/>
            <a:ahLst/>
            <a:cxnLst/>
            <a:rect l="l" t="t" r="r" b="b"/>
            <a:pathLst>
              <a:path w="12192000" h="9525">
                <a:moveTo>
                  <a:pt x="0" y="0"/>
                </a:moveTo>
                <a:lnTo>
                  <a:pt x="12192000" y="0"/>
                </a:lnTo>
              </a:path>
            </a:pathLst>
          </a:custGeom>
          <a:noFill/>
          <a:ln w="9525">
            <a:solidFill>
              <a:srgbClr val="2A2F3A">
                <a:alpha val="40000"/>
              </a:srgbClr>
            </a:solidFill>
          </a:ln>
        </p:spPr>
      </p:sp>
      <p:sp>
        <p:nvSpPr>
          <p:cNvPr id="6" name="TextBox 6"/>
          <p:cNvSpPr txBox="1"/>
          <p:nvPr/>
        </p:nvSpPr>
        <p:spPr>
          <a:xfrm>
            <a:off x="744855" y="616268"/>
            <a:ext cx="1007312" cy="274320"/>
          </a:xfrm>
          <a:prstGeom prst="rect">
            <a:avLst/>
          </a:prstGeom>
          <a:noFill/>
          <a:ln>
            <a:noFill/>
          </a:ln>
        </p:spPr>
        <p:txBody>
          <a:bodyPr wrap="none" lIns="0" tIns="0" rIns="0" bIns="0" anchor="t" anchorCtr="0">
            <a:spAutoFit/>
          </a:bodyPr>
          <a:lstStyle/>
          <a:p>
            <a:pPr algn="l"/>
            <a:r>
              <a:rPr lang="en-US" sz="1350" b="1" dirty="0">
                <a:solidFill>
                  <a:srgbClr val="8A92A6"/>
                </a:solidFill>
                <a:latin typeface="Malgun Gothic"/>
                <a:ea typeface="Malgun Gothic"/>
                <a:cs typeface="Malgun Gothic"/>
              </a:rPr>
              <a:t>CHAPTER 4</a:t>
            </a:r>
          </a:p>
        </p:txBody>
      </p:sp>
      <p:sp>
        <p:nvSpPr>
          <p:cNvPr id="7" name="TextBox 7"/>
          <p:cNvSpPr txBox="1"/>
          <p:nvPr/>
        </p:nvSpPr>
        <p:spPr>
          <a:xfrm>
            <a:off x="744855" y="882968"/>
            <a:ext cx="2104549" cy="274320"/>
          </a:xfrm>
          <a:prstGeom prst="rect">
            <a:avLst/>
          </a:prstGeom>
          <a:noFill/>
          <a:ln>
            <a:noFill/>
          </a:ln>
        </p:spPr>
        <p:txBody>
          <a:bodyPr wrap="none" lIns="0" tIns="0" rIns="0" bIns="0" anchor="t" anchorCtr="0">
            <a:spAutoFit/>
          </a:bodyPr>
          <a:lstStyle/>
          <a:p>
            <a:pPr algn="l"/>
            <a:r>
              <a:rPr lang="ko-KR" sz="1350" dirty="0">
                <a:solidFill>
                  <a:srgbClr val="8A92A6"/>
                </a:solidFill>
                <a:latin typeface="Malgun Gothic"/>
                <a:ea typeface="Malgun Gothic"/>
                <a:cs typeface="Malgun Gothic"/>
              </a:rPr>
              <a:t>Reframe — 새로운 역할</a:t>
            </a:r>
          </a:p>
        </p:txBody>
      </p:sp>
      <p:sp>
        <p:nvSpPr>
          <p:cNvPr id="8" name="TextBox 8"/>
          <p:cNvSpPr txBox="1"/>
          <p:nvPr/>
        </p:nvSpPr>
        <p:spPr>
          <a:xfrm>
            <a:off x="9684189" y="616268"/>
            <a:ext cx="1762956" cy="274320"/>
          </a:xfrm>
          <a:prstGeom prst="rect">
            <a:avLst/>
          </a:prstGeom>
          <a:noFill/>
          <a:ln>
            <a:noFill/>
          </a:ln>
        </p:spPr>
        <p:txBody>
          <a:bodyPr wrap="none" lIns="0" tIns="0" rIns="0" bIns="0" anchor="t" anchorCtr="0">
            <a:spAutoFit/>
          </a:bodyPr>
          <a:lstStyle/>
          <a:p>
            <a:pPr algn="r"/>
            <a:r>
              <a:rPr lang="en-US" sz="1350" b="1" dirty="0">
                <a:solidFill>
                  <a:srgbClr val="8A92A6"/>
                </a:solidFill>
                <a:latin typeface="Malgun Gothic"/>
                <a:ea typeface="Malgun Gothic"/>
                <a:cs typeface="Malgun Gothic"/>
              </a:rPr>
              <a:t>The Turning Point</a:t>
            </a:r>
          </a:p>
        </p:txBody>
      </p:sp>
      <p:sp>
        <p:nvSpPr>
          <p:cNvPr id="9" name="TextBox 9"/>
          <p:cNvSpPr txBox="1"/>
          <p:nvPr/>
        </p:nvSpPr>
        <p:spPr>
          <a:xfrm>
            <a:off x="10801636" y="882968"/>
            <a:ext cx="645509" cy="274320"/>
          </a:xfrm>
          <a:prstGeom prst="rect">
            <a:avLst/>
          </a:prstGeom>
          <a:noFill/>
          <a:ln>
            <a:noFill/>
          </a:ln>
        </p:spPr>
        <p:txBody>
          <a:bodyPr wrap="none" lIns="0" tIns="0" rIns="0" bIns="0" anchor="t" anchorCtr="0">
            <a:spAutoFit/>
          </a:bodyPr>
          <a:lstStyle/>
          <a:p>
            <a:pPr algn="r"/>
            <a:r>
              <a:rPr lang="en-US" sz="1350" dirty="0">
                <a:solidFill>
                  <a:srgbClr val="8A92A6"/>
                </a:solidFill>
                <a:latin typeface="Malgun Gothic"/>
                <a:ea typeface="Malgun Gothic"/>
                <a:cs typeface="Malgun Gothic"/>
              </a:rPr>
              <a:t>06 / 10</a:t>
            </a:r>
          </a:p>
        </p:txBody>
      </p:sp>
      <p:sp>
        <p:nvSpPr>
          <p:cNvPr id="10" name="TextBox 10"/>
          <p:cNvSpPr txBox="1"/>
          <p:nvPr/>
        </p:nvSpPr>
        <p:spPr>
          <a:xfrm>
            <a:off x="5355229" y="1114425"/>
            <a:ext cx="1481542" cy="2743200"/>
          </a:xfrm>
          <a:prstGeom prst="rect">
            <a:avLst/>
          </a:prstGeom>
          <a:noFill/>
          <a:ln>
            <a:noFill/>
          </a:ln>
        </p:spPr>
        <p:txBody>
          <a:bodyPr wrap="none" lIns="0" tIns="0" rIns="0" bIns="0" anchor="t" anchorCtr="0">
            <a:spAutoFit/>
          </a:bodyPr>
          <a:lstStyle/>
          <a:p>
            <a:pPr algn="ctr"/>
            <a:r>
              <a:rPr lang="en-US" sz="13500" b="1" dirty="0">
                <a:solidFill>
                  <a:srgbClr val="E63946">
                    <a:alphaMod val="35000"/>
                  </a:srgbClr>
                </a:solidFill>
                <a:latin typeface="Times New Roman"/>
                <a:ea typeface="Nanum Myeongjo"/>
                <a:cs typeface="Times New Roman"/>
              </a:rPr>
              <a:t>"</a:t>
            </a:r>
          </a:p>
        </p:txBody>
      </p:sp>
      <p:sp>
        <p:nvSpPr>
          <p:cNvPr id="11" name="TextBox 11"/>
          <p:cNvSpPr txBox="1"/>
          <p:nvPr/>
        </p:nvSpPr>
        <p:spPr>
          <a:xfrm>
            <a:off x="3053858" y="3263265"/>
            <a:ext cx="6084284" cy="670560"/>
          </a:xfrm>
          <a:prstGeom prst="rect">
            <a:avLst/>
          </a:prstGeom>
          <a:noFill/>
          <a:ln>
            <a:noFill/>
          </a:ln>
        </p:spPr>
        <p:txBody>
          <a:bodyPr wrap="none" lIns="0" tIns="0" rIns="0" bIns="0" anchor="t" anchorCtr="0">
            <a:spAutoFit/>
          </a:bodyPr>
          <a:lstStyle/>
          <a:p>
            <a:pPr algn="ctr"/>
            <a:r>
              <a:rPr lang="ko-KR" sz="3300" dirty="0">
                <a:solidFill>
                  <a:srgbClr val="F2F4F8"/>
                </a:solidFill>
                <a:latin typeface="Times New Roman"/>
                <a:ea typeface="Nanum Myeongjo"/>
                <a:cs typeface="Times New Roman"/>
              </a:rPr>
              <a:t>코드를 쓰는 시대는 끝난다.</a:t>
            </a:r>
          </a:p>
        </p:txBody>
      </p:sp>
      <p:sp>
        <p:nvSpPr>
          <p:cNvPr id="12" name="TextBox 12"/>
          <p:cNvSpPr txBox="1"/>
          <p:nvPr/>
        </p:nvSpPr>
        <p:spPr>
          <a:xfrm>
            <a:off x="1776651" y="3930015"/>
            <a:ext cx="8638699" cy="670560"/>
          </a:xfrm>
          <a:prstGeom prst="rect">
            <a:avLst/>
          </a:prstGeom>
          <a:noFill/>
          <a:ln>
            <a:noFill/>
          </a:ln>
        </p:spPr>
        <p:txBody>
          <a:bodyPr wrap="none" lIns="0" tIns="0" rIns="0" bIns="0" anchor="t" anchorCtr="0">
            <a:spAutoFit/>
          </a:bodyPr>
          <a:lstStyle/>
          <a:p>
            <a:pPr algn="ctr"/>
            <a:r>
              <a:rPr lang="ko-KR" sz="3300" dirty="0">
                <a:solidFill>
                  <a:srgbClr val="F2F4F8"/>
                </a:solidFill>
                <a:latin typeface="Times New Roman"/>
                <a:ea typeface="Nanum Myeongjo"/>
                <a:cs typeface="Times New Roman"/>
              </a:rPr>
              <a:t xml:space="preserve">그러나 </a:t>
            </a:r>
            <a:r>
              <a:rPr lang="ko-KR" sz="3300" b="1" dirty="0">
                <a:solidFill>
                  <a:srgbClr val="F4A261"/>
                </a:solidFill>
                <a:latin typeface="Times New Roman"/>
                <a:ea typeface="Nanum Myeongjo"/>
                <a:cs typeface="Times New Roman"/>
              </a:rPr>
              <a:t>개발자의 시대</a:t>
            </a:r>
            <a:r>
              <a:rPr lang="ko-KR" sz="3300" dirty="0">
                <a:solidFill>
                  <a:srgbClr val="F2F4F8"/>
                </a:solidFill>
                <a:latin typeface="Times New Roman"/>
                <a:ea typeface="Nanum Myeongjo"/>
                <a:cs typeface="Times New Roman"/>
              </a:rPr>
              <a:t>는 다시 시작된다.</a:t>
            </a:r>
          </a:p>
        </p:txBody>
      </p:sp>
      <p:sp>
        <p:nvSpPr>
          <p:cNvPr id="13" name="Rectangle 13"/>
          <p:cNvSpPr/>
          <p:nvPr/>
        </p:nvSpPr>
        <p:spPr>
          <a:xfrm>
            <a:off x="4667250" y="4762500"/>
            <a:ext cx="2857500" cy="19050"/>
          </a:xfrm>
          <a:prstGeom prst="rect">
            <a:avLst/>
          </a:prstGeom>
          <a:gradFill>
            <a:gsLst>
              <a:gs pos="0">
                <a:srgbClr val="E63946">
                  <a:alpha val="0"/>
                </a:srgbClr>
              </a:gs>
              <a:gs pos="50000">
                <a:srgbClr val="F4A261"/>
              </a:gs>
              <a:gs pos="100000">
                <a:srgbClr val="4CC9F0">
                  <a:alpha val="0"/>
                </a:srgbClr>
              </a:gs>
            </a:gsLst>
            <a:lin ang="0" scaled="1"/>
          </a:gradFill>
          <a:ln>
            <a:noFill/>
          </a:ln>
        </p:spPr>
      </p:sp>
      <p:sp>
        <p:nvSpPr>
          <p:cNvPr id="14" name="TextBox 14"/>
          <p:cNvSpPr txBox="1"/>
          <p:nvPr/>
        </p:nvSpPr>
        <p:spPr>
          <a:xfrm>
            <a:off x="5275397" y="4997768"/>
            <a:ext cx="1641205" cy="274320"/>
          </a:xfrm>
          <a:prstGeom prst="rect">
            <a:avLst/>
          </a:prstGeom>
          <a:noFill/>
          <a:ln>
            <a:noFill/>
          </a:ln>
        </p:spPr>
        <p:txBody>
          <a:bodyPr wrap="none" lIns="0" tIns="0" rIns="0" bIns="0" anchor="t" anchorCtr="0">
            <a:spAutoFit/>
          </a:bodyPr>
          <a:lstStyle/>
          <a:p>
            <a:pPr algn="ctr"/>
            <a:r>
              <a:rPr lang="ko-KR" sz="1350" dirty="0">
                <a:solidFill>
                  <a:srgbClr val="8A92A6"/>
                </a:solidFill>
                <a:latin typeface="Malgun Gothic"/>
                <a:ea typeface="Malgun Gothic"/>
                <a:cs typeface="Malgun Gothic"/>
              </a:rPr>
              <a:t>— 전환의 순간에서</a:t>
            </a:r>
          </a:p>
        </p:txBody>
      </p:sp>
      <p:sp>
        <p:nvSpPr>
          <p:cNvPr id="15" name="TextBox 15"/>
          <p:cNvSpPr txBox="1"/>
          <p:nvPr/>
        </p:nvSpPr>
        <p:spPr>
          <a:xfrm>
            <a:off x="750570" y="6475095"/>
            <a:ext cx="1376743" cy="18288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개발자의 종말: AI 시대</a:t>
            </a:r>
          </a:p>
        </p:txBody>
      </p:sp>
      <p:sp>
        <p:nvSpPr>
          <p:cNvPr id="16" name="TextBox 16"/>
          <p:cNvSpPr txBox="1"/>
          <p:nvPr/>
        </p:nvSpPr>
        <p:spPr>
          <a:xfrm>
            <a:off x="11273980" y="6475095"/>
            <a:ext cx="167449" cy="182880"/>
          </a:xfrm>
          <a:prstGeom prst="rect">
            <a:avLst/>
          </a:prstGeom>
          <a:noFill/>
          <a:ln>
            <a:noFill/>
          </a:ln>
        </p:spPr>
        <p:txBody>
          <a:bodyPr wrap="none" lIns="0" tIns="0" rIns="0" bIns="0" anchor="t" anchorCtr="0">
            <a:spAutoFit/>
          </a:bodyPr>
          <a:lstStyle/>
          <a:p>
            <a:pPr algn="r"/>
            <a:r>
              <a:rPr lang="en-US" sz="1200" dirty="0">
                <a:solidFill>
                  <a:srgbClr val="8A92A6"/>
                </a:solidFill>
                <a:latin typeface="Malgun Gothic"/>
                <a:ea typeface="Malgun Gothic"/>
                <a:cs typeface="Malgun Gothic"/>
              </a:rPr>
              <a:t>06</a:t>
            </a:r>
          </a:p>
        </p:txBody>
      </p:sp>
    </p:spTree>
  </p:cSld>
  <p:clrMapOvr>
    <a:masterClrMapping/>
  </p:clrMapOvr>
  <p:transition xmlns:p14="http://schemas.microsoft.com/office/powerpoint/2010/main" p14:dur="5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B0D12"/>
          </a:solidFill>
          <a:ln>
            <a:noFill/>
          </a:ln>
        </p:spPr>
      </p:sp>
      <p:sp>
        <p:nvSpPr>
          <p:cNvPr id="3" name="Rectangle 3"/>
          <p:cNvSpPr/>
          <p:nvPr/>
        </p:nvSpPr>
        <p:spPr>
          <a:xfrm>
            <a:off x="762000" y="762000"/>
            <a:ext cx="571500" cy="28575"/>
          </a:xfrm>
          <a:prstGeom prst="rect">
            <a:avLst/>
          </a:prstGeom>
          <a:solidFill>
            <a:srgbClr val="E63946"/>
          </a:solidFill>
          <a:ln>
            <a:noFill/>
          </a:ln>
        </p:spPr>
      </p:sp>
      <p:sp>
        <p:nvSpPr>
          <p:cNvPr id="4" name="TextBox 4"/>
          <p:cNvSpPr txBox="1"/>
          <p:nvPr/>
        </p:nvSpPr>
        <p:spPr>
          <a:xfrm>
            <a:off x="1415415" y="705802"/>
            <a:ext cx="1878401" cy="213360"/>
          </a:xfrm>
          <a:prstGeom prst="rect">
            <a:avLst/>
          </a:prstGeom>
          <a:noFill/>
          <a:ln>
            <a:noFill/>
          </a:ln>
        </p:spPr>
        <p:txBody>
          <a:bodyPr wrap="none" lIns="0" tIns="0" rIns="0" bIns="0" anchor="t" anchorCtr="0">
            <a:spAutoFit/>
          </a:bodyPr>
          <a:lstStyle/>
          <a:p>
            <a:pPr algn="l"/>
            <a:r>
              <a:rPr lang="en-US" sz="1200" b="1" dirty="0">
                <a:solidFill>
                  <a:srgbClr val="8A92A6"/>
                </a:solidFill>
                <a:latin typeface="Malgun Gothic"/>
                <a:ea typeface="Malgun Gothic"/>
                <a:cs typeface="Malgun Gothic"/>
              </a:rPr>
              <a:t>CHAPTER 03 · NEW ROLES</a:t>
            </a:r>
          </a:p>
        </p:txBody>
      </p:sp>
      <p:sp>
        <p:nvSpPr>
          <p:cNvPr id="5" name="TextBox 5"/>
          <p:cNvSpPr txBox="1"/>
          <p:nvPr/>
        </p:nvSpPr>
        <p:spPr>
          <a:xfrm>
            <a:off x="723900" y="1085850"/>
            <a:ext cx="8702278" cy="609600"/>
          </a:xfrm>
          <a:prstGeom prst="rect">
            <a:avLst/>
          </a:prstGeom>
          <a:noFill/>
          <a:ln>
            <a:noFill/>
          </a:ln>
        </p:spPr>
        <p:txBody>
          <a:bodyPr wrap="none" lIns="0" tIns="0" rIns="0" bIns="0" anchor="t" anchorCtr="0">
            <a:spAutoFit/>
          </a:bodyPr>
          <a:lstStyle/>
          <a:p>
            <a:pPr algn="l"/>
            <a:r>
              <a:rPr lang="ko-KR" sz="3000" b="1" dirty="0">
                <a:solidFill>
                  <a:srgbClr val="F2F4F8"/>
                </a:solidFill>
                <a:latin typeface="Malgun Gothic"/>
                <a:ea typeface="Malgun Gothic"/>
                <a:cs typeface="Malgun Gothic"/>
              </a:rPr>
              <a:t xml:space="preserve">개발자는 사라지지 않는다, </a:t>
            </a:r>
            <a:r>
              <a:rPr lang="ko-KR" sz="3000" b="1" dirty="0">
                <a:solidFill>
                  <a:srgbClr val="E63946"/>
                </a:solidFill>
                <a:latin typeface="Malgun Gothic"/>
                <a:ea typeface="Malgun Gothic"/>
                <a:cs typeface="Malgun Gothic"/>
              </a:rPr>
              <a:t>역할이 바뀐다</a:t>
            </a:r>
          </a:p>
        </p:txBody>
      </p:sp>
      <p:sp>
        <p:nvSpPr>
          <p:cNvPr id="6" name="TextBox 6"/>
          <p:cNvSpPr txBox="1"/>
          <p:nvPr/>
        </p:nvSpPr>
        <p:spPr>
          <a:xfrm>
            <a:off x="742950" y="1609725"/>
            <a:ext cx="5405438" cy="304800"/>
          </a:xfrm>
          <a:prstGeom prst="rect">
            <a:avLst/>
          </a:prstGeom>
          <a:noFill/>
          <a:ln>
            <a:noFill/>
          </a:ln>
        </p:spPr>
        <p:txBody>
          <a:bodyPr wrap="none" lIns="0" tIns="0" rIns="0" bIns="0" anchor="t" anchorCtr="0">
            <a:spAutoFit/>
          </a:bodyPr>
          <a:lstStyle/>
          <a:p>
            <a:pPr algn="l"/>
            <a:r>
              <a:rPr lang="ko-KR" sz="1500" dirty="0">
                <a:solidFill>
                  <a:srgbClr val="8A92A6"/>
                </a:solidFill>
                <a:latin typeface="Malgun Gothic"/>
                <a:ea typeface="Malgun Gothic"/>
                <a:cs typeface="Malgun Gothic"/>
              </a:rPr>
              <a:t>AI 시대, 코드를 쓰는 손에서 시스템을 설계하는 머리로</a:t>
            </a:r>
          </a:p>
        </p:txBody>
      </p:sp>
      <p:sp>
        <p:nvSpPr>
          <p:cNvPr id="7" name="Rectangle 7"/>
          <p:cNvSpPr/>
          <p:nvPr/>
        </p:nvSpPr>
        <p:spPr>
          <a:xfrm>
            <a:off x="762000" y="2190750"/>
            <a:ext cx="3524250" cy="4000500"/>
          </a:xfrm>
          <a:prstGeom prst="roundRect">
            <a:avLst>
              <a:gd name="adj" fmla="val 2162"/>
            </a:avLst>
          </a:prstGeom>
          <a:solidFill>
            <a:srgbClr val="161A22"/>
          </a:solidFill>
          <a:ln>
            <a:noFill/>
          </a:ln>
        </p:spPr>
      </p:sp>
      <p:sp>
        <p:nvSpPr>
          <p:cNvPr id="8" name="Rectangle 8"/>
          <p:cNvSpPr/>
          <p:nvPr/>
        </p:nvSpPr>
        <p:spPr>
          <a:xfrm>
            <a:off x="762000" y="2190750"/>
            <a:ext cx="3524250" cy="38100"/>
          </a:xfrm>
          <a:prstGeom prst="rect">
            <a:avLst/>
          </a:prstGeom>
          <a:solidFill>
            <a:srgbClr val="E63946"/>
          </a:solidFill>
          <a:ln>
            <a:noFill/>
          </a:ln>
        </p:spPr>
      </p:sp>
      <p:sp>
        <p:nvSpPr>
          <p:cNvPr id="9" name="TextBox 9"/>
          <p:cNvSpPr txBox="1"/>
          <p:nvPr/>
        </p:nvSpPr>
        <p:spPr>
          <a:xfrm>
            <a:off x="1015365" y="2572702"/>
            <a:ext cx="163537" cy="213360"/>
          </a:xfrm>
          <a:prstGeom prst="rect">
            <a:avLst/>
          </a:prstGeom>
          <a:noFill/>
          <a:ln>
            <a:noFill/>
          </a:ln>
        </p:spPr>
        <p:txBody>
          <a:bodyPr wrap="none" lIns="0" tIns="0" rIns="0" bIns="0" anchor="t" anchorCtr="0">
            <a:spAutoFit/>
          </a:bodyPr>
          <a:lstStyle/>
          <a:p>
            <a:pPr algn="l"/>
            <a:r>
              <a:rPr lang="en-US" sz="1200" b="1" dirty="0">
                <a:solidFill>
                  <a:srgbClr val="E63946"/>
                </a:solidFill>
                <a:latin typeface="Malgun Gothic"/>
                <a:ea typeface="Malgun Gothic"/>
                <a:cs typeface="Malgun Gothic"/>
              </a:rPr>
              <a:t>01</a:t>
            </a:r>
          </a:p>
        </p:txBody>
      </p:sp>
      <p:sp>
        <p:nvSpPr>
          <p:cNvPr id="10" name="Ellipse 10"/>
          <p:cNvSpPr/>
          <p:nvPr/>
        </p:nvSpPr>
        <p:spPr>
          <a:xfrm>
            <a:off x="857250" y="2914650"/>
            <a:ext cx="495300" cy="495300"/>
          </a:xfrm>
          <a:prstGeom prst="ellipse">
            <a:avLst/>
          </a:prstGeom>
          <a:solidFill>
            <a:srgbClr val="0B0D12"/>
          </a:solidFill>
          <a:ln w="19050">
            <a:solidFill>
              <a:srgbClr val="E63946"/>
            </a:solidFill>
          </a:ln>
        </p:spPr>
      </p:sp>
      <p:sp>
        <p:nvSpPr>
          <p:cNvPr id="11" name="Ellipse 11"/>
          <p:cNvSpPr/>
          <p:nvPr/>
        </p:nvSpPr>
        <p:spPr>
          <a:xfrm>
            <a:off x="952500" y="3009900"/>
            <a:ext cx="304800" cy="304800"/>
          </a:xfrm>
          <a:prstGeom prst="ellipse">
            <a:avLst/>
          </a:prstGeom>
          <a:noFill/>
          <a:ln w="19050">
            <a:solidFill>
              <a:srgbClr val="E63946"/>
            </a:solidFill>
          </a:ln>
        </p:spPr>
      </p:sp>
      <p:sp>
        <p:nvSpPr>
          <p:cNvPr id="12" name="Ellipse 12"/>
          <p:cNvSpPr/>
          <p:nvPr/>
        </p:nvSpPr>
        <p:spPr>
          <a:xfrm>
            <a:off x="1047750" y="3105150"/>
            <a:ext cx="114300" cy="114300"/>
          </a:xfrm>
          <a:prstGeom prst="ellipse">
            <a:avLst/>
          </a:prstGeom>
          <a:solidFill>
            <a:srgbClr val="E63946"/>
          </a:solidFill>
          <a:ln>
            <a:noFill/>
          </a:ln>
        </p:spPr>
      </p:sp>
      <p:sp>
        <p:nvSpPr>
          <p:cNvPr id="13" name="TextBox 13"/>
          <p:cNvSpPr txBox="1"/>
          <p:nvPr/>
        </p:nvSpPr>
        <p:spPr>
          <a:xfrm>
            <a:off x="1015365" y="3658552"/>
            <a:ext cx="1516106" cy="213360"/>
          </a:xfrm>
          <a:prstGeom prst="rect">
            <a:avLst/>
          </a:prstGeom>
          <a:noFill/>
          <a:ln>
            <a:noFill/>
          </a:ln>
        </p:spPr>
        <p:txBody>
          <a:bodyPr wrap="none" lIns="0" tIns="0" rIns="0" bIns="0" anchor="t" anchorCtr="0">
            <a:spAutoFit/>
          </a:bodyPr>
          <a:lstStyle/>
          <a:p>
            <a:pPr algn="l"/>
            <a:r>
              <a:rPr lang="en-US" sz="1200" b="1" dirty="0">
                <a:solidFill>
                  <a:srgbClr val="8A92A6"/>
                </a:solidFill>
                <a:latin typeface="Malgun Gothic"/>
                <a:ea typeface="Malgun Gothic"/>
                <a:cs typeface="Malgun Gothic"/>
              </a:rPr>
              <a:t>PROBLEM ARCHITECT</a:t>
            </a:r>
          </a:p>
        </p:txBody>
      </p:sp>
      <p:sp>
        <p:nvSpPr>
          <p:cNvPr id="14" name="TextBox 14"/>
          <p:cNvSpPr txBox="1"/>
          <p:nvPr/>
        </p:nvSpPr>
        <p:spPr>
          <a:xfrm>
            <a:off x="1002030" y="3945255"/>
            <a:ext cx="1760153" cy="426720"/>
          </a:xfrm>
          <a:prstGeom prst="rect">
            <a:avLst/>
          </a:prstGeom>
          <a:noFill/>
          <a:ln>
            <a:noFill/>
          </a:ln>
        </p:spPr>
        <p:txBody>
          <a:bodyPr wrap="none" lIns="0" tIns="0" rIns="0" bIns="0" anchor="t" anchorCtr="0">
            <a:spAutoFit/>
          </a:bodyPr>
          <a:lstStyle/>
          <a:p>
            <a:pPr algn="l"/>
            <a:r>
              <a:rPr lang="ko-KR" sz="2100" b="1" dirty="0">
                <a:solidFill>
                  <a:srgbClr val="F2F4F8"/>
                </a:solidFill>
                <a:latin typeface="Malgun Gothic"/>
                <a:ea typeface="Malgun Gothic"/>
                <a:cs typeface="Malgun Gothic"/>
              </a:rPr>
              <a:t>문제 정의자</a:t>
            </a:r>
          </a:p>
        </p:txBody>
      </p:sp>
      <p:sp>
        <p:nvSpPr>
          <p:cNvPr id="15" name="TextBox 15"/>
          <p:cNvSpPr txBox="1"/>
          <p:nvPr/>
        </p:nvSpPr>
        <p:spPr>
          <a:xfrm>
            <a:off x="1013460" y="4499610"/>
            <a:ext cx="1905762" cy="243840"/>
          </a:xfrm>
          <a:prstGeom prst="rect">
            <a:avLst/>
          </a:prstGeom>
          <a:noFill/>
          <a:ln>
            <a:noFill/>
          </a:ln>
        </p:spPr>
        <p:txBody>
          <a:bodyPr wrap="none" lIns="0" tIns="0" rIns="0" bIns="0" anchor="t" anchorCtr="0">
            <a:spAutoFit/>
          </a:bodyPr>
          <a:lstStyle/>
          <a:p>
            <a:pPr algn="l"/>
            <a:r>
              <a:rPr lang="ko-KR" sz="1200" dirty="0">
                <a:solidFill>
                  <a:srgbClr val="F2F4F8"/>
                </a:solidFill>
                <a:latin typeface="Malgun Gothic"/>
                <a:ea typeface="Malgun Gothic"/>
                <a:cs typeface="Malgun Gothic"/>
              </a:rPr>
              <a:t>"무엇을 만들 것인가"를</a:t>
            </a:r>
          </a:p>
        </p:txBody>
      </p:sp>
      <p:sp>
        <p:nvSpPr>
          <p:cNvPr id="16" name="TextBox 16"/>
          <p:cNvSpPr txBox="1"/>
          <p:nvPr/>
        </p:nvSpPr>
        <p:spPr>
          <a:xfrm>
            <a:off x="1013460" y="4728210"/>
            <a:ext cx="1134618" cy="243840"/>
          </a:xfrm>
          <a:prstGeom prst="rect">
            <a:avLst/>
          </a:prstGeom>
          <a:noFill/>
          <a:ln>
            <a:noFill/>
          </a:ln>
        </p:spPr>
        <p:txBody>
          <a:bodyPr wrap="none" lIns="0" tIns="0" rIns="0" bIns="0" anchor="t" anchorCtr="0">
            <a:spAutoFit/>
          </a:bodyPr>
          <a:lstStyle/>
          <a:p>
            <a:pPr algn="l"/>
            <a:r>
              <a:rPr lang="ko-KR" sz="1200" dirty="0">
                <a:solidFill>
                  <a:srgbClr val="F2F4F8"/>
                </a:solidFill>
                <a:latin typeface="Malgun Gothic"/>
                <a:ea typeface="Malgun Gothic"/>
                <a:cs typeface="Malgun Gothic"/>
              </a:rPr>
              <a:t>정의하는 사람</a:t>
            </a:r>
          </a:p>
        </p:txBody>
      </p:sp>
      <p:sp>
        <p:nvSpPr>
          <p:cNvPr id="17" name="Rectangle 17"/>
          <p:cNvSpPr/>
          <p:nvPr/>
        </p:nvSpPr>
        <p:spPr>
          <a:xfrm>
            <a:off x="1028700" y="5143500"/>
            <a:ext cx="381000" cy="9525"/>
          </a:xfrm>
          <a:prstGeom prst="rect">
            <a:avLst/>
          </a:prstGeom>
          <a:solidFill>
            <a:srgbClr val="2A2F3A"/>
          </a:solidFill>
          <a:ln>
            <a:noFill/>
          </a:ln>
        </p:spPr>
      </p:sp>
      <p:sp>
        <p:nvSpPr>
          <p:cNvPr id="18" name="Ellipse 18"/>
          <p:cNvSpPr/>
          <p:nvPr/>
        </p:nvSpPr>
        <p:spPr>
          <a:xfrm>
            <a:off x="1062038" y="5424488"/>
            <a:ext cx="47625" cy="47625"/>
          </a:xfrm>
          <a:prstGeom prst="ellipse">
            <a:avLst/>
          </a:prstGeom>
          <a:solidFill>
            <a:srgbClr val="E63946"/>
          </a:solidFill>
          <a:ln>
            <a:noFill/>
          </a:ln>
        </p:spPr>
      </p:sp>
      <p:sp>
        <p:nvSpPr>
          <p:cNvPr id="19" name="TextBox 19"/>
          <p:cNvSpPr txBox="1"/>
          <p:nvPr/>
        </p:nvSpPr>
        <p:spPr>
          <a:xfrm>
            <a:off x="1186815" y="5382578"/>
            <a:ext cx="839438" cy="21336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도메인 이해</a:t>
            </a:r>
          </a:p>
        </p:txBody>
      </p:sp>
      <p:sp>
        <p:nvSpPr>
          <p:cNvPr id="20" name="Ellipse 20"/>
          <p:cNvSpPr/>
          <p:nvPr/>
        </p:nvSpPr>
        <p:spPr>
          <a:xfrm>
            <a:off x="1062038" y="5691188"/>
            <a:ext cx="47625" cy="47625"/>
          </a:xfrm>
          <a:prstGeom prst="ellipse">
            <a:avLst/>
          </a:prstGeom>
          <a:solidFill>
            <a:srgbClr val="E63946"/>
          </a:solidFill>
          <a:ln>
            <a:noFill/>
          </a:ln>
        </p:spPr>
      </p:sp>
      <p:sp>
        <p:nvSpPr>
          <p:cNvPr id="21" name="TextBox 21"/>
          <p:cNvSpPr txBox="1"/>
          <p:nvPr/>
        </p:nvSpPr>
        <p:spPr>
          <a:xfrm>
            <a:off x="1186815" y="5649278"/>
            <a:ext cx="992791" cy="21336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비즈니스 통찰</a:t>
            </a:r>
          </a:p>
        </p:txBody>
      </p:sp>
      <p:sp>
        <p:nvSpPr>
          <p:cNvPr id="22" name="Ellipse 22"/>
          <p:cNvSpPr/>
          <p:nvPr/>
        </p:nvSpPr>
        <p:spPr>
          <a:xfrm>
            <a:off x="1062038" y="5957888"/>
            <a:ext cx="47625" cy="47625"/>
          </a:xfrm>
          <a:prstGeom prst="ellipse">
            <a:avLst/>
          </a:prstGeom>
          <a:solidFill>
            <a:srgbClr val="E63946"/>
          </a:solidFill>
          <a:ln>
            <a:noFill/>
          </a:ln>
        </p:spPr>
      </p:sp>
      <p:sp>
        <p:nvSpPr>
          <p:cNvPr id="23" name="TextBox 23"/>
          <p:cNvSpPr txBox="1"/>
          <p:nvPr/>
        </p:nvSpPr>
        <p:spPr>
          <a:xfrm>
            <a:off x="1186815" y="5915978"/>
            <a:ext cx="839438" cy="21336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시스템 사고</a:t>
            </a:r>
          </a:p>
        </p:txBody>
      </p:sp>
      <p:sp>
        <p:nvSpPr>
          <p:cNvPr id="24" name="Rectangle 24"/>
          <p:cNvSpPr/>
          <p:nvPr/>
        </p:nvSpPr>
        <p:spPr>
          <a:xfrm>
            <a:off x="4476750" y="2190750"/>
            <a:ext cx="3524250" cy="4000500"/>
          </a:xfrm>
          <a:prstGeom prst="roundRect">
            <a:avLst>
              <a:gd name="adj" fmla="val 2162"/>
            </a:avLst>
          </a:prstGeom>
          <a:solidFill>
            <a:srgbClr val="161A22"/>
          </a:solidFill>
          <a:ln>
            <a:noFill/>
          </a:ln>
        </p:spPr>
      </p:sp>
      <p:sp>
        <p:nvSpPr>
          <p:cNvPr id="25" name="Rectangle 25"/>
          <p:cNvSpPr/>
          <p:nvPr/>
        </p:nvSpPr>
        <p:spPr>
          <a:xfrm>
            <a:off x="4476750" y="2190750"/>
            <a:ext cx="3524250" cy="38100"/>
          </a:xfrm>
          <a:prstGeom prst="rect">
            <a:avLst/>
          </a:prstGeom>
          <a:solidFill>
            <a:srgbClr val="F4A261"/>
          </a:solidFill>
          <a:ln>
            <a:noFill/>
          </a:ln>
        </p:spPr>
      </p:sp>
      <p:sp>
        <p:nvSpPr>
          <p:cNvPr id="26" name="TextBox 26"/>
          <p:cNvSpPr txBox="1"/>
          <p:nvPr/>
        </p:nvSpPr>
        <p:spPr>
          <a:xfrm>
            <a:off x="4730115" y="2572702"/>
            <a:ext cx="203792" cy="213360"/>
          </a:xfrm>
          <a:prstGeom prst="rect">
            <a:avLst/>
          </a:prstGeom>
          <a:noFill/>
          <a:ln>
            <a:noFill/>
          </a:ln>
        </p:spPr>
        <p:txBody>
          <a:bodyPr wrap="none" lIns="0" tIns="0" rIns="0" bIns="0" anchor="t" anchorCtr="0">
            <a:spAutoFit/>
          </a:bodyPr>
          <a:lstStyle/>
          <a:p>
            <a:pPr algn="l"/>
            <a:r>
              <a:rPr lang="en-US" sz="1200" b="1" dirty="0">
                <a:solidFill>
                  <a:srgbClr val="F4A261"/>
                </a:solidFill>
                <a:latin typeface="Malgun Gothic"/>
                <a:ea typeface="Malgun Gothic"/>
                <a:cs typeface="Malgun Gothic"/>
              </a:rPr>
              <a:t>02</a:t>
            </a:r>
          </a:p>
        </p:txBody>
      </p:sp>
      <p:sp>
        <p:nvSpPr>
          <p:cNvPr id="27" name="Ellipse 27"/>
          <p:cNvSpPr/>
          <p:nvPr/>
        </p:nvSpPr>
        <p:spPr>
          <a:xfrm>
            <a:off x="4572000" y="2914650"/>
            <a:ext cx="495300" cy="495300"/>
          </a:xfrm>
          <a:prstGeom prst="ellipse">
            <a:avLst/>
          </a:prstGeom>
          <a:solidFill>
            <a:srgbClr val="0B0D12"/>
          </a:solidFill>
          <a:ln w="19050">
            <a:solidFill>
              <a:srgbClr val="F4A261"/>
            </a:solidFill>
          </a:ln>
        </p:spPr>
      </p:sp>
      <p:sp>
        <p:nvSpPr>
          <p:cNvPr id="28" name="Ellipse 28"/>
          <p:cNvSpPr/>
          <p:nvPr/>
        </p:nvSpPr>
        <p:spPr>
          <a:xfrm>
            <a:off x="4781550" y="3124200"/>
            <a:ext cx="76200" cy="76200"/>
          </a:xfrm>
          <a:prstGeom prst="ellipse">
            <a:avLst/>
          </a:prstGeom>
          <a:solidFill>
            <a:srgbClr val="F4A261"/>
          </a:solidFill>
          <a:ln>
            <a:noFill/>
          </a:ln>
        </p:spPr>
      </p:sp>
      <p:sp>
        <p:nvSpPr>
          <p:cNvPr id="29" name="Ellipse 29"/>
          <p:cNvSpPr/>
          <p:nvPr/>
        </p:nvSpPr>
        <p:spPr>
          <a:xfrm>
            <a:off x="4791075" y="2981325"/>
            <a:ext cx="57150" cy="57150"/>
          </a:xfrm>
          <a:prstGeom prst="ellipse">
            <a:avLst/>
          </a:prstGeom>
          <a:solidFill>
            <a:srgbClr val="F4A261"/>
          </a:solidFill>
          <a:ln>
            <a:noFill/>
          </a:ln>
        </p:spPr>
      </p:sp>
      <p:sp>
        <p:nvSpPr>
          <p:cNvPr id="30" name="Ellipse 30"/>
          <p:cNvSpPr/>
          <p:nvPr/>
        </p:nvSpPr>
        <p:spPr>
          <a:xfrm>
            <a:off x="4924425" y="3209925"/>
            <a:ext cx="57150" cy="57150"/>
          </a:xfrm>
          <a:prstGeom prst="ellipse">
            <a:avLst/>
          </a:prstGeom>
          <a:solidFill>
            <a:srgbClr val="F4A261"/>
          </a:solidFill>
          <a:ln>
            <a:noFill/>
          </a:ln>
        </p:spPr>
      </p:sp>
      <p:sp>
        <p:nvSpPr>
          <p:cNvPr id="31" name="Ellipse 31"/>
          <p:cNvSpPr/>
          <p:nvPr/>
        </p:nvSpPr>
        <p:spPr>
          <a:xfrm>
            <a:off x="4657725" y="3209925"/>
            <a:ext cx="57150" cy="57150"/>
          </a:xfrm>
          <a:prstGeom prst="ellipse">
            <a:avLst/>
          </a:prstGeom>
          <a:solidFill>
            <a:srgbClr val="F4A261"/>
          </a:solidFill>
          <a:ln>
            <a:noFill/>
          </a:ln>
        </p:spPr>
      </p:sp>
      <p:sp>
        <p:nvSpPr>
          <p:cNvPr id="32" name="Line 32"/>
          <p:cNvSpPr/>
          <p:nvPr/>
        </p:nvSpPr>
        <p:spPr>
          <a:xfrm>
            <a:off x="4819650" y="3009900"/>
            <a:ext cx="9525" cy="152400"/>
          </a:xfrm>
          <a:custGeom>
            <a:avLst/>
            <a:gdLst/>
            <a:ahLst/>
            <a:cxnLst/>
            <a:rect l="l" t="t" r="r" b="b"/>
            <a:pathLst>
              <a:path w="9525" h="152400">
                <a:moveTo>
                  <a:pt x="0" y="152400"/>
                </a:moveTo>
                <a:lnTo>
                  <a:pt x="0" y="0"/>
                </a:lnTo>
              </a:path>
            </a:pathLst>
          </a:custGeom>
          <a:noFill/>
          <a:ln w="14288">
            <a:solidFill>
              <a:srgbClr val="F4A261"/>
            </a:solidFill>
          </a:ln>
        </p:spPr>
      </p:sp>
      <p:sp>
        <p:nvSpPr>
          <p:cNvPr id="33" name="Line 33"/>
          <p:cNvSpPr/>
          <p:nvPr/>
        </p:nvSpPr>
        <p:spPr>
          <a:xfrm>
            <a:off x="4819650" y="3162300"/>
            <a:ext cx="133350" cy="76200"/>
          </a:xfrm>
          <a:custGeom>
            <a:avLst/>
            <a:gdLst/>
            <a:ahLst/>
            <a:cxnLst/>
            <a:rect l="l" t="t" r="r" b="b"/>
            <a:pathLst>
              <a:path w="133350" h="76200">
                <a:moveTo>
                  <a:pt x="0" y="0"/>
                </a:moveTo>
                <a:lnTo>
                  <a:pt x="133350" y="76200"/>
                </a:lnTo>
              </a:path>
            </a:pathLst>
          </a:custGeom>
          <a:noFill/>
          <a:ln w="14288">
            <a:solidFill>
              <a:srgbClr val="F4A261"/>
            </a:solidFill>
          </a:ln>
        </p:spPr>
      </p:sp>
      <p:sp>
        <p:nvSpPr>
          <p:cNvPr id="34" name="Line 34"/>
          <p:cNvSpPr/>
          <p:nvPr/>
        </p:nvSpPr>
        <p:spPr>
          <a:xfrm>
            <a:off x="4686300" y="3162300"/>
            <a:ext cx="133350" cy="76200"/>
          </a:xfrm>
          <a:custGeom>
            <a:avLst/>
            <a:gdLst/>
            <a:ahLst/>
            <a:cxnLst/>
            <a:rect l="l" t="t" r="r" b="b"/>
            <a:pathLst>
              <a:path w="133350" h="76200">
                <a:moveTo>
                  <a:pt x="133350" y="0"/>
                </a:moveTo>
                <a:lnTo>
                  <a:pt x="0" y="76200"/>
                </a:lnTo>
              </a:path>
            </a:pathLst>
          </a:custGeom>
          <a:noFill/>
          <a:ln w="14288">
            <a:solidFill>
              <a:srgbClr val="F4A261"/>
            </a:solidFill>
          </a:ln>
        </p:spPr>
      </p:sp>
      <p:sp>
        <p:nvSpPr>
          <p:cNvPr id="35" name="TextBox 35"/>
          <p:cNvSpPr txBox="1"/>
          <p:nvPr/>
        </p:nvSpPr>
        <p:spPr>
          <a:xfrm>
            <a:off x="4730115" y="3658552"/>
            <a:ext cx="1338984" cy="213360"/>
          </a:xfrm>
          <a:prstGeom prst="rect">
            <a:avLst/>
          </a:prstGeom>
          <a:noFill/>
          <a:ln>
            <a:noFill/>
          </a:ln>
        </p:spPr>
        <p:txBody>
          <a:bodyPr wrap="none" lIns="0" tIns="0" rIns="0" bIns="0" anchor="t" anchorCtr="0">
            <a:spAutoFit/>
          </a:bodyPr>
          <a:lstStyle/>
          <a:p>
            <a:pPr algn="l"/>
            <a:r>
              <a:rPr lang="en-US" sz="1200" b="1" dirty="0">
                <a:solidFill>
                  <a:srgbClr val="8A92A6"/>
                </a:solidFill>
                <a:latin typeface="Malgun Gothic"/>
                <a:ea typeface="Malgun Gothic"/>
                <a:cs typeface="Malgun Gothic"/>
              </a:rPr>
              <a:t>AI ORCHESTRATOR</a:t>
            </a:r>
          </a:p>
        </p:txBody>
      </p:sp>
      <p:sp>
        <p:nvSpPr>
          <p:cNvPr id="36" name="TextBox 36"/>
          <p:cNvSpPr txBox="1"/>
          <p:nvPr/>
        </p:nvSpPr>
        <p:spPr>
          <a:xfrm>
            <a:off x="4716780" y="3945255"/>
            <a:ext cx="2677968" cy="426720"/>
          </a:xfrm>
          <a:prstGeom prst="rect">
            <a:avLst/>
          </a:prstGeom>
          <a:noFill/>
          <a:ln>
            <a:noFill/>
          </a:ln>
        </p:spPr>
        <p:txBody>
          <a:bodyPr wrap="none" lIns="0" tIns="0" rIns="0" bIns="0" anchor="t" anchorCtr="0">
            <a:spAutoFit/>
          </a:bodyPr>
          <a:lstStyle/>
          <a:p>
            <a:pPr algn="l"/>
            <a:r>
              <a:rPr lang="ko-KR" sz="2100" b="1" dirty="0">
                <a:solidFill>
                  <a:srgbClr val="F2F4F8"/>
                </a:solidFill>
                <a:latin typeface="Malgun Gothic"/>
                <a:ea typeface="Malgun Gothic"/>
                <a:cs typeface="Malgun Gothic"/>
              </a:rPr>
              <a:t>AI 오케스트레이터</a:t>
            </a:r>
          </a:p>
        </p:txBody>
      </p:sp>
      <p:sp>
        <p:nvSpPr>
          <p:cNvPr id="37" name="TextBox 37"/>
          <p:cNvSpPr txBox="1"/>
          <p:nvPr/>
        </p:nvSpPr>
        <p:spPr>
          <a:xfrm>
            <a:off x="4728210" y="4499610"/>
            <a:ext cx="1511427" cy="243840"/>
          </a:xfrm>
          <a:prstGeom prst="rect">
            <a:avLst/>
          </a:prstGeom>
          <a:noFill/>
          <a:ln>
            <a:noFill/>
          </a:ln>
        </p:spPr>
        <p:txBody>
          <a:bodyPr wrap="none" lIns="0" tIns="0" rIns="0" bIns="0" anchor="t" anchorCtr="0">
            <a:spAutoFit/>
          </a:bodyPr>
          <a:lstStyle/>
          <a:p>
            <a:pPr algn="l"/>
            <a:r>
              <a:rPr lang="ko-KR" sz="1200" dirty="0">
                <a:solidFill>
                  <a:srgbClr val="F2F4F8"/>
                </a:solidFill>
                <a:latin typeface="Malgun Gothic"/>
                <a:ea typeface="Malgun Gothic"/>
                <a:cs typeface="Malgun Gothic"/>
              </a:rPr>
              <a:t>여러 AI 에이전트를</a:t>
            </a:r>
          </a:p>
        </p:txBody>
      </p:sp>
      <p:sp>
        <p:nvSpPr>
          <p:cNvPr id="38" name="TextBox 38"/>
          <p:cNvSpPr txBox="1"/>
          <p:nvPr/>
        </p:nvSpPr>
        <p:spPr>
          <a:xfrm>
            <a:off x="4728210" y="4728210"/>
            <a:ext cx="1888236" cy="243840"/>
          </a:xfrm>
          <a:prstGeom prst="rect">
            <a:avLst/>
          </a:prstGeom>
          <a:noFill/>
          <a:ln>
            <a:noFill/>
          </a:ln>
        </p:spPr>
        <p:txBody>
          <a:bodyPr wrap="none" lIns="0" tIns="0" rIns="0" bIns="0" anchor="t" anchorCtr="0">
            <a:spAutoFit/>
          </a:bodyPr>
          <a:lstStyle/>
          <a:p>
            <a:pPr algn="l"/>
            <a:r>
              <a:rPr lang="ko-KR" sz="1200" dirty="0">
                <a:solidFill>
                  <a:srgbClr val="F2F4F8"/>
                </a:solidFill>
                <a:latin typeface="Malgun Gothic"/>
                <a:ea typeface="Malgun Gothic"/>
                <a:cs typeface="Malgun Gothic"/>
              </a:rPr>
              <a:t>조율하고 검증하는 사람</a:t>
            </a:r>
          </a:p>
        </p:txBody>
      </p:sp>
      <p:sp>
        <p:nvSpPr>
          <p:cNvPr id="39" name="Rectangle 39"/>
          <p:cNvSpPr/>
          <p:nvPr/>
        </p:nvSpPr>
        <p:spPr>
          <a:xfrm>
            <a:off x="4743450" y="5143500"/>
            <a:ext cx="381000" cy="9525"/>
          </a:xfrm>
          <a:prstGeom prst="rect">
            <a:avLst/>
          </a:prstGeom>
          <a:solidFill>
            <a:srgbClr val="2A2F3A"/>
          </a:solidFill>
          <a:ln>
            <a:noFill/>
          </a:ln>
        </p:spPr>
      </p:sp>
      <p:sp>
        <p:nvSpPr>
          <p:cNvPr id="40" name="Ellipse 40"/>
          <p:cNvSpPr/>
          <p:nvPr/>
        </p:nvSpPr>
        <p:spPr>
          <a:xfrm>
            <a:off x="4776788" y="5424488"/>
            <a:ext cx="47625" cy="47625"/>
          </a:xfrm>
          <a:prstGeom prst="ellipse">
            <a:avLst/>
          </a:prstGeom>
          <a:solidFill>
            <a:srgbClr val="F4A261"/>
          </a:solidFill>
          <a:ln>
            <a:noFill/>
          </a:ln>
        </p:spPr>
      </p:sp>
      <p:sp>
        <p:nvSpPr>
          <p:cNvPr id="41" name="TextBox 41"/>
          <p:cNvSpPr txBox="1"/>
          <p:nvPr/>
        </p:nvSpPr>
        <p:spPr>
          <a:xfrm>
            <a:off x="4901565" y="5382578"/>
            <a:ext cx="1452848" cy="21336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프롬프트 엔지니어링</a:t>
            </a:r>
          </a:p>
        </p:txBody>
      </p:sp>
      <p:sp>
        <p:nvSpPr>
          <p:cNvPr id="42" name="Ellipse 42"/>
          <p:cNvSpPr/>
          <p:nvPr/>
        </p:nvSpPr>
        <p:spPr>
          <a:xfrm>
            <a:off x="4776788" y="5691188"/>
            <a:ext cx="47625" cy="47625"/>
          </a:xfrm>
          <a:prstGeom prst="ellipse">
            <a:avLst/>
          </a:prstGeom>
          <a:solidFill>
            <a:srgbClr val="F4A261"/>
          </a:solidFill>
          <a:ln>
            <a:noFill/>
          </a:ln>
        </p:spPr>
      </p:sp>
      <p:sp>
        <p:nvSpPr>
          <p:cNvPr id="43" name="TextBox 43"/>
          <p:cNvSpPr txBox="1"/>
          <p:nvPr/>
        </p:nvSpPr>
        <p:spPr>
          <a:xfrm>
            <a:off x="4901565" y="5649278"/>
            <a:ext cx="686086" cy="21336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평가 설계</a:t>
            </a:r>
          </a:p>
        </p:txBody>
      </p:sp>
      <p:sp>
        <p:nvSpPr>
          <p:cNvPr id="44" name="Ellipse 44"/>
          <p:cNvSpPr/>
          <p:nvPr/>
        </p:nvSpPr>
        <p:spPr>
          <a:xfrm>
            <a:off x="4776788" y="5957888"/>
            <a:ext cx="47625" cy="47625"/>
          </a:xfrm>
          <a:prstGeom prst="ellipse">
            <a:avLst/>
          </a:prstGeom>
          <a:solidFill>
            <a:srgbClr val="F4A261"/>
          </a:solidFill>
          <a:ln>
            <a:noFill/>
          </a:ln>
        </p:spPr>
      </p:sp>
      <p:sp>
        <p:nvSpPr>
          <p:cNvPr id="45" name="TextBox 45"/>
          <p:cNvSpPr txBox="1"/>
          <p:nvPr/>
        </p:nvSpPr>
        <p:spPr>
          <a:xfrm>
            <a:off x="4901565" y="5915978"/>
            <a:ext cx="1146143" cy="21336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워크플로우 설계</a:t>
            </a:r>
          </a:p>
        </p:txBody>
      </p:sp>
      <p:sp>
        <p:nvSpPr>
          <p:cNvPr id="46" name="Rectangle 46"/>
          <p:cNvSpPr/>
          <p:nvPr/>
        </p:nvSpPr>
        <p:spPr>
          <a:xfrm>
            <a:off x="8191500" y="2190750"/>
            <a:ext cx="3238500" cy="4000500"/>
          </a:xfrm>
          <a:prstGeom prst="roundRect">
            <a:avLst>
              <a:gd name="adj" fmla="val 2353"/>
            </a:avLst>
          </a:prstGeom>
          <a:solidFill>
            <a:srgbClr val="161A22"/>
          </a:solidFill>
          <a:ln>
            <a:noFill/>
          </a:ln>
        </p:spPr>
      </p:sp>
      <p:sp>
        <p:nvSpPr>
          <p:cNvPr id="47" name="Rectangle 47"/>
          <p:cNvSpPr/>
          <p:nvPr/>
        </p:nvSpPr>
        <p:spPr>
          <a:xfrm>
            <a:off x="8191500" y="2190750"/>
            <a:ext cx="3238500" cy="38100"/>
          </a:xfrm>
          <a:prstGeom prst="rect">
            <a:avLst/>
          </a:prstGeom>
          <a:solidFill>
            <a:srgbClr val="4CC9F0"/>
          </a:solidFill>
          <a:ln>
            <a:noFill/>
          </a:ln>
        </p:spPr>
      </p:sp>
      <p:sp>
        <p:nvSpPr>
          <p:cNvPr id="48" name="TextBox 48"/>
          <p:cNvSpPr txBox="1"/>
          <p:nvPr/>
        </p:nvSpPr>
        <p:spPr>
          <a:xfrm>
            <a:off x="8444865" y="2572702"/>
            <a:ext cx="203792" cy="213360"/>
          </a:xfrm>
          <a:prstGeom prst="rect">
            <a:avLst/>
          </a:prstGeom>
          <a:noFill/>
          <a:ln>
            <a:noFill/>
          </a:ln>
        </p:spPr>
        <p:txBody>
          <a:bodyPr wrap="none" lIns="0" tIns="0" rIns="0" bIns="0" anchor="t" anchorCtr="0">
            <a:spAutoFit/>
          </a:bodyPr>
          <a:lstStyle/>
          <a:p>
            <a:pPr algn="l"/>
            <a:r>
              <a:rPr lang="en-US" sz="1200" b="1" dirty="0">
                <a:solidFill>
                  <a:srgbClr val="4CC9F0"/>
                </a:solidFill>
                <a:latin typeface="Malgun Gothic"/>
                <a:ea typeface="Malgun Gothic"/>
                <a:cs typeface="Malgun Gothic"/>
              </a:rPr>
              <a:t>03</a:t>
            </a:r>
          </a:p>
        </p:txBody>
      </p:sp>
      <p:sp>
        <p:nvSpPr>
          <p:cNvPr id="49" name="Freeform 49"/>
          <p:cNvSpPr/>
          <p:nvPr/>
        </p:nvSpPr>
        <p:spPr>
          <a:xfrm>
            <a:off x="8343900" y="2933700"/>
            <a:ext cx="381000" cy="476250"/>
          </a:xfrm>
          <a:custGeom>
            <a:avLst/>
            <a:gdLst/>
            <a:ahLst/>
            <a:cxnLst/>
            <a:rect l="l" t="t" r="r" b="b"/>
            <a:pathLst>
              <a:path w="381000" h="476250">
                <a:moveTo>
                  <a:pt x="190500" y="0"/>
                </a:moveTo>
                <a:lnTo>
                  <a:pt x="381000" y="38100"/>
                </a:lnTo>
                <a:lnTo>
                  <a:pt x="381000" y="228600"/>
                </a:lnTo>
                <a:cubicBezTo>
                  <a:pt x="381000" y="342900"/>
                  <a:pt x="317500" y="425450"/>
                  <a:pt x="190500" y="476250"/>
                </a:cubicBezTo>
                <a:cubicBezTo>
                  <a:pt x="63500" y="425450"/>
                  <a:pt x="0" y="342900"/>
                  <a:pt x="0" y="228600"/>
                </a:cubicBezTo>
                <a:lnTo>
                  <a:pt x="0" y="38100"/>
                </a:lnTo>
                <a:close/>
              </a:path>
            </a:pathLst>
          </a:custGeom>
          <a:noFill/>
          <a:ln w="19050">
            <a:solidFill>
              <a:srgbClr val="4CC9F0"/>
            </a:solidFill>
          </a:ln>
        </p:spPr>
      </p:sp>
      <p:sp>
        <p:nvSpPr>
          <p:cNvPr id="50" name="Freeform 50"/>
          <p:cNvSpPr/>
          <p:nvPr/>
        </p:nvSpPr>
        <p:spPr>
          <a:xfrm>
            <a:off x="8448675" y="3067050"/>
            <a:ext cx="171450" cy="152400"/>
          </a:xfrm>
          <a:custGeom>
            <a:avLst/>
            <a:gdLst/>
            <a:ahLst/>
            <a:cxnLst/>
            <a:rect l="l" t="t" r="r" b="b"/>
            <a:pathLst>
              <a:path w="171450" h="152400">
                <a:moveTo>
                  <a:pt x="0" y="95250"/>
                </a:moveTo>
                <a:lnTo>
                  <a:pt x="57150" y="152400"/>
                </a:lnTo>
                <a:lnTo>
                  <a:pt x="171450" y="0"/>
                </a:lnTo>
              </a:path>
            </a:pathLst>
          </a:custGeom>
          <a:noFill/>
          <a:ln w="19050" cap="rnd">
            <a:solidFill>
              <a:srgbClr val="4CC9F0"/>
            </a:solidFill>
            <a:round/>
          </a:ln>
        </p:spPr>
      </p:sp>
      <p:sp>
        <p:nvSpPr>
          <p:cNvPr id="51" name="TextBox 51"/>
          <p:cNvSpPr txBox="1"/>
          <p:nvPr/>
        </p:nvSpPr>
        <p:spPr>
          <a:xfrm>
            <a:off x="8444865" y="3658552"/>
            <a:ext cx="1186015" cy="213360"/>
          </a:xfrm>
          <a:prstGeom prst="rect">
            <a:avLst/>
          </a:prstGeom>
          <a:noFill/>
          <a:ln>
            <a:noFill/>
          </a:ln>
        </p:spPr>
        <p:txBody>
          <a:bodyPr wrap="none" lIns="0" tIns="0" rIns="0" bIns="0" anchor="t" anchorCtr="0">
            <a:spAutoFit/>
          </a:bodyPr>
          <a:lstStyle/>
          <a:p>
            <a:pPr algn="l"/>
            <a:r>
              <a:rPr lang="en-US" sz="1200" b="1" dirty="0">
                <a:solidFill>
                  <a:srgbClr val="8A92A6"/>
                </a:solidFill>
                <a:latin typeface="Malgun Gothic"/>
                <a:ea typeface="Malgun Gothic"/>
                <a:cs typeface="Malgun Gothic"/>
              </a:rPr>
              <a:t>TRUST GUARDIAN</a:t>
            </a:r>
          </a:p>
        </p:txBody>
      </p:sp>
      <p:sp>
        <p:nvSpPr>
          <p:cNvPr id="52" name="TextBox 52"/>
          <p:cNvSpPr txBox="1"/>
          <p:nvPr/>
        </p:nvSpPr>
        <p:spPr>
          <a:xfrm>
            <a:off x="8431530" y="3945255"/>
            <a:ext cx="2082194" cy="426720"/>
          </a:xfrm>
          <a:prstGeom prst="rect">
            <a:avLst/>
          </a:prstGeom>
          <a:noFill/>
          <a:ln>
            <a:noFill/>
          </a:ln>
        </p:spPr>
        <p:txBody>
          <a:bodyPr wrap="none" lIns="0" tIns="0" rIns="0" bIns="0" anchor="t" anchorCtr="0">
            <a:spAutoFit/>
          </a:bodyPr>
          <a:lstStyle/>
          <a:p>
            <a:pPr algn="l"/>
            <a:r>
              <a:rPr lang="ko-KR" sz="2100" b="1" dirty="0">
                <a:solidFill>
                  <a:srgbClr val="F2F4F8"/>
                </a:solidFill>
                <a:latin typeface="Malgun Gothic"/>
                <a:ea typeface="Malgun Gothic"/>
                <a:cs typeface="Malgun Gothic"/>
              </a:rPr>
              <a:t>신뢰의 수호자</a:t>
            </a:r>
          </a:p>
        </p:txBody>
      </p:sp>
      <p:sp>
        <p:nvSpPr>
          <p:cNvPr id="53" name="TextBox 53"/>
          <p:cNvSpPr txBox="1"/>
          <p:nvPr/>
        </p:nvSpPr>
        <p:spPr>
          <a:xfrm>
            <a:off x="8442960" y="4499610"/>
            <a:ext cx="1896999" cy="243840"/>
          </a:xfrm>
          <a:prstGeom prst="rect">
            <a:avLst/>
          </a:prstGeom>
          <a:noFill/>
          <a:ln>
            <a:noFill/>
          </a:ln>
        </p:spPr>
        <p:txBody>
          <a:bodyPr wrap="none" lIns="0" tIns="0" rIns="0" bIns="0" anchor="t" anchorCtr="0">
            <a:spAutoFit/>
          </a:bodyPr>
          <a:lstStyle/>
          <a:p>
            <a:pPr algn="l"/>
            <a:r>
              <a:rPr lang="ko-KR" sz="1200" dirty="0">
                <a:solidFill>
                  <a:srgbClr val="F2F4F8"/>
                </a:solidFill>
                <a:latin typeface="Malgun Gothic"/>
                <a:ea typeface="Malgun Gothic"/>
                <a:cs typeface="Malgun Gothic"/>
              </a:rPr>
              <a:t>보안·윤리·품질·책임을</a:t>
            </a:r>
          </a:p>
        </p:txBody>
      </p:sp>
      <p:sp>
        <p:nvSpPr>
          <p:cNvPr id="54" name="TextBox 54"/>
          <p:cNvSpPr txBox="1"/>
          <p:nvPr/>
        </p:nvSpPr>
        <p:spPr>
          <a:xfrm>
            <a:off x="8442960" y="4728210"/>
            <a:ext cx="1134618" cy="243840"/>
          </a:xfrm>
          <a:prstGeom prst="rect">
            <a:avLst/>
          </a:prstGeom>
          <a:noFill/>
          <a:ln>
            <a:noFill/>
          </a:ln>
        </p:spPr>
        <p:txBody>
          <a:bodyPr wrap="none" lIns="0" tIns="0" rIns="0" bIns="0" anchor="t" anchorCtr="0">
            <a:spAutoFit/>
          </a:bodyPr>
          <a:lstStyle/>
          <a:p>
            <a:pPr algn="l"/>
            <a:r>
              <a:rPr lang="ko-KR" sz="1200" dirty="0">
                <a:solidFill>
                  <a:srgbClr val="F2F4F8"/>
                </a:solidFill>
                <a:latin typeface="Malgun Gothic"/>
                <a:ea typeface="Malgun Gothic"/>
                <a:cs typeface="Malgun Gothic"/>
              </a:rPr>
              <a:t>책임지는 사람</a:t>
            </a:r>
          </a:p>
        </p:txBody>
      </p:sp>
      <p:sp>
        <p:nvSpPr>
          <p:cNvPr id="55" name="Rectangle 55"/>
          <p:cNvSpPr/>
          <p:nvPr/>
        </p:nvSpPr>
        <p:spPr>
          <a:xfrm>
            <a:off x="8458200" y="5143500"/>
            <a:ext cx="381000" cy="9525"/>
          </a:xfrm>
          <a:prstGeom prst="rect">
            <a:avLst/>
          </a:prstGeom>
          <a:solidFill>
            <a:srgbClr val="2A2F3A"/>
          </a:solidFill>
          <a:ln>
            <a:noFill/>
          </a:ln>
        </p:spPr>
      </p:sp>
      <p:sp>
        <p:nvSpPr>
          <p:cNvPr id="56" name="TextBox 56"/>
          <p:cNvSpPr txBox="1"/>
          <p:nvPr/>
        </p:nvSpPr>
        <p:spPr>
          <a:xfrm>
            <a:off x="8444865" y="5382578"/>
            <a:ext cx="686086" cy="21336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코드 리뷰</a:t>
            </a:r>
          </a:p>
        </p:txBody>
      </p:sp>
      <p:sp>
        <p:nvSpPr>
          <p:cNvPr id="57" name="TextBox 57"/>
          <p:cNvSpPr txBox="1"/>
          <p:nvPr/>
        </p:nvSpPr>
        <p:spPr>
          <a:xfrm>
            <a:off x="9113520" y="5398770"/>
            <a:ext cx="95155" cy="182880"/>
          </a:xfrm>
          <a:prstGeom prst="rect">
            <a:avLst/>
          </a:prstGeom>
          <a:noFill/>
          <a:ln>
            <a:noFill/>
          </a:ln>
        </p:spPr>
        <p:txBody>
          <a:bodyPr wrap="none" lIns="0" tIns="0" rIns="0" bIns="0" anchor="t" anchorCtr="0">
            <a:spAutoFit/>
          </a:bodyPr>
          <a:lstStyle/>
          <a:p>
            <a:pPr algn="l"/>
            <a:r>
              <a:rPr lang="en-US" sz="1200" dirty="0">
                <a:solidFill>
                  <a:srgbClr val="4CC9F0"/>
                </a:solidFill>
                <a:latin typeface="Malgun Gothic"/>
                <a:ea typeface="Malgun Gothic"/>
                <a:cs typeface="Malgun Gothic"/>
              </a:rPr>
              <a:t>→</a:t>
            </a:r>
          </a:p>
        </p:txBody>
      </p:sp>
      <p:sp>
        <p:nvSpPr>
          <p:cNvPr id="58" name="TextBox 58"/>
          <p:cNvSpPr txBox="1"/>
          <p:nvPr/>
        </p:nvSpPr>
        <p:spPr>
          <a:xfrm>
            <a:off x="9283065" y="5382578"/>
            <a:ext cx="880077" cy="213360"/>
          </a:xfrm>
          <a:prstGeom prst="rect">
            <a:avLst/>
          </a:prstGeom>
          <a:noFill/>
          <a:ln>
            <a:noFill/>
          </a:ln>
        </p:spPr>
        <p:txBody>
          <a:bodyPr wrap="none" lIns="0" tIns="0" rIns="0" bIns="0" anchor="t" anchorCtr="0">
            <a:spAutoFit/>
          </a:bodyPr>
          <a:lstStyle/>
          <a:p>
            <a:pPr algn="l"/>
            <a:r>
              <a:rPr lang="ko-KR" sz="1200" b="1" dirty="0">
                <a:solidFill>
                  <a:srgbClr val="F2F4F8"/>
                </a:solidFill>
                <a:latin typeface="Malgun Gothic"/>
                <a:ea typeface="Malgun Gothic"/>
                <a:cs typeface="Malgun Gothic"/>
              </a:rPr>
              <a:t>시스템 리뷰</a:t>
            </a:r>
          </a:p>
        </p:txBody>
      </p:sp>
      <p:sp>
        <p:nvSpPr>
          <p:cNvPr id="59" name="TextBox 59"/>
          <p:cNvSpPr txBox="1"/>
          <p:nvPr/>
        </p:nvSpPr>
        <p:spPr>
          <a:xfrm>
            <a:off x="8444865" y="5649278"/>
            <a:ext cx="839438" cy="21336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시스템 리뷰</a:t>
            </a:r>
          </a:p>
        </p:txBody>
      </p:sp>
      <p:sp>
        <p:nvSpPr>
          <p:cNvPr id="60" name="TextBox 60"/>
          <p:cNvSpPr txBox="1"/>
          <p:nvPr/>
        </p:nvSpPr>
        <p:spPr>
          <a:xfrm>
            <a:off x="9189720" y="5665470"/>
            <a:ext cx="95155" cy="182880"/>
          </a:xfrm>
          <a:prstGeom prst="rect">
            <a:avLst/>
          </a:prstGeom>
          <a:noFill/>
          <a:ln>
            <a:noFill/>
          </a:ln>
        </p:spPr>
        <p:txBody>
          <a:bodyPr wrap="none" lIns="0" tIns="0" rIns="0" bIns="0" anchor="t" anchorCtr="0">
            <a:spAutoFit/>
          </a:bodyPr>
          <a:lstStyle/>
          <a:p>
            <a:pPr algn="l"/>
            <a:r>
              <a:rPr lang="en-US" sz="1200" dirty="0">
                <a:solidFill>
                  <a:srgbClr val="4CC9F0"/>
                </a:solidFill>
                <a:latin typeface="Malgun Gothic"/>
                <a:ea typeface="Malgun Gothic"/>
                <a:cs typeface="Malgun Gothic"/>
              </a:rPr>
              <a:t>→</a:t>
            </a:r>
          </a:p>
        </p:txBody>
      </p:sp>
      <p:sp>
        <p:nvSpPr>
          <p:cNvPr id="61" name="TextBox 61"/>
          <p:cNvSpPr txBox="1"/>
          <p:nvPr/>
        </p:nvSpPr>
        <p:spPr>
          <a:xfrm>
            <a:off x="9359265" y="5649278"/>
            <a:ext cx="1041097" cy="213360"/>
          </a:xfrm>
          <a:prstGeom prst="rect">
            <a:avLst/>
          </a:prstGeom>
          <a:noFill/>
          <a:ln>
            <a:noFill/>
          </a:ln>
        </p:spPr>
        <p:txBody>
          <a:bodyPr wrap="none" lIns="0" tIns="0" rIns="0" bIns="0" anchor="t" anchorCtr="0">
            <a:spAutoFit/>
          </a:bodyPr>
          <a:lstStyle/>
          <a:p>
            <a:pPr algn="l"/>
            <a:r>
              <a:rPr lang="ko-KR" sz="1200" b="1" dirty="0">
                <a:solidFill>
                  <a:srgbClr val="F2F4F8"/>
                </a:solidFill>
                <a:latin typeface="Malgun Gothic"/>
                <a:ea typeface="Malgun Gothic"/>
                <a:cs typeface="Malgun Gothic"/>
              </a:rPr>
              <a:t>의사결정 리뷰</a:t>
            </a:r>
          </a:p>
        </p:txBody>
      </p:sp>
      <p:sp>
        <p:nvSpPr>
          <p:cNvPr id="62" name="TextBox 62"/>
          <p:cNvSpPr txBox="1"/>
          <p:nvPr/>
        </p:nvSpPr>
        <p:spPr>
          <a:xfrm>
            <a:off x="8445818" y="5924074"/>
            <a:ext cx="1655231" cy="198120"/>
          </a:xfrm>
          <a:prstGeom prst="rect">
            <a:avLst/>
          </a:prstGeom>
          <a:noFill/>
          <a:ln>
            <a:noFill/>
          </a:ln>
        </p:spPr>
        <p:txBody>
          <a:bodyPr wrap="none" lIns="0" tIns="0" rIns="0" bIns="0" anchor="t" anchorCtr="0">
            <a:spAutoFit/>
          </a:bodyPr>
          <a:lstStyle/>
          <a:p>
            <a:pPr algn="l"/>
            <a:r>
              <a:rPr lang="ko-KR" sz="1200" dirty="0">
                <a:solidFill>
                  <a:srgbClr val="4CC9F0"/>
                </a:solidFill>
                <a:latin typeface="Nanum Myeongjo"/>
                <a:ea typeface="Nanum Myeongjo"/>
                <a:cs typeface="Nanum Myeongjo"/>
              </a:rPr>
              <a:t>— 책임의 층위가 올라간다</a:t>
            </a:r>
          </a:p>
        </p:txBody>
      </p:sp>
      <p:sp>
        <p:nvSpPr>
          <p:cNvPr id="63" name="TextBox 63"/>
          <p:cNvSpPr txBox="1"/>
          <p:nvPr/>
        </p:nvSpPr>
        <p:spPr>
          <a:xfrm>
            <a:off x="750570" y="6475095"/>
            <a:ext cx="1376743" cy="182880"/>
          </a:xfrm>
          <a:prstGeom prst="rect">
            <a:avLst/>
          </a:prstGeom>
          <a:noFill/>
          <a:ln>
            <a:noFill/>
          </a:ln>
        </p:spPr>
        <p:txBody>
          <a:bodyPr wrap="none" lIns="0" tIns="0" rIns="0" bIns="0" anchor="t" anchorCtr="0">
            <a:spAutoFit/>
          </a:bodyPr>
          <a:lstStyle/>
          <a:p>
            <a:pPr algn="l"/>
            <a:r>
              <a:rPr lang="ko-KR" sz="1200" dirty="0">
                <a:solidFill>
                  <a:srgbClr val="2A2F3A"/>
                </a:solidFill>
                <a:latin typeface="Malgun Gothic"/>
                <a:ea typeface="Malgun Gothic"/>
                <a:cs typeface="Malgun Gothic"/>
              </a:rPr>
              <a:t>개발자의 종말: AI 시대</a:t>
            </a:r>
          </a:p>
        </p:txBody>
      </p:sp>
      <p:sp>
        <p:nvSpPr>
          <p:cNvPr id="64" name="TextBox 64"/>
          <p:cNvSpPr txBox="1"/>
          <p:nvPr/>
        </p:nvSpPr>
        <p:spPr>
          <a:xfrm>
            <a:off x="11011090" y="6475095"/>
            <a:ext cx="430340" cy="182880"/>
          </a:xfrm>
          <a:prstGeom prst="rect">
            <a:avLst/>
          </a:prstGeom>
          <a:noFill/>
          <a:ln>
            <a:noFill/>
          </a:ln>
        </p:spPr>
        <p:txBody>
          <a:bodyPr wrap="none" lIns="0" tIns="0" rIns="0" bIns="0" anchor="t" anchorCtr="0">
            <a:spAutoFit/>
          </a:bodyPr>
          <a:lstStyle/>
          <a:p>
            <a:pPr algn="r"/>
            <a:r>
              <a:rPr lang="en-US" sz="1200" dirty="0">
                <a:solidFill>
                  <a:srgbClr val="2A2F3A"/>
                </a:solidFill>
                <a:latin typeface="Malgun Gothic"/>
                <a:ea typeface="Malgun Gothic"/>
                <a:cs typeface="Malgun Gothic"/>
              </a:rPr>
              <a:t>07 / 10</a:t>
            </a:r>
          </a:p>
        </p:txBody>
      </p:sp>
    </p:spTree>
  </p:cSld>
  <p:clrMapOvr>
    <a:masterClrMapping/>
  </p:clrMapOvr>
  <p:transition xmlns:p14="http://schemas.microsoft.com/office/powerpoint/2010/main" p14:dur="5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A1F2E"/>
              </a:gs>
              <a:gs pos="60000">
                <a:srgbClr val="0B0D12"/>
              </a:gs>
              <a:gs pos="100000">
                <a:srgbClr val="0B0D12"/>
              </a:gs>
            </a:gsLst>
            <a:path path="circle">
              <a:fillToRect l="50000" t="50000" r="50000" b="50000"/>
            </a:path>
          </a:gradFill>
          <a:ln>
            <a:noFill/>
          </a:ln>
        </p:spPr>
      </p:sp>
      <p:grpSp>
        <p:nvGrpSpPr>
          <p:cNvPr id="5" name="Group 5"/>
          <p:cNvGrpSpPr/>
          <p:nvPr/>
        </p:nvGrpSpPr>
        <p:grpSpPr>
          <a:xfrm>
            <a:off x="560070" y="455295"/>
            <a:ext cx="1920597" cy="240030"/>
            <a:chOff x="560070" y="455295"/>
            <a:chExt cx="1920597" cy="240030"/>
          </a:xfrm>
        </p:grpSpPr>
        <p:sp>
          <p:nvSpPr>
            <p:cNvPr id="3" name="TextBox 3"/>
            <p:cNvSpPr txBox="1"/>
            <p:nvPr/>
          </p:nvSpPr>
          <p:spPr>
            <a:xfrm>
              <a:off x="560070" y="455295"/>
              <a:ext cx="1920597" cy="182880"/>
            </a:xfrm>
            <a:prstGeom prst="rect">
              <a:avLst/>
            </a:prstGeom>
            <a:noFill/>
            <a:ln>
              <a:noFill/>
            </a:ln>
          </p:spPr>
          <p:txBody>
            <a:bodyPr wrap="none" lIns="0" tIns="0" rIns="0" bIns="0" anchor="t" anchorCtr="0">
              <a:spAutoFit/>
            </a:bodyPr>
            <a:lstStyle/>
            <a:p>
              <a:pPr algn="l"/>
              <a:r>
                <a:rPr lang="en-US" sz="1200" b="1" dirty="0">
                  <a:solidFill>
                    <a:srgbClr val="8A92A6"/>
                  </a:solidFill>
                  <a:latin typeface="Malgun Gothic"/>
                  <a:ea typeface="Malgun Gothic"/>
                  <a:cs typeface="Malgun Gothic"/>
                </a:rPr>
                <a:t>CHAPTER 05 · CALL TO ACTION</a:t>
              </a:r>
            </a:p>
          </p:txBody>
        </p:sp>
        <p:sp>
          <p:nvSpPr>
            <p:cNvPr id="4" name="Line 4"/>
            <p:cNvSpPr/>
            <p:nvPr/>
          </p:nvSpPr>
          <p:spPr>
            <a:xfrm>
              <a:off x="571500" y="685800"/>
              <a:ext cx="762000" cy="9525"/>
            </a:xfrm>
            <a:custGeom>
              <a:avLst/>
              <a:gdLst/>
              <a:ahLst/>
              <a:cxnLst/>
              <a:rect l="l" t="t" r="r" b="b"/>
              <a:pathLst>
                <a:path w="762000" h="9525">
                  <a:moveTo>
                    <a:pt x="0" y="0"/>
                  </a:moveTo>
                  <a:lnTo>
                    <a:pt x="762000" y="0"/>
                  </a:lnTo>
                </a:path>
              </a:pathLst>
            </a:custGeom>
            <a:noFill/>
            <a:ln w="19050">
              <a:solidFill>
                <a:srgbClr val="E63946"/>
              </a:solidFill>
            </a:ln>
          </p:spPr>
        </p:sp>
      </p:grpSp>
      <p:grpSp>
        <p:nvGrpSpPr>
          <p:cNvPr id="8" name="Group 8"/>
          <p:cNvGrpSpPr/>
          <p:nvPr/>
        </p:nvGrpSpPr>
        <p:grpSpPr>
          <a:xfrm>
            <a:off x="533400" y="895350"/>
            <a:ext cx="5343858" cy="776288"/>
            <a:chOff x="533400" y="895350"/>
            <a:chExt cx="5343858" cy="776288"/>
          </a:xfrm>
        </p:grpSpPr>
        <p:sp>
          <p:nvSpPr>
            <p:cNvPr id="6" name="TextBox 6"/>
            <p:cNvSpPr txBox="1"/>
            <p:nvPr/>
          </p:nvSpPr>
          <p:spPr>
            <a:xfrm>
              <a:off x="533400" y="895350"/>
              <a:ext cx="5343858" cy="609600"/>
            </a:xfrm>
            <a:prstGeom prst="rect">
              <a:avLst/>
            </a:prstGeom>
            <a:noFill/>
            <a:ln>
              <a:noFill/>
            </a:ln>
          </p:spPr>
          <p:txBody>
            <a:bodyPr wrap="none" lIns="0" tIns="0" rIns="0" bIns="0" anchor="t" anchorCtr="0">
              <a:spAutoFit/>
            </a:bodyPr>
            <a:lstStyle/>
            <a:p>
              <a:pPr algn="l"/>
              <a:r>
                <a:rPr lang="ko-KR" sz="3000" b="1" dirty="0">
                  <a:solidFill>
                    <a:srgbClr val="F2F4F8"/>
                  </a:solidFill>
                  <a:latin typeface="Malgun Gothic"/>
                  <a:ea typeface="Malgun Gothic"/>
                  <a:cs typeface="Malgun Gothic"/>
                </a:rPr>
                <a:t>지금, 무엇을 해야 하는가</a:t>
              </a:r>
            </a:p>
          </p:txBody>
        </p:sp>
        <p:sp>
          <p:nvSpPr>
            <p:cNvPr id="7" name="TextBox 7"/>
            <p:cNvSpPr txBox="1"/>
            <p:nvPr/>
          </p:nvSpPr>
          <p:spPr>
            <a:xfrm>
              <a:off x="554355" y="1397318"/>
              <a:ext cx="3681889" cy="274320"/>
            </a:xfrm>
            <a:prstGeom prst="rect">
              <a:avLst/>
            </a:prstGeom>
            <a:noFill/>
            <a:ln>
              <a:noFill/>
            </a:ln>
          </p:spPr>
          <p:txBody>
            <a:bodyPr wrap="none" lIns="0" tIns="0" rIns="0" bIns="0" anchor="t" anchorCtr="0">
              <a:spAutoFit/>
            </a:bodyPr>
            <a:lstStyle/>
            <a:p>
              <a:pPr algn="l"/>
              <a:r>
                <a:rPr lang="ko-KR" sz="1350" dirty="0">
                  <a:solidFill>
                    <a:srgbClr val="8A92A6"/>
                  </a:solidFill>
                  <a:latin typeface="Malgun Gothic"/>
                  <a:ea typeface="Malgun Gothic"/>
                  <a:cs typeface="Malgun Gothic"/>
                </a:rPr>
                <a:t>살아남는 개발자가 만드는 다섯 가지 전환</a:t>
              </a:r>
            </a:p>
          </p:txBody>
        </p:sp>
      </p:grpSp>
      <p:sp>
        <p:nvSpPr>
          <p:cNvPr id="9" name="TextBox 9"/>
          <p:cNvSpPr txBox="1"/>
          <p:nvPr/>
        </p:nvSpPr>
        <p:spPr>
          <a:xfrm>
            <a:off x="11181217" y="455295"/>
            <a:ext cx="450713" cy="182880"/>
          </a:xfrm>
          <a:prstGeom prst="rect">
            <a:avLst/>
          </a:prstGeom>
          <a:noFill/>
          <a:ln>
            <a:noFill/>
          </a:ln>
        </p:spPr>
        <p:txBody>
          <a:bodyPr wrap="none" lIns="0" tIns="0" rIns="0" bIns="0" anchor="t" anchorCtr="0">
            <a:spAutoFit/>
          </a:bodyPr>
          <a:lstStyle/>
          <a:p>
            <a:pPr algn="r"/>
            <a:r>
              <a:rPr lang="en-US" sz="1200" b="1" dirty="0">
                <a:solidFill>
                  <a:srgbClr val="8A92A6"/>
                </a:solidFill>
                <a:latin typeface="Malgun Gothic"/>
                <a:ea typeface="Malgun Gothic"/>
                <a:cs typeface="Malgun Gothic"/>
              </a:rPr>
              <a:t>07 / 10</a:t>
            </a:r>
          </a:p>
        </p:txBody>
      </p:sp>
      <p:grpSp>
        <p:nvGrpSpPr>
          <p:cNvPr id="55" name="Group 55"/>
          <p:cNvGrpSpPr/>
          <p:nvPr/>
        </p:nvGrpSpPr>
        <p:grpSpPr>
          <a:xfrm>
            <a:off x="3829050" y="1847850"/>
            <a:ext cx="4533900" cy="4400550"/>
            <a:chOff x="3829050" y="1847850"/>
            <a:chExt cx="4533900" cy="4400550"/>
          </a:xfrm>
        </p:grpSpPr>
        <p:sp>
          <p:nvSpPr>
            <p:cNvPr id="10" name="Ellipse 10"/>
            <p:cNvSpPr/>
            <p:nvPr/>
          </p:nvSpPr>
          <p:spPr>
            <a:xfrm>
              <a:off x="4476750" y="2571750"/>
              <a:ext cx="3238500" cy="3238500"/>
            </a:xfrm>
            <a:prstGeom prst="ellipse">
              <a:avLst/>
            </a:prstGeom>
            <a:noFill/>
            <a:ln w="9525">
              <a:solidFill>
                <a:srgbClr val="2A2F3A"/>
              </a:solidFill>
              <a:custDash>
                <a:ds d="300000" sp="500000"/>
              </a:custDash>
            </a:ln>
          </p:spPr>
        </p:sp>
        <p:sp>
          <p:nvSpPr>
            <p:cNvPr id="11" name="Line 11"/>
            <p:cNvSpPr/>
            <p:nvPr/>
          </p:nvSpPr>
          <p:spPr>
            <a:xfrm>
              <a:off x="6096000" y="2952750"/>
              <a:ext cx="9525" cy="685800"/>
            </a:xfrm>
            <a:custGeom>
              <a:avLst/>
              <a:gdLst/>
              <a:ahLst/>
              <a:cxnLst/>
              <a:rect l="l" t="t" r="r" b="b"/>
              <a:pathLst>
                <a:path w="9525" h="685800">
                  <a:moveTo>
                    <a:pt x="0" y="685800"/>
                  </a:moveTo>
                  <a:lnTo>
                    <a:pt x="0" y="0"/>
                  </a:lnTo>
                </a:path>
              </a:pathLst>
            </a:custGeom>
            <a:noFill/>
            <a:ln w="14288">
              <a:solidFill>
                <a:srgbClr val="E63946">
                  <a:alpha val="55000"/>
                </a:srgbClr>
              </a:solidFill>
            </a:ln>
          </p:spPr>
        </p:sp>
        <p:sp>
          <p:nvSpPr>
            <p:cNvPr id="12" name="Line 12"/>
            <p:cNvSpPr/>
            <p:nvPr/>
          </p:nvSpPr>
          <p:spPr>
            <a:xfrm>
              <a:off x="6619875" y="3810000"/>
              <a:ext cx="657225" cy="209550"/>
            </a:xfrm>
            <a:custGeom>
              <a:avLst/>
              <a:gdLst/>
              <a:ahLst/>
              <a:cxnLst/>
              <a:rect l="l" t="t" r="r" b="b"/>
              <a:pathLst>
                <a:path w="657225" h="209550">
                  <a:moveTo>
                    <a:pt x="0" y="209550"/>
                  </a:moveTo>
                  <a:lnTo>
                    <a:pt x="657225" y="0"/>
                  </a:lnTo>
                </a:path>
              </a:pathLst>
            </a:custGeom>
            <a:noFill/>
            <a:ln w="14288">
              <a:solidFill>
                <a:srgbClr val="F4A261">
                  <a:alpha val="55000"/>
                </a:srgbClr>
              </a:solidFill>
            </a:ln>
          </p:spPr>
        </p:sp>
        <p:sp>
          <p:nvSpPr>
            <p:cNvPr id="13" name="Line 13"/>
            <p:cNvSpPr/>
            <p:nvPr/>
          </p:nvSpPr>
          <p:spPr>
            <a:xfrm>
              <a:off x="6419850" y="4629150"/>
              <a:ext cx="409575" cy="571500"/>
            </a:xfrm>
            <a:custGeom>
              <a:avLst/>
              <a:gdLst/>
              <a:ahLst/>
              <a:cxnLst/>
              <a:rect l="l" t="t" r="r" b="b"/>
              <a:pathLst>
                <a:path w="409575" h="571500">
                  <a:moveTo>
                    <a:pt x="0" y="0"/>
                  </a:moveTo>
                  <a:lnTo>
                    <a:pt x="409575" y="571500"/>
                  </a:lnTo>
                </a:path>
              </a:pathLst>
            </a:custGeom>
            <a:noFill/>
            <a:ln w="14288">
              <a:solidFill>
                <a:srgbClr val="4CC9F0">
                  <a:alpha val="55000"/>
                </a:srgbClr>
              </a:solidFill>
            </a:ln>
          </p:spPr>
        </p:sp>
        <p:sp>
          <p:nvSpPr>
            <p:cNvPr id="14" name="Line 14"/>
            <p:cNvSpPr/>
            <p:nvPr/>
          </p:nvSpPr>
          <p:spPr>
            <a:xfrm>
              <a:off x="5362575" y="4629150"/>
              <a:ext cx="409575" cy="571500"/>
            </a:xfrm>
            <a:custGeom>
              <a:avLst/>
              <a:gdLst/>
              <a:ahLst/>
              <a:cxnLst/>
              <a:rect l="l" t="t" r="r" b="b"/>
              <a:pathLst>
                <a:path w="409575" h="571500">
                  <a:moveTo>
                    <a:pt x="409575" y="0"/>
                  </a:moveTo>
                  <a:lnTo>
                    <a:pt x="0" y="571500"/>
                  </a:lnTo>
                </a:path>
              </a:pathLst>
            </a:custGeom>
            <a:noFill/>
            <a:ln w="14288">
              <a:solidFill>
                <a:srgbClr val="F4A261">
                  <a:alpha val="55000"/>
                </a:srgbClr>
              </a:solidFill>
            </a:ln>
          </p:spPr>
        </p:sp>
        <p:sp>
          <p:nvSpPr>
            <p:cNvPr id="15" name="Line 15"/>
            <p:cNvSpPr/>
            <p:nvPr/>
          </p:nvSpPr>
          <p:spPr>
            <a:xfrm>
              <a:off x="4914900" y="3810000"/>
              <a:ext cx="657225" cy="209550"/>
            </a:xfrm>
            <a:custGeom>
              <a:avLst/>
              <a:gdLst/>
              <a:ahLst/>
              <a:cxnLst/>
              <a:rect l="l" t="t" r="r" b="b"/>
              <a:pathLst>
                <a:path w="657225" h="209550">
                  <a:moveTo>
                    <a:pt x="657225" y="209550"/>
                  </a:moveTo>
                  <a:lnTo>
                    <a:pt x="0" y="0"/>
                  </a:lnTo>
                </a:path>
              </a:pathLst>
            </a:custGeom>
            <a:noFill/>
            <a:ln w="14288">
              <a:solidFill>
                <a:srgbClr val="E63946">
                  <a:alpha val="55000"/>
                </a:srgbClr>
              </a:solidFill>
            </a:ln>
          </p:spPr>
        </p:sp>
        <p:sp>
          <p:nvSpPr>
            <p:cNvPr id="16" name="Ellipse 16"/>
            <p:cNvSpPr/>
            <p:nvPr/>
          </p:nvSpPr>
          <p:spPr>
            <a:xfrm>
              <a:off x="5505450" y="3600450"/>
              <a:ext cx="1181100" cy="1181100"/>
            </a:xfrm>
            <a:prstGeom prst="ellipse">
              <a:avLst/>
            </a:prstGeom>
            <a:gradFill>
              <a:gsLst>
                <a:gs pos="0">
                  <a:srgbClr val="E63946"/>
                </a:gs>
                <a:gs pos="100000">
                  <a:srgbClr val="F4A261"/>
                </a:gs>
              </a:gsLst>
              <a:lin ang="2700000" scaled="1"/>
            </a:gradFill>
            <a:ln>
              <a:noFill/>
            </a:ln>
            <a:effectLst>
              <a:glow rad="76200">
                <a:srgbClr val="000000">
                  <a:alpha val="30000"/>
                </a:srgbClr>
              </a:glow>
            </a:effectLst>
          </p:spPr>
        </p:sp>
        <p:sp>
          <p:nvSpPr>
            <p:cNvPr id="17" name="Ellipse 17"/>
            <p:cNvSpPr/>
            <p:nvPr/>
          </p:nvSpPr>
          <p:spPr>
            <a:xfrm>
              <a:off x="5505450" y="3600450"/>
              <a:ext cx="1181100" cy="1181100"/>
            </a:xfrm>
            <a:prstGeom prst="ellipse">
              <a:avLst/>
            </a:prstGeom>
            <a:noFill/>
            <a:ln w="14288">
              <a:solidFill>
                <a:srgbClr val="F2F4F8">
                  <a:alpha val="30000"/>
                </a:srgbClr>
              </a:solidFill>
            </a:ln>
          </p:spPr>
        </p:sp>
        <p:sp>
          <p:nvSpPr>
            <p:cNvPr id="18" name="TextBox 18"/>
            <p:cNvSpPr txBox="1"/>
            <p:nvPr/>
          </p:nvSpPr>
          <p:spPr>
            <a:xfrm>
              <a:off x="5727127" y="3993832"/>
              <a:ext cx="737747" cy="335280"/>
            </a:xfrm>
            <a:prstGeom prst="rect">
              <a:avLst/>
            </a:prstGeom>
            <a:noFill/>
            <a:ln>
              <a:noFill/>
            </a:ln>
          </p:spPr>
          <p:txBody>
            <a:bodyPr wrap="none" lIns="0" tIns="0" rIns="0" bIns="0" anchor="t" anchorCtr="0">
              <a:spAutoFit/>
            </a:bodyPr>
            <a:lstStyle/>
            <a:p>
              <a:pPr algn="ctr"/>
              <a:r>
                <a:rPr lang="en-US" sz="1650" b="1" dirty="0">
                  <a:solidFill>
                    <a:srgbClr val="F2F4F8"/>
                  </a:solidFill>
                  <a:latin typeface="Malgun Gothic"/>
                  <a:ea typeface="Malgun Gothic"/>
                  <a:cs typeface="Malgun Gothic"/>
                </a:rPr>
                <a:t>TRANS</a:t>
              </a:r>
            </a:p>
          </p:txBody>
        </p:sp>
        <p:sp>
          <p:nvSpPr>
            <p:cNvPr id="19" name="TextBox 19"/>
            <p:cNvSpPr txBox="1"/>
            <p:nvPr/>
          </p:nvSpPr>
          <p:spPr>
            <a:xfrm>
              <a:off x="5746104" y="4222432"/>
              <a:ext cx="699792" cy="335280"/>
            </a:xfrm>
            <a:prstGeom prst="rect">
              <a:avLst/>
            </a:prstGeom>
            <a:noFill/>
            <a:ln>
              <a:noFill/>
            </a:ln>
          </p:spPr>
          <p:txBody>
            <a:bodyPr wrap="none" lIns="0" tIns="0" rIns="0" bIns="0" anchor="t" anchorCtr="0">
              <a:spAutoFit/>
            </a:bodyPr>
            <a:lstStyle/>
            <a:p>
              <a:pPr algn="ctr"/>
              <a:r>
                <a:rPr lang="en-US" sz="1650" b="1" dirty="0">
                  <a:solidFill>
                    <a:srgbClr val="F2F4F8"/>
                  </a:solidFill>
                  <a:latin typeface="Malgun Gothic"/>
                  <a:ea typeface="Malgun Gothic"/>
                  <a:cs typeface="Malgun Gothic"/>
                </a:rPr>
                <a:t>FORM</a:t>
              </a:r>
            </a:p>
          </p:txBody>
        </p:sp>
        <p:grpSp>
          <p:nvGrpSpPr>
            <p:cNvPr id="26" name="Group 26"/>
            <p:cNvGrpSpPr/>
            <p:nvPr/>
          </p:nvGrpSpPr>
          <p:grpSpPr>
            <a:xfrm>
              <a:off x="5543550" y="1847850"/>
              <a:ext cx="1104900" cy="1104900"/>
              <a:chOff x="5543550" y="1847850"/>
              <a:chExt cx="1104900" cy="1104900"/>
            </a:xfrm>
          </p:grpSpPr>
          <p:sp>
            <p:nvSpPr>
              <p:cNvPr id="20" name="Ellipse 20"/>
              <p:cNvSpPr/>
              <p:nvPr/>
            </p:nvSpPr>
            <p:spPr>
              <a:xfrm>
                <a:off x="5543550" y="1847850"/>
                <a:ext cx="1104900" cy="1104900"/>
              </a:xfrm>
              <a:prstGeom prst="ellipse">
                <a:avLst/>
              </a:prstGeom>
              <a:solidFill>
                <a:srgbClr val="161A22"/>
              </a:solidFill>
              <a:ln w="19050">
                <a:solidFill>
                  <a:srgbClr val="E63946"/>
                </a:solidFill>
              </a:ln>
            </p:spPr>
          </p:sp>
          <p:sp>
            <p:nvSpPr>
              <p:cNvPr id="21" name="Ellipse 21"/>
              <p:cNvSpPr/>
              <p:nvPr/>
            </p:nvSpPr>
            <p:spPr>
              <a:xfrm>
                <a:off x="5972175" y="1857375"/>
                <a:ext cx="247650" cy="247650"/>
              </a:xfrm>
              <a:prstGeom prst="ellipse">
                <a:avLst/>
              </a:prstGeom>
              <a:solidFill>
                <a:srgbClr val="E63946"/>
              </a:solidFill>
              <a:ln>
                <a:noFill/>
              </a:ln>
            </p:spPr>
          </p:sp>
          <p:sp>
            <p:nvSpPr>
              <p:cNvPr id="22" name="TextBox 22"/>
              <p:cNvSpPr txBox="1"/>
              <p:nvPr/>
            </p:nvSpPr>
            <p:spPr>
              <a:xfrm>
                <a:off x="6020072" y="1923574"/>
                <a:ext cx="151856" cy="198120"/>
              </a:xfrm>
              <a:prstGeom prst="rect">
                <a:avLst/>
              </a:prstGeom>
              <a:noFill/>
              <a:ln>
                <a:noFill/>
              </a:ln>
            </p:spPr>
            <p:txBody>
              <a:bodyPr wrap="none" lIns="0" tIns="0" rIns="0" bIns="0" anchor="t" anchorCtr="0">
                <a:spAutoFit/>
              </a:bodyPr>
              <a:lstStyle/>
              <a:p>
                <a:pPr algn="ctr"/>
                <a:r>
                  <a:rPr lang="en-US" sz="1200" b="1" dirty="0">
                    <a:solidFill>
                      <a:srgbClr val="F2F4F8"/>
                    </a:solidFill>
                    <a:latin typeface="Malgun Gothic"/>
                    <a:ea typeface="Malgun Gothic"/>
                    <a:cs typeface="Malgun Gothic"/>
                  </a:rPr>
                  <a:t>01</a:t>
                </a:r>
              </a:p>
            </p:txBody>
          </p:sp>
          <p:sp>
            <p:nvSpPr>
              <p:cNvPr id="23" name="TextBox 23"/>
              <p:cNvSpPr txBox="1"/>
              <p:nvPr/>
            </p:nvSpPr>
            <p:spPr>
              <a:xfrm>
                <a:off x="5784580" y="2447449"/>
                <a:ext cx="622840" cy="198120"/>
              </a:xfrm>
              <a:prstGeom prst="rect">
                <a:avLst/>
              </a:prstGeom>
              <a:noFill/>
              <a:ln>
                <a:noFill/>
              </a:ln>
            </p:spPr>
            <p:txBody>
              <a:bodyPr wrap="none" lIns="0" tIns="0" rIns="0" bIns="0" anchor="t" anchorCtr="0">
                <a:spAutoFit/>
              </a:bodyPr>
              <a:lstStyle/>
              <a:p>
                <a:pPr algn="ctr"/>
                <a:r>
                  <a:rPr lang="ko-KR" sz="1200" b="1" dirty="0">
                    <a:solidFill>
                      <a:srgbClr val="F2F4F8"/>
                    </a:solidFill>
                    <a:latin typeface="Malgun Gothic"/>
                    <a:ea typeface="Malgun Gothic"/>
                    <a:cs typeface="Malgun Gothic"/>
                  </a:rPr>
                  <a:t>읽기보다</a:t>
                </a:r>
              </a:p>
            </p:txBody>
          </p:sp>
          <p:sp>
            <p:nvSpPr>
              <p:cNvPr id="24" name="TextBox 24"/>
              <p:cNvSpPr txBox="1"/>
              <p:nvPr/>
            </p:nvSpPr>
            <p:spPr>
              <a:xfrm>
                <a:off x="5784580" y="2599849"/>
                <a:ext cx="622840" cy="198120"/>
              </a:xfrm>
              <a:prstGeom prst="rect">
                <a:avLst/>
              </a:prstGeom>
              <a:noFill/>
              <a:ln>
                <a:noFill/>
              </a:ln>
            </p:spPr>
            <p:txBody>
              <a:bodyPr wrap="none" lIns="0" tIns="0" rIns="0" bIns="0" anchor="t" anchorCtr="0">
                <a:spAutoFit/>
              </a:bodyPr>
              <a:lstStyle/>
              <a:p>
                <a:pPr algn="ctr"/>
                <a:r>
                  <a:rPr lang="ko-KR" sz="1200" b="1" dirty="0">
                    <a:solidFill>
                      <a:srgbClr val="F2F4F8"/>
                    </a:solidFill>
                    <a:latin typeface="Malgun Gothic"/>
                    <a:ea typeface="Malgun Gothic"/>
                    <a:cs typeface="Malgun Gothic"/>
                  </a:rPr>
                  <a:t>정의하기</a:t>
                </a:r>
              </a:p>
            </p:txBody>
          </p:sp>
          <p:sp>
            <p:nvSpPr>
              <p:cNvPr id="25" name="TextBox 25"/>
              <p:cNvSpPr txBox="1"/>
              <p:nvPr/>
            </p:nvSpPr>
            <p:spPr>
              <a:xfrm>
                <a:off x="5741432" y="2786062"/>
                <a:ext cx="709136" cy="152400"/>
              </a:xfrm>
              <a:prstGeom prst="rect">
                <a:avLst/>
              </a:prstGeom>
              <a:noFill/>
              <a:ln>
                <a:noFill/>
              </a:ln>
            </p:spPr>
            <p:txBody>
              <a:bodyPr wrap="none" lIns="0" tIns="0" rIns="0" bIns="0" anchor="t" anchorCtr="0">
                <a:spAutoFit/>
              </a:bodyPr>
              <a:lstStyle/>
              <a:p>
                <a:pPr algn="ctr"/>
                <a:r>
                  <a:rPr lang="ko-KR" sz="1200" dirty="0">
                    <a:solidFill>
                      <a:srgbClr val="8A92A6"/>
                    </a:solidFill>
                    <a:latin typeface="Malgun Gothic"/>
                    <a:ea typeface="Malgun Gothic"/>
                    <a:cs typeface="Malgun Gothic"/>
                  </a:rPr>
                  <a:t>요구사항 명세</a:t>
                </a:r>
              </a:p>
            </p:txBody>
          </p:sp>
        </p:grpSp>
        <p:grpSp>
          <p:nvGrpSpPr>
            <p:cNvPr id="33" name="Group 33"/>
            <p:cNvGrpSpPr/>
            <p:nvPr/>
          </p:nvGrpSpPr>
          <p:grpSpPr>
            <a:xfrm>
              <a:off x="7258050" y="3086100"/>
              <a:ext cx="1104900" cy="1104900"/>
              <a:chOff x="7258050" y="3086100"/>
              <a:chExt cx="1104900" cy="1104900"/>
            </a:xfrm>
          </p:grpSpPr>
          <p:sp>
            <p:nvSpPr>
              <p:cNvPr id="27" name="Ellipse 27"/>
              <p:cNvSpPr/>
              <p:nvPr/>
            </p:nvSpPr>
            <p:spPr>
              <a:xfrm>
                <a:off x="7258050" y="3086100"/>
                <a:ext cx="1104900" cy="1104900"/>
              </a:xfrm>
              <a:prstGeom prst="ellipse">
                <a:avLst/>
              </a:prstGeom>
              <a:solidFill>
                <a:srgbClr val="161A22"/>
              </a:solidFill>
              <a:ln w="19050">
                <a:solidFill>
                  <a:srgbClr val="F4A261"/>
                </a:solidFill>
              </a:ln>
            </p:spPr>
          </p:sp>
          <p:sp>
            <p:nvSpPr>
              <p:cNvPr id="28" name="Ellipse 28"/>
              <p:cNvSpPr/>
              <p:nvPr/>
            </p:nvSpPr>
            <p:spPr>
              <a:xfrm>
                <a:off x="7686675" y="3095625"/>
                <a:ext cx="247650" cy="247650"/>
              </a:xfrm>
              <a:prstGeom prst="ellipse">
                <a:avLst/>
              </a:prstGeom>
              <a:solidFill>
                <a:srgbClr val="F4A261"/>
              </a:solidFill>
              <a:ln>
                <a:noFill/>
              </a:ln>
            </p:spPr>
          </p:sp>
          <p:sp>
            <p:nvSpPr>
              <p:cNvPr id="29" name="TextBox 29"/>
              <p:cNvSpPr txBox="1"/>
              <p:nvPr/>
            </p:nvSpPr>
            <p:spPr>
              <a:xfrm>
                <a:off x="7715882" y="3161824"/>
                <a:ext cx="189236" cy="198120"/>
              </a:xfrm>
              <a:prstGeom prst="rect">
                <a:avLst/>
              </a:prstGeom>
              <a:noFill/>
              <a:ln>
                <a:noFill/>
              </a:ln>
            </p:spPr>
            <p:txBody>
              <a:bodyPr wrap="none" lIns="0" tIns="0" rIns="0" bIns="0" anchor="t" anchorCtr="0">
                <a:spAutoFit/>
              </a:bodyPr>
              <a:lstStyle/>
              <a:p>
                <a:pPr algn="ctr"/>
                <a:r>
                  <a:rPr lang="en-US" sz="1200" b="1" dirty="0">
                    <a:solidFill>
                      <a:srgbClr val="0B0D12"/>
                    </a:solidFill>
                    <a:latin typeface="Malgun Gothic"/>
                    <a:ea typeface="Malgun Gothic"/>
                    <a:cs typeface="Malgun Gothic"/>
                  </a:rPr>
                  <a:t>02</a:t>
                </a:r>
              </a:p>
            </p:txBody>
          </p:sp>
          <p:sp>
            <p:nvSpPr>
              <p:cNvPr id="30" name="TextBox 30"/>
              <p:cNvSpPr txBox="1"/>
              <p:nvPr/>
            </p:nvSpPr>
            <p:spPr>
              <a:xfrm>
                <a:off x="7499080" y="3685699"/>
                <a:ext cx="622840" cy="198120"/>
              </a:xfrm>
              <a:prstGeom prst="rect">
                <a:avLst/>
              </a:prstGeom>
              <a:noFill/>
              <a:ln>
                <a:noFill/>
              </a:ln>
            </p:spPr>
            <p:txBody>
              <a:bodyPr wrap="none" lIns="0" tIns="0" rIns="0" bIns="0" anchor="t" anchorCtr="0">
                <a:spAutoFit/>
              </a:bodyPr>
              <a:lstStyle/>
              <a:p>
                <a:pPr algn="ctr"/>
                <a:r>
                  <a:rPr lang="ko-KR" sz="1200" b="1" dirty="0">
                    <a:solidFill>
                      <a:srgbClr val="F2F4F8"/>
                    </a:solidFill>
                    <a:latin typeface="Malgun Gothic"/>
                    <a:ea typeface="Malgun Gothic"/>
                    <a:cs typeface="Malgun Gothic"/>
                  </a:rPr>
                  <a:t>쓰기보다</a:t>
                </a:r>
              </a:p>
            </p:txBody>
          </p:sp>
          <p:sp>
            <p:nvSpPr>
              <p:cNvPr id="31" name="TextBox 31"/>
              <p:cNvSpPr txBox="1"/>
              <p:nvPr/>
            </p:nvSpPr>
            <p:spPr>
              <a:xfrm>
                <a:off x="7499080" y="3838099"/>
                <a:ext cx="622840" cy="198120"/>
              </a:xfrm>
              <a:prstGeom prst="rect">
                <a:avLst/>
              </a:prstGeom>
              <a:noFill/>
              <a:ln>
                <a:noFill/>
              </a:ln>
            </p:spPr>
            <p:txBody>
              <a:bodyPr wrap="none" lIns="0" tIns="0" rIns="0" bIns="0" anchor="t" anchorCtr="0">
                <a:spAutoFit/>
              </a:bodyPr>
              <a:lstStyle/>
              <a:p>
                <a:pPr algn="ctr"/>
                <a:r>
                  <a:rPr lang="ko-KR" sz="1200" b="1" dirty="0">
                    <a:solidFill>
                      <a:srgbClr val="F2F4F8"/>
                    </a:solidFill>
                    <a:latin typeface="Malgun Gothic"/>
                    <a:ea typeface="Malgun Gothic"/>
                    <a:cs typeface="Malgun Gothic"/>
                  </a:rPr>
                  <a:t>검증하기</a:t>
                </a:r>
              </a:p>
            </p:txBody>
          </p:sp>
          <p:sp>
            <p:nvSpPr>
              <p:cNvPr id="32" name="TextBox 32"/>
              <p:cNvSpPr txBox="1"/>
              <p:nvPr/>
            </p:nvSpPr>
            <p:spPr>
              <a:xfrm>
                <a:off x="7497008" y="4024312"/>
                <a:ext cx="626983" cy="152400"/>
              </a:xfrm>
              <a:prstGeom prst="rect">
                <a:avLst/>
              </a:prstGeom>
              <a:noFill/>
              <a:ln>
                <a:noFill/>
              </a:ln>
            </p:spPr>
            <p:txBody>
              <a:bodyPr wrap="none" lIns="0" tIns="0" rIns="0" bIns="0" anchor="t" anchorCtr="0">
                <a:spAutoFit/>
              </a:bodyPr>
              <a:lstStyle/>
              <a:p>
                <a:pPr algn="ctr"/>
                <a:r>
                  <a:rPr lang="ko-KR" sz="1200" dirty="0">
                    <a:solidFill>
                      <a:srgbClr val="8A92A6"/>
                    </a:solidFill>
                    <a:latin typeface="Malgun Gothic"/>
                    <a:ea typeface="Malgun Gothic"/>
                    <a:cs typeface="Malgun Gothic"/>
                  </a:rPr>
                  <a:t>테스트·리뷰</a:t>
                </a:r>
              </a:p>
            </p:txBody>
          </p:sp>
        </p:grpSp>
        <p:grpSp>
          <p:nvGrpSpPr>
            <p:cNvPr id="40" name="Group 40"/>
            <p:cNvGrpSpPr/>
            <p:nvPr/>
          </p:nvGrpSpPr>
          <p:grpSpPr>
            <a:xfrm>
              <a:off x="6610350" y="5143500"/>
              <a:ext cx="1104900" cy="1104900"/>
              <a:chOff x="6610350" y="5143500"/>
              <a:chExt cx="1104900" cy="1104900"/>
            </a:xfrm>
          </p:grpSpPr>
          <p:sp>
            <p:nvSpPr>
              <p:cNvPr id="34" name="Ellipse 34"/>
              <p:cNvSpPr/>
              <p:nvPr/>
            </p:nvSpPr>
            <p:spPr>
              <a:xfrm>
                <a:off x="6610350" y="5143500"/>
                <a:ext cx="1104900" cy="1104900"/>
              </a:xfrm>
              <a:prstGeom prst="ellipse">
                <a:avLst/>
              </a:prstGeom>
              <a:solidFill>
                <a:srgbClr val="161A22"/>
              </a:solidFill>
              <a:ln w="19050">
                <a:solidFill>
                  <a:srgbClr val="4CC9F0"/>
                </a:solidFill>
              </a:ln>
            </p:spPr>
          </p:sp>
          <p:sp>
            <p:nvSpPr>
              <p:cNvPr id="35" name="Ellipse 35"/>
              <p:cNvSpPr/>
              <p:nvPr/>
            </p:nvSpPr>
            <p:spPr>
              <a:xfrm>
                <a:off x="7038975" y="5153025"/>
                <a:ext cx="247650" cy="247650"/>
              </a:xfrm>
              <a:prstGeom prst="ellipse">
                <a:avLst/>
              </a:prstGeom>
              <a:solidFill>
                <a:srgbClr val="4CC9F0"/>
              </a:solidFill>
              <a:ln>
                <a:noFill/>
              </a:ln>
            </p:spPr>
          </p:sp>
          <p:sp>
            <p:nvSpPr>
              <p:cNvPr id="36" name="TextBox 36"/>
              <p:cNvSpPr txBox="1"/>
              <p:nvPr/>
            </p:nvSpPr>
            <p:spPr>
              <a:xfrm>
                <a:off x="7068182" y="5219224"/>
                <a:ext cx="189236" cy="198120"/>
              </a:xfrm>
              <a:prstGeom prst="rect">
                <a:avLst/>
              </a:prstGeom>
              <a:noFill/>
              <a:ln>
                <a:noFill/>
              </a:ln>
            </p:spPr>
            <p:txBody>
              <a:bodyPr wrap="none" lIns="0" tIns="0" rIns="0" bIns="0" anchor="t" anchorCtr="0">
                <a:spAutoFit/>
              </a:bodyPr>
              <a:lstStyle/>
              <a:p>
                <a:pPr algn="ctr"/>
                <a:r>
                  <a:rPr lang="en-US" sz="1200" b="1" dirty="0">
                    <a:solidFill>
                      <a:srgbClr val="0B0D12"/>
                    </a:solidFill>
                    <a:latin typeface="Malgun Gothic"/>
                    <a:ea typeface="Malgun Gothic"/>
                    <a:cs typeface="Malgun Gothic"/>
                  </a:rPr>
                  <a:t>03</a:t>
                </a:r>
              </a:p>
            </p:txBody>
          </p:sp>
          <p:sp>
            <p:nvSpPr>
              <p:cNvPr id="37" name="TextBox 37"/>
              <p:cNvSpPr txBox="1"/>
              <p:nvPr/>
            </p:nvSpPr>
            <p:spPr>
              <a:xfrm>
                <a:off x="6851380" y="5743099"/>
                <a:ext cx="622840" cy="198120"/>
              </a:xfrm>
              <a:prstGeom prst="rect">
                <a:avLst/>
              </a:prstGeom>
              <a:noFill/>
              <a:ln>
                <a:noFill/>
              </a:ln>
            </p:spPr>
            <p:txBody>
              <a:bodyPr wrap="none" lIns="0" tIns="0" rIns="0" bIns="0" anchor="t" anchorCtr="0">
                <a:spAutoFit/>
              </a:bodyPr>
              <a:lstStyle/>
              <a:p>
                <a:pPr algn="ctr"/>
                <a:r>
                  <a:rPr lang="ko-KR" sz="1200" b="1" dirty="0">
                    <a:solidFill>
                      <a:srgbClr val="F2F4F8"/>
                    </a:solidFill>
                    <a:latin typeface="Malgun Gothic"/>
                    <a:ea typeface="Malgun Gothic"/>
                    <a:cs typeface="Malgun Gothic"/>
                  </a:rPr>
                  <a:t>혼자보다</a:t>
                </a:r>
              </a:p>
            </p:txBody>
          </p:sp>
          <p:sp>
            <p:nvSpPr>
              <p:cNvPr id="38" name="TextBox 38"/>
              <p:cNvSpPr txBox="1"/>
              <p:nvPr/>
            </p:nvSpPr>
            <p:spPr>
              <a:xfrm>
                <a:off x="6851380" y="5895499"/>
                <a:ext cx="622840" cy="198120"/>
              </a:xfrm>
              <a:prstGeom prst="rect">
                <a:avLst/>
              </a:prstGeom>
              <a:noFill/>
              <a:ln>
                <a:noFill/>
              </a:ln>
            </p:spPr>
            <p:txBody>
              <a:bodyPr wrap="none" lIns="0" tIns="0" rIns="0" bIns="0" anchor="t" anchorCtr="0">
                <a:spAutoFit/>
              </a:bodyPr>
              <a:lstStyle/>
              <a:p>
                <a:pPr algn="ctr"/>
                <a:r>
                  <a:rPr lang="ko-KR" sz="1200" b="1" dirty="0">
                    <a:solidFill>
                      <a:srgbClr val="F2F4F8"/>
                    </a:solidFill>
                    <a:latin typeface="Malgun Gothic"/>
                    <a:ea typeface="Malgun Gothic"/>
                    <a:cs typeface="Malgun Gothic"/>
                  </a:rPr>
                  <a:t>조율하기</a:t>
                </a:r>
              </a:p>
            </p:txBody>
          </p:sp>
          <p:sp>
            <p:nvSpPr>
              <p:cNvPr id="39" name="TextBox 39"/>
              <p:cNvSpPr txBox="1"/>
              <p:nvPr/>
            </p:nvSpPr>
            <p:spPr>
              <a:xfrm>
                <a:off x="6854785" y="6081712"/>
                <a:ext cx="616029" cy="152400"/>
              </a:xfrm>
              <a:prstGeom prst="rect">
                <a:avLst/>
              </a:prstGeom>
              <a:noFill/>
              <a:ln>
                <a:noFill/>
              </a:ln>
            </p:spPr>
            <p:txBody>
              <a:bodyPr wrap="none" lIns="0" tIns="0" rIns="0" bIns="0" anchor="t" anchorCtr="0">
                <a:spAutoFit/>
              </a:bodyPr>
              <a:lstStyle/>
              <a:p>
                <a:pPr algn="ctr"/>
                <a:r>
                  <a:rPr lang="ko-KR" sz="1200" dirty="0">
                    <a:solidFill>
                      <a:srgbClr val="8A92A6"/>
                    </a:solidFill>
                    <a:latin typeface="Malgun Gothic"/>
                    <a:ea typeface="Malgun Gothic"/>
                    <a:cs typeface="Malgun Gothic"/>
                  </a:rPr>
                  <a:t>AI 협업 역량</a:t>
                </a:r>
              </a:p>
            </p:txBody>
          </p:sp>
        </p:grpSp>
        <p:grpSp>
          <p:nvGrpSpPr>
            <p:cNvPr id="47" name="Group 47"/>
            <p:cNvGrpSpPr/>
            <p:nvPr/>
          </p:nvGrpSpPr>
          <p:grpSpPr>
            <a:xfrm>
              <a:off x="4476750" y="5143500"/>
              <a:ext cx="1104900" cy="1104900"/>
              <a:chOff x="4476750" y="5143500"/>
              <a:chExt cx="1104900" cy="1104900"/>
            </a:xfrm>
          </p:grpSpPr>
          <p:sp>
            <p:nvSpPr>
              <p:cNvPr id="41" name="Ellipse 41"/>
              <p:cNvSpPr/>
              <p:nvPr/>
            </p:nvSpPr>
            <p:spPr>
              <a:xfrm>
                <a:off x="4476750" y="5143500"/>
                <a:ext cx="1104900" cy="1104900"/>
              </a:xfrm>
              <a:prstGeom prst="ellipse">
                <a:avLst/>
              </a:prstGeom>
              <a:solidFill>
                <a:srgbClr val="161A22"/>
              </a:solidFill>
              <a:ln w="19050">
                <a:solidFill>
                  <a:srgbClr val="F4A261"/>
                </a:solidFill>
              </a:ln>
            </p:spPr>
          </p:sp>
          <p:sp>
            <p:nvSpPr>
              <p:cNvPr id="42" name="Ellipse 42"/>
              <p:cNvSpPr/>
              <p:nvPr/>
            </p:nvSpPr>
            <p:spPr>
              <a:xfrm>
                <a:off x="4905375" y="5153025"/>
                <a:ext cx="247650" cy="247650"/>
              </a:xfrm>
              <a:prstGeom prst="ellipse">
                <a:avLst/>
              </a:prstGeom>
              <a:solidFill>
                <a:srgbClr val="F4A261"/>
              </a:solidFill>
              <a:ln>
                <a:noFill/>
              </a:ln>
            </p:spPr>
          </p:sp>
          <p:sp>
            <p:nvSpPr>
              <p:cNvPr id="43" name="TextBox 43"/>
              <p:cNvSpPr txBox="1"/>
              <p:nvPr/>
            </p:nvSpPr>
            <p:spPr>
              <a:xfrm>
                <a:off x="4934582" y="5219224"/>
                <a:ext cx="189236" cy="198120"/>
              </a:xfrm>
              <a:prstGeom prst="rect">
                <a:avLst/>
              </a:prstGeom>
              <a:noFill/>
              <a:ln>
                <a:noFill/>
              </a:ln>
            </p:spPr>
            <p:txBody>
              <a:bodyPr wrap="none" lIns="0" tIns="0" rIns="0" bIns="0" anchor="t" anchorCtr="0">
                <a:spAutoFit/>
              </a:bodyPr>
              <a:lstStyle/>
              <a:p>
                <a:pPr algn="ctr"/>
                <a:r>
                  <a:rPr lang="en-US" sz="1200" b="1" dirty="0">
                    <a:solidFill>
                      <a:srgbClr val="0B0D12"/>
                    </a:solidFill>
                    <a:latin typeface="Malgun Gothic"/>
                    <a:ea typeface="Malgun Gothic"/>
                    <a:cs typeface="Malgun Gothic"/>
                  </a:rPr>
                  <a:t>04</a:t>
                </a:r>
              </a:p>
            </p:txBody>
          </p:sp>
          <p:sp>
            <p:nvSpPr>
              <p:cNvPr id="44" name="TextBox 44"/>
              <p:cNvSpPr txBox="1"/>
              <p:nvPr/>
            </p:nvSpPr>
            <p:spPr>
              <a:xfrm>
                <a:off x="4717780" y="5743099"/>
                <a:ext cx="622840" cy="198120"/>
              </a:xfrm>
              <a:prstGeom prst="rect">
                <a:avLst/>
              </a:prstGeom>
              <a:noFill/>
              <a:ln>
                <a:noFill/>
              </a:ln>
            </p:spPr>
            <p:txBody>
              <a:bodyPr wrap="none" lIns="0" tIns="0" rIns="0" bIns="0" anchor="t" anchorCtr="0">
                <a:spAutoFit/>
              </a:bodyPr>
              <a:lstStyle/>
              <a:p>
                <a:pPr algn="ctr"/>
                <a:r>
                  <a:rPr lang="ko-KR" sz="1200" b="1" dirty="0">
                    <a:solidFill>
                      <a:srgbClr val="F2F4F8"/>
                    </a:solidFill>
                    <a:latin typeface="Malgun Gothic"/>
                    <a:ea typeface="Malgun Gothic"/>
                    <a:cs typeface="Malgun Gothic"/>
                  </a:rPr>
                  <a:t>기술보다</a:t>
                </a:r>
              </a:p>
            </p:txBody>
          </p:sp>
          <p:sp>
            <p:nvSpPr>
              <p:cNvPr id="45" name="TextBox 45"/>
              <p:cNvSpPr txBox="1"/>
              <p:nvPr/>
            </p:nvSpPr>
            <p:spPr>
              <a:xfrm>
                <a:off x="4792539" y="5895499"/>
                <a:ext cx="473321" cy="198120"/>
              </a:xfrm>
              <a:prstGeom prst="rect">
                <a:avLst/>
              </a:prstGeom>
              <a:noFill/>
              <a:ln>
                <a:noFill/>
              </a:ln>
            </p:spPr>
            <p:txBody>
              <a:bodyPr wrap="none" lIns="0" tIns="0" rIns="0" bIns="0" anchor="t" anchorCtr="0">
                <a:spAutoFit/>
              </a:bodyPr>
              <a:lstStyle/>
              <a:p>
                <a:pPr algn="ctr"/>
                <a:r>
                  <a:rPr lang="ko-KR" sz="1200" b="1" dirty="0">
                    <a:solidFill>
                      <a:srgbClr val="F2F4F8"/>
                    </a:solidFill>
                    <a:latin typeface="Malgun Gothic"/>
                    <a:ea typeface="Malgun Gothic"/>
                    <a:cs typeface="Malgun Gothic"/>
                  </a:rPr>
                  <a:t>도메인</a:t>
                </a:r>
              </a:p>
            </p:txBody>
          </p:sp>
          <p:sp>
            <p:nvSpPr>
              <p:cNvPr id="46" name="TextBox 46"/>
              <p:cNvSpPr txBox="1"/>
              <p:nvPr/>
            </p:nvSpPr>
            <p:spPr>
              <a:xfrm>
                <a:off x="4674632" y="6081712"/>
                <a:ext cx="709136" cy="152400"/>
              </a:xfrm>
              <a:prstGeom prst="rect">
                <a:avLst/>
              </a:prstGeom>
              <a:noFill/>
              <a:ln>
                <a:noFill/>
              </a:ln>
            </p:spPr>
            <p:txBody>
              <a:bodyPr wrap="none" lIns="0" tIns="0" rIns="0" bIns="0" anchor="t" anchorCtr="0">
                <a:spAutoFit/>
              </a:bodyPr>
              <a:lstStyle/>
              <a:p>
                <a:pPr algn="ctr"/>
                <a:r>
                  <a:rPr lang="ko-KR" sz="1200" dirty="0">
                    <a:solidFill>
                      <a:srgbClr val="8A92A6"/>
                    </a:solidFill>
                    <a:latin typeface="Malgun Gothic"/>
                    <a:ea typeface="Malgun Gothic"/>
                    <a:cs typeface="Malgun Gothic"/>
                  </a:rPr>
                  <a:t>비즈니스 깊이</a:t>
                </a:r>
              </a:p>
            </p:txBody>
          </p:sp>
        </p:grpSp>
        <p:grpSp>
          <p:nvGrpSpPr>
            <p:cNvPr id="54" name="Group 54"/>
            <p:cNvGrpSpPr/>
            <p:nvPr/>
          </p:nvGrpSpPr>
          <p:grpSpPr>
            <a:xfrm>
              <a:off x="3829050" y="3086100"/>
              <a:ext cx="1104900" cy="1104900"/>
              <a:chOff x="3829050" y="3086100"/>
              <a:chExt cx="1104900" cy="1104900"/>
            </a:xfrm>
          </p:grpSpPr>
          <p:sp>
            <p:nvSpPr>
              <p:cNvPr id="48" name="Ellipse 48"/>
              <p:cNvSpPr/>
              <p:nvPr/>
            </p:nvSpPr>
            <p:spPr>
              <a:xfrm>
                <a:off x="3829050" y="3086100"/>
                <a:ext cx="1104900" cy="1104900"/>
              </a:xfrm>
              <a:prstGeom prst="ellipse">
                <a:avLst/>
              </a:prstGeom>
              <a:solidFill>
                <a:srgbClr val="161A22"/>
              </a:solidFill>
              <a:ln w="19050">
                <a:solidFill>
                  <a:srgbClr val="E63946"/>
                </a:solidFill>
              </a:ln>
            </p:spPr>
          </p:sp>
          <p:sp>
            <p:nvSpPr>
              <p:cNvPr id="49" name="Ellipse 49"/>
              <p:cNvSpPr/>
              <p:nvPr/>
            </p:nvSpPr>
            <p:spPr>
              <a:xfrm>
                <a:off x="4257675" y="3095625"/>
                <a:ext cx="247650" cy="247650"/>
              </a:xfrm>
              <a:prstGeom prst="ellipse">
                <a:avLst/>
              </a:prstGeom>
              <a:solidFill>
                <a:srgbClr val="E63946"/>
              </a:solidFill>
              <a:ln>
                <a:noFill/>
              </a:ln>
            </p:spPr>
          </p:sp>
          <p:sp>
            <p:nvSpPr>
              <p:cNvPr id="50" name="TextBox 50"/>
              <p:cNvSpPr txBox="1"/>
              <p:nvPr/>
            </p:nvSpPr>
            <p:spPr>
              <a:xfrm>
                <a:off x="4286882" y="3161824"/>
                <a:ext cx="189236" cy="198120"/>
              </a:xfrm>
              <a:prstGeom prst="rect">
                <a:avLst/>
              </a:prstGeom>
              <a:noFill/>
              <a:ln>
                <a:noFill/>
              </a:ln>
            </p:spPr>
            <p:txBody>
              <a:bodyPr wrap="none" lIns="0" tIns="0" rIns="0" bIns="0" anchor="t" anchorCtr="0">
                <a:spAutoFit/>
              </a:bodyPr>
              <a:lstStyle/>
              <a:p>
                <a:pPr algn="ctr"/>
                <a:r>
                  <a:rPr lang="en-US" sz="1200" b="1" dirty="0">
                    <a:solidFill>
                      <a:srgbClr val="F2F4F8"/>
                    </a:solidFill>
                    <a:latin typeface="Malgun Gothic"/>
                    <a:ea typeface="Malgun Gothic"/>
                    <a:cs typeface="Malgun Gothic"/>
                  </a:rPr>
                  <a:t>05</a:t>
                </a:r>
              </a:p>
            </p:txBody>
          </p:sp>
          <p:sp>
            <p:nvSpPr>
              <p:cNvPr id="51" name="TextBox 51"/>
              <p:cNvSpPr txBox="1"/>
              <p:nvPr/>
            </p:nvSpPr>
            <p:spPr>
              <a:xfrm>
                <a:off x="4070080" y="3685699"/>
                <a:ext cx="622840" cy="198120"/>
              </a:xfrm>
              <a:prstGeom prst="rect">
                <a:avLst/>
              </a:prstGeom>
              <a:noFill/>
              <a:ln>
                <a:noFill/>
              </a:ln>
            </p:spPr>
            <p:txBody>
              <a:bodyPr wrap="none" lIns="0" tIns="0" rIns="0" bIns="0" anchor="t" anchorCtr="0">
                <a:spAutoFit/>
              </a:bodyPr>
              <a:lstStyle/>
              <a:p>
                <a:pPr algn="ctr"/>
                <a:r>
                  <a:rPr lang="ko-KR" sz="1200" b="1" dirty="0">
                    <a:solidFill>
                      <a:srgbClr val="F2F4F8"/>
                    </a:solidFill>
                    <a:latin typeface="Malgun Gothic"/>
                    <a:ea typeface="Malgun Gothic"/>
                    <a:cs typeface="Malgun Gothic"/>
                  </a:rPr>
                  <a:t>속도보다</a:t>
                </a:r>
              </a:p>
            </p:txBody>
          </p:sp>
          <p:sp>
            <p:nvSpPr>
              <p:cNvPr id="52" name="TextBox 52"/>
              <p:cNvSpPr txBox="1"/>
              <p:nvPr/>
            </p:nvSpPr>
            <p:spPr>
              <a:xfrm>
                <a:off x="4219599" y="3838099"/>
                <a:ext cx="323802" cy="198120"/>
              </a:xfrm>
              <a:prstGeom prst="rect">
                <a:avLst/>
              </a:prstGeom>
              <a:noFill/>
              <a:ln>
                <a:noFill/>
              </a:ln>
            </p:spPr>
            <p:txBody>
              <a:bodyPr wrap="none" lIns="0" tIns="0" rIns="0" bIns="0" anchor="t" anchorCtr="0">
                <a:spAutoFit/>
              </a:bodyPr>
              <a:lstStyle/>
              <a:p>
                <a:pPr algn="ctr"/>
                <a:r>
                  <a:rPr lang="ko-KR" sz="1200" b="1" dirty="0">
                    <a:solidFill>
                      <a:srgbClr val="F2F4F8"/>
                    </a:solidFill>
                    <a:latin typeface="Malgun Gothic"/>
                    <a:ea typeface="Malgun Gothic"/>
                    <a:cs typeface="Malgun Gothic"/>
                  </a:rPr>
                  <a:t>판단</a:t>
                </a:r>
              </a:p>
            </p:txBody>
          </p:sp>
          <p:sp>
            <p:nvSpPr>
              <p:cNvPr id="53" name="TextBox 53"/>
              <p:cNvSpPr txBox="1"/>
              <p:nvPr/>
            </p:nvSpPr>
            <p:spPr>
              <a:xfrm>
                <a:off x="4026932" y="4024312"/>
                <a:ext cx="709136" cy="152400"/>
              </a:xfrm>
              <a:prstGeom prst="rect">
                <a:avLst/>
              </a:prstGeom>
              <a:noFill/>
              <a:ln>
                <a:noFill/>
              </a:ln>
            </p:spPr>
            <p:txBody>
              <a:bodyPr wrap="none" lIns="0" tIns="0" rIns="0" bIns="0" anchor="t" anchorCtr="0">
                <a:spAutoFit/>
              </a:bodyPr>
              <a:lstStyle/>
              <a:p>
                <a:pPr algn="ctr"/>
                <a:r>
                  <a:rPr lang="ko-KR" sz="1200" dirty="0">
                    <a:solidFill>
                      <a:srgbClr val="8A92A6"/>
                    </a:solidFill>
                    <a:latin typeface="Malgun Gothic"/>
                    <a:ea typeface="Malgun Gothic"/>
                    <a:cs typeface="Malgun Gothic"/>
                  </a:rPr>
                  <a:t>의사결정 책임</a:t>
                </a:r>
              </a:p>
            </p:txBody>
          </p:sp>
        </p:grpSp>
      </p:grpSp>
      <p:grpSp>
        <p:nvGrpSpPr>
          <p:cNvPr id="62" name="Group 62"/>
          <p:cNvGrpSpPr/>
          <p:nvPr/>
        </p:nvGrpSpPr>
        <p:grpSpPr>
          <a:xfrm>
            <a:off x="10477500" y="3048000"/>
            <a:ext cx="1322132" cy="1185862"/>
            <a:chOff x="10477500" y="3048000"/>
            <a:chExt cx="1322132" cy="1185862"/>
          </a:xfrm>
        </p:grpSpPr>
        <p:sp>
          <p:nvSpPr>
            <p:cNvPr id="56" name="Line 56"/>
            <p:cNvSpPr/>
            <p:nvPr/>
          </p:nvSpPr>
          <p:spPr>
            <a:xfrm>
              <a:off x="10477500" y="3048000"/>
              <a:ext cx="9525" cy="1143000"/>
            </a:xfrm>
            <a:custGeom>
              <a:avLst/>
              <a:gdLst/>
              <a:ahLst/>
              <a:cxnLst/>
              <a:rect l="l" t="t" r="r" b="b"/>
              <a:pathLst>
                <a:path w="9525" h="1143000">
                  <a:moveTo>
                    <a:pt x="0" y="0"/>
                  </a:moveTo>
                  <a:lnTo>
                    <a:pt x="0" y="1143000"/>
                  </a:lnTo>
                </a:path>
              </a:pathLst>
            </a:custGeom>
            <a:noFill/>
            <a:ln w="19050">
              <a:solidFill>
                <a:srgbClr val="E63946"/>
              </a:solidFill>
            </a:ln>
          </p:spPr>
        </p:sp>
        <p:sp>
          <p:nvSpPr>
            <p:cNvPr id="57" name="TextBox 57"/>
            <p:cNvSpPr txBox="1"/>
            <p:nvPr/>
          </p:nvSpPr>
          <p:spPr>
            <a:xfrm>
              <a:off x="10600372" y="3149441"/>
              <a:ext cx="337245" cy="167640"/>
            </a:xfrm>
            <a:prstGeom prst="rect">
              <a:avLst/>
            </a:prstGeom>
            <a:noFill/>
            <a:ln>
              <a:noFill/>
            </a:ln>
          </p:spPr>
          <p:txBody>
            <a:bodyPr wrap="none" lIns="0" tIns="0" rIns="0" bIns="0" anchor="t" anchorCtr="0">
              <a:spAutoFit/>
            </a:bodyPr>
            <a:lstStyle/>
            <a:p>
              <a:pPr algn="l"/>
              <a:r>
                <a:rPr lang="en-US" sz="1200" b="1" dirty="0">
                  <a:solidFill>
                    <a:srgbClr val="E63946"/>
                  </a:solidFill>
                  <a:latin typeface="Malgun Gothic"/>
                  <a:ea typeface="Malgun Gothic"/>
                  <a:cs typeface="Malgun Gothic"/>
                </a:rPr>
                <a:t>SHIFT</a:t>
              </a:r>
            </a:p>
          </p:txBody>
        </p:sp>
        <p:sp>
          <p:nvSpPr>
            <p:cNvPr id="58" name="TextBox 58"/>
            <p:cNvSpPr txBox="1"/>
            <p:nvPr/>
          </p:nvSpPr>
          <p:spPr>
            <a:xfrm>
              <a:off x="10597515" y="3391852"/>
              <a:ext cx="880077" cy="213360"/>
            </a:xfrm>
            <a:prstGeom prst="rect">
              <a:avLst/>
            </a:prstGeom>
            <a:noFill/>
            <a:ln>
              <a:noFill/>
            </a:ln>
          </p:spPr>
          <p:txBody>
            <a:bodyPr wrap="none" lIns="0" tIns="0" rIns="0" bIns="0" anchor="t" anchorCtr="0">
              <a:spAutoFit/>
            </a:bodyPr>
            <a:lstStyle/>
            <a:p>
              <a:pPr algn="l"/>
              <a:r>
                <a:rPr lang="ko-KR" sz="1200" b="1" dirty="0">
                  <a:solidFill>
                    <a:srgbClr val="F2F4F8"/>
                  </a:solidFill>
                  <a:latin typeface="Malgun Gothic"/>
                  <a:ea typeface="Malgun Gothic"/>
                  <a:cs typeface="Malgun Gothic"/>
                </a:rPr>
                <a:t>코드를 쓰는</a:t>
              </a:r>
            </a:p>
          </p:txBody>
        </p:sp>
        <p:sp>
          <p:nvSpPr>
            <p:cNvPr id="59" name="TextBox 59"/>
            <p:cNvSpPr txBox="1"/>
            <p:nvPr/>
          </p:nvSpPr>
          <p:spPr>
            <a:xfrm>
              <a:off x="10597515" y="3582352"/>
              <a:ext cx="670750" cy="213360"/>
            </a:xfrm>
            <a:prstGeom prst="rect">
              <a:avLst/>
            </a:prstGeom>
            <a:noFill/>
            <a:ln>
              <a:noFill/>
            </a:ln>
          </p:spPr>
          <p:txBody>
            <a:bodyPr wrap="none" lIns="0" tIns="0" rIns="0" bIns="0" anchor="t" anchorCtr="0">
              <a:spAutoFit/>
            </a:bodyPr>
            <a:lstStyle/>
            <a:p>
              <a:pPr algn="l"/>
              <a:r>
                <a:rPr lang="ko-KR" sz="1200" b="1" dirty="0">
                  <a:solidFill>
                    <a:srgbClr val="F2F4F8"/>
                  </a:solidFill>
                  <a:latin typeface="Malgun Gothic"/>
                  <a:ea typeface="Malgun Gothic"/>
                  <a:cs typeface="Malgun Gothic"/>
                </a:rPr>
                <a:t>사람에서</a:t>
              </a:r>
            </a:p>
          </p:txBody>
        </p:sp>
        <p:sp>
          <p:nvSpPr>
            <p:cNvPr id="60" name="TextBox 60"/>
            <p:cNvSpPr txBox="1"/>
            <p:nvPr/>
          </p:nvSpPr>
          <p:spPr>
            <a:xfrm>
              <a:off x="10597515" y="3830002"/>
              <a:ext cx="1202117" cy="213360"/>
            </a:xfrm>
            <a:prstGeom prst="rect">
              <a:avLst/>
            </a:prstGeom>
            <a:noFill/>
            <a:ln>
              <a:noFill/>
            </a:ln>
          </p:spPr>
          <p:txBody>
            <a:bodyPr wrap="none" lIns="0" tIns="0" rIns="0" bIns="0" anchor="t" anchorCtr="0">
              <a:spAutoFit/>
            </a:bodyPr>
            <a:lstStyle/>
            <a:p>
              <a:pPr algn="l"/>
              <a:r>
                <a:rPr lang="ko-KR" sz="1200" b="1" dirty="0">
                  <a:solidFill>
                    <a:srgbClr val="F4A261"/>
                  </a:solidFill>
                  <a:latin typeface="Nanum Myeongjo"/>
                  <a:ea typeface="Nanum Myeongjo"/>
                  <a:cs typeface="Nanum Myeongjo"/>
                </a:rPr>
                <a:t>코드를 설계하는</a:t>
              </a:r>
            </a:p>
          </p:txBody>
        </p:sp>
        <p:sp>
          <p:nvSpPr>
            <p:cNvPr id="61" name="TextBox 61"/>
            <p:cNvSpPr txBox="1"/>
            <p:nvPr/>
          </p:nvSpPr>
          <p:spPr>
            <a:xfrm>
              <a:off x="10597515" y="4020502"/>
              <a:ext cx="759312" cy="213360"/>
            </a:xfrm>
            <a:prstGeom prst="rect">
              <a:avLst/>
            </a:prstGeom>
            <a:noFill/>
            <a:ln>
              <a:noFill/>
            </a:ln>
          </p:spPr>
          <p:txBody>
            <a:bodyPr wrap="none" lIns="0" tIns="0" rIns="0" bIns="0" anchor="t" anchorCtr="0">
              <a:spAutoFit/>
            </a:bodyPr>
            <a:lstStyle/>
            <a:p>
              <a:pPr algn="l"/>
              <a:r>
                <a:rPr lang="ko-KR" sz="1200" b="1" dirty="0">
                  <a:solidFill>
                    <a:srgbClr val="F4A261"/>
                  </a:solidFill>
                  <a:latin typeface="Nanum Myeongjo"/>
                  <a:ea typeface="Nanum Myeongjo"/>
                  <a:cs typeface="Nanum Myeongjo"/>
                </a:rPr>
                <a:t>사람으로.</a:t>
              </a:r>
            </a:p>
          </p:txBody>
        </p:sp>
      </p:grpSp>
      <p:grpSp>
        <p:nvGrpSpPr>
          <p:cNvPr id="66" name="Group 66"/>
          <p:cNvGrpSpPr/>
          <p:nvPr/>
        </p:nvGrpSpPr>
        <p:grpSpPr>
          <a:xfrm>
            <a:off x="560070" y="6553200"/>
            <a:ext cx="11071859" cy="276225"/>
            <a:chOff x="560070" y="6553200"/>
            <a:chExt cx="11071859" cy="276225"/>
          </a:xfrm>
        </p:grpSpPr>
        <p:sp>
          <p:nvSpPr>
            <p:cNvPr id="63" name="Line 63"/>
            <p:cNvSpPr/>
            <p:nvPr/>
          </p:nvSpPr>
          <p:spPr>
            <a:xfrm>
              <a:off x="571500" y="6553200"/>
              <a:ext cx="11049000" cy="9525"/>
            </a:xfrm>
            <a:custGeom>
              <a:avLst/>
              <a:gdLst/>
              <a:ahLst/>
              <a:cxnLst/>
              <a:rect l="l" t="t" r="r" b="b"/>
              <a:pathLst>
                <a:path w="11049000" h="9525">
                  <a:moveTo>
                    <a:pt x="0" y="0"/>
                  </a:moveTo>
                  <a:lnTo>
                    <a:pt x="11049000" y="0"/>
                  </a:lnTo>
                </a:path>
              </a:pathLst>
            </a:custGeom>
            <a:noFill/>
            <a:ln w="9525">
              <a:solidFill>
                <a:srgbClr val="2A2F3A"/>
              </a:solidFill>
            </a:ln>
          </p:spPr>
        </p:sp>
        <p:sp>
          <p:nvSpPr>
            <p:cNvPr id="64" name="TextBox 64"/>
            <p:cNvSpPr txBox="1"/>
            <p:nvPr/>
          </p:nvSpPr>
          <p:spPr>
            <a:xfrm>
              <a:off x="560070" y="6646545"/>
              <a:ext cx="1376743" cy="182880"/>
            </a:xfrm>
            <a:prstGeom prst="rect">
              <a:avLst/>
            </a:prstGeom>
            <a:noFill/>
            <a:ln>
              <a:noFill/>
            </a:ln>
          </p:spPr>
          <p:txBody>
            <a:bodyPr wrap="none" lIns="0" tIns="0" rIns="0" bIns="0" anchor="t" anchorCtr="0">
              <a:spAutoFit/>
            </a:bodyPr>
            <a:lstStyle/>
            <a:p>
              <a:pPr algn="l"/>
              <a:r>
                <a:rPr lang="ko-KR" sz="1200" dirty="0">
                  <a:solidFill>
                    <a:srgbClr val="8A92A6"/>
                  </a:solidFill>
                  <a:latin typeface="Malgun Gothic"/>
                  <a:ea typeface="Malgun Gothic"/>
                  <a:cs typeface="Malgun Gothic"/>
                </a:rPr>
                <a:t>개발자의 종말: AI 시대</a:t>
              </a:r>
            </a:p>
          </p:txBody>
        </p:sp>
        <p:sp>
          <p:nvSpPr>
            <p:cNvPr id="65" name="TextBox 65"/>
            <p:cNvSpPr txBox="1"/>
            <p:nvPr/>
          </p:nvSpPr>
          <p:spPr>
            <a:xfrm>
              <a:off x="9992296" y="6646545"/>
              <a:ext cx="1639633" cy="182880"/>
            </a:xfrm>
            <a:prstGeom prst="rect">
              <a:avLst/>
            </a:prstGeom>
            <a:noFill/>
            <a:ln>
              <a:noFill/>
            </a:ln>
          </p:spPr>
          <p:txBody>
            <a:bodyPr wrap="none" lIns="0" tIns="0" rIns="0" bIns="0" anchor="t" anchorCtr="0">
              <a:spAutoFit/>
            </a:bodyPr>
            <a:lstStyle/>
            <a:p>
              <a:pPr algn="r"/>
              <a:r>
                <a:rPr lang="en-US" sz="1200" dirty="0">
                  <a:solidFill>
                    <a:srgbClr val="8A92A6"/>
                  </a:solidFill>
                  <a:latin typeface="Malgun Gothic"/>
                  <a:ea typeface="Malgun Gothic"/>
                  <a:cs typeface="Malgun Gothic"/>
                </a:rPr>
                <a:t>Chapter 5 · Call to Action</a:t>
              </a:r>
            </a:p>
          </p:txBody>
        </p:sp>
      </p:grpSp>
    </p:spTree>
  </p:cSld>
  <p:clrMapOvr>
    <a:masterClrMapping/>
  </p:clrMapOvr>
  <p:transition xmlns:p14="http://schemas.microsoft.com/office/powerpoint/2010/main" p14:dur="5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B0D12"/>
          </a:solidFill>
          <a:ln>
            <a:noFill/>
          </a:ln>
        </p:spPr>
      </p:sp>
      <p:sp>
        <p:nvSpPr>
          <p:cNvPr id="3" name="Rectangle 3"/>
          <p:cNvSpPr/>
          <p:nvPr/>
        </p:nvSpPr>
        <p:spPr>
          <a:xfrm>
            <a:off x="0" y="0"/>
            <a:ext cx="12192000" cy="6858000"/>
          </a:xfrm>
          <a:prstGeom prst="rect">
            <a:avLst/>
          </a:prstGeom>
          <a:solidFill>
            <a:srgbClr val="2A0A12">
              <a:alpha val="35000"/>
            </a:srgbClr>
          </a:solidFill>
          <a:ln>
            <a:noFill/>
          </a:ln>
        </p:spPr>
      </p:sp>
      <p:sp>
        <p:nvSpPr>
          <p:cNvPr id="4" name="Rectangle 4"/>
          <p:cNvSpPr/>
          <p:nvPr/>
        </p:nvSpPr>
        <p:spPr>
          <a:xfrm>
            <a:off x="0" y="5143500"/>
            <a:ext cx="12192000" cy="1714500"/>
          </a:xfrm>
          <a:prstGeom prst="rect">
            <a:avLst/>
          </a:prstGeom>
          <a:solidFill>
            <a:srgbClr val="E63946">
              <a:alpha val="8000"/>
            </a:srgbClr>
          </a:solidFill>
          <a:ln>
            <a:noFill/>
          </a:ln>
        </p:spPr>
      </p:sp>
      <p:sp>
        <p:nvSpPr>
          <p:cNvPr id="5" name="Rectangle 5"/>
          <p:cNvSpPr/>
          <p:nvPr/>
        </p:nvSpPr>
        <p:spPr>
          <a:xfrm>
            <a:off x="0" y="0"/>
            <a:ext cx="12192000" cy="1143000"/>
          </a:xfrm>
          <a:prstGeom prst="rect">
            <a:avLst/>
          </a:prstGeom>
          <a:solidFill>
            <a:srgbClr val="0B0D12">
              <a:alpha val="60000"/>
            </a:srgbClr>
          </a:solidFill>
          <a:ln>
            <a:noFill/>
          </a:ln>
        </p:spPr>
      </p:sp>
      <p:sp>
        <p:nvSpPr>
          <p:cNvPr id="6" name="Line 6"/>
          <p:cNvSpPr/>
          <p:nvPr/>
        </p:nvSpPr>
        <p:spPr>
          <a:xfrm>
            <a:off x="762000" y="762000"/>
            <a:ext cx="1524000" cy="9525"/>
          </a:xfrm>
          <a:custGeom>
            <a:avLst/>
            <a:gdLst/>
            <a:ahLst/>
            <a:cxnLst/>
            <a:rect l="l" t="t" r="r" b="b"/>
            <a:pathLst>
              <a:path w="1524000" h="9525">
                <a:moveTo>
                  <a:pt x="0" y="0"/>
                </a:moveTo>
                <a:lnTo>
                  <a:pt x="1524000" y="0"/>
                </a:lnTo>
              </a:path>
            </a:pathLst>
          </a:custGeom>
          <a:noFill/>
          <a:ln w="19050">
            <a:solidFill>
              <a:srgbClr val="E63946"/>
            </a:solidFill>
          </a:ln>
        </p:spPr>
      </p:sp>
      <p:sp>
        <p:nvSpPr>
          <p:cNvPr id="7" name="TextBox 7"/>
          <p:cNvSpPr txBox="1"/>
          <p:nvPr/>
        </p:nvSpPr>
        <p:spPr>
          <a:xfrm>
            <a:off x="2463165" y="705802"/>
            <a:ext cx="2337309" cy="213360"/>
          </a:xfrm>
          <a:prstGeom prst="rect">
            <a:avLst/>
          </a:prstGeom>
          <a:noFill/>
          <a:ln>
            <a:noFill/>
          </a:ln>
        </p:spPr>
        <p:txBody>
          <a:bodyPr wrap="none" lIns="0" tIns="0" rIns="0" bIns="0" anchor="t" anchorCtr="0">
            <a:spAutoFit/>
          </a:bodyPr>
          <a:lstStyle/>
          <a:p>
            <a:pPr algn="l"/>
            <a:r>
              <a:rPr lang="en-US" sz="1200" b="1" dirty="0">
                <a:solidFill>
                  <a:srgbClr val="8A92A6"/>
                </a:solidFill>
                <a:latin typeface="Malgun Gothic"/>
                <a:ea typeface="Malgun Gothic"/>
                <a:cs typeface="Malgun Gothic"/>
              </a:rPr>
              <a:t>CHAPTER 09 — THE DECLARATION</a:t>
            </a:r>
          </a:p>
        </p:txBody>
      </p:sp>
      <p:sp>
        <p:nvSpPr>
          <p:cNvPr id="8" name="Line 8"/>
          <p:cNvSpPr/>
          <p:nvPr/>
        </p:nvSpPr>
        <p:spPr>
          <a:xfrm>
            <a:off x="762000" y="1714500"/>
            <a:ext cx="9525" cy="4191000"/>
          </a:xfrm>
          <a:custGeom>
            <a:avLst/>
            <a:gdLst/>
            <a:ahLst/>
            <a:cxnLst/>
            <a:rect l="l" t="t" r="r" b="b"/>
            <a:pathLst>
              <a:path w="9525" h="4191000">
                <a:moveTo>
                  <a:pt x="0" y="0"/>
                </a:moveTo>
                <a:lnTo>
                  <a:pt x="0" y="4191000"/>
                </a:lnTo>
              </a:path>
            </a:pathLst>
          </a:custGeom>
          <a:noFill/>
          <a:ln w="9525">
            <a:solidFill>
              <a:srgbClr val="2A2F3A"/>
            </a:solidFill>
          </a:ln>
        </p:spPr>
      </p:sp>
      <p:sp>
        <p:nvSpPr>
          <p:cNvPr id="9" name="Line 9"/>
          <p:cNvSpPr/>
          <p:nvPr/>
        </p:nvSpPr>
        <p:spPr>
          <a:xfrm>
            <a:off x="762000" y="1714500"/>
            <a:ext cx="9525" cy="952500"/>
          </a:xfrm>
          <a:custGeom>
            <a:avLst/>
            <a:gdLst/>
            <a:ahLst/>
            <a:cxnLst/>
            <a:rect l="l" t="t" r="r" b="b"/>
            <a:pathLst>
              <a:path w="9525" h="952500">
                <a:moveTo>
                  <a:pt x="0" y="0"/>
                </a:moveTo>
                <a:lnTo>
                  <a:pt x="0" y="952500"/>
                </a:lnTo>
              </a:path>
            </a:pathLst>
          </a:custGeom>
          <a:noFill/>
          <a:ln w="19050">
            <a:solidFill>
              <a:srgbClr val="E63946"/>
            </a:solidFill>
          </a:ln>
        </p:spPr>
      </p:sp>
      <p:sp>
        <p:nvSpPr>
          <p:cNvPr id="10" name="TextBox 10"/>
          <p:cNvSpPr txBox="1"/>
          <p:nvPr/>
        </p:nvSpPr>
        <p:spPr>
          <a:xfrm>
            <a:off x="5671661" y="1743075"/>
            <a:ext cx="848678" cy="304800"/>
          </a:xfrm>
          <a:prstGeom prst="rect">
            <a:avLst/>
          </a:prstGeom>
          <a:noFill/>
          <a:ln>
            <a:noFill/>
          </a:ln>
        </p:spPr>
        <p:txBody>
          <a:bodyPr wrap="none" lIns="0" tIns="0" rIns="0" bIns="0" anchor="t" anchorCtr="0">
            <a:spAutoFit/>
          </a:bodyPr>
          <a:lstStyle/>
          <a:p>
            <a:pPr algn="ctr"/>
            <a:r>
              <a:rPr lang="ko-KR" sz="1500" dirty="0">
                <a:solidFill>
                  <a:srgbClr val="F4A261"/>
                </a:solidFill>
                <a:latin typeface="Nanum Myeongjo"/>
                <a:ea typeface="Nanum Myeongjo"/>
                <a:cs typeface="Nanum Myeongjo"/>
              </a:rPr>
              <a:t>— 선언 —</a:t>
            </a:r>
          </a:p>
        </p:txBody>
      </p:sp>
      <p:sp>
        <p:nvSpPr>
          <p:cNvPr id="11" name="TextBox 11"/>
          <p:cNvSpPr txBox="1"/>
          <p:nvPr/>
        </p:nvSpPr>
        <p:spPr>
          <a:xfrm>
            <a:off x="2707026" y="2558415"/>
            <a:ext cx="6777947" cy="1280160"/>
          </a:xfrm>
          <a:prstGeom prst="rect">
            <a:avLst/>
          </a:prstGeom>
          <a:noFill/>
          <a:ln>
            <a:noFill/>
          </a:ln>
        </p:spPr>
        <p:txBody>
          <a:bodyPr wrap="none" lIns="0" tIns="0" rIns="0" bIns="0" anchor="t" anchorCtr="0">
            <a:spAutoFit/>
          </a:bodyPr>
          <a:lstStyle/>
          <a:p>
            <a:pPr algn="ctr"/>
            <a:r>
              <a:rPr lang="ko-KR" sz="6300" b="1" dirty="0">
                <a:solidFill>
                  <a:srgbClr val="F2F4F8"/>
                </a:solidFill>
                <a:latin typeface="Malgun Gothic"/>
                <a:ea typeface="Malgun Gothic"/>
                <a:cs typeface="Malgun Gothic"/>
              </a:rPr>
              <a:t xml:space="preserve">코더는 </a:t>
            </a:r>
            <a:r>
              <a:rPr lang="ko-KR" sz="6300" b="1" dirty="0">
                <a:solidFill>
                  <a:srgbClr val="E63946"/>
                </a:solidFill>
                <a:latin typeface="Malgun Gothic"/>
                <a:ea typeface="Malgun Gothic"/>
                <a:cs typeface="Malgun Gothic"/>
              </a:rPr>
              <a:t>끝났다.</a:t>
            </a:r>
          </a:p>
        </p:txBody>
      </p:sp>
      <p:sp>
        <p:nvSpPr>
          <p:cNvPr id="12" name="TextBox 12"/>
          <p:cNvSpPr txBox="1"/>
          <p:nvPr/>
        </p:nvSpPr>
        <p:spPr>
          <a:xfrm>
            <a:off x="1257845" y="3510915"/>
            <a:ext cx="9676309" cy="1280160"/>
          </a:xfrm>
          <a:prstGeom prst="rect">
            <a:avLst/>
          </a:prstGeom>
          <a:noFill/>
          <a:ln>
            <a:noFill/>
          </a:ln>
        </p:spPr>
        <p:txBody>
          <a:bodyPr wrap="none" lIns="0" tIns="0" rIns="0" bIns="0" anchor="t" anchorCtr="0">
            <a:spAutoFit/>
          </a:bodyPr>
          <a:lstStyle/>
          <a:p>
            <a:pPr algn="ctr"/>
            <a:r>
              <a:rPr lang="ko-KR" sz="6300" b="1" dirty="0">
                <a:solidFill>
                  <a:srgbClr val="F2F4F8"/>
                </a:solidFill>
                <a:latin typeface="Malgun Gothic"/>
                <a:ea typeface="Malgun Gothic"/>
                <a:cs typeface="Malgun Gothic"/>
              </a:rPr>
              <a:t xml:space="preserve">엔지니어는 </a:t>
            </a:r>
            <a:r>
              <a:rPr lang="ko-KR" sz="6300" b="1" dirty="0">
                <a:solidFill>
                  <a:srgbClr val="4CC9F0"/>
                </a:solidFill>
                <a:latin typeface="Malgun Gothic"/>
                <a:ea typeface="Malgun Gothic"/>
                <a:cs typeface="Malgun Gothic"/>
              </a:rPr>
              <a:t>시작이다.</a:t>
            </a:r>
          </a:p>
        </p:txBody>
      </p:sp>
      <p:sp>
        <p:nvSpPr>
          <p:cNvPr id="13" name="Line 13"/>
          <p:cNvSpPr/>
          <p:nvPr/>
        </p:nvSpPr>
        <p:spPr>
          <a:xfrm>
            <a:off x="5143500" y="4667250"/>
            <a:ext cx="1905000" cy="9525"/>
          </a:xfrm>
          <a:custGeom>
            <a:avLst/>
            <a:gdLst/>
            <a:ahLst/>
            <a:cxnLst/>
            <a:rect l="l" t="t" r="r" b="b"/>
            <a:pathLst>
              <a:path w="1905000" h="9525">
                <a:moveTo>
                  <a:pt x="0" y="0"/>
                </a:moveTo>
                <a:lnTo>
                  <a:pt x="1905000" y="0"/>
                </a:lnTo>
              </a:path>
            </a:pathLst>
          </a:custGeom>
          <a:noFill/>
          <a:ln w="9525">
            <a:solidFill>
              <a:srgbClr val="2A2F3A"/>
            </a:solidFill>
          </a:ln>
        </p:spPr>
      </p:sp>
      <p:sp>
        <p:nvSpPr>
          <p:cNvPr id="14" name="Rectangle 14"/>
          <p:cNvSpPr/>
          <p:nvPr/>
        </p:nvSpPr>
        <p:spPr>
          <a:xfrm>
            <a:off x="6048375" y="4629150"/>
            <a:ext cx="95250" cy="76200"/>
          </a:xfrm>
          <a:prstGeom prst="rect">
            <a:avLst/>
          </a:prstGeom>
          <a:solidFill>
            <a:srgbClr val="E63946"/>
          </a:solidFill>
          <a:ln>
            <a:noFill/>
          </a:ln>
        </p:spPr>
      </p:sp>
      <p:sp>
        <p:nvSpPr>
          <p:cNvPr id="15" name="TextBox 15"/>
          <p:cNvSpPr txBox="1"/>
          <p:nvPr/>
        </p:nvSpPr>
        <p:spPr>
          <a:xfrm>
            <a:off x="3116461" y="5009198"/>
            <a:ext cx="5959078" cy="396240"/>
          </a:xfrm>
          <a:prstGeom prst="rect">
            <a:avLst/>
          </a:prstGeom>
          <a:noFill/>
          <a:ln>
            <a:noFill/>
          </a:ln>
        </p:spPr>
        <p:txBody>
          <a:bodyPr wrap="none" lIns="0" tIns="0" rIns="0" bIns="0" anchor="t" anchorCtr="0">
            <a:spAutoFit/>
          </a:bodyPr>
          <a:lstStyle/>
          <a:p>
            <a:pPr algn="ctr"/>
            <a:r>
              <a:rPr lang="ko-KR" sz="1950" dirty="0">
                <a:solidFill>
                  <a:srgbClr val="F2F4F8"/>
                </a:solidFill>
                <a:latin typeface="Malgun Gothic"/>
                <a:ea typeface="Malgun Gothic"/>
                <a:cs typeface="Malgun Gothic"/>
              </a:rPr>
              <a:t>AI는 도구다. 도구를 쥔 손이 누구의 것인가는,</a:t>
            </a:r>
          </a:p>
        </p:txBody>
      </p:sp>
      <p:sp>
        <p:nvSpPr>
          <p:cNvPr id="16" name="TextBox 16"/>
          <p:cNvSpPr txBox="1"/>
          <p:nvPr/>
        </p:nvSpPr>
        <p:spPr>
          <a:xfrm>
            <a:off x="4553620" y="5390198"/>
            <a:ext cx="3084759" cy="396240"/>
          </a:xfrm>
          <a:prstGeom prst="rect">
            <a:avLst/>
          </a:prstGeom>
          <a:noFill/>
          <a:ln>
            <a:noFill/>
          </a:ln>
        </p:spPr>
        <p:txBody>
          <a:bodyPr wrap="none" lIns="0" tIns="0" rIns="0" bIns="0" anchor="t" anchorCtr="0">
            <a:spAutoFit/>
          </a:bodyPr>
          <a:lstStyle/>
          <a:p>
            <a:pPr algn="ctr"/>
            <a:r>
              <a:rPr lang="ko-KR" sz="1950" b="1" dirty="0">
                <a:solidFill>
                  <a:srgbClr val="F4A261"/>
                </a:solidFill>
                <a:latin typeface="Malgun Gothic"/>
                <a:ea typeface="Malgun Gothic"/>
                <a:cs typeface="Malgun Gothic"/>
              </a:rPr>
              <a:t>여전히 당신이 정한다.</a:t>
            </a:r>
          </a:p>
        </p:txBody>
      </p:sp>
      <p:sp>
        <p:nvSpPr>
          <p:cNvPr id="17" name="Line 17"/>
          <p:cNvSpPr/>
          <p:nvPr/>
        </p:nvSpPr>
        <p:spPr>
          <a:xfrm>
            <a:off x="5143500" y="6191250"/>
            <a:ext cx="571500" cy="9525"/>
          </a:xfrm>
          <a:custGeom>
            <a:avLst/>
            <a:gdLst/>
            <a:ahLst/>
            <a:cxnLst/>
            <a:rect l="l" t="t" r="r" b="b"/>
            <a:pathLst>
              <a:path w="571500" h="9525">
                <a:moveTo>
                  <a:pt x="0" y="0"/>
                </a:moveTo>
                <a:lnTo>
                  <a:pt x="571500" y="0"/>
                </a:lnTo>
              </a:path>
            </a:pathLst>
          </a:custGeom>
          <a:noFill/>
          <a:ln w="9525">
            <a:solidFill>
              <a:srgbClr val="8A92A6">
                <a:alpha val="60000"/>
              </a:srgbClr>
            </a:solidFill>
          </a:ln>
        </p:spPr>
      </p:sp>
      <p:sp>
        <p:nvSpPr>
          <p:cNvPr id="18" name="TextBox 18"/>
          <p:cNvSpPr txBox="1"/>
          <p:nvPr/>
        </p:nvSpPr>
        <p:spPr>
          <a:xfrm>
            <a:off x="5152774" y="6125528"/>
            <a:ext cx="1886452" cy="213360"/>
          </a:xfrm>
          <a:prstGeom prst="rect">
            <a:avLst/>
          </a:prstGeom>
          <a:noFill/>
          <a:ln>
            <a:noFill/>
          </a:ln>
        </p:spPr>
        <p:txBody>
          <a:bodyPr wrap="none" lIns="0" tIns="0" rIns="0" bIns="0" anchor="t" anchorCtr="0">
            <a:spAutoFit/>
          </a:bodyPr>
          <a:lstStyle/>
          <a:p>
            <a:pPr algn="ctr"/>
            <a:r>
              <a:rPr lang="en-US" sz="1200" b="1" dirty="0">
                <a:solidFill>
                  <a:srgbClr val="8A92A6"/>
                </a:solidFill>
                <a:latin typeface="Malgun Gothic"/>
                <a:ea typeface="Malgun Gothic"/>
                <a:cs typeface="Malgun Gothic"/>
              </a:rPr>
              <a:t>2025 · AI ERA MANIFESTO</a:t>
            </a:r>
          </a:p>
        </p:txBody>
      </p:sp>
      <p:sp>
        <p:nvSpPr>
          <p:cNvPr id="19" name="Line 19"/>
          <p:cNvSpPr/>
          <p:nvPr/>
        </p:nvSpPr>
        <p:spPr>
          <a:xfrm>
            <a:off x="6477000" y="6191250"/>
            <a:ext cx="571500" cy="9525"/>
          </a:xfrm>
          <a:custGeom>
            <a:avLst/>
            <a:gdLst/>
            <a:ahLst/>
            <a:cxnLst/>
            <a:rect l="l" t="t" r="r" b="b"/>
            <a:pathLst>
              <a:path w="571500" h="9525">
                <a:moveTo>
                  <a:pt x="0" y="0"/>
                </a:moveTo>
                <a:lnTo>
                  <a:pt x="571500" y="0"/>
                </a:lnTo>
              </a:path>
            </a:pathLst>
          </a:custGeom>
          <a:noFill/>
          <a:ln w="9525">
            <a:solidFill>
              <a:srgbClr val="8A92A6">
                <a:alpha val="60000"/>
              </a:srgbClr>
            </a:solidFill>
          </a:ln>
        </p:spPr>
      </p:sp>
      <p:sp>
        <p:nvSpPr>
          <p:cNvPr id="20" name="TextBox 20"/>
          <p:cNvSpPr txBox="1"/>
          <p:nvPr/>
        </p:nvSpPr>
        <p:spPr>
          <a:xfrm>
            <a:off x="11011090" y="6475095"/>
            <a:ext cx="430340" cy="182880"/>
          </a:xfrm>
          <a:prstGeom prst="rect">
            <a:avLst/>
          </a:prstGeom>
          <a:noFill/>
          <a:ln>
            <a:noFill/>
          </a:ln>
        </p:spPr>
        <p:txBody>
          <a:bodyPr wrap="none" lIns="0" tIns="0" rIns="0" bIns="0" anchor="t" anchorCtr="0">
            <a:spAutoFit/>
          </a:bodyPr>
          <a:lstStyle/>
          <a:p>
            <a:pPr algn="r"/>
            <a:r>
              <a:rPr lang="en-US" sz="1200" dirty="0">
                <a:solidFill>
                  <a:srgbClr val="8A92A6"/>
                </a:solidFill>
                <a:latin typeface="Malgun Gothic"/>
                <a:ea typeface="Malgun Gothic"/>
                <a:cs typeface="Malgun Gothic"/>
              </a:rPr>
              <a:t>09 / 10</a:t>
            </a:r>
          </a:p>
        </p:txBody>
      </p:sp>
    </p:spTree>
  </p:cSld>
  <p:clrMapOvr>
    <a:masterClrMapping/>
  </p:clrMapOvr>
  <p:transition xmlns:p14="http://schemas.microsoft.com/office/powerpoint/2010/main" p14:dur="5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_10"/>
          <p:cNvSpPr txBox="1"/>
          <p:nvPr/>
        </p:nvSpPr>
        <p:spPr>
          <a:xfrm>
            <a:off x="914400" y="2286000"/>
            <a:ext cx="10363200" cy="2286000"/>
          </a:xfrm>
          <a:prstGeom prst="rect">
            <a:avLst/>
          </a:prstGeom>
        </p:spPr>
        <p:txBody>
          <a:bodyPr wrap="square" anchor="ctr"/>
          <a:lstStyle/>
          <a:p>
            <a:pPr algn="ctr"/>
            <a:r>
              <a:rPr lang="ko-KR" sz="2800" b="1">
                <a:latin typeface="Malgun Gothic"/>
                <a:ea typeface="Malgun Gothic"/>
              </a:rPr>
              <a:t>슬라이드 10 렌더링 실패</a:t>
            </a:r>
          </a:p>
          <a:p>
            <a:pPr algn="ctr"/>
            <a:r>
              <a:rPr lang="en-US" sz="1400">
                <a:latin typeface="Malgun Gothic"/>
                <a:ea typeface="Malgun Gothic"/>
              </a:rPr>
              <a:t>Slide 10 could not be rendered.</a:t>
            </a:r>
          </a:p>
          <a:p>
            <a:pPr algn="ctr"/>
            <a:r>
              <a:rPr lang="en-US" sz="900" i="0">
                <a:latin typeface="Consolas"/>
              </a:rPr>
              <a:t>Failed to convert &lt;image&gt;: External image not found: 10_closing.png</a:t>
            </a:r>
          </a:p>
        </p:txBody>
      </p:sp>
    </p:spTree>
  </p:cSld>
  <p:clrMapOvr>
    <a:masterClrMapping/>
  </p:clrMapOvr>
  <p:transition xmlns:p14="http://schemas.microsoft.com/office/powerpoint/2010/main" p14:dur="5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