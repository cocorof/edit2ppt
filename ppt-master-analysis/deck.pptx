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01_커버</a:t>
            </a:r>
          </a:p>
          <a:p>
            <a:endParaRPr lang="ko-KR" dirty="0"/>
          </a:p>
          <a:p>
            <a:r>
              <a:rPr lang="ko-KR" dirty="0"/>
              <a:t>안녕하십니까. 오늘 저는 조금은 무거운 제목으로 여러분 앞에 섰습니다. "개발자의 종말." 자극적인 단어처럼 들리실 겁니다. 하지만 이것은 비관이 아니라, 우리가 지금 서 있는 변곡점에 대한 정직한 이름표입니다. 앞으로 약 이십 분 동안, AI가 우리의 직업을 어떻게 다시 쓰고 있는지, 그리고 그 안에서 우리는 무엇이 되어야 하는지를 함께 살펴보겠습니다.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02_현실_직시</a:t>
            </a:r>
          </a:p>
          <a:p>
            <a:endParaRPr lang="ko-KR" dirty="0"/>
          </a:p>
          <a:p>
            <a:r>
              <a:rPr lang="ko-KR" dirty="0"/>
              <a:t>여러분, 잠시 호흡을 가다듬어 주십시오. 지금 화면에 있는 문장 하나만 함께 읽어보겠습니다. 당신이 작성하던 코드를, 이제 AI가 작성합니다. 이것은 미래의 예측이 아닙니다. 어제 이미 일어난 일이고, 지금 이 순간에도 전 세계 수백만 개의 코드 라인이 사람이 아닌 모델의 손에서 태어나고 있습니다. 잠깐의 침묵이 무겁게 느껴지신다면, 그것이 바로 우리가 마주해야 할 현실입니다.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03_10년_전_vs_지금</a:t>
            </a:r>
          </a:p>
          <a:p>
            <a:endParaRPr lang="ko-KR" dirty="0"/>
          </a:p>
          <a:p>
            <a:r>
              <a:rPr lang="ko-KR" dirty="0"/>
              <a:t>같은 직무인데, 풍경은 완전히 달라졌습니다. 십 년 전 우리의 하루는 검색과 인내였습니다. 스택 오버플로 탭을 스무 개씩 띄워 두고 답을 찾고, API 문서를 한 줄씩 읽어 내려가고, print 문을 심으며 새벽 세 시까지 디버깅했고, CRUD 한 벌을 만드는 데 사나흘이 걸렸습니다. 지금은 어떻습니까. 옆자리에 24시간 깨어 있는 동료가 생겼고, 한 문장으로 함수 한 벌이 만들어지며, 레거시 파일을 통째로 던지면 다듬어져 돌아오고, 점심시간 한 번이면 아이디어가 동작하는 화면이 됩니다. 풍경이 이렇게 바뀌었다면, 그 안에서 일하는 사람의 정의도 함께 바뀌어야 한다는 뜻입니다.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04_충격적 수치</a:t>
            </a:r>
          </a:p>
          <a:p>
            <a:endParaRPr lang="ko-KR" dirty="0"/>
          </a:p>
          <a:p>
            <a:r>
              <a:rPr lang="ko-KR" dirty="0"/>
              <a:t>이제 감정이 아닌 숫자로 이야기하겠습니다. 세 개의 지표만 기억해 주십시오. 첫째, 깃허브 코파일럿을 사용하는 개발자의 코딩 속도는 평균 오십오 퍼센트 향상되었습니다. 둘째, 일부 빅테크 기업에서는 신규 커밋의 사십일 퍼센트가 이미 AI에 의해 작성되고 있습니다. 셋째, 주니어 개발자의 신규 채용 속도는 이천이십이년 정점 대비 절반으로 줄었습니다. 이 세 숫자가 가리키는 방향은 분명합니다. 흐름은 이미 시작되었고, 우리는 그 한가운데에 서 있습니다.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05_누가_가장_큰_영향을_받는가</a:t>
            </a:r>
          </a:p>
          <a:p>
            <a:endParaRPr lang="ko-KR" dirty="0"/>
          </a:p>
          <a:p>
            <a:r>
              <a:rPr lang="ko-KR" dirty="0"/>
              <a:t>앞에서 변화의 속도를 이야기했다면, 이제는 가장 민감한 질문을 마주할 차례입니다. 누가 가장 먼저, 가장 크게 영향을 받느냐는 것입니다. 결론부터 말씀드리면, 모든 개발자가 똑같이 위협받는 것은 아닙니다. 일이 패턴화되어 있을수록, 즉 반복 가능한 코드를 다룰수록 대체 위험은 가파르게 올라갑니다. 주니어 백엔드의 CRUD 작업은 영향도 팔십팔 퍼센트로 가장 위험한 영역에 들어가고, 보일러플레이트 UI 구현이 칠십육 퍼센트로 그 뒤를 잇습니다. 반면 시스템 아키텍처 설계는 사십오 퍼센트로 중간 지대에 머무르고, 도메인 전문성이나 레거시 통합처럼 암묵지와 맥락에 의존하는 일, 그리고 책임과 신뢰가 핵심인 보안과 인프라 운영은 이십 퍼센트 안팎의 안전 영역으로 남아 있습니다. 이 그림이 우리에게 알려주는 것은 분명합니다. 사라지는 것은 직업이 아니라 작업이며, 살아남는 것은 맥락을 읽고 책임을 지는 능력이라는 사실입니다.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06_워크플로우의_재구성</a:t>
            </a:r>
          </a:p>
          <a:p>
            <a:endParaRPr lang="ko-KR" dirty="0"/>
          </a:p>
          <a:p>
            <a:r>
              <a:rPr lang="ko-KR" dirty="0"/>
              <a:t>자, 그러면 두려움에서 한 걸음 떨어져 실제 일하는 방식을 들여다보겠습니다. 개발의 다섯 단계 — 요구사항 정의, AI 프롬프팅, 코드 검증, 통합, 배포 — 가운데 AI가 가장 잘하는 구간은 가운데, 즉 코드 생성입니다. 하지만 양 끝과 중심에서는 여전히 사람의 판단이 필수입니다. 특히 세 번째 단계인 코드 검증, 이것이 새로운 시대의 가장 중요한 역량입니다. AI가 만든 코드의 논리적 허점, 보안 취약점, 그리고 예측하지 못한 엣지 케이스를 잡아내는 일은 도메인 이해와 비판적 사고가 결합되어야만 가능합니다. 결국 개발자의 정체성은 코드를 짜는 사람에서, AI를 지휘하고 그 결과를 책임지는 사람으로 이동합니다.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07_사라지지_않는_것</a:t>
            </a:r>
          </a:p>
          <a:p>
            <a:endParaRPr lang="ko-KR" dirty="0"/>
          </a:p>
          <a:p>
            <a:r>
              <a:rPr lang="ko-KR" dirty="0"/>
              <a:t>자, 지금까지 위기 이야기를 길게 했습니다. 그렇다면 우리는 무엇을 붙들어야 할까요. AI가 절대로 대체할 수 없는 다섯 가지를 정리해 왔습니다. 첫째, 비즈니스 문제를 정의하는 능력입니다. AI는 주어진 문제는 잘 풀지만, 무엇이 진짜 문제인지 묻지는 못합니다. 둘째, 시스템 트레이드오프 판단입니다. 속도와 안정성, 비용과 품질 사이에서 무엇을 포기할지 결정하는 건 결국 사람의 몫입니다. 셋째, 코드 품질과 보안에 대한 책임감입니다. 새벽 세 시에 장애 알람이 울렸을 때 책임지고 일어나는 사람은 AI가 아니라 여러분입니다. 넷째, 팀 커뮤니케이션과 멘토링입니다. 신뢰라는 건 코드가 아니라 사람과 사람 사이에서 만들어집니다. 그리고 마지막 다섯째, 도메인 깊이와 컨텍스트 이해입니다. 왜 이 사업이 이런 방식으로 돌아가는지를 아는 사람이 결국 이깁니다. 이 다섯 가지가 바로 여러분이 앞으로 더 깊이 파야 할 영역입니다.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07_어디로_움직일_것인가</a:t>
            </a:r>
          </a:p>
          <a:p>
            <a:endParaRPr lang="ko-KR" dirty="0"/>
          </a:p>
          <a:p>
            <a:r>
              <a:rPr lang="ko-KR" dirty="0"/>
              <a:t>지금까지 위협을 진단했다면, 이제 좌표를 그릴 차례입니다. 이 매트릭스는 가로축에 AI 대체 가능성을, 세로축에 비즈니스 임팩트를 놓고 우리의 시간과 에너지를 어디에 투자할지 결정하는 지도입니다. 네 개의 분면 중 어디에 머무느냐가 앞으로 삼 년 뒤 여러분의 자리를 결정합니다.</a:t>
            </a:r>
          </a:p>
          <a:p>
            <a:endParaRPr lang="ko-KR" dirty="0"/>
          </a:p>
          <a:p>
            <a:r>
              <a:rPr lang="ko-KR" dirty="0"/>
              <a:t>먼저 좌상단 안전 지대를 보십시오. 시스템 아키텍처, 도메인 전문성, 기술 의사결정 — AI가 가장 어려워하는 영역이자 비즈니스 임팩트가 가장 큰 영역입니다. 이곳은 사수해야 합니다. 다음으로 우상단 활용 지대. AI 오케스트레이션, 프롬프트 엔지니어링, 평가와 검증 — 역설적으로 AI가 잘하는 영역을 잘 다루는 능력이 가장 큰 레버리지를 만듭니다. 우리가 진짜 승부를 걸어야 할 곳은 바로 여기입니다.</a:t>
            </a:r>
          </a:p>
          <a:p>
            <a:endParaRPr lang="ko-KR" dirty="0"/>
          </a:p>
          <a:p>
            <a:r>
              <a:rPr lang="ko-KR" dirty="0"/>
              <a:t>반면 좌하단 재교육 지대 — 단순 CRUD, 정형 UI, 보일러플레이트 — 는 당장은 살아남지만 가치는 빠르게 떨어집니다. 방향 전환이 시급합니다. 그리고 우하단 회피 지대 — 수동 테스트, 반복 변환, 템플릿 문서 — 는 이미 자동화의 손이 닿았습니다. 이곳에 머무르면 사라집니다.</a:t>
            </a:r>
          </a:p>
          <a:p>
            <a:endParaRPr lang="ko-KR" dirty="0"/>
          </a:p>
          <a:p>
            <a:r>
              <a:rPr lang="ko-KR" dirty="0"/>
              <a:t>기억하십시오. 좌상에서 사수하고, 우상으로 확장하고, 좌하는 재설계하고, 우하는 즉시 이탈한다 — 이것이 앞으로 우리가 가야 할 방향의 네 글자 원칙입니다.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09_action_codes</a:t>
            </a:r>
          </a:p>
          <a:p>
            <a:endParaRPr lang="ko-KR" dirty="0"/>
          </a:p>
          <a:p>
            <a:r>
              <a:rPr lang="ko-KR" dirty="0"/>
              <a:t>자, 그렇다면 우리는 무엇을 해야 할까요. 거창한 계획이 아닙니다. 월요일 아침부터 당장 실천할 수 있는 다섯 가지 행동 강령입니다.</a:t>
            </a:r>
          </a:p>
          <a:p>
            <a:endParaRPr lang="ko-KR" dirty="0"/>
          </a:p>
          <a:p>
            <a:r>
              <a:rPr lang="ko-KR" dirty="0"/>
              <a:t>첫째, AI를 도구가 아닌 동료로 대하십시오. 매일 페어 프로그래밍하듯 묻고, 반박하고, 함께 설계하는 습관을 만들어야 합니다. 둘째, 검증 능력을 키우십시오. 이제 코드를 짜는 능력보다 생성된 코드를 읽고 비판하는 힘이 여러분의 새로운 무기가 됩니다.</a:t>
            </a:r>
          </a:p>
          <a:p>
            <a:endParaRPr lang="ko-KR" dirty="0"/>
          </a:p>
          <a:p>
            <a:r>
              <a:rPr lang="ko-KR" dirty="0"/>
              <a:t>셋째, 추상화의 한 단계 위로 올라가십시오. 코드보다 시스템을, 시스템보다 문제 그 자체를 먼저 보는 시야를 가져야 합니다. 넷째, 도메인을 가지십시오. 의료든 금융이든 제조든 법률이든, 기술의 폭이 아니라 산업의 깊이가 여러분을 차별화합니다. 그리고 마지막 다섯째, 커뮤니케이션이 곧 코딩입니다. 프롬프트는 새로운 함수 시그니처이며, 문서는 새로운 컴파일러입니다. 사람과 AI 모두에게 명료하게 말하는 사람이 이 시대의 진짜 시니어입니다.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오늘의 여정을 마무리하며, 한 가지 분명히 말씀드리고 싶은 것이 있습니다. 우리가 지금까지 살펴본 모든 데이터와 사례들은, 결코 개발자라는 직업의 종말을 가리키고 있지 않습니다. 그것은 개발자라는 정체성의 재정의를 요구하고 있을 뿐입니다. AI는 코드를 작성하는 우리의 손을 대신할 수는 있지만, 무엇을 왜 만들어야 하는지 묻는 우리의 사고를 대신할 수는 없습니다. 진짜 위협은 AI가 아닙니다. 진짜 위협은, AI를 도구로 다루지 못하는 개발자가 되는 것입니다. 오늘 이 자리를 떠나실 때, 저는 여러분께 단 하나의 질문을 남기고 싶습니다. 1년 뒤의 나는, AI에게 일을 빼앗긴 개발자일까요, 아니면 AI에게 일을 시키는 개발자일까요. 그 답은 오늘 밤부터 시작되는 여러분의 선택에 달려 있습니다. 함께 진화합시다.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1628"/>
              </a:gs>
              <a:gs pos="55000">
                <a:srgbClr val="13243B"/>
              </a:gs>
              <a:gs pos="100000">
                <a:srgbClr val="1A2F4F"/>
              </a:gs>
            </a:gsLst>
            <a:lin ang="2700000" scaled="1"/>
          </a:gradFill>
          <a:ln>
            <a:noFill/>
          </a:ln>
        </p:spPr>
      </p:sp>
      <p:sp>
        <p:nvSpPr>
          <p:cNvPr id="3" name="Ellipse 3"/>
          <p:cNvSpPr/>
          <p:nvPr/>
        </p:nvSpPr>
        <p:spPr>
          <a:xfrm>
            <a:off x="-762000" y="-1333500"/>
            <a:ext cx="6096000" cy="6096000"/>
          </a:xfrm>
          <a:prstGeom prst="ellipse">
            <a:avLst/>
          </a:prstGeom>
          <a:gradFill>
            <a:gsLst>
              <a:gs pos="0">
                <a:srgbClr val="00D9FF">
                  <a:alpha val="35000"/>
                </a:srgbClr>
              </a:gs>
              <a:gs pos="60000">
                <a:srgbClr val="00D9FF">
                  <a:alpha val="8000"/>
                </a:srgbClr>
              </a:gs>
              <a:gs pos="100000">
                <a:srgbClr val="00D9FF">
                  <a:alpha val="0"/>
                </a:srgbClr>
              </a:gs>
            </a:gsLst>
            <a:path path="circle">
              <a:fillToRect l="50000" t="50000" r="50000" b="50000"/>
            </a:path>
          </a:gradFill>
          <a:ln>
            <a:noFill/>
          </a:ln>
        </p:spPr>
      </p:sp>
      <p:sp>
        <p:nvSpPr>
          <p:cNvPr id="4" name="Ellipse 4"/>
          <p:cNvSpPr/>
          <p:nvPr/>
        </p:nvSpPr>
        <p:spPr>
          <a:xfrm>
            <a:off x="7048500" y="2095500"/>
            <a:ext cx="6477000" cy="6477000"/>
          </a:xfrm>
          <a:prstGeom prst="ellipse">
            <a:avLst/>
          </a:prstGeom>
          <a:gradFill>
            <a:gsLst>
              <a:gs pos="0">
                <a:srgbClr val="FF3D5A">
                  <a:alpha val="28000"/>
                </a:srgbClr>
              </a:gs>
              <a:gs pos="60000">
                <a:srgbClr val="FF3D5A">
                  <a:alpha val="5000"/>
                </a:srgbClr>
              </a:gs>
              <a:gs pos="100000">
                <a:srgbClr val="FF3D5A">
                  <a:alpha val="0"/>
                </a:srgbClr>
              </a:gs>
            </a:gsLst>
            <a:path path="circle">
              <a:fillToRect l="50000" t="50000" r="50000" b="50000"/>
            </a:path>
          </a:gradFill>
          <a:ln>
            <a:noFill/>
          </a:ln>
        </p:spPr>
      </p:sp>
      <p:grpSp>
        <p:nvGrpSpPr>
          <p:cNvPr id="17" name="Group 17"/>
          <p:cNvGrpSpPr/>
          <p:nvPr/>
        </p:nvGrpSpPr>
        <p:grpSpPr>
          <a:xfrm>
            <a:off x="0" y="0"/>
            <a:ext cx="12192000" cy="6858000"/>
            <a:chOff x="0" y="0"/>
            <a:chExt cx="12192000" cy="6858000"/>
          </a:xfrm>
        </p:grpSpPr>
        <p:sp>
          <p:nvSpPr>
            <p:cNvPr id="5" name="Line 5"/>
            <p:cNvSpPr/>
            <p:nvPr/>
          </p:nvSpPr>
          <p:spPr>
            <a:xfrm>
              <a:off x="0" y="1143000"/>
              <a:ext cx="12192000" cy="9525"/>
            </a:xfrm>
            <a:custGeom>
              <a:avLst/>
              <a:gdLst/>
              <a:ahLst/>
              <a:cxnLst/>
              <a:rect l="l" t="t" r="r" b="b"/>
              <a:pathLst>
                <a:path w="12192000" h="9525">
                  <a:moveTo>
                    <a:pt x="0" y="0"/>
                  </a:moveTo>
                  <a:lnTo>
                    <a:pt x="12192000" y="0"/>
                  </a:lnTo>
                </a:path>
              </a:pathLst>
            </a:custGeom>
            <a:noFill/>
            <a:ln w="9525">
              <a:solidFill>
                <a:srgbClr val="00D9FF">
                  <a:alpha val="6000"/>
                </a:srgbClr>
              </a:solidFill>
            </a:ln>
          </p:spPr>
        </p:sp>
        <p:sp>
          <p:nvSpPr>
            <p:cNvPr id="6" name="Line 6"/>
            <p:cNvSpPr/>
            <p:nvPr/>
          </p:nvSpPr>
          <p:spPr>
            <a:xfrm>
              <a:off x="0" y="2286000"/>
              <a:ext cx="12192000" cy="9525"/>
            </a:xfrm>
            <a:custGeom>
              <a:avLst/>
              <a:gdLst/>
              <a:ahLst/>
              <a:cxnLst/>
              <a:rect l="l" t="t" r="r" b="b"/>
              <a:pathLst>
                <a:path w="12192000" h="9525">
                  <a:moveTo>
                    <a:pt x="0" y="0"/>
                  </a:moveTo>
                  <a:lnTo>
                    <a:pt x="12192000" y="0"/>
                  </a:lnTo>
                </a:path>
              </a:pathLst>
            </a:custGeom>
            <a:noFill/>
            <a:ln w="9525">
              <a:solidFill>
                <a:srgbClr val="00D9FF">
                  <a:alpha val="6000"/>
                </a:srgbClr>
              </a:solidFill>
            </a:ln>
          </p:spPr>
        </p:sp>
        <p:sp>
          <p:nvSpPr>
            <p:cNvPr id="7" name="Line 7"/>
            <p:cNvSpPr/>
            <p:nvPr/>
          </p:nvSpPr>
          <p:spPr>
            <a:xfrm>
              <a:off x="0" y="3429000"/>
              <a:ext cx="12192000" cy="9525"/>
            </a:xfrm>
            <a:custGeom>
              <a:avLst/>
              <a:gdLst/>
              <a:ahLst/>
              <a:cxnLst/>
              <a:rect l="l" t="t" r="r" b="b"/>
              <a:pathLst>
                <a:path w="12192000" h="9525">
                  <a:moveTo>
                    <a:pt x="0" y="0"/>
                  </a:moveTo>
                  <a:lnTo>
                    <a:pt x="12192000" y="0"/>
                  </a:lnTo>
                </a:path>
              </a:pathLst>
            </a:custGeom>
            <a:noFill/>
            <a:ln w="9525">
              <a:solidFill>
                <a:srgbClr val="00D9FF">
                  <a:alpha val="6000"/>
                </a:srgbClr>
              </a:solidFill>
            </a:ln>
          </p:spPr>
        </p:sp>
        <p:sp>
          <p:nvSpPr>
            <p:cNvPr id="8" name="Line 8"/>
            <p:cNvSpPr/>
            <p:nvPr/>
          </p:nvSpPr>
          <p:spPr>
            <a:xfrm>
              <a:off x="0" y="4572000"/>
              <a:ext cx="12192000" cy="9525"/>
            </a:xfrm>
            <a:custGeom>
              <a:avLst/>
              <a:gdLst/>
              <a:ahLst/>
              <a:cxnLst/>
              <a:rect l="l" t="t" r="r" b="b"/>
              <a:pathLst>
                <a:path w="12192000" h="9525">
                  <a:moveTo>
                    <a:pt x="0" y="0"/>
                  </a:moveTo>
                  <a:lnTo>
                    <a:pt x="12192000" y="0"/>
                  </a:lnTo>
                </a:path>
              </a:pathLst>
            </a:custGeom>
            <a:noFill/>
            <a:ln w="9525">
              <a:solidFill>
                <a:srgbClr val="00D9FF">
                  <a:alpha val="6000"/>
                </a:srgbClr>
              </a:solidFill>
            </a:ln>
          </p:spPr>
        </p:sp>
        <p:sp>
          <p:nvSpPr>
            <p:cNvPr id="9" name="Line 9"/>
            <p:cNvSpPr/>
            <p:nvPr/>
          </p:nvSpPr>
          <p:spPr>
            <a:xfrm>
              <a:off x="0" y="5715000"/>
              <a:ext cx="12192000" cy="9525"/>
            </a:xfrm>
            <a:custGeom>
              <a:avLst/>
              <a:gdLst/>
              <a:ahLst/>
              <a:cxnLst/>
              <a:rect l="l" t="t" r="r" b="b"/>
              <a:pathLst>
                <a:path w="12192000" h="9525">
                  <a:moveTo>
                    <a:pt x="0" y="0"/>
                  </a:moveTo>
                  <a:lnTo>
                    <a:pt x="12192000" y="0"/>
                  </a:lnTo>
                </a:path>
              </a:pathLst>
            </a:custGeom>
            <a:noFill/>
            <a:ln w="9525">
              <a:solidFill>
                <a:srgbClr val="00D9FF">
                  <a:alpha val="6000"/>
                </a:srgbClr>
              </a:solidFill>
            </a:ln>
          </p:spPr>
        </p:sp>
        <p:sp>
          <p:nvSpPr>
            <p:cNvPr id="10" name="Line 10"/>
            <p:cNvSpPr/>
            <p:nvPr/>
          </p:nvSpPr>
          <p:spPr>
            <a:xfrm>
              <a:off x="1524000" y="0"/>
              <a:ext cx="9525" cy="6858000"/>
            </a:xfrm>
            <a:custGeom>
              <a:avLst/>
              <a:gdLst/>
              <a:ahLst/>
              <a:cxnLst/>
              <a:rect l="l" t="t" r="r" b="b"/>
              <a:pathLst>
                <a:path w="9525" h="6858000">
                  <a:moveTo>
                    <a:pt x="0" y="0"/>
                  </a:moveTo>
                  <a:lnTo>
                    <a:pt x="0" y="6858000"/>
                  </a:lnTo>
                </a:path>
              </a:pathLst>
            </a:custGeom>
            <a:noFill/>
            <a:ln w="9525">
              <a:solidFill>
                <a:srgbClr val="00D9FF">
                  <a:alpha val="6000"/>
                </a:srgbClr>
              </a:solidFill>
            </a:ln>
          </p:spPr>
        </p:sp>
        <p:sp>
          <p:nvSpPr>
            <p:cNvPr id="11" name="Line 11"/>
            <p:cNvSpPr/>
            <p:nvPr/>
          </p:nvSpPr>
          <p:spPr>
            <a:xfrm>
              <a:off x="3048000" y="0"/>
              <a:ext cx="9525" cy="6858000"/>
            </a:xfrm>
            <a:custGeom>
              <a:avLst/>
              <a:gdLst/>
              <a:ahLst/>
              <a:cxnLst/>
              <a:rect l="l" t="t" r="r" b="b"/>
              <a:pathLst>
                <a:path w="9525" h="6858000">
                  <a:moveTo>
                    <a:pt x="0" y="0"/>
                  </a:moveTo>
                  <a:lnTo>
                    <a:pt x="0" y="6858000"/>
                  </a:lnTo>
                </a:path>
              </a:pathLst>
            </a:custGeom>
            <a:noFill/>
            <a:ln w="9525">
              <a:solidFill>
                <a:srgbClr val="00D9FF">
                  <a:alpha val="6000"/>
                </a:srgbClr>
              </a:solidFill>
            </a:ln>
          </p:spPr>
        </p:sp>
        <p:sp>
          <p:nvSpPr>
            <p:cNvPr id="12" name="Line 12"/>
            <p:cNvSpPr/>
            <p:nvPr/>
          </p:nvSpPr>
          <p:spPr>
            <a:xfrm>
              <a:off x="4572000" y="0"/>
              <a:ext cx="9525" cy="6858000"/>
            </a:xfrm>
            <a:custGeom>
              <a:avLst/>
              <a:gdLst/>
              <a:ahLst/>
              <a:cxnLst/>
              <a:rect l="l" t="t" r="r" b="b"/>
              <a:pathLst>
                <a:path w="9525" h="6858000">
                  <a:moveTo>
                    <a:pt x="0" y="0"/>
                  </a:moveTo>
                  <a:lnTo>
                    <a:pt x="0" y="6858000"/>
                  </a:lnTo>
                </a:path>
              </a:pathLst>
            </a:custGeom>
            <a:noFill/>
            <a:ln w="9525">
              <a:solidFill>
                <a:srgbClr val="00D9FF">
                  <a:alpha val="6000"/>
                </a:srgbClr>
              </a:solidFill>
            </a:ln>
          </p:spPr>
        </p:sp>
        <p:sp>
          <p:nvSpPr>
            <p:cNvPr id="13" name="Line 13"/>
            <p:cNvSpPr/>
            <p:nvPr/>
          </p:nvSpPr>
          <p:spPr>
            <a:xfrm>
              <a:off x="6096000" y="0"/>
              <a:ext cx="9525" cy="6858000"/>
            </a:xfrm>
            <a:custGeom>
              <a:avLst/>
              <a:gdLst/>
              <a:ahLst/>
              <a:cxnLst/>
              <a:rect l="l" t="t" r="r" b="b"/>
              <a:pathLst>
                <a:path w="9525" h="6858000">
                  <a:moveTo>
                    <a:pt x="0" y="0"/>
                  </a:moveTo>
                  <a:lnTo>
                    <a:pt x="0" y="6858000"/>
                  </a:lnTo>
                </a:path>
              </a:pathLst>
            </a:custGeom>
            <a:noFill/>
            <a:ln w="9525">
              <a:solidFill>
                <a:srgbClr val="00D9FF">
                  <a:alpha val="6000"/>
                </a:srgbClr>
              </a:solidFill>
            </a:ln>
          </p:spPr>
        </p:sp>
        <p:sp>
          <p:nvSpPr>
            <p:cNvPr id="14" name="Line 14"/>
            <p:cNvSpPr/>
            <p:nvPr/>
          </p:nvSpPr>
          <p:spPr>
            <a:xfrm>
              <a:off x="7620000" y="0"/>
              <a:ext cx="9525" cy="6858000"/>
            </a:xfrm>
            <a:custGeom>
              <a:avLst/>
              <a:gdLst/>
              <a:ahLst/>
              <a:cxnLst/>
              <a:rect l="l" t="t" r="r" b="b"/>
              <a:pathLst>
                <a:path w="9525" h="6858000">
                  <a:moveTo>
                    <a:pt x="0" y="0"/>
                  </a:moveTo>
                  <a:lnTo>
                    <a:pt x="0" y="6858000"/>
                  </a:lnTo>
                </a:path>
              </a:pathLst>
            </a:custGeom>
            <a:noFill/>
            <a:ln w="9525">
              <a:solidFill>
                <a:srgbClr val="00D9FF">
                  <a:alpha val="6000"/>
                </a:srgbClr>
              </a:solidFill>
            </a:ln>
          </p:spPr>
        </p:sp>
        <p:sp>
          <p:nvSpPr>
            <p:cNvPr id="15" name="Line 15"/>
            <p:cNvSpPr/>
            <p:nvPr/>
          </p:nvSpPr>
          <p:spPr>
            <a:xfrm>
              <a:off x="9144000" y="0"/>
              <a:ext cx="9525" cy="6858000"/>
            </a:xfrm>
            <a:custGeom>
              <a:avLst/>
              <a:gdLst/>
              <a:ahLst/>
              <a:cxnLst/>
              <a:rect l="l" t="t" r="r" b="b"/>
              <a:pathLst>
                <a:path w="9525" h="6858000">
                  <a:moveTo>
                    <a:pt x="0" y="0"/>
                  </a:moveTo>
                  <a:lnTo>
                    <a:pt x="0" y="6858000"/>
                  </a:lnTo>
                </a:path>
              </a:pathLst>
            </a:custGeom>
            <a:noFill/>
            <a:ln w="9525">
              <a:solidFill>
                <a:srgbClr val="00D9FF">
                  <a:alpha val="6000"/>
                </a:srgbClr>
              </a:solidFill>
            </a:ln>
          </p:spPr>
        </p:sp>
        <p:sp>
          <p:nvSpPr>
            <p:cNvPr id="16" name="Line 16"/>
            <p:cNvSpPr/>
            <p:nvPr/>
          </p:nvSpPr>
          <p:spPr>
            <a:xfrm>
              <a:off x="10668000" y="0"/>
              <a:ext cx="9525" cy="6858000"/>
            </a:xfrm>
            <a:custGeom>
              <a:avLst/>
              <a:gdLst/>
              <a:ahLst/>
              <a:cxnLst/>
              <a:rect l="l" t="t" r="r" b="b"/>
              <a:pathLst>
                <a:path w="9525" h="6858000">
                  <a:moveTo>
                    <a:pt x="0" y="0"/>
                  </a:moveTo>
                  <a:lnTo>
                    <a:pt x="0" y="6858000"/>
                  </a:lnTo>
                </a:path>
              </a:pathLst>
            </a:custGeom>
            <a:noFill/>
            <a:ln w="9525">
              <a:solidFill>
                <a:srgbClr val="00D9FF">
                  <a:alpha val="6000"/>
                </a:srgbClr>
              </a:solidFill>
            </a:ln>
          </p:spPr>
        </p:sp>
      </p:grpSp>
      <p:grpSp>
        <p:nvGrpSpPr>
          <p:cNvPr id="22" name="Group 22"/>
          <p:cNvGrpSpPr/>
          <p:nvPr/>
        </p:nvGrpSpPr>
        <p:grpSpPr>
          <a:xfrm>
            <a:off x="749618" y="847249"/>
            <a:ext cx="1762030" cy="826770"/>
            <a:chOff x="749618" y="847249"/>
            <a:chExt cx="1762030" cy="826770"/>
          </a:xfrm>
        </p:grpSpPr>
        <p:sp>
          <p:nvSpPr>
            <p:cNvPr id="18" name="TextBox 18"/>
            <p:cNvSpPr txBox="1"/>
            <p:nvPr/>
          </p:nvSpPr>
          <p:spPr>
            <a:xfrm>
              <a:off x="749618" y="847249"/>
              <a:ext cx="1762030" cy="198120"/>
            </a:xfrm>
            <a:prstGeom prst="rect">
              <a:avLst/>
            </a:prstGeom>
            <a:noFill/>
            <a:ln>
              <a:noFill/>
            </a:ln>
          </p:spPr>
          <p:txBody>
            <a:bodyPr wrap="none" lIns="0" tIns="0" rIns="0" bIns="0" anchor="t" anchorCtr="0">
              <a:spAutoFit/>
            </a:bodyPr>
            <a:lstStyle/>
            <a:p>
              <a:pPr algn="l"/>
              <a:r>
                <a:rPr lang="en-US" sz="975" dirty="0">
                  <a:solidFill>
                    <a:srgbClr val="00D9FF">
                      <a:alphaMod val="18000"/>
                    </a:srgbClr>
                  </a:solidFill>
                  <a:latin typeface="Consolas"/>
                  <a:ea typeface="Microsoft YaHei"/>
                  <a:cs typeface="Consolas"/>
                </a:rPr>
                <a:t>while (developer.alive) {</a:t>
              </a:r>
            </a:p>
          </p:txBody>
        </p:sp>
        <p:sp>
          <p:nvSpPr>
            <p:cNvPr id="19" name="TextBox 19"/>
            <p:cNvSpPr txBox="1"/>
            <p:nvPr/>
          </p:nvSpPr>
          <p:spPr>
            <a:xfrm>
              <a:off x="940118" y="1056799"/>
              <a:ext cx="1156835" cy="198120"/>
            </a:xfrm>
            <a:prstGeom prst="rect">
              <a:avLst/>
            </a:prstGeom>
            <a:noFill/>
            <a:ln>
              <a:noFill/>
            </a:ln>
          </p:spPr>
          <p:txBody>
            <a:bodyPr wrap="none" lIns="0" tIns="0" rIns="0" bIns="0" anchor="t" anchorCtr="0">
              <a:spAutoFit/>
            </a:bodyPr>
            <a:lstStyle/>
            <a:p>
              <a:pPr algn="l"/>
              <a:r>
                <a:rPr lang="en-US" sz="975" dirty="0">
                  <a:solidFill>
                    <a:srgbClr val="00D9FF">
                      <a:alphaMod val="18000"/>
                    </a:srgbClr>
                  </a:solidFill>
                  <a:latin typeface="Consolas"/>
                  <a:ea typeface="Microsoft YaHei"/>
                  <a:cs typeface="Consolas"/>
                </a:rPr>
                <a:t>ai.write(code);</a:t>
              </a:r>
            </a:p>
          </p:txBody>
        </p:sp>
        <p:sp>
          <p:nvSpPr>
            <p:cNvPr id="20" name="TextBox 20"/>
            <p:cNvSpPr txBox="1"/>
            <p:nvPr/>
          </p:nvSpPr>
          <p:spPr>
            <a:xfrm>
              <a:off x="940118" y="1266349"/>
              <a:ext cx="1555552" cy="198120"/>
            </a:xfrm>
            <a:prstGeom prst="rect">
              <a:avLst/>
            </a:prstGeom>
            <a:noFill/>
            <a:ln>
              <a:noFill/>
            </a:ln>
          </p:spPr>
          <p:txBody>
            <a:bodyPr wrap="none" lIns="0" tIns="0" rIns="0" bIns="0" anchor="t" anchorCtr="0">
              <a:spAutoFit/>
            </a:bodyPr>
            <a:lstStyle/>
            <a:p>
              <a:pPr algn="l"/>
              <a:r>
                <a:rPr lang="en-US" sz="975" dirty="0">
                  <a:solidFill>
                    <a:srgbClr val="00D9FF">
                      <a:alphaMod val="18000"/>
                    </a:srgbClr>
                  </a:solidFill>
                  <a:latin typeface="Consolas"/>
                  <a:ea typeface="Microsoft YaHei"/>
                  <a:cs typeface="Consolas"/>
                </a:rPr>
                <a:t>developer.observe();</a:t>
              </a:r>
            </a:p>
          </p:txBody>
        </p:sp>
        <p:sp>
          <p:nvSpPr>
            <p:cNvPr id="21" name="TextBox 21"/>
            <p:cNvSpPr txBox="1"/>
            <p:nvPr/>
          </p:nvSpPr>
          <p:spPr>
            <a:xfrm>
              <a:off x="749618" y="1475899"/>
              <a:ext cx="103084" cy="198120"/>
            </a:xfrm>
            <a:prstGeom prst="rect">
              <a:avLst/>
            </a:prstGeom>
            <a:noFill/>
            <a:ln>
              <a:noFill/>
            </a:ln>
          </p:spPr>
          <p:txBody>
            <a:bodyPr wrap="none" lIns="0" tIns="0" rIns="0" bIns="0" anchor="t" anchorCtr="0">
              <a:spAutoFit/>
            </a:bodyPr>
            <a:lstStyle/>
            <a:p>
              <a:pPr algn="l"/>
              <a:r>
                <a:rPr lang="en-US" sz="975" dirty="0">
                  <a:solidFill>
                    <a:srgbClr val="00D9FF">
                      <a:alphaMod val="18000"/>
                    </a:srgbClr>
                  </a:solidFill>
                  <a:latin typeface="Consolas"/>
                  <a:ea typeface="Microsoft YaHei"/>
                  <a:cs typeface="Consolas"/>
                </a:rPr>
                <a:t>}</a:t>
              </a:r>
            </a:p>
          </p:txBody>
        </p:sp>
      </p:grpSp>
      <p:grpSp>
        <p:nvGrpSpPr>
          <p:cNvPr id="27" name="Group 27"/>
          <p:cNvGrpSpPr/>
          <p:nvPr/>
        </p:nvGrpSpPr>
        <p:grpSpPr>
          <a:xfrm>
            <a:off x="9322118" y="5800249"/>
            <a:ext cx="1406033" cy="826770"/>
            <a:chOff x="9322118" y="5800249"/>
            <a:chExt cx="1406033" cy="826770"/>
          </a:xfrm>
        </p:grpSpPr>
        <p:sp>
          <p:nvSpPr>
            <p:cNvPr id="23" name="TextBox 23"/>
            <p:cNvSpPr txBox="1"/>
            <p:nvPr/>
          </p:nvSpPr>
          <p:spPr>
            <a:xfrm>
              <a:off x="9322118" y="5800249"/>
              <a:ext cx="701159" cy="198120"/>
            </a:xfrm>
            <a:prstGeom prst="rect">
              <a:avLst/>
            </a:prstGeom>
            <a:noFill/>
            <a:ln>
              <a:noFill/>
            </a:ln>
          </p:spPr>
          <p:txBody>
            <a:bodyPr wrap="none" lIns="0" tIns="0" rIns="0" bIns="0" anchor="t" anchorCtr="0">
              <a:spAutoFit/>
            </a:bodyPr>
            <a:lstStyle/>
            <a:p>
              <a:pPr algn="l"/>
              <a:r>
                <a:rPr lang="en-US" sz="975" dirty="0">
                  <a:solidFill>
                    <a:srgbClr val="FFB627">
                      <a:alphaMod val="16000"/>
                    </a:srgbClr>
                  </a:solidFill>
                  <a:latin typeface="Consolas"/>
                  <a:ea typeface="Microsoft YaHei"/>
                  <a:cs typeface="Consolas"/>
                </a:rPr>
                <a:t>// 2025.11</a:t>
              </a:r>
            </a:p>
          </p:txBody>
        </p:sp>
        <p:sp>
          <p:nvSpPr>
            <p:cNvPr id="24" name="TextBox 24"/>
            <p:cNvSpPr txBox="1"/>
            <p:nvPr/>
          </p:nvSpPr>
          <p:spPr>
            <a:xfrm>
              <a:off x="9322118" y="6009799"/>
              <a:ext cx="1406033" cy="198120"/>
            </a:xfrm>
            <a:prstGeom prst="rect">
              <a:avLst/>
            </a:prstGeom>
            <a:noFill/>
            <a:ln>
              <a:noFill/>
            </a:ln>
          </p:spPr>
          <p:txBody>
            <a:bodyPr wrap="none" lIns="0" tIns="0" rIns="0" bIns="0" anchor="t" anchorCtr="0">
              <a:spAutoFit/>
            </a:bodyPr>
            <a:lstStyle/>
            <a:p>
              <a:pPr algn="l"/>
              <a:r>
                <a:rPr lang="en-US" sz="975" dirty="0">
                  <a:solidFill>
                    <a:srgbClr val="FFB627">
                      <a:alphaMod val="16000"/>
                    </a:srgbClr>
                  </a:solidFill>
                  <a:latin typeface="Consolas"/>
                  <a:ea typeface="Microsoft YaHei"/>
                  <a:cs typeface="Consolas"/>
                </a:rPr>
                <a:t>function future() {</a:t>
              </a:r>
            </a:p>
          </p:txBody>
        </p:sp>
        <p:sp>
          <p:nvSpPr>
            <p:cNvPr id="25" name="TextBox 25"/>
            <p:cNvSpPr txBox="1"/>
            <p:nvPr/>
          </p:nvSpPr>
          <p:spPr>
            <a:xfrm>
              <a:off x="9512618" y="6219349"/>
              <a:ext cx="694039" cy="198120"/>
            </a:xfrm>
            <a:prstGeom prst="rect">
              <a:avLst/>
            </a:prstGeom>
            <a:noFill/>
            <a:ln>
              <a:noFill/>
            </a:ln>
          </p:spPr>
          <p:txBody>
            <a:bodyPr wrap="none" lIns="0" tIns="0" rIns="0" bIns="0" anchor="t" anchorCtr="0">
              <a:spAutoFit/>
            </a:bodyPr>
            <a:lstStyle/>
            <a:p>
              <a:pPr algn="l"/>
              <a:r>
                <a:rPr lang="en-US" sz="975" dirty="0">
                  <a:solidFill>
                    <a:srgbClr val="FFB627">
                      <a:alphaMod val="16000"/>
                    </a:srgbClr>
                  </a:solidFill>
                  <a:latin typeface="Consolas"/>
                  <a:ea typeface="Microsoft YaHei"/>
                  <a:cs typeface="Consolas"/>
                </a:rPr>
                <a:t>return ?;</a:t>
              </a:r>
            </a:p>
          </p:txBody>
        </p:sp>
        <p:sp>
          <p:nvSpPr>
            <p:cNvPr id="26" name="TextBox 26"/>
            <p:cNvSpPr txBox="1"/>
            <p:nvPr/>
          </p:nvSpPr>
          <p:spPr>
            <a:xfrm>
              <a:off x="9322118" y="6428899"/>
              <a:ext cx="103084" cy="198120"/>
            </a:xfrm>
            <a:prstGeom prst="rect">
              <a:avLst/>
            </a:prstGeom>
            <a:noFill/>
            <a:ln>
              <a:noFill/>
            </a:ln>
          </p:spPr>
          <p:txBody>
            <a:bodyPr wrap="none" lIns="0" tIns="0" rIns="0" bIns="0" anchor="t" anchorCtr="0">
              <a:spAutoFit/>
            </a:bodyPr>
            <a:lstStyle/>
            <a:p>
              <a:pPr algn="l"/>
              <a:r>
                <a:rPr lang="en-US" sz="975" dirty="0">
                  <a:solidFill>
                    <a:srgbClr val="FFB627">
                      <a:alphaMod val="16000"/>
                    </a:srgbClr>
                  </a:solidFill>
                  <a:latin typeface="Consolas"/>
                  <a:ea typeface="Microsoft YaHei"/>
                  <a:cs typeface="Consolas"/>
                </a:rPr>
                <a:t>}</a:t>
              </a:r>
            </a:p>
          </p:txBody>
        </p:sp>
      </p:grpSp>
      <p:grpSp>
        <p:nvGrpSpPr>
          <p:cNvPr id="30" name="Group 30"/>
          <p:cNvGrpSpPr/>
          <p:nvPr/>
        </p:nvGrpSpPr>
        <p:grpSpPr>
          <a:xfrm>
            <a:off x="762000" y="609600"/>
            <a:ext cx="2570750" cy="214312"/>
            <a:chOff x="762000" y="609600"/>
            <a:chExt cx="2570750" cy="214312"/>
          </a:xfrm>
        </p:grpSpPr>
        <p:sp>
          <p:nvSpPr>
            <p:cNvPr id="28" name="Rectangle 28"/>
            <p:cNvSpPr/>
            <p:nvPr/>
          </p:nvSpPr>
          <p:spPr>
            <a:xfrm>
              <a:off x="762000" y="609600"/>
              <a:ext cx="419100" cy="28575"/>
            </a:xfrm>
            <a:prstGeom prst="rect">
              <a:avLst/>
            </a:prstGeom>
            <a:solidFill>
              <a:srgbClr val="FF3D5A"/>
            </a:solidFill>
            <a:ln>
              <a:noFill/>
            </a:ln>
          </p:spPr>
        </p:sp>
        <p:sp>
          <p:nvSpPr>
            <p:cNvPr id="29" name="TextBox 29"/>
            <p:cNvSpPr txBox="1"/>
            <p:nvPr/>
          </p:nvSpPr>
          <p:spPr>
            <a:xfrm>
              <a:off x="1320165" y="610552"/>
              <a:ext cx="2012585" cy="213360"/>
            </a:xfrm>
            <a:prstGeom prst="rect">
              <a:avLst/>
            </a:prstGeom>
            <a:noFill/>
            <a:ln>
              <a:noFill/>
            </a:ln>
          </p:spPr>
          <p:txBody>
            <a:bodyPr wrap="none" lIns="0" tIns="0" rIns="0" bIns="0" anchor="t" anchorCtr="0">
              <a:spAutoFit/>
            </a:bodyPr>
            <a:lstStyle/>
            <a:p>
              <a:pPr algn="l"/>
              <a:r>
                <a:rPr lang="en-US" sz="1050" dirty="0">
                  <a:solidFill>
                    <a:srgbClr val="8B9AB3"/>
                  </a:solidFill>
                  <a:latin typeface="Pretendard 700"/>
                  <a:ea typeface="Malgun Gothic"/>
                  <a:cs typeface="Pretendard 700"/>
                </a:rPr>
                <a:t>DEVELOPER · FUTURE · TALK</a:t>
              </a:r>
            </a:p>
          </p:txBody>
        </p:sp>
      </p:grpSp>
      <p:grpSp>
        <p:nvGrpSpPr>
          <p:cNvPr id="33" name="Group 33"/>
          <p:cNvGrpSpPr/>
          <p:nvPr/>
        </p:nvGrpSpPr>
        <p:grpSpPr>
          <a:xfrm>
            <a:off x="762000" y="1905000"/>
            <a:ext cx="2095500" cy="381000"/>
            <a:chOff x="762000" y="1905000"/>
            <a:chExt cx="2095500" cy="381000"/>
          </a:xfrm>
        </p:grpSpPr>
        <p:sp>
          <p:nvSpPr>
            <p:cNvPr id="31" name="Rectangle 31"/>
            <p:cNvSpPr/>
            <p:nvPr/>
          </p:nvSpPr>
          <p:spPr>
            <a:xfrm>
              <a:off x="762000" y="1905000"/>
              <a:ext cx="2095500" cy="381000"/>
            </a:xfrm>
            <a:prstGeom prst="roundRect">
              <a:avLst>
                <a:gd name="adj" fmla="val 50000"/>
              </a:avLst>
            </a:prstGeom>
            <a:solidFill>
              <a:srgbClr val="FF3D5A">
                <a:alpha val="12000"/>
              </a:srgbClr>
            </a:solidFill>
            <a:ln w="9525">
              <a:solidFill>
                <a:srgbClr val="FF3D5A">
                  <a:alpha val="50000"/>
                </a:srgbClr>
              </a:solidFill>
            </a:ln>
          </p:spPr>
        </p:sp>
        <p:sp>
          <p:nvSpPr>
            <p:cNvPr id="32" name="TextBox 32"/>
            <p:cNvSpPr txBox="1"/>
            <p:nvPr/>
          </p:nvSpPr>
          <p:spPr>
            <a:xfrm>
              <a:off x="1167765" y="2039302"/>
              <a:ext cx="1506522" cy="213360"/>
            </a:xfrm>
            <a:prstGeom prst="rect">
              <a:avLst/>
            </a:prstGeom>
            <a:noFill/>
            <a:ln>
              <a:noFill/>
            </a:ln>
          </p:spPr>
          <p:txBody>
            <a:bodyPr wrap="none" lIns="0" tIns="0" rIns="0" bIns="0" anchor="t" anchorCtr="0">
              <a:spAutoFit/>
            </a:bodyPr>
            <a:lstStyle/>
            <a:p>
              <a:pPr algn="l"/>
              <a:r>
                <a:rPr lang="ko-KR" sz="1050" dirty="0">
                  <a:solidFill>
                    <a:srgbClr val="FF3D5A"/>
                  </a:solidFill>
                  <a:latin typeface="Pretendard 700"/>
                  <a:ea typeface="Malgun Gothic"/>
                  <a:cs typeface="Pretendard 700"/>
                </a:rPr>
                <a:t>시대의 변곡점 · 2025</a:t>
              </a:r>
            </a:p>
          </p:txBody>
        </p:sp>
      </p:grpSp>
      <p:grpSp>
        <p:nvGrpSpPr>
          <p:cNvPr id="37" name="Group 37"/>
          <p:cNvGrpSpPr/>
          <p:nvPr/>
        </p:nvGrpSpPr>
        <p:grpSpPr>
          <a:xfrm>
            <a:off x="628650" y="2655570"/>
            <a:ext cx="3514344" cy="2802255"/>
            <a:chOff x="628650" y="2655570"/>
            <a:chExt cx="3514344" cy="2802255"/>
          </a:xfrm>
        </p:grpSpPr>
        <p:sp>
          <p:nvSpPr>
            <p:cNvPr id="34" name="TextBox 34"/>
            <p:cNvSpPr txBox="1"/>
            <p:nvPr/>
          </p:nvSpPr>
          <p:spPr>
            <a:xfrm>
              <a:off x="693420" y="2655570"/>
              <a:ext cx="3449574" cy="1097280"/>
            </a:xfrm>
            <a:prstGeom prst="rect">
              <a:avLst/>
            </a:prstGeom>
            <a:noFill/>
            <a:ln>
              <a:noFill/>
            </a:ln>
          </p:spPr>
          <p:txBody>
            <a:bodyPr wrap="none" lIns="0" tIns="0" rIns="0" bIns="0" anchor="t" anchorCtr="0">
              <a:spAutoFit/>
            </a:bodyPr>
            <a:lstStyle/>
            <a:p>
              <a:pPr algn="l"/>
              <a:r>
                <a:rPr lang="ko-KR" sz="5400" b="1" dirty="0">
                  <a:solidFill>
                    <a:srgbClr val="E8EEF7"/>
                  </a:solidFill>
                  <a:latin typeface="Pretendard 900"/>
                  <a:ea typeface="Malgun Gothic"/>
                  <a:cs typeface="Pretendard 900"/>
                </a:rPr>
                <a:t>개발자의</a:t>
              </a:r>
            </a:p>
          </p:txBody>
        </p:sp>
        <p:sp>
          <p:nvSpPr>
            <p:cNvPr id="35" name="TextBox 35"/>
            <p:cNvSpPr txBox="1"/>
            <p:nvPr/>
          </p:nvSpPr>
          <p:spPr>
            <a:xfrm>
              <a:off x="628650" y="3324225"/>
              <a:ext cx="3487102" cy="2133600"/>
            </a:xfrm>
            <a:prstGeom prst="rect">
              <a:avLst/>
            </a:prstGeom>
            <a:noFill/>
            <a:ln>
              <a:noFill/>
            </a:ln>
          </p:spPr>
          <p:txBody>
            <a:bodyPr wrap="none" lIns="0" tIns="0" rIns="0" bIns="0" anchor="t" anchorCtr="0">
              <a:spAutoFit/>
            </a:bodyPr>
            <a:lstStyle/>
            <a:p>
              <a:pPr algn="l"/>
              <a:r>
                <a:rPr lang="ko-KR" sz="10500" b="1" dirty="0">
                  <a:gradFill>
                    <a:gsLst>
                      <a:gs pos="0">
                        <a:srgbClr val="FF3D5A"/>
                      </a:gs>
                      <a:gs pos="100000">
                        <a:srgbClr val="FFB627"/>
                      </a:gs>
                    </a:gsLst>
                    <a:lin ang="0" scaled="1"/>
                  </a:gradFill>
                  <a:latin typeface="Pretendard 900"/>
                  <a:ea typeface="Malgun Gothic"/>
                  <a:cs typeface="Pretendard 900"/>
                </a:rPr>
                <a:t>종말</a:t>
              </a:r>
            </a:p>
          </p:txBody>
        </p:sp>
        <p:sp>
          <p:nvSpPr>
            <p:cNvPr id="36" name="Rectangle 36"/>
            <p:cNvSpPr/>
            <p:nvPr/>
          </p:nvSpPr>
          <p:spPr>
            <a:xfrm>
              <a:off x="762000" y="4629150"/>
              <a:ext cx="3238500" cy="38100"/>
            </a:xfrm>
            <a:prstGeom prst="rect">
              <a:avLst/>
            </a:prstGeom>
            <a:solidFill>
              <a:srgbClr val="FF3D5A"/>
            </a:solidFill>
            <a:ln>
              <a:noFill/>
            </a:ln>
          </p:spPr>
        </p:sp>
      </p:grpSp>
      <p:grpSp>
        <p:nvGrpSpPr>
          <p:cNvPr id="41" name="Group 41"/>
          <p:cNvGrpSpPr/>
          <p:nvPr/>
        </p:nvGrpSpPr>
        <p:grpSpPr>
          <a:xfrm>
            <a:off x="762000" y="5029200"/>
            <a:ext cx="3604641" cy="685800"/>
            <a:chOff x="762000" y="5029200"/>
            <a:chExt cx="3604641" cy="685800"/>
          </a:xfrm>
        </p:grpSpPr>
        <p:sp>
          <p:nvSpPr>
            <p:cNvPr id="38" name="Rectangle 38"/>
            <p:cNvSpPr/>
            <p:nvPr/>
          </p:nvSpPr>
          <p:spPr>
            <a:xfrm>
              <a:off x="762000" y="5029200"/>
              <a:ext cx="28575" cy="533400"/>
            </a:xfrm>
            <a:prstGeom prst="rect">
              <a:avLst/>
            </a:prstGeom>
            <a:solidFill>
              <a:srgbClr val="00D9FF"/>
            </a:solidFill>
            <a:ln>
              <a:noFill/>
            </a:ln>
          </p:spPr>
        </p:sp>
        <p:sp>
          <p:nvSpPr>
            <p:cNvPr id="39" name="TextBox 39"/>
            <p:cNvSpPr txBox="1"/>
            <p:nvPr/>
          </p:nvSpPr>
          <p:spPr>
            <a:xfrm>
              <a:off x="927735" y="5047298"/>
              <a:ext cx="1103281" cy="396240"/>
            </a:xfrm>
            <a:prstGeom prst="rect">
              <a:avLst/>
            </a:prstGeom>
            <a:noFill/>
            <a:ln>
              <a:noFill/>
            </a:ln>
          </p:spPr>
          <p:txBody>
            <a:bodyPr wrap="none" lIns="0" tIns="0" rIns="0" bIns="0" anchor="t" anchorCtr="0">
              <a:spAutoFit/>
            </a:bodyPr>
            <a:lstStyle/>
            <a:p>
              <a:pPr algn="l"/>
              <a:r>
                <a:rPr lang="ko-KR" sz="1950" dirty="0">
                  <a:solidFill>
                    <a:srgbClr val="E8EEF7"/>
                  </a:solidFill>
                  <a:latin typeface="Pretendard 700"/>
                  <a:ea typeface="Malgun Gothic"/>
                  <a:cs typeface="Pretendard 700"/>
                </a:rPr>
                <a:t>AI 시대,</a:t>
              </a:r>
            </a:p>
          </p:txBody>
        </p:sp>
        <p:sp>
          <p:nvSpPr>
            <p:cNvPr id="40" name="TextBox 40"/>
            <p:cNvSpPr txBox="1"/>
            <p:nvPr/>
          </p:nvSpPr>
          <p:spPr>
            <a:xfrm>
              <a:off x="929640" y="5349240"/>
              <a:ext cx="3437001" cy="365760"/>
            </a:xfrm>
            <a:prstGeom prst="rect">
              <a:avLst/>
            </a:prstGeom>
            <a:noFill/>
            <a:ln>
              <a:noFill/>
            </a:ln>
          </p:spPr>
          <p:txBody>
            <a:bodyPr wrap="none" lIns="0" tIns="0" rIns="0" bIns="0" anchor="t" anchorCtr="0">
              <a:spAutoFit/>
            </a:bodyPr>
            <a:lstStyle/>
            <a:p>
              <a:pPr algn="l"/>
              <a:r>
                <a:rPr lang="ko-KR" sz="1800" dirty="0">
                  <a:solidFill>
                    <a:srgbClr val="8B9AB3"/>
                  </a:solidFill>
                  <a:latin typeface="Pretendard 400"/>
                  <a:ea typeface="Malgun Gothic"/>
                  <a:cs typeface="Pretendard 400"/>
                </a:rPr>
                <a:t>우리는 무엇이 되어야 하는가</a:t>
              </a:r>
            </a:p>
          </p:txBody>
        </p:sp>
      </p:grpSp>
      <p:grpSp>
        <p:nvGrpSpPr>
          <p:cNvPr id="45" name="Group 45"/>
          <p:cNvGrpSpPr/>
          <p:nvPr/>
        </p:nvGrpSpPr>
        <p:grpSpPr>
          <a:xfrm>
            <a:off x="748665" y="6286500"/>
            <a:ext cx="10693717" cy="366712"/>
            <a:chOff x="748665" y="6286500"/>
            <a:chExt cx="10693717" cy="366712"/>
          </a:xfrm>
        </p:grpSpPr>
        <p:sp>
          <p:nvSpPr>
            <p:cNvPr id="42" name="Line 42"/>
            <p:cNvSpPr/>
            <p:nvPr/>
          </p:nvSpPr>
          <p:spPr>
            <a:xfrm>
              <a:off x="762000" y="6286500"/>
              <a:ext cx="10668000" cy="9525"/>
            </a:xfrm>
            <a:custGeom>
              <a:avLst/>
              <a:gdLst/>
              <a:ahLst/>
              <a:cxnLst/>
              <a:rect l="l" t="t" r="r" b="b"/>
              <a:pathLst>
                <a:path w="10668000" h="9525">
                  <a:moveTo>
                    <a:pt x="0" y="0"/>
                  </a:moveTo>
                  <a:lnTo>
                    <a:pt x="10668000" y="0"/>
                  </a:lnTo>
                </a:path>
              </a:pathLst>
            </a:custGeom>
            <a:noFill/>
            <a:ln w="9525">
              <a:solidFill>
                <a:srgbClr val="8B9AB3">
                  <a:alpha val="20000"/>
                </a:srgbClr>
              </a:solidFill>
            </a:ln>
          </p:spPr>
        </p:sp>
        <p:sp>
          <p:nvSpPr>
            <p:cNvPr id="43" name="TextBox 43"/>
            <p:cNvSpPr txBox="1"/>
            <p:nvPr/>
          </p:nvSpPr>
          <p:spPr>
            <a:xfrm>
              <a:off x="748665" y="6439852"/>
              <a:ext cx="2265616" cy="213360"/>
            </a:xfrm>
            <a:prstGeom prst="rect">
              <a:avLst/>
            </a:prstGeom>
            <a:noFill/>
            <a:ln>
              <a:noFill/>
            </a:ln>
          </p:spPr>
          <p:txBody>
            <a:bodyPr wrap="none" lIns="0" tIns="0" rIns="0" bIns="0" anchor="t" anchorCtr="0">
              <a:spAutoFit/>
            </a:bodyPr>
            <a:lstStyle/>
            <a:p>
              <a:pPr algn="l"/>
              <a:r>
                <a:rPr lang="en-US" sz="1050" dirty="0">
                  <a:solidFill>
                    <a:srgbClr val="8B9AB3"/>
                  </a:solidFill>
                  <a:latin typeface="Pretendard 400"/>
                  <a:ea typeface="Malgun Gothic"/>
                  <a:cs typeface="Pretendard 400"/>
                </a:rPr>
                <a:t>2025 · DEVELOPER FUTURE TALK</a:t>
              </a:r>
            </a:p>
          </p:txBody>
        </p:sp>
        <p:sp>
          <p:nvSpPr>
            <p:cNvPr id="44" name="TextBox 44"/>
            <p:cNvSpPr txBox="1"/>
            <p:nvPr/>
          </p:nvSpPr>
          <p:spPr>
            <a:xfrm>
              <a:off x="11011781" y="6447949"/>
              <a:ext cx="430601" cy="198120"/>
            </a:xfrm>
            <a:prstGeom prst="rect">
              <a:avLst/>
            </a:prstGeom>
            <a:noFill/>
            <a:ln>
              <a:noFill/>
            </a:ln>
          </p:spPr>
          <p:txBody>
            <a:bodyPr wrap="none" lIns="0" tIns="0" rIns="0" bIns="0" anchor="t" anchorCtr="0">
              <a:spAutoFit/>
            </a:bodyPr>
            <a:lstStyle/>
            <a:p>
              <a:pPr algn="r"/>
              <a:r>
                <a:rPr lang="en-US" sz="975" dirty="0">
                  <a:solidFill>
                    <a:srgbClr val="00D9FF">
                      <a:alphaMod val="70000"/>
                    </a:srgbClr>
                  </a:solidFill>
                  <a:latin typeface="Consolas"/>
                  <a:ea typeface="Microsoft YaHei"/>
                  <a:cs typeface="Consolas"/>
                </a:rPr>
                <a:t>01 / 10</a:t>
              </a:r>
            </a:p>
          </p:txBody>
        </p:sp>
      </p:grpSp>
      <p:grpSp>
        <p:nvGrpSpPr>
          <p:cNvPr id="49" name="Group 49"/>
          <p:cNvGrpSpPr/>
          <p:nvPr/>
        </p:nvGrpSpPr>
        <p:grpSpPr>
          <a:xfrm>
            <a:off x="11210925" y="1866900"/>
            <a:ext cx="76200" cy="3124200"/>
            <a:chOff x="11210925" y="1866900"/>
            <a:chExt cx="76200" cy="3124200"/>
          </a:xfrm>
        </p:grpSpPr>
        <p:sp>
          <p:nvSpPr>
            <p:cNvPr id="46" name="Rectangle 46"/>
            <p:cNvSpPr/>
            <p:nvPr/>
          </p:nvSpPr>
          <p:spPr>
            <a:xfrm>
              <a:off x="11239500" y="1905000"/>
              <a:ext cx="19050" cy="3048000"/>
            </a:xfrm>
            <a:prstGeom prst="rect">
              <a:avLst/>
            </a:prstGeom>
            <a:solidFill>
              <a:srgbClr val="00D9FF">
                <a:alpha val="50000"/>
              </a:srgbClr>
            </a:solidFill>
            <a:ln>
              <a:noFill/>
            </a:ln>
          </p:spPr>
        </p:sp>
        <p:sp>
          <p:nvSpPr>
            <p:cNvPr id="47" name="Ellipse 47"/>
            <p:cNvSpPr/>
            <p:nvPr/>
          </p:nvSpPr>
          <p:spPr>
            <a:xfrm>
              <a:off x="11210925" y="1866900"/>
              <a:ext cx="76200" cy="76200"/>
            </a:xfrm>
            <a:prstGeom prst="ellipse">
              <a:avLst/>
            </a:prstGeom>
            <a:solidFill>
              <a:srgbClr val="00D9FF"/>
            </a:solidFill>
            <a:ln>
              <a:noFill/>
            </a:ln>
          </p:spPr>
        </p:sp>
        <p:sp>
          <p:nvSpPr>
            <p:cNvPr id="48" name="Ellipse 48"/>
            <p:cNvSpPr/>
            <p:nvPr/>
          </p:nvSpPr>
          <p:spPr>
            <a:xfrm>
              <a:off x="11210925" y="4914900"/>
              <a:ext cx="76200" cy="76200"/>
            </a:xfrm>
            <a:prstGeom prst="ellipse">
              <a:avLst/>
            </a:prstGeom>
            <a:solidFill>
              <a:srgbClr val="FF3D5A"/>
            </a:solidFill>
            <a:ln>
              <a:noFill/>
            </a:ln>
          </p:spPr>
        </p:sp>
      </p:grpSp>
    </p:spTree>
  </p:cSld>
  <p:clrMapOvr>
    <a:masterClrMapping/>
  </p:clrMapOvr>
  <p:transition xmlns:p14="http://schemas.microsoft.com/office/powerpoint/2010/main" p14:dur="5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1628"/>
              </a:gs>
              <a:gs pos="50000">
                <a:srgbClr val="13243B"/>
              </a:gs>
              <a:gs pos="100000">
                <a:srgbClr val="1A2F4F"/>
              </a:gs>
            </a:gsLst>
            <a:lin ang="2700000" scaled="1"/>
          </a:gradFill>
          <a:ln>
            <a:noFill/>
          </a:ln>
        </p:spPr>
      </p:sp>
      <p:sp>
        <p:nvSpPr>
          <p:cNvPr id="3" name="Rectangle 3"/>
          <p:cNvSpPr/>
          <p:nvPr/>
        </p:nvSpPr>
        <p:spPr>
          <a:xfrm>
            <a:off x="0" y="0"/>
            <a:ext cx="12192000" cy="6858000"/>
          </a:xfrm>
          <a:prstGeom prst="rect">
            <a:avLst/>
          </a:prstGeom>
          <a:gradFill>
            <a:gsLst>
              <a:gs pos="0">
                <a:srgbClr val="1A2F4F">
                  <a:alpha val="60000"/>
                </a:srgbClr>
              </a:gs>
              <a:gs pos="100000">
                <a:srgbClr val="0A1628">
                  <a:alpha val="0"/>
                </a:srgbClr>
              </a:gs>
            </a:gsLst>
            <a:path path="circle">
              <a:fillToRect l="50000" t="50000" r="50000" b="50000"/>
            </a:path>
          </a:gradFill>
          <a:ln>
            <a:noFill/>
          </a:ln>
        </p:spPr>
      </p:sp>
      <p:grpSp>
        <p:nvGrpSpPr>
          <p:cNvPr id="7" name="Group 7"/>
          <p:cNvGrpSpPr/>
          <p:nvPr/>
        </p:nvGrpSpPr>
        <p:grpSpPr>
          <a:xfrm>
            <a:off x="762000" y="762000"/>
            <a:ext cx="940308" cy="438150"/>
            <a:chOff x="762000" y="762000"/>
            <a:chExt cx="940308" cy="438150"/>
          </a:xfrm>
        </p:grpSpPr>
        <p:sp>
          <p:nvSpPr>
            <p:cNvPr id="4" name="Rectangle 4"/>
            <p:cNvSpPr/>
            <p:nvPr/>
          </p:nvSpPr>
          <p:spPr>
            <a:xfrm>
              <a:off x="762000" y="762000"/>
              <a:ext cx="38100" cy="266700"/>
            </a:xfrm>
            <a:prstGeom prst="rect">
              <a:avLst/>
            </a:prstGeom>
            <a:solidFill>
              <a:srgbClr val="00D9FF"/>
            </a:solidFill>
            <a:ln>
              <a:noFill/>
            </a:ln>
          </p:spPr>
        </p:sp>
        <p:sp>
          <p:nvSpPr>
            <p:cNvPr id="5" name="TextBox 5"/>
            <p:cNvSpPr txBox="1"/>
            <p:nvPr/>
          </p:nvSpPr>
          <p:spPr>
            <a:xfrm>
              <a:off x="920115" y="782002"/>
              <a:ext cx="578739" cy="213360"/>
            </a:xfrm>
            <a:prstGeom prst="rect">
              <a:avLst/>
            </a:prstGeom>
            <a:noFill/>
            <a:ln>
              <a:noFill/>
            </a:ln>
          </p:spPr>
          <p:txBody>
            <a:bodyPr wrap="none" lIns="0" tIns="0" rIns="0" bIns="0" anchor="t" anchorCtr="0">
              <a:spAutoFit/>
            </a:bodyPr>
            <a:lstStyle/>
            <a:p>
              <a:pPr algn="l"/>
              <a:r>
                <a:rPr lang="en-US" sz="1050" dirty="0">
                  <a:solidFill>
                    <a:srgbClr val="8B9AB3"/>
                  </a:solidFill>
                  <a:latin typeface="Pretendard 700"/>
                  <a:ea typeface="Malgun Gothic"/>
                  <a:cs typeface="Pretendard 700"/>
                </a:rPr>
                <a:t>PART 02</a:t>
              </a:r>
            </a:p>
          </p:txBody>
        </p:sp>
        <p:sp>
          <p:nvSpPr>
            <p:cNvPr id="6" name="TextBox 6"/>
            <p:cNvSpPr txBox="1"/>
            <p:nvPr/>
          </p:nvSpPr>
          <p:spPr>
            <a:xfrm>
              <a:off x="918210" y="956310"/>
              <a:ext cx="784098"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현실 직시</a:t>
              </a:r>
            </a:p>
          </p:txBody>
        </p:sp>
      </p:grpSp>
      <p:sp>
        <p:nvSpPr>
          <p:cNvPr id="8" name="Rectangle 8"/>
          <p:cNvSpPr/>
          <p:nvPr/>
        </p:nvSpPr>
        <p:spPr>
          <a:xfrm>
            <a:off x="3619500" y="2076450"/>
            <a:ext cx="4953000" cy="9525"/>
          </a:xfrm>
          <a:prstGeom prst="rect">
            <a:avLst/>
          </a:prstGeom>
          <a:gradFill>
            <a:gsLst>
              <a:gs pos="0">
                <a:srgbClr val="00D9FF">
                  <a:alpha val="0"/>
                </a:srgbClr>
              </a:gs>
              <a:gs pos="50000">
                <a:srgbClr val="00D9FF"/>
              </a:gs>
              <a:gs pos="100000">
                <a:srgbClr val="00D9FF">
                  <a:alpha val="0"/>
                </a:srgbClr>
              </a:gs>
            </a:gsLst>
            <a:lin ang="0" scaled="1"/>
          </a:gradFill>
          <a:ln>
            <a:noFill/>
          </a:ln>
        </p:spPr>
      </p:sp>
      <p:sp>
        <p:nvSpPr>
          <p:cNvPr id="9" name="TextBox 9"/>
          <p:cNvSpPr txBox="1"/>
          <p:nvPr/>
        </p:nvSpPr>
        <p:spPr>
          <a:xfrm>
            <a:off x="5392864" y="2327910"/>
            <a:ext cx="1406271" cy="243840"/>
          </a:xfrm>
          <a:prstGeom prst="rect">
            <a:avLst/>
          </a:prstGeom>
          <a:noFill/>
          <a:ln>
            <a:noFill/>
          </a:ln>
        </p:spPr>
        <p:txBody>
          <a:bodyPr wrap="none" lIns="0" tIns="0" rIns="0" bIns="0" anchor="t" anchorCtr="0">
            <a:spAutoFit/>
          </a:bodyPr>
          <a:lstStyle/>
          <a:p>
            <a:pPr algn="ctr"/>
            <a:r>
              <a:rPr lang="ko-KR" sz="1200" dirty="0">
                <a:solidFill>
                  <a:srgbClr val="8B9AB3"/>
                </a:solidFill>
                <a:latin typeface="Pretendard 400"/>
                <a:ea typeface="Malgun Gothic"/>
                <a:cs typeface="Pretendard 400"/>
              </a:rPr>
              <a:t>— 지금, 이 순간 —</a:t>
            </a:r>
          </a:p>
        </p:txBody>
      </p:sp>
      <p:sp>
        <p:nvSpPr>
          <p:cNvPr id="10" name="TextBox 10"/>
          <p:cNvSpPr txBox="1"/>
          <p:nvPr/>
        </p:nvSpPr>
        <p:spPr>
          <a:xfrm>
            <a:off x="2451911" y="3166110"/>
            <a:ext cx="7288178" cy="853440"/>
          </a:xfrm>
          <a:prstGeom prst="rect">
            <a:avLst/>
          </a:prstGeom>
          <a:noFill/>
          <a:ln>
            <a:noFill/>
          </a:ln>
        </p:spPr>
        <p:txBody>
          <a:bodyPr wrap="none" lIns="0" tIns="0" rIns="0" bIns="0" anchor="t" anchorCtr="0">
            <a:spAutoFit/>
          </a:bodyPr>
          <a:lstStyle/>
          <a:p>
            <a:pPr algn="ctr"/>
            <a:r>
              <a:rPr lang="ko-KR" sz="4200" b="1" dirty="0">
                <a:solidFill>
                  <a:srgbClr val="E8EEF7"/>
                </a:solidFill>
                <a:latin typeface="Pretendard 900"/>
                <a:ea typeface="Malgun Gothic"/>
                <a:cs typeface="Pretendard 900"/>
              </a:rPr>
              <a:t>당신이 작성하던 코드를,</a:t>
            </a:r>
          </a:p>
        </p:txBody>
      </p:sp>
      <p:sp>
        <p:nvSpPr>
          <p:cNvPr id="11" name="TextBox 11"/>
          <p:cNvSpPr txBox="1"/>
          <p:nvPr/>
        </p:nvSpPr>
        <p:spPr>
          <a:xfrm>
            <a:off x="2822258" y="3851910"/>
            <a:ext cx="6547485" cy="853440"/>
          </a:xfrm>
          <a:prstGeom prst="rect">
            <a:avLst/>
          </a:prstGeom>
          <a:noFill/>
          <a:ln>
            <a:noFill/>
          </a:ln>
        </p:spPr>
        <p:txBody>
          <a:bodyPr wrap="none" lIns="0" tIns="0" rIns="0" bIns="0" anchor="t" anchorCtr="0">
            <a:spAutoFit/>
          </a:bodyPr>
          <a:lstStyle/>
          <a:p>
            <a:pPr algn="ctr"/>
            <a:r>
              <a:rPr lang="ko-KR" sz="4200" b="1" dirty="0">
                <a:solidFill>
                  <a:srgbClr val="E8EEF7"/>
                </a:solidFill>
                <a:latin typeface="Pretendard 900"/>
                <a:ea typeface="Malgun Gothic"/>
                <a:cs typeface="Pretendard 900"/>
              </a:rPr>
              <a:t xml:space="preserve">이제 </a:t>
            </a:r>
            <a:r>
              <a:rPr lang="en-US" sz="4200" b="1" dirty="0">
                <a:solidFill>
                  <a:srgbClr val="00D9FF"/>
                </a:solidFill>
                <a:latin typeface="Pretendard 900"/>
                <a:ea typeface="Malgun Gothic"/>
                <a:cs typeface="Pretendard 900"/>
              </a:rPr>
              <a:t>AI</a:t>
            </a:r>
            <a:r>
              <a:rPr lang="ko-KR" sz="4200" b="1" dirty="0">
                <a:solidFill>
                  <a:srgbClr val="E8EEF7"/>
                </a:solidFill>
                <a:latin typeface="Pretendard 900"/>
                <a:ea typeface="Malgun Gothic"/>
                <a:cs typeface="Pretendard 900"/>
              </a:rPr>
              <a:t>가 작성합니다.</a:t>
            </a:r>
          </a:p>
        </p:txBody>
      </p:sp>
      <p:sp>
        <p:nvSpPr>
          <p:cNvPr id="12" name="Rectangle 12"/>
          <p:cNvSpPr/>
          <p:nvPr/>
        </p:nvSpPr>
        <p:spPr>
          <a:xfrm>
            <a:off x="3619500" y="4781550"/>
            <a:ext cx="4953000" cy="9525"/>
          </a:xfrm>
          <a:prstGeom prst="rect">
            <a:avLst/>
          </a:prstGeom>
          <a:gradFill>
            <a:gsLst>
              <a:gs pos="0">
                <a:srgbClr val="00D9FF">
                  <a:alpha val="0"/>
                </a:srgbClr>
              </a:gs>
              <a:gs pos="50000">
                <a:srgbClr val="00D9FF"/>
              </a:gs>
              <a:gs pos="100000">
                <a:srgbClr val="00D9FF">
                  <a:alpha val="0"/>
                </a:srgbClr>
              </a:gs>
            </a:gsLst>
            <a:lin ang="0" scaled="1"/>
          </a:gradFill>
          <a:ln>
            <a:noFill/>
          </a:ln>
        </p:spPr>
      </p:sp>
      <p:grpSp>
        <p:nvGrpSpPr>
          <p:cNvPr id="14" name="Group 14"/>
          <p:cNvGrpSpPr/>
          <p:nvPr/>
        </p:nvGrpSpPr>
        <p:grpSpPr>
          <a:xfrm>
            <a:off x="750570" y="6189345"/>
            <a:ext cx="1376743" cy="182880"/>
            <a:chOff x="750570" y="6189345"/>
            <a:chExt cx="1376743" cy="182880"/>
          </a:xfrm>
        </p:grpSpPr>
        <p:sp>
          <p:nvSpPr>
            <p:cNvPr id="13" name="TextBox 13"/>
            <p:cNvSpPr txBox="1"/>
            <p:nvPr/>
          </p:nvSpPr>
          <p:spPr>
            <a:xfrm>
              <a:off x="750570" y="6189345"/>
              <a:ext cx="1376743" cy="182880"/>
            </a:xfrm>
            <a:prstGeom prst="rect">
              <a:avLst/>
            </a:prstGeom>
            <a:noFill/>
            <a:ln>
              <a:noFill/>
            </a:ln>
          </p:spPr>
          <p:txBody>
            <a:bodyPr wrap="none" lIns="0" tIns="0" rIns="0" bIns="0" anchor="t" anchorCtr="0">
              <a:spAutoFit/>
            </a:bodyPr>
            <a:lstStyle/>
            <a:p>
              <a:pPr algn="l"/>
              <a:r>
                <a:rPr lang="ko-KR" sz="900" dirty="0">
                  <a:solidFill>
                    <a:srgbClr val="8B9AB3"/>
                  </a:solidFill>
                  <a:latin typeface="Pretendard 400"/>
                  <a:ea typeface="Malgun Gothic"/>
                  <a:cs typeface="Pretendard 400"/>
                </a:rPr>
                <a:t>개발자의 종말: AI 시대</a:t>
              </a:r>
            </a:p>
          </p:txBody>
        </p:sp>
      </p:grpSp>
      <p:grpSp>
        <p:nvGrpSpPr>
          <p:cNvPr id="16" name="Group 16"/>
          <p:cNvGrpSpPr/>
          <p:nvPr/>
        </p:nvGrpSpPr>
        <p:grpSpPr>
          <a:xfrm>
            <a:off x="11011090" y="6189345"/>
            <a:ext cx="430340" cy="182880"/>
            <a:chOff x="11011090" y="6189345"/>
            <a:chExt cx="430340" cy="182880"/>
          </a:xfrm>
        </p:grpSpPr>
        <p:sp>
          <p:nvSpPr>
            <p:cNvPr id="15" name="TextBox 15"/>
            <p:cNvSpPr txBox="1"/>
            <p:nvPr/>
          </p:nvSpPr>
          <p:spPr>
            <a:xfrm>
              <a:off x="11011090" y="6189345"/>
              <a:ext cx="430340" cy="182880"/>
            </a:xfrm>
            <a:prstGeom prst="rect">
              <a:avLst/>
            </a:prstGeom>
            <a:noFill/>
            <a:ln>
              <a:noFill/>
            </a:ln>
          </p:spPr>
          <p:txBody>
            <a:bodyPr wrap="none" lIns="0" tIns="0" rIns="0" bIns="0" anchor="t" anchorCtr="0">
              <a:spAutoFit/>
            </a:bodyPr>
            <a:lstStyle/>
            <a:p>
              <a:pPr algn="r"/>
              <a:r>
                <a:rPr lang="en-US" sz="900" dirty="0">
                  <a:solidFill>
                    <a:srgbClr val="8B9AB3"/>
                  </a:solidFill>
                  <a:latin typeface="Pretendard 700"/>
                  <a:ea typeface="Malgun Gothic"/>
                  <a:cs typeface="Pretendard 700"/>
                </a:rPr>
                <a:t>02 / 10</a:t>
              </a:r>
            </a:p>
          </p:txBody>
        </p:sp>
      </p:grpSp>
    </p:spTree>
  </p:cSld>
  <p:clrMapOvr>
    <a:masterClrMapping/>
  </p:clrMapOvr>
  <p:transition xmlns:p14="http://schemas.microsoft.com/office/powerpoint/2010/main" p14:dur="5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1628"/>
              </a:gs>
              <a:gs pos="100000">
                <a:srgbClr val="13243B"/>
              </a:gs>
            </a:gsLst>
            <a:lin ang="5400000" scaled="1"/>
          </a:gradFill>
          <a:ln>
            <a:noFill/>
          </a:ln>
        </p:spPr>
      </p:sp>
      <p:grpSp>
        <p:nvGrpSpPr>
          <p:cNvPr id="7" name="Group 7"/>
          <p:cNvGrpSpPr/>
          <p:nvPr/>
        </p:nvGrpSpPr>
        <p:grpSpPr>
          <a:xfrm>
            <a:off x="529590" y="569595"/>
            <a:ext cx="3778082" cy="1154430"/>
            <a:chOff x="529590" y="569595"/>
            <a:chExt cx="3778082" cy="1154430"/>
          </a:xfrm>
        </p:grpSpPr>
        <p:sp>
          <p:nvSpPr>
            <p:cNvPr id="3" name="TextBox 3"/>
            <p:cNvSpPr txBox="1"/>
            <p:nvPr/>
          </p:nvSpPr>
          <p:spPr>
            <a:xfrm>
              <a:off x="560070" y="569595"/>
              <a:ext cx="1159859" cy="182880"/>
            </a:xfrm>
            <a:prstGeom prst="rect">
              <a:avLst/>
            </a:prstGeom>
            <a:noFill/>
            <a:ln>
              <a:noFill/>
            </a:ln>
          </p:spPr>
          <p:txBody>
            <a:bodyPr wrap="none" lIns="0" tIns="0" rIns="0" bIns="0" anchor="t" anchorCtr="0">
              <a:spAutoFit/>
            </a:bodyPr>
            <a:lstStyle/>
            <a:p>
              <a:pPr algn="l"/>
              <a:r>
                <a:rPr lang="en-US" sz="900" dirty="0">
                  <a:solidFill>
                    <a:srgbClr val="8B9AB3"/>
                  </a:solidFill>
                  <a:latin typeface="Pretendard 400"/>
                  <a:ea typeface="Malgun Gothic"/>
                  <a:cs typeface="Pretendard 400"/>
                </a:rPr>
                <a:t>P03 · COMPARISON</a:t>
              </a:r>
            </a:p>
          </p:txBody>
        </p:sp>
        <p:sp>
          <p:nvSpPr>
            <p:cNvPr id="4" name="TextBox 4"/>
            <p:cNvSpPr txBox="1"/>
            <p:nvPr/>
          </p:nvSpPr>
          <p:spPr>
            <a:xfrm>
              <a:off x="529590" y="786765"/>
              <a:ext cx="3778082" cy="670560"/>
            </a:xfrm>
            <a:prstGeom prst="rect">
              <a:avLst/>
            </a:prstGeom>
            <a:noFill/>
            <a:ln>
              <a:noFill/>
            </a:ln>
          </p:spPr>
          <p:txBody>
            <a:bodyPr wrap="none" lIns="0" tIns="0" rIns="0" bIns="0" anchor="t" anchorCtr="0">
              <a:spAutoFit/>
            </a:bodyPr>
            <a:lstStyle/>
            <a:p>
              <a:pPr algn="l"/>
              <a:r>
                <a:rPr lang="ko-KR" sz="3300" b="1" dirty="0">
                  <a:solidFill>
                    <a:srgbClr val="E8EEF7"/>
                  </a:solidFill>
                  <a:latin typeface="Pretendard 900"/>
                  <a:ea typeface="Malgun Gothic"/>
                  <a:cs typeface="Pretendard 900"/>
                </a:rPr>
                <a:t>풍경은 바뀌었다</a:t>
              </a:r>
            </a:p>
          </p:txBody>
        </p:sp>
        <p:sp>
          <p:nvSpPr>
            <p:cNvPr id="5" name="TextBox 5"/>
            <p:cNvSpPr txBox="1"/>
            <p:nvPr/>
          </p:nvSpPr>
          <p:spPr>
            <a:xfrm>
              <a:off x="554355" y="1340168"/>
              <a:ext cx="3681889" cy="274320"/>
            </a:xfrm>
            <a:prstGeom prst="rect">
              <a:avLst/>
            </a:prstGeom>
            <a:noFill/>
            <a:ln>
              <a:noFill/>
            </a:ln>
          </p:spPr>
          <p:txBody>
            <a:bodyPr wrap="none" lIns="0" tIns="0" rIns="0" bIns="0" anchor="t" anchorCtr="0">
              <a:spAutoFit/>
            </a:bodyPr>
            <a:lstStyle/>
            <a:p>
              <a:pPr algn="l"/>
              <a:r>
                <a:rPr lang="ko-KR" sz="1350" dirty="0">
                  <a:solidFill>
                    <a:srgbClr val="8B9AB3"/>
                  </a:solidFill>
                  <a:latin typeface="Pretendard 400"/>
                  <a:ea typeface="Malgun Gothic"/>
                  <a:cs typeface="Pretendard 400"/>
                </a:rPr>
                <a:t>10년 전과 지금, 같은 직무 다른 작업 방식</a:t>
              </a:r>
            </a:p>
          </p:txBody>
        </p:sp>
        <p:sp>
          <p:nvSpPr>
            <p:cNvPr id="6" name="Line 6"/>
            <p:cNvSpPr/>
            <p:nvPr/>
          </p:nvSpPr>
          <p:spPr>
            <a:xfrm>
              <a:off x="571500" y="1714500"/>
              <a:ext cx="1143000" cy="9525"/>
            </a:xfrm>
            <a:custGeom>
              <a:avLst/>
              <a:gdLst/>
              <a:ahLst/>
              <a:cxnLst/>
              <a:rect l="l" t="t" r="r" b="b"/>
              <a:pathLst>
                <a:path w="1143000" h="9525">
                  <a:moveTo>
                    <a:pt x="0" y="0"/>
                  </a:moveTo>
                  <a:lnTo>
                    <a:pt x="1143000" y="0"/>
                  </a:lnTo>
                </a:path>
              </a:pathLst>
            </a:custGeom>
            <a:noFill/>
            <a:ln w="19050">
              <a:solidFill>
                <a:srgbClr val="00D9FF"/>
              </a:solidFill>
            </a:ln>
          </p:spPr>
        </p:sp>
      </p:grpSp>
      <p:grpSp>
        <p:nvGrpSpPr>
          <p:cNvPr id="30" name="Group 30"/>
          <p:cNvGrpSpPr/>
          <p:nvPr/>
        </p:nvGrpSpPr>
        <p:grpSpPr>
          <a:xfrm>
            <a:off x="571500" y="2000250"/>
            <a:ext cx="5334000" cy="4286250"/>
            <a:chOff x="571500" y="2000250"/>
            <a:chExt cx="5334000" cy="4286250"/>
          </a:xfrm>
        </p:grpSpPr>
        <p:sp>
          <p:nvSpPr>
            <p:cNvPr id="8" name="Rectangle 8"/>
            <p:cNvSpPr/>
            <p:nvPr/>
          </p:nvSpPr>
          <p:spPr>
            <a:xfrm>
              <a:off x="571500" y="2000250"/>
              <a:ext cx="5334000" cy="4286250"/>
            </a:xfrm>
            <a:prstGeom prst="roundRect">
              <a:avLst>
                <a:gd name="adj" fmla="val 2667"/>
              </a:avLst>
            </a:prstGeom>
            <a:gradFill>
              <a:gsLst>
                <a:gs pos="0">
                  <a:srgbClr val="13243B"/>
                </a:gs>
                <a:gs pos="100000">
                  <a:srgbClr val="0A1628"/>
                </a:gs>
              </a:gsLst>
              <a:lin ang="2700000" scaled="1"/>
            </a:gradFill>
            <a:ln w="9525">
              <a:solidFill>
                <a:srgbClr val="8B9AB3">
                  <a:alpha val="15000"/>
                </a:srgbClr>
              </a:solidFill>
            </a:ln>
          </p:spPr>
        </p:sp>
        <p:sp>
          <p:nvSpPr>
            <p:cNvPr id="9" name="Rectangle 9"/>
            <p:cNvSpPr/>
            <p:nvPr/>
          </p:nvSpPr>
          <p:spPr>
            <a:xfrm>
              <a:off x="800100" y="2228850"/>
              <a:ext cx="876300" cy="266700"/>
            </a:xfrm>
            <a:prstGeom prst="roundRect">
              <a:avLst>
                <a:gd name="adj" fmla="val 14286"/>
              </a:avLst>
            </a:prstGeom>
            <a:solidFill>
              <a:srgbClr val="8B9AB3">
                <a:alpha val="12000"/>
              </a:srgbClr>
            </a:solidFill>
            <a:ln>
              <a:noFill/>
            </a:ln>
          </p:spPr>
        </p:sp>
        <p:sp>
          <p:nvSpPr>
            <p:cNvPr id="10" name="TextBox 10"/>
            <p:cNvSpPr txBox="1"/>
            <p:nvPr/>
          </p:nvSpPr>
          <p:spPr>
            <a:xfrm>
              <a:off x="1110294" y="2320766"/>
              <a:ext cx="255913" cy="167640"/>
            </a:xfrm>
            <a:prstGeom prst="rect">
              <a:avLst/>
            </a:prstGeom>
            <a:noFill/>
            <a:ln>
              <a:noFill/>
            </a:ln>
          </p:spPr>
          <p:txBody>
            <a:bodyPr wrap="none" lIns="0" tIns="0" rIns="0" bIns="0" anchor="t" anchorCtr="0">
              <a:spAutoFit/>
            </a:bodyPr>
            <a:lstStyle/>
            <a:p>
              <a:pPr algn="ctr"/>
              <a:r>
                <a:rPr lang="en-US" sz="825" dirty="0">
                  <a:solidFill>
                    <a:srgbClr val="8B9AB3"/>
                  </a:solidFill>
                  <a:latin typeface="Pretendard 700"/>
                  <a:ea typeface="Malgun Gothic"/>
                  <a:cs typeface="Pretendard 700"/>
                </a:rPr>
                <a:t>2014</a:t>
              </a:r>
            </a:p>
          </p:txBody>
        </p:sp>
        <p:sp>
          <p:nvSpPr>
            <p:cNvPr id="11" name="TextBox 11"/>
            <p:cNvSpPr txBox="1"/>
            <p:nvPr/>
          </p:nvSpPr>
          <p:spPr>
            <a:xfrm>
              <a:off x="765810" y="2623185"/>
              <a:ext cx="896684" cy="548640"/>
            </a:xfrm>
            <a:prstGeom prst="rect">
              <a:avLst/>
            </a:prstGeom>
            <a:noFill/>
            <a:ln>
              <a:noFill/>
            </a:ln>
          </p:spPr>
          <p:txBody>
            <a:bodyPr wrap="none" lIns="0" tIns="0" rIns="0" bIns="0" anchor="t" anchorCtr="0">
              <a:spAutoFit/>
            </a:bodyPr>
            <a:lstStyle/>
            <a:p>
              <a:pPr algn="l"/>
              <a:r>
                <a:rPr lang="ko-KR" sz="2700" b="1" dirty="0">
                  <a:solidFill>
                    <a:srgbClr val="E8EEF7"/>
                  </a:solidFill>
                  <a:latin typeface="Pretendard 900"/>
                  <a:ea typeface="Malgun Gothic"/>
                  <a:cs typeface="Pretendard 900"/>
                </a:rPr>
                <a:t>과거</a:t>
              </a:r>
            </a:p>
          </p:txBody>
        </p:sp>
        <p:sp>
          <p:nvSpPr>
            <p:cNvPr id="12" name="TextBox 12"/>
            <p:cNvSpPr txBox="1"/>
            <p:nvPr/>
          </p:nvSpPr>
          <p:spPr>
            <a:xfrm>
              <a:off x="785812" y="3098006"/>
              <a:ext cx="2476738" cy="228600"/>
            </a:xfrm>
            <a:prstGeom prst="rect">
              <a:avLst/>
            </a:prstGeom>
            <a:noFill/>
            <a:ln>
              <a:noFill/>
            </a:ln>
          </p:spPr>
          <p:txBody>
            <a:bodyPr wrap="none" lIns="0" tIns="0" rIns="0" bIns="0" anchor="t" anchorCtr="0">
              <a:spAutoFit/>
            </a:bodyPr>
            <a:lstStyle/>
            <a:p>
              <a:pPr algn="l"/>
              <a:r>
                <a:rPr lang="ko-KR" sz="1125" dirty="0">
                  <a:solidFill>
                    <a:srgbClr val="8B9AB3"/>
                  </a:solidFill>
                  <a:latin typeface="Pretendard 400"/>
                  <a:ea typeface="Malgun Gothic"/>
                  <a:cs typeface="Pretendard 400"/>
                </a:rPr>
                <a:t>개발자의 하루는 검색과 인내였다</a:t>
              </a:r>
            </a:p>
          </p:txBody>
        </p:sp>
        <p:sp>
          <p:nvSpPr>
            <p:cNvPr id="13" name="Line 13"/>
            <p:cNvSpPr/>
            <p:nvPr/>
          </p:nvSpPr>
          <p:spPr>
            <a:xfrm>
              <a:off x="800100" y="3467100"/>
              <a:ext cx="4876800" cy="9525"/>
            </a:xfrm>
            <a:custGeom>
              <a:avLst/>
              <a:gdLst/>
              <a:ahLst/>
              <a:cxnLst/>
              <a:rect l="l" t="t" r="r" b="b"/>
              <a:pathLst>
                <a:path w="4876800" h="9525">
                  <a:moveTo>
                    <a:pt x="0" y="0"/>
                  </a:moveTo>
                  <a:lnTo>
                    <a:pt x="4876800" y="0"/>
                  </a:lnTo>
                </a:path>
              </a:pathLst>
            </a:custGeom>
            <a:noFill/>
            <a:ln w="9525">
              <a:solidFill>
                <a:srgbClr val="8B9AB3">
                  <a:alpha val="20000"/>
                </a:srgbClr>
              </a:solidFill>
            </a:ln>
          </p:spPr>
        </p:sp>
        <p:grpSp>
          <p:nvGrpSpPr>
            <p:cNvPr id="17" name="Group 17"/>
            <p:cNvGrpSpPr/>
            <p:nvPr/>
          </p:nvGrpSpPr>
          <p:grpSpPr>
            <a:xfrm>
              <a:off x="866775" y="3769042"/>
              <a:ext cx="2657047" cy="476727"/>
              <a:chOff x="866775" y="3769042"/>
              <a:chExt cx="2657047" cy="476727"/>
            </a:xfrm>
          </p:grpSpPr>
          <p:sp>
            <p:nvSpPr>
              <p:cNvPr id="14" name="Ellipse 14"/>
              <p:cNvSpPr/>
              <p:nvPr/>
            </p:nvSpPr>
            <p:spPr>
              <a:xfrm>
                <a:off x="866775" y="3838575"/>
                <a:ext cx="57150" cy="57150"/>
              </a:xfrm>
              <a:prstGeom prst="ellipse">
                <a:avLst/>
              </a:prstGeom>
              <a:solidFill>
                <a:srgbClr val="8B9AB3"/>
              </a:solidFill>
              <a:ln>
                <a:noFill/>
              </a:ln>
            </p:spPr>
          </p:sp>
          <p:sp>
            <p:nvSpPr>
              <p:cNvPr id="15" name="TextBox 15"/>
              <p:cNvSpPr txBox="1"/>
              <p:nvPr/>
            </p:nvSpPr>
            <p:spPr>
              <a:xfrm>
                <a:off x="1087755" y="3769042"/>
                <a:ext cx="1532763" cy="274320"/>
              </a:xfrm>
              <a:prstGeom prst="rect">
                <a:avLst/>
              </a:prstGeom>
              <a:noFill/>
              <a:ln>
                <a:noFill/>
              </a:ln>
            </p:spPr>
            <p:txBody>
              <a:bodyPr wrap="none" lIns="0" tIns="0" rIns="0" bIns="0" anchor="t" anchorCtr="0">
                <a:spAutoFit/>
              </a:bodyPr>
              <a:lstStyle/>
              <a:p>
                <a:pPr algn="l"/>
                <a:r>
                  <a:rPr lang="en-US" sz="1350" dirty="0">
                    <a:solidFill>
                      <a:srgbClr val="E8EEF7"/>
                    </a:solidFill>
                    <a:latin typeface="Pretendard 700"/>
                    <a:ea typeface="Malgun Gothic"/>
                    <a:cs typeface="Pretendard 700"/>
                  </a:rPr>
                  <a:t>Stack Overflow</a:t>
                </a:r>
              </a:p>
            </p:txBody>
          </p:sp>
          <p:sp>
            <p:nvSpPr>
              <p:cNvPr id="16" name="TextBox 16"/>
              <p:cNvSpPr txBox="1"/>
              <p:nvPr/>
            </p:nvSpPr>
            <p:spPr>
              <a:xfrm>
                <a:off x="1092518" y="4047649"/>
                <a:ext cx="2431304"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탭을 20개씩 띄워 놓고 답을 찾는 시간</a:t>
                </a:r>
              </a:p>
            </p:txBody>
          </p:sp>
        </p:grpSp>
        <p:grpSp>
          <p:nvGrpSpPr>
            <p:cNvPr id="21" name="Group 21"/>
            <p:cNvGrpSpPr/>
            <p:nvPr/>
          </p:nvGrpSpPr>
          <p:grpSpPr>
            <a:xfrm>
              <a:off x="866775" y="4397692"/>
              <a:ext cx="2984564" cy="476727"/>
              <a:chOff x="866775" y="4397692"/>
              <a:chExt cx="2984564" cy="476727"/>
            </a:xfrm>
          </p:grpSpPr>
          <p:sp>
            <p:nvSpPr>
              <p:cNvPr id="18" name="Ellipse 18"/>
              <p:cNvSpPr/>
              <p:nvPr/>
            </p:nvSpPr>
            <p:spPr>
              <a:xfrm>
                <a:off x="866775" y="4467225"/>
                <a:ext cx="57150" cy="57150"/>
              </a:xfrm>
              <a:prstGeom prst="ellipse">
                <a:avLst/>
              </a:prstGeom>
              <a:solidFill>
                <a:srgbClr val="8B9AB3"/>
              </a:solidFill>
              <a:ln>
                <a:noFill/>
              </a:ln>
            </p:spPr>
          </p:sp>
          <p:sp>
            <p:nvSpPr>
              <p:cNvPr id="19" name="TextBox 19"/>
              <p:cNvSpPr txBox="1"/>
              <p:nvPr/>
            </p:nvSpPr>
            <p:spPr>
              <a:xfrm>
                <a:off x="1087755" y="4397692"/>
                <a:ext cx="882110" cy="274320"/>
              </a:xfrm>
              <a:prstGeom prst="rect">
                <a:avLst/>
              </a:prstGeom>
              <a:noFill/>
              <a:ln>
                <a:noFill/>
              </a:ln>
            </p:spPr>
            <p:txBody>
              <a:bodyPr wrap="none" lIns="0" tIns="0" rIns="0" bIns="0" anchor="t" anchorCtr="0">
                <a:spAutoFit/>
              </a:bodyPr>
              <a:lstStyle/>
              <a:p>
                <a:pPr algn="l"/>
                <a:r>
                  <a:rPr lang="ko-KR" sz="1350" dirty="0">
                    <a:solidFill>
                      <a:srgbClr val="E8EEF7"/>
                    </a:solidFill>
                    <a:latin typeface="Pretendard 700"/>
                    <a:ea typeface="Malgun Gothic"/>
                    <a:cs typeface="Pretendard 700"/>
                  </a:rPr>
                  <a:t>문서 검색</a:t>
                </a:r>
              </a:p>
            </p:txBody>
          </p:sp>
          <p:sp>
            <p:nvSpPr>
              <p:cNvPr id="20" name="TextBox 20"/>
              <p:cNvSpPr txBox="1"/>
              <p:nvPr/>
            </p:nvSpPr>
            <p:spPr>
              <a:xfrm>
                <a:off x="1092518" y="4676299"/>
                <a:ext cx="2758821"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API 레퍼런스를 한 줄씩 읽어 내려가던 오후</a:t>
                </a:r>
              </a:p>
            </p:txBody>
          </p:sp>
        </p:grpSp>
        <p:grpSp>
          <p:nvGrpSpPr>
            <p:cNvPr id="25" name="Group 25"/>
            <p:cNvGrpSpPr/>
            <p:nvPr/>
          </p:nvGrpSpPr>
          <p:grpSpPr>
            <a:xfrm>
              <a:off x="866775" y="5026342"/>
              <a:ext cx="2386489" cy="476727"/>
              <a:chOff x="866775" y="5026342"/>
              <a:chExt cx="2386489" cy="476727"/>
            </a:xfrm>
          </p:grpSpPr>
          <p:sp>
            <p:nvSpPr>
              <p:cNvPr id="22" name="Ellipse 22"/>
              <p:cNvSpPr/>
              <p:nvPr/>
            </p:nvSpPr>
            <p:spPr>
              <a:xfrm>
                <a:off x="866775" y="5095875"/>
                <a:ext cx="57150" cy="57150"/>
              </a:xfrm>
              <a:prstGeom prst="ellipse">
                <a:avLst/>
              </a:prstGeom>
              <a:solidFill>
                <a:srgbClr val="8B9AB3"/>
              </a:solidFill>
              <a:ln>
                <a:noFill/>
              </a:ln>
            </p:spPr>
          </p:sp>
          <p:sp>
            <p:nvSpPr>
              <p:cNvPr id="23" name="TextBox 23"/>
              <p:cNvSpPr txBox="1"/>
              <p:nvPr/>
            </p:nvSpPr>
            <p:spPr>
              <a:xfrm>
                <a:off x="1087755" y="5026342"/>
                <a:ext cx="1079278" cy="274320"/>
              </a:xfrm>
              <a:prstGeom prst="rect">
                <a:avLst/>
              </a:prstGeom>
              <a:noFill/>
              <a:ln>
                <a:noFill/>
              </a:ln>
            </p:spPr>
            <p:txBody>
              <a:bodyPr wrap="none" lIns="0" tIns="0" rIns="0" bIns="0" anchor="t" anchorCtr="0">
                <a:spAutoFit/>
              </a:bodyPr>
              <a:lstStyle/>
              <a:p>
                <a:pPr algn="l"/>
                <a:r>
                  <a:rPr lang="ko-KR" sz="1350" dirty="0">
                    <a:solidFill>
                      <a:srgbClr val="E8EEF7"/>
                    </a:solidFill>
                    <a:latin typeface="Pretendard 700"/>
                    <a:ea typeface="Malgun Gothic"/>
                    <a:cs typeface="Pretendard 700"/>
                  </a:rPr>
                  <a:t>수동 디버깅</a:t>
                </a:r>
              </a:p>
            </p:txBody>
          </p:sp>
          <p:sp>
            <p:nvSpPr>
              <p:cNvPr id="24" name="TextBox 24"/>
              <p:cNvSpPr txBox="1"/>
              <p:nvPr/>
            </p:nvSpPr>
            <p:spPr>
              <a:xfrm>
                <a:off x="1092518" y="5304949"/>
                <a:ext cx="2160746"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print 문을 심으며 새벽 세 시까지</a:t>
                </a:r>
              </a:p>
            </p:txBody>
          </p:sp>
        </p:grpSp>
        <p:grpSp>
          <p:nvGrpSpPr>
            <p:cNvPr id="29" name="Group 29"/>
            <p:cNvGrpSpPr/>
            <p:nvPr/>
          </p:nvGrpSpPr>
          <p:grpSpPr>
            <a:xfrm>
              <a:off x="866775" y="5654992"/>
              <a:ext cx="2286095" cy="476727"/>
              <a:chOff x="866775" y="5654992"/>
              <a:chExt cx="2286095" cy="476727"/>
            </a:xfrm>
          </p:grpSpPr>
          <p:sp>
            <p:nvSpPr>
              <p:cNvPr id="26" name="Ellipse 26"/>
              <p:cNvSpPr/>
              <p:nvPr/>
            </p:nvSpPr>
            <p:spPr>
              <a:xfrm>
                <a:off x="866775" y="5724525"/>
                <a:ext cx="57150" cy="57150"/>
              </a:xfrm>
              <a:prstGeom prst="ellipse">
                <a:avLst/>
              </a:prstGeom>
              <a:solidFill>
                <a:srgbClr val="8B9AB3"/>
              </a:solidFill>
              <a:ln>
                <a:noFill/>
              </a:ln>
            </p:spPr>
          </p:sp>
          <p:sp>
            <p:nvSpPr>
              <p:cNvPr id="27" name="TextBox 27"/>
              <p:cNvSpPr txBox="1"/>
              <p:nvPr/>
            </p:nvSpPr>
            <p:spPr>
              <a:xfrm>
                <a:off x="1087755" y="5654992"/>
                <a:ext cx="2065115" cy="274320"/>
              </a:xfrm>
              <a:prstGeom prst="rect">
                <a:avLst/>
              </a:prstGeom>
              <a:noFill/>
              <a:ln>
                <a:noFill/>
              </a:ln>
            </p:spPr>
            <p:txBody>
              <a:bodyPr wrap="none" lIns="0" tIns="0" rIns="0" bIns="0" anchor="t" anchorCtr="0">
                <a:spAutoFit/>
              </a:bodyPr>
              <a:lstStyle/>
              <a:p>
                <a:pPr algn="l"/>
                <a:r>
                  <a:rPr lang="ko-KR" sz="1350" dirty="0">
                    <a:solidFill>
                      <a:srgbClr val="E8EEF7"/>
                    </a:solidFill>
                    <a:latin typeface="Pretendard 700"/>
                    <a:ea typeface="Malgun Gothic"/>
                    <a:cs typeface="Pretendard 700"/>
                  </a:rPr>
                  <a:t>며칠의 보일러플레이트</a:t>
                </a:r>
              </a:p>
            </p:txBody>
          </p:sp>
          <p:sp>
            <p:nvSpPr>
              <p:cNvPr id="28" name="TextBox 28"/>
              <p:cNvSpPr txBox="1"/>
              <p:nvPr/>
            </p:nvSpPr>
            <p:spPr>
              <a:xfrm>
                <a:off x="1092518" y="5933599"/>
                <a:ext cx="1833229"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CRUD 한 벌을 짜는 데 사나흘</a:t>
                </a:r>
              </a:p>
            </p:txBody>
          </p:sp>
        </p:grpSp>
      </p:grpSp>
      <p:grpSp>
        <p:nvGrpSpPr>
          <p:cNvPr id="33" name="Group 33"/>
          <p:cNvGrpSpPr/>
          <p:nvPr/>
        </p:nvGrpSpPr>
        <p:grpSpPr>
          <a:xfrm>
            <a:off x="5886450" y="2190750"/>
            <a:ext cx="419100" cy="3905250"/>
            <a:chOff x="5886450" y="2190750"/>
            <a:chExt cx="419100" cy="3905250"/>
          </a:xfrm>
        </p:grpSpPr>
        <p:sp>
          <p:nvSpPr>
            <p:cNvPr id="31" name="Line 31"/>
            <p:cNvSpPr/>
            <p:nvPr/>
          </p:nvSpPr>
          <p:spPr>
            <a:xfrm>
              <a:off x="6096000" y="2190750"/>
              <a:ext cx="9525" cy="3905250"/>
            </a:xfrm>
            <a:custGeom>
              <a:avLst/>
              <a:gdLst/>
              <a:ahLst/>
              <a:cxnLst/>
              <a:rect l="l" t="t" r="r" b="b"/>
              <a:pathLst>
                <a:path w="9525" h="3905250">
                  <a:moveTo>
                    <a:pt x="0" y="0"/>
                  </a:moveTo>
                  <a:lnTo>
                    <a:pt x="0" y="3905250"/>
                  </a:lnTo>
                </a:path>
              </a:pathLst>
            </a:custGeom>
            <a:noFill/>
            <a:ln w="9525">
              <a:gradFill>
                <a:gsLst>
                  <a:gs pos="0">
                    <a:srgbClr val="FF3D5A">
                      <a:alpha val="0"/>
                    </a:srgbClr>
                  </a:gs>
                  <a:gs pos="50000">
                    <a:srgbClr val="00D9FF">
                      <a:alpha val="60000"/>
                    </a:srgbClr>
                  </a:gs>
                  <a:gs pos="100000">
                    <a:srgbClr val="00D9FF">
                      <a:alpha val="0"/>
                    </a:srgbClr>
                  </a:gs>
                </a:gsLst>
                <a:lin ang="5400000" scaled="1"/>
              </a:gradFill>
            </a:ln>
          </p:spPr>
        </p:sp>
        <p:sp>
          <p:nvSpPr>
            <p:cNvPr id="32" name="Ellipse 32"/>
            <p:cNvSpPr/>
            <p:nvPr/>
          </p:nvSpPr>
          <p:spPr>
            <a:xfrm>
              <a:off x="5886450" y="3933825"/>
              <a:ext cx="419100" cy="419100"/>
            </a:xfrm>
            <a:prstGeom prst="ellipse">
              <a:avLst/>
            </a:prstGeom>
            <a:solidFill>
              <a:srgbClr val="0A1628"/>
            </a:solidFill>
            <a:ln w="14288">
              <a:solidFill>
                <a:srgbClr val="00D9FF"/>
              </a:solidFill>
            </a:ln>
          </p:spPr>
        </p:sp>
      </p:grpSp>
      <p:grpSp>
        <p:nvGrpSpPr>
          <p:cNvPr id="56" name="Group 56"/>
          <p:cNvGrpSpPr/>
          <p:nvPr/>
        </p:nvGrpSpPr>
        <p:grpSpPr>
          <a:xfrm>
            <a:off x="6286500" y="2000250"/>
            <a:ext cx="5334000" cy="4286250"/>
            <a:chOff x="6286500" y="2000250"/>
            <a:chExt cx="5334000" cy="4286250"/>
          </a:xfrm>
        </p:grpSpPr>
        <p:sp>
          <p:nvSpPr>
            <p:cNvPr id="34" name="Rectangle 34"/>
            <p:cNvSpPr/>
            <p:nvPr/>
          </p:nvSpPr>
          <p:spPr>
            <a:xfrm>
              <a:off x="6286500" y="2000250"/>
              <a:ext cx="5334000" cy="4286250"/>
            </a:xfrm>
            <a:prstGeom prst="roundRect">
              <a:avLst>
                <a:gd name="adj" fmla="val 2667"/>
              </a:avLst>
            </a:prstGeom>
            <a:gradFill>
              <a:gsLst>
                <a:gs pos="0">
                  <a:srgbClr val="1A2F4F"/>
                </a:gs>
                <a:gs pos="100000">
                  <a:srgbClr val="13243B"/>
                </a:gs>
              </a:gsLst>
              <a:lin ang="2700000" scaled="1"/>
            </a:gradFill>
            <a:ln w="9525">
              <a:solidFill>
                <a:srgbClr val="00D9FF">
                  <a:alpha val="25000"/>
                </a:srgbClr>
              </a:solidFill>
            </a:ln>
          </p:spPr>
        </p:sp>
        <p:sp>
          <p:nvSpPr>
            <p:cNvPr id="35" name="Rectangle 35"/>
            <p:cNvSpPr/>
            <p:nvPr/>
          </p:nvSpPr>
          <p:spPr>
            <a:xfrm>
              <a:off x="6515100" y="2228850"/>
              <a:ext cx="876300" cy="266700"/>
            </a:xfrm>
            <a:prstGeom prst="roundRect">
              <a:avLst>
                <a:gd name="adj" fmla="val 14286"/>
              </a:avLst>
            </a:prstGeom>
            <a:solidFill>
              <a:srgbClr val="00D9FF">
                <a:alpha val="12000"/>
              </a:srgbClr>
            </a:solidFill>
            <a:ln>
              <a:noFill/>
            </a:ln>
          </p:spPr>
        </p:sp>
        <p:sp>
          <p:nvSpPr>
            <p:cNvPr id="36" name="TextBox 36"/>
            <p:cNvSpPr txBox="1"/>
            <p:nvPr/>
          </p:nvSpPr>
          <p:spPr>
            <a:xfrm>
              <a:off x="6810232" y="2320766"/>
              <a:ext cx="286036" cy="167640"/>
            </a:xfrm>
            <a:prstGeom prst="rect">
              <a:avLst/>
            </a:prstGeom>
            <a:noFill/>
            <a:ln>
              <a:noFill/>
            </a:ln>
          </p:spPr>
          <p:txBody>
            <a:bodyPr wrap="none" lIns="0" tIns="0" rIns="0" bIns="0" anchor="t" anchorCtr="0">
              <a:spAutoFit/>
            </a:bodyPr>
            <a:lstStyle/>
            <a:p>
              <a:pPr algn="ctr"/>
              <a:r>
                <a:rPr lang="en-US" sz="825" dirty="0">
                  <a:solidFill>
                    <a:srgbClr val="00D9FF"/>
                  </a:solidFill>
                  <a:latin typeface="Pretendard 700"/>
                  <a:ea typeface="Malgun Gothic"/>
                  <a:cs typeface="Pretendard 700"/>
                </a:rPr>
                <a:t>2024</a:t>
              </a:r>
            </a:p>
          </p:txBody>
        </p:sp>
        <p:sp>
          <p:nvSpPr>
            <p:cNvPr id="37" name="TextBox 37"/>
            <p:cNvSpPr txBox="1"/>
            <p:nvPr/>
          </p:nvSpPr>
          <p:spPr>
            <a:xfrm>
              <a:off x="6480810" y="2623185"/>
              <a:ext cx="896684" cy="548640"/>
            </a:xfrm>
            <a:prstGeom prst="rect">
              <a:avLst/>
            </a:prstGeom>
            <a:noFill/>
            <a:ln>
              <a:noFill/>
            </a:ln>
          </p:spPr>
          <p:txBody>
            <a:bodyPr wrap="none" lIns="0" tIns="0" rIns="0" bIns="0" anchor="t" anchorCtr="0">
              <a:spAutoFit/>
            </a:bodyPr>
            <a:lstStyle/>
            <a:p>
              <a:pPr algn="l"/>
              <a:r>
                <a:rPr lang="ko-KR" sz="2700" b="1" dirty="0">
                  <a:solidFill>
                    <a:srgbClr val="E8EEF7"/>
                  </a:solidFill>
                  <a:latin typeface="Pretendard 900"/>
                  <a:ea typeface="Malgun Gothic"/>
                  <a:cs typeface="Pretendard 900"/>
                </a:rPr>
                <a:t>현재</a:t>
              </a:r>
            </a:p>
          </p:txBody>
        </p:sp>
        <p:sp>
          <p:nvSpPr>
            <p:cNvPr id="38" name="TextBox 38"/>
            <p:cNvSpPr txBox="1"/>
            <p:nvPr/>
          </p:nvSpPr>
          <p:spPr>
            <a:xfrm>
              <a:off x="6500812" y="3098006"/>
              <a:ext cx="2854642" cy="228600"/>
            </a:xfrm>
            <a:prstGeom prst="rect">
              <a:avLst/>
            </a:prstGeom>
            <a:noFill/>
            <a:ln>
              <a:noFill/>
            </a:ln>
          </p:spPr>
          <p:txBody>
            <a:bodyPr wrap="none" lIns="0" tIns="0" rIns="0" bIns="0" anchor="t" anchorCtr="0">
              <a:spAutoFit/>
            </a:bodyPr>
            <a:lstStyle/>
            <a:p>
              <a:pPr algn="l"/>
              <a:r>
                <a:rPr lang="ko-KR" sz="1125" dirty="0">
                  <a:solidFill>
                    <a:srgbClr val="8B9AB3"/>
                  </a:solidFill>
                  <a:latin typeface="Pretendard 400"/>
                  <a:ea typeface="Malgun Gothic"/>
                  <a:cs typeface="Pretendard 400"/>
                </a:rPr>
                <a:t>개발자의 하루는 대화와 검토가 되었다</a:t>
              </a:r>
            </a:p>
          </p:txBody>
        </p:sp>
        <p:sp>
          <p:nvSpPr>
            <p:cNvPr id="39" name="Line 39"/>
            <p:cNvSpPr/>
            <p:nvPr/>
          </p:nvSpPr>
          <p:spPr>
            <a:xfrm>
              <a:off x="6515100" y="3467100"/>
              <a:ext cx="4876800" cy="9525"/>
            </a:xfrm>
            <a:custGeom>
              <a:avLst/>
              <a:gdLst/>
              <a:ahLst/>
              <a:cxnLst/>
              <a:rect l="l" t="t" r="r" b="b"/>
              <a:pathLst>
                <a:path w="4876800" h="9525">
                  <a:moveTo>
                    <a:pt x="0" y="0"/>
                  </a:moveTo>
                  <a:lnTo>
                    <a:pt x="4876800" y="0"/>
                  </a:lnTo>
                </a:path>
              </a:pathLst>
            </a:custGeom>
            <a:noFill/>
            <a:ln w="9525">
              <a:solidFill>
                <a:srgbClr val="00D9FF">
                  <a:alpha val="20000"/>
                </a:srgbClr>
              </a:solidFill>
            </a:ln>
          </p:spPr>
        </p:sp>
        <p:grpSp>
          <p:nvGrpSpPr>
            <p:cNvPr id="43" name="Group 43"/>
            <p:cNvGrpSpPr/>
            <p:nvPr/>
          </p:nvGrpSpPr>
          <p:grpSpPr>
            <a:xfrm>
              <a:off x="6581775" y="3769042"/>
              <a:ext cx="2657047" cy="476727"/>
              <a:chOff x="6581775" y="3769042"/>
              <a:chExt cx="2657047" cy="476727"/>
            </a:xfrm>
          </p:grpSpPr>
          <p:sp>
            <p:nvSpPr>
              <p:cNvPr id="40" name="Ellipse 40"/>
              <p:cNvSpPr/>
              <p:nvPr/>
            </p:nvSpPr>
            <p:spPr>
              <a:xfrm>
                <a:off x="6581775" y="3838575"/>
                <a:ext cx="57150" cy="57150"/>
              </a:xfrm>
              <a:prstGeom prst="ellipse">
                <a:avLst/>
              </a:prstGeom>
              <a:solidFill>
                <a:srgbClr val="00D9FF"/>
              </a:solidFill>
              <a:ln>
                <a:noFill/>
              </a:ln>
            </p:spPr>
          </p:sp>
          <p:sp>
            <p:nvSpPr>
              <p:cNvPr id="41" name="TextBox 41"/>
              <p:cNvSpPr txBox="1"/>
              <p:nvPr/>
            </p:nvSpPr>
            <p:spPr>
              <a:xfrm>
                <a:off x="6802755" y="3769042"/>
                <a:ext cx="1700355" cy="274320"/>
              </a:xfrm>
              <a:prstGeom prst="rect">
                <a:avLst/>
              </a:prstGeom>
              <a:noFill/>
              <a:ln>
                <a:noFill/>
              </a:ln>
            </p:spPr>
            <p:txBody>
              <a:bodyPr wrap="none" lIns="0" tIns="0" rIns="0" bIns="0" anchor="t" anchorCtr="0">
                <a:spAutoFit/>
              </a:bodyPr>
              <a:lstStyle/>
              <a:p>
                <a:pPr algn="l"/>
                <a:r>
                  <a:rPr lang="ko-KR" sz="1350" dirty="0">
                    <a:solidFill>
                      <a:srgbClr val="E8EEF7"/>
                    </a:solidFill>
                    <a:latin typeface="Pretendard 700"/>
                    <a:ea typeface="Malgun Gothic"/>
                    <a:cs typeface="Pretendard 700"/>
                  </a:rPr>
                  <a:t>AI 페어 프로그래밍</a:t>
                </a:r>
              </a:p>
            </p:txBody>
          </p:sp>
          <p:sp>
            <p:nvSpPr>
              <p:cNvPr id="42" name="TextBox 42"/>
              <p:cNvSpPr txBox="1"/>
              <p:nvPr/>
            </p:nvSpPr>
            <p:spPr>
              <a:xfrm>
                <a:off x="6807518" y="4047649"/>
                <a:ext cx="2431304"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옆자리에 24시간 깨어 있는 동료 한 명</a:t>
                </a:r>
              </a:p>
            </p:txBody>
          </p:sp>
        </p:grpSp>
        <p:grpSp>
          <p:nvGrpSpPr>
            <p:cNvPr id="47" name="Group 47"/>
            <p:cNvGrpSpPr/>
            <p:nvPr/>
          </p:nvGrpSpPr>
          <p:grpSpPr>
            <a:xfrm>
              <a:off x="6581775" y="4397692"/>
              <a:ext cx="3233762" cy="476727"/>
              <a:chOff x="6581775" y="4397692"/>
              <a:chExt cx="3233762" cy="476727"/>
            </a:xfrm>
          </p:grpSpPr>
          <p:sp>
            <p:nvSpPr>
              <p:cNvPr id="44" name="Ellipse 44"/>
              <p:cNvSpPr/>
              <p:nvPr/>
            </p:nvSpPr>
            <p:spPr>
              <a:xfrm>
                <a:off x="6581775" y="4467225"/>
                <a:ext cx="57150" cy="57150"/>
              </a:xfrm>
              <a:prstGeom prst="ellipse">
                <a:avLst/>
              </a:prstGeom>
              <a:solidFill>
                <a:srgbClr val="00D9FF"/>
              </a:solidFill>
              <a:ln>
                <a:noFill/>
              </a:ln>
            </p:spPr>
          </p:sp>
          <p:sp>
            <p:nvSpPr>
              <p:cNvPr id="45" name="TextBox 45"/>
              <p:cNvSpPr txBox="1"/>
              <p:nvPr/>
            </p:nvSpPr>
            <p:spPr>
              <a:xfrm>
                <a:off x="6802755" y="4397692"/>
                <a:ext cx="882110" cy="274320"/>
              </a:xfrm>
              <a:prstGeom prst="rect">
                <a:avLst/>
              </a:prstGeom>
              <a:noFill/>
              <a:ln>
                <a:noFill/>
              </a:ln>
            </p:spPr>
            <p:txBody>
              <a:bodyPr wrap="none" lIns="0" tIns="0" rIns="0" bIns="0" anchor="t" anchorCtr="0">
                <a:spAutoFit/>
              </a:bodyPr>
              <a:lstStyle/>
              <a:p>
                <a:pPr algn="l"/>
                <a:r>
                  <a:rPr lang="ko-KR" sz="1350" dirty="0">
                    <a:solidFill>
                      <a:srgbClr val="E8EEF7"/>
                    </a:solidFill>
                    <a:latin typeface="Pretendard 700"/>
                    <a:ea typeface="Malgun Gothic"/>
                    <a:cs typeface="Pretendard 700"/>
                  </a:rPr>
                  <a:t>자동 생성</a:t>
                </a:r>
              </a:p>
            </p:txBody>
          </p:sp>
          <p:sp>
            <p:nvSpPr>
              <p:cNvPr id="46" name="TextBox 46"/>
              <p:cNvSpPr txBox="1"/>
              <p:nvPr/>
            </p:nvSpPr>
            <p:spPr>
              <a:xfrm>
                <a:off x="6807518" y="4676299"/>
                <a:ext cx="3008019"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한 문장으로 함수 한 벌, 한 단락으로 모듈 하나</a:t>
                </a:r>
              </a:p>
            </p:txBody>
          </p:sp>
        </p:grpSp>
        <p:grpSp>
          <p:nvGrpSpPr>
            <p:cNvPr id="51" name="Group 51"/>
            <p:cNvGrpSpPr/>
            <p:nvPr/>
          </p:nvGrpSpPr>
          <p:grpSpPr>
            <a:xfrm>
              <a:off x="6581775" y="5026342"/>
              <a:ext cx="3169682" cy="476727"/>
              <a:chOff x="6581775" y="5026342"/>
              <a:chExt cx="3169682" cy="476727"/>
            </a:xfrm>
          </p:grpSpPr>
          <p:sp>
            <p:nvSpPr>
              <p:cNvPr id="48" name="Ellipse 48"/>
              <p:cNvSpPr/>
              <p:nvPr/>
            </p:nvSpPr>
            <p:spPr>
              <a:xfrm>
                <a:off x="6581775" y="5095875"/>
                <a:ext cx="57150" cy="57150"/>
              </a:xfrm>
              <a:prstGeom prst="ellipse">
                <a:avLst/>
              </a:prstGeom>
              <a:solidFill>
                <a:srgbClr val="00D9FF"/>
              </a:solidFill>
              <a:ln>
                <a:noFill/>
              </a:ln>
            </p:spPr>
          </p:sp>
          <p:sp>
            <p:nvSpPr>
              <p:cNvPr id="49" name="TextBox 49"/>
              <p:cNvSpPr txBox="1"/>
              <p:nvPr/>
            </p:nvSpPr>
            <p:spPr>
              <a:xfrm>
                <a:off x="6802755" y="5026342"/>
                <a:ext cx="1276445" cy="274320"/>
              </a:xfrm>
              <a:prstGeom prst="rect">
                <a:avLst/>
              </a:prstGeom>
              <a:noFill/>
              <a:ln>
                <a:noFill/>
              </a:ln>
            </p:spPr>
            <p:txBody>
              <a:bodyPr wrap="none" lIns="0" tIns="0" rIns="0" bIns="0" anchor="t" anchorCtr="0">
                <a:spAutoFit/>
              </a:bodyPr>
              <a:lstStyle/>
              <a:p>
                <a:pPr algn="l"/>
                <a:r>
                  <a:rPr lang="ko-KR" sz="1350" dirty="0">
                    <a:solidFill>
                      <a:srgbClr val="E8EEF7"/>
                    </a:solidFill>
                    <a:latin typeface="Pretendard 700"/>
                    <a:ea typeface="Malgun Gothic"/>
                    <a:cs typeface="Pretendard 700"/>
                  </a:rPr>
                  <a:t>즉시 리팩토링</a:t>
                </a:r>
              </a:p>
            </p:txBody>
          </p:sp>
          <p:sp>
            <p:nvSpPr>
              <p:cNvPr id="50" name="TextBox 50"/>
              <p:cNvSpPr txBox="1"/>
              <p:nvPr/>
            </p:nvSpPr>
            <p:spPr>
              <a:xfrm>
                <a:off x="6807518" y="5304949"/>
                <a:ext cx="2943939"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레거시 파일을 통째로 던지면 다듬어 돌아온다</a:t>
                </a:r>
              </a:p>
            </p:txBody>
          </p:sp>
        </p:grpSp>
        <p:grpSp>
          <p:nvGrpSpPr>
            <p:cNvPr id="55" name="Group 55"/>
            <p:cNvGrpSpPr/>
            <p:nvPr/>
          </p:nvGrpSpPr>
          <p:grpSpPr>
            <a:xfrm>
              <a:off x="6581775" y="5654992"/>
              <a:ext cx="3390400" cy="476727"/>
              <a:chOff x="6581775" y="5654992"/>
              <a:chExt cx="3390400" cy="476727"/>
            </a:xfrm>
          </p:grpSpPr>
          <p:sp>
            <p:nvSpPr>
              <p:cNvPr id="52" name="Ellipse 52"/>
              <p:cNvSpPr/>
              <p:nvPr/>
            </p:nvSpPr>
            <p:spPr>
              <a:xfrm>
                <a:off x="6581775" y="5724525"/>
                <a:ext cx="57150" cy="57150"/>
              </a:xfrm>
              <a:prstGeom prst="ellipse">
                <a:avLst/>
              </a:prstGeom>
              <a:solidFill>
                <a:srgbClr val="00D9FF"/>
              </a:solidFill>
              <a:ln>
                <a:noFill/>
              </a:ln>
            </p:spPr>
          </p:sp>
          <p:sp>
            <p:nvSpPr>
              <p:cNvPr id="53" name="TextBox 53"/>
              <p:cNvSpPr txBox="1"/>
              <p:nvPr/>
            </p:nvSpPr>
            <p:spPr>
              <a:xfrm>
                <a:off x="6802755" y="5654992"/>
                <a:ext cx="1729930" cy="274320"/>
              </a:xfrm>
              <a:prstGeom prst="rect">
                <a:avLst/>
              </a:prstGeom>
              <a:noFill/>
              <a:ln>
                <a:noFill/>
              </a:ln>
            </p:spPr>
            <p:txBody>
              <a:bodyPr wrap="none" lIns="0" tIns="0" rIns="0" bIns="0" anchor="t" anchorCtr="0">
                <a:spAutoFit/>
              </a:bodyPr>
              <a:lstStyle/>
              <a:p>
                <a:pPr algn="l"/>
                <a:r>
                  <a:rPr lang="ko-KR" sz="1350" dirty="0">
                    <a:solidFill>
                      <a:srgbClr val="E8EEF7"/>
                    </a:solidFill>
                    <a:latin typeface="Pretendard 700"/>
                    <a:ea typeface="Malgun Gothic"/>
                    <a:cs typeface="Pretendard 700"/>
                  </a:rPr>
                  <a:t>분 단위 프로토타입</a:t>
                </a:r>
              </a:p>
            </p:txBody>
          </p:sp>
          <p:sp>
            <p:nvSpPr>
              <p:cNvPr id="54" name="TextBox 54"/>
              <p:cNvSpPr txBox="1"/>
              <p:nvPr/>
            </p:nvSpPr>
            <p:spPr>
              <a:xfrm>
                <a:off x="6807518" y="5933599"/>
                <a:ext cx="3164657"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아이디어에서 동작하는 화면까지, 점심시간 한 번</a:t>
                </a:r>
              </a:p>
            </p:txBody>
          </p:sp>
        </p:grpSp>
      </p:grpSp>
      <p:grpSp>
        <p:nvGrpSpPr>
          <p:cNvPr id="59" name="Group 59"/>
          <p:cNvGrpSpPr/>
          <p:nvPr/>
        </p:nvGrpSpPr>
        <p:grpSpPr>
          <a:xfrm>
            <a:off x="560070" y="6475095"/>
            <a:ext cx="11071860" cy="182880"/>
            <a:chOff x="560070" y="6475095"/>
            <a:chExt cx="11071860" cy="182880"/>
          </a:xfrm>
        </p:grpSpPr>
        <p:sp>
          <p:nvSpPr>
            <p:cNvPr id="57" name="TextBox 57"/>
            <p:cNvSpPr txBox="1"/>
            <p:nvPr/>
          </p:nvSpPr>
          <p:spPr>
            <a:xfrm>
              <a:off x="560070" y="6475095"/>
              <a:ext cx="1376743" cy="182880"/>
            </a:xfrm>
            <a:prstGeom prst="rect">
              <a:avLst/>
            </a:prstGeom>
            <a:noFill/>
            <a:ln>
              <a:noFill/>
            </a:ln>
          </p:spPr>
          <p:txBody>
            <a:bodyPr wrap="none" lIns="0" tIns="0" rIns="0" bIns="0" anchor="t" anchorCtr="0">
              <a:spAutoFit/>
            </a:bodyPr>
            <a:lstStyle/>
            <a:p>
              <a:pPr algn="l"/>
              <a:r>
                <a:rPr lang="ko-KR" sz="900" dirty="0">
                  <a:solidFill>
                    <a:srgbClr val="8B9AB3"/>
                  </a:solidFill>
                  <a:latin typeface="Pretendard 400"/>
                  <a:ea typeface="Malgun Gothic"/>
                  <a:cs typeface="Pretendard 400"/>
                </a:rPr>
                <a:t>개발자의 종말: AI 시대</a:t>
              </a:r>
            </a:p>
          </p:txBody>
        </p:sp>
        <p:sp>
          <p:nvSpPr>
            <p:cNvPr id="58" name="TextBox 58"/>
            <p:cNvSpPr txBox="1"/>
            <p:nvPr/>
          </p:nvSpPr>
          <p:spPr>
            <a:xfrm>
              <a:off x="11201590" y="6475095"/>
              <a:ext cx="430340" cy="182880"/>
            </a:xfrm>
            <a:prstGeom prst="rect">
              <a:avLst/>
            </a:prstGeom>
            <a:noFill/>
            <a:ln>
              <a:noFill/>
            </a:ln>
          </p:spPr>
          <p:txBody>
            <a:bodyPr wrap="none" lIns="0" tIns="0" rIns="0" bIns="0" anchor="t" anchorCtr="0">
              <a:spAutoFit/>
            </a:bodyPr>
            <a:lstStyle/>
            <a:p>
              <a:pPr algn="r"/>
              <a:r>
                <a:rPr lang="en-US" sz="900" dirty="0">
                  <a:solidFill>
                    <a:srgbClr val="8B9AB3"/>
                  </a:solidFill>
                  <a:latin typeface="Pretendard 400"/>
                  <a:ea typeface="Malgun Gothic"/>
                  <a:cs typeface="Pretendard 400"/>
                </a:rPr>
                <a:t>03 / 10</a:t>
              </a:r>
            </a:p>
          </p:txBody>
        </p:sp>
      </p:grpSp>
    </p:spTree>
  </p:cSld>
  <p:clrMapOvr>
    <a:masterClrMapping/>
  </p:clrMapOvr>
  <p:transition xmlns:p14="http://schemas.microsoft.com/office/powerpoint/2010/main" p14:dur="5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1628"/>
              </a:gs>
              <a:gs pos="100000">
                <a:srgbClr val="13243B"/>
              </a:gs>
            </a:gsLst>
            <a:lin ang="5400000" scaled="1"/>
          </a:gradFill>
          <a:ln>
            <a:noFill/>
          </a:ln>
        </p:spPr>
      </p:sp>
      <p:sp>
        <p:nvSpPr>
          <p:cNvPr id="3" name="Rectangle 3"/>
          <p:cNvSpPr/>
          <p:nvPr/>
        </p:nvSpPr>
        <p:spPr>
          <a:xfrm>
            <a:off x="762000" y="609600"/>
            <a:ext cx="57150" cy="342900"/>
          </a:xfrm>
          <a:prstGeom prst="rect">
            <a:avLst/>
          </a:prstGeom>
          <a:solidFill>
            <a:srgbClr val="00D9FF"/>
          </a:solidFill>
          <a:ln>
            <a:noFill/>
          </a:ln>
        </p:spPr>
      </p:sp>
      <p:sp>
        <p:nvSpPr>
          <p:cNvPr id="4" name="TextBox 4"/>
          <p:cNvSpPr txBox="1"/>
          <p:nvPr/>
        </p:nvSpPr>
        <p:spPr>
          <a:xfrm>
            <a:off x="937260" y="746760"/>
            <a:ext cx="1353693"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04 / 충격적 수치</a:t>
            </a:r>
          </a:p>
        </p:txBody>
      </p:sp>
      <p:sp>
        <p:nvSpPr>
          <p:cNvPr id="5" name="TextBox 5"/>
          <p:cNvSpPr txBox="1"/>
          <p:nvPr/>
        </p:nvSpPr>
        <p:spPr>
          <a:xfrm>
            <a:off x="720090" y="1167765"/>
            <a:ext cx="4435964" cy="670560"/>
          </a:xfrm>
          <a:prstGeom prst="rect">
            <a:avLst/>
          </a:prstGeom>
          <a:noFill/>
          <a:ln>
            <a:noFill/>
          </a:ln>
        </p:spPr>
        <p:txBody>
          <a:bodyPr wrap="none" lIns="0" tIns="0" rIns="0" bIns="0" anchor="t" anchorCtr="0">
            <a:spAutoFit/>
          </a:bodyPr>
          <a:lstStyle/>
          <a:p>
            <a:pPr algn="l"/>
            <a:r>
              <a:rPr lang="ko-KR" sz="3300" b="1" dirty="0">
                <a:solidFill>
                  <a:srgbClr val="E8EEF7"/>
                </a:solidFill>
                <a:latin typeface="Pretendard 900"/>
                <a:ea typeface="Malgun Gothic"/>
                <a:cs typeface="Pretendard 900"/>
              </a:rPr>
              <a:t>숫자가 말하는 변화</a:t>
            </a:r>
          </a:p>
        </p:txBody>
      </p:sp>
      <p:sp>
        <p:nvSpPr>
          <p:cNvPr id="6" name="TextBox 6"/>
          <p:cNvSpPr txBox="1"/>
          <p:nvPr/>
        </p:nvSpPr>
        <p:spPr>
          <a:xfrm>
            <a:off x="742950" y="1724025"/>
            <a:ext cx="5996940" cy="304800"/>
          </a:xfrm>
          <a:prstGeom prst="rect">
            <a:avLst/>
          </a:prstGeom>
          <a:noFill/>
          <a:ln>
            <a:noFill/>
          </a:ln>
        </p:spPr>
        <p:txBody>
          <a:bodyPr wrap="none" lIns="0" tIns="0" rIns="0" bIns="0" anchor="t" anchorCtr="0">
            <a:spAutoFit/>
          </a:bodyPr>
          <a:lstStyle/>
          <a:p>
            <a:pPr algn="l"/>
            <a:r>
              <a:rPr lang="ko-KR" sz="1500" dirty="0">
                <a:solidFill>
                  <a:srgbClr val="8B9AB3"/>
                </a:solidFill>
                <a:latin typeface="Pretendard 400"/>
                <a:ea typeface="Malgun Gothic"/>
                <a:cs typeface="Pretendard 400"/>
              </a:rPr>
              <a:t>현장에서 측정된 세 가지 지표, 흐름은 이미 시작되었습니다.</a:t>
            </a:r>
          </a:p>
        </p:txBody>
      </p:sp>
      <p:sp>
        <p:nvSpPr>
          <p:cNvPr id="7" name="Rectangle 7"/>
          <p:cNvSpPr/>
          <p:nvPr/>
        </p:nvSpPr>
        <p:spPr>
          <a:xfrm>
            <a:off x="762000" y="2171700"/>
            <a:ext cx="10668000" cy="9525"/>
          </a:xfrm>
          <a:prstGeom prst="rect">
            <a:avLst/>
          </a:prstGeom>
          <a:solidFill>
            <a:srgbClr val="8B9AB3">
              <a:alpha val="20000"/>
            </a:srgbClr>
          </a:solidFill>
          <a:ln>
            <a:noFill/>
          </a:ln>
        </p:spPr>
      </p:sp>
      <p:sp>
        <p:nvSpPr>
          <p:cNvPr id="8" name="Rectangle 8"/>
          <p:cNvSpPr/>
          <p:nvPr/>
        </p:nvSpPr>
        <p:spPr>
          <a:xfrm>
            <a:off x="762000" y="2571750"/>
            <a:ext cx="3429000" cy="3429000"/>
          </a:xfrm>
          <a:prstGeom prst="roundRect">
            <a:avLst>
              <a:gd name="adj" fmla="val 3333"/>
            </a:avLst>
          </a:prstGeom>
          <a:solidFill>
            <a:srgbClr val="13243B"/>
          </a:solidFill>
          <a:ln>
            <a:noFill/>
          </a:ln>
        </p:spPr>
      </p:sp>
      <p:sp>
        <p:nvSpPr>
          <p:cNvPr id="9" name="Rectangle 9"/>
          <p:cNvSpPr/>
          <p:nvPr/>
        </p:nvSpPr>
        <p:spPr>
          <a:xfrm>
            <a:off x="762000" y="2571750"/>
            <a:ext cx="3429000" cy="38100"/>
          </a:xfrm>
          <a:prstGeom prst="roundRect">
            <a:avLst>
              <a:gd name="adj" fmla="val 50000"/>
            </a:avLst>
          </a:prstGeom>
          <a:solidFill>
            <a:srgbClr val="00D9FF"/>
          </a:solidFill>
          <a:ln>
            <a:noFill/>
          </a:ln>
        </p:spPr>
      </p:sp>
      <p:sp>
        <p:nvSpPr>
          <p:cNvPr id="10" name="TextBox 10"/>
          <p:cNvSpPr txBox="1"/>
          <p:nvPr/>
        </p:nvSpPr>
        <p:spPr>
          <a:xfrm>
            <a:off x="1034415" y="2934652"/>
            <a:ext cx="486727" cy="213360"/>
          </a:xfrm>
          <a:prstGeom prst="rect">
            <a:avLst/>
          </a:prstGeom>
          <a:noFill/>
          <a:ln>
            <a:noFill/>
          </a:ln>
        </p:spPr>
        <p:txBody>
          <a:bodyPr wrap="none" lIns="0" tIns="0" rIns="0" bIns="0" anchor="t" anchorCtr="0">
            <a:spAutoFit/>
          </a:bodyPr>
          <a:lstStyle/>
          <a:p>
            <a:pPr algn="l"/>
            <a:r>
              <a:rPr lang="ko-KR" sz="1050" dirty="0">
                <a:solidFill>
                  <a:srgbClr val="00D9FF"/>
                </a:solidFill>
                <a:latin typeface="Pretendard 700"/>
                <a:ea typeface="Malgun Gothic"/>
                <a:cs typeface="Pretendard 700"/>
              </a:rPr>
              <a:t>생산성</a:t>
            </a:r>
          </a:p>
        </p:txBody>
      </p:sp>
      <p:sp>
        <p:nvSpPr>
          <p:cNvPr id="11" name="TextBox 11"/>
          <p:cNvSpPr txBox="1"/>
          <p:nvPr/>
        </p:nvSpPr>
        <p:spPr>
          <a:xfrm>
            <a:off x="933450" y="3219450"/>
            <a:ext cx="2505885" cy="1828800"/>
          </a:xfrm>
          <a:prstGeom prst="rect">
            <a:avLst/>
          </a:prstGeom>
          <a:noFill/>
          <a:ln>
            <a:noFill/>
          </a:ln>
        </p:spPr>
        <p:txBody>
          <a:bodyPr wrap="none" lIns="0" tIns="0" rIns="0" bIns="0" anchor="t" anchorCtr="0">
            <a:spAutoFit/>
          </a:bodyPr>
          <a:lstStyle/>
          <a:p>
            <a:pPr algn="l"/>
            <a:r>
              <a:rPr lang="en-US" sz="9000" b="1" dirty="0">
                <a:solidFill>
                  <a:srgbClr val="E8EEF7"/>
                </a:solidFill>
                <a:latin typeface="Arial Black"/>
                <a:ea typeface="Malgun Gothic"/>
                <a:cs typeface="Arial Black"/>
              </a:rPr>
              <a:t>55%</a:t>
            </a:r>
          </a:p>
        </p:txBody>
      </p:sp>
      <p:sp>
        <p:nvSpPr>
          <p:cNvPr id="12" name="Rectangle 12"/>
          <p:cNvSpPr/>
          <p:nvPr/>
        </p:nvSpPr>
        <p:spPr>
          <a:xfrm>
            <a:off x="1047750" y="4429125"/>
            <a:ext cx="571500" cy="19050"/>
          </a:xfrm>
          <a:prstGeom prst="rect">
            <a:avLst/>
          </a:prstGeom>
          <a:solidFill>
            <a:srgbClr val="00D9FF"/>
          </a:solidFill>
          <a:ln>
            <a:noFill/>
          </a:ln>
        </p:spPr>
      </p:sp>
      <p:sp>
        <p:nvSpPr>
          <p:cNvPr id="13" name="TextBox 13"/>
          <p:cNvSpPr txBox="1"/>
          <p:nvPr/>
        </p:nvSpPr>
        <p:spPr>
          <a:xfrm>
            <a:off x="1026795" y="4679632"/>
            <a:ext cx="1632394" cy="335280"/>
          </a:xfrm>
          <a:prstGeom prst="rect">
            <a:avLst/>
          </a:prstGeom>
          <a:noFill/>
          <a:ln>
            <a:noFill/>
          </a:ln>
        </p:spPr>
        <p:txBody>
          <a:bodyPr wrap="none" lIns="0" tIns="0" rIns="0" bIns="0" anchor="t" anchorCtr="0">
            <a:spAutoFit/>
          </a:bodyPr>
          <a:lstStyle/>
          <a:p>
            <a:pPr algn="l"/>
            <a:r>
              <a:rPr lang="ko-KR" sz="1650" dirty="0">
                <a:solidFill>
                  <a:srgbClr val="E8EEF7"/>
                </a:solidFill>
                <a:latin typeface="Pretendard 700"/>
                <a:ea typeface="Malgun Gothic"/>
                <a:cs typeface="Pretendard 700"/>
              </a:rPr>
              <a:t>코딩 속도 향상</a:t>
            </a:r>
          </a:p>
        </p:txBody>
      </p:sp>
      <p:sp>
        <p:nvSpPr>
          <p:cNvPr id="14" name="TextBox 14"/>
          <p:cNvSpPr txBox="1"/>
          <p:nvPr/>
        </p:nvSpPr>
        <p:spPr>
          <a:xfrm>
            <a:off x="1032510" y="5090160"/>
            <a:ext cx="1835658"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GitHub Copilot 사용 시</a:t>
            </a:r>
          </a:p>
        </p:txBody>
      </p:sp>
      <p:sp>
        <p:nvSpPr>
          <p:cNvPr id="15" name="TextBox 15"/>
          <p:cNvSpPr txBox="1"/>
          <p:nvPr/>
        </p:nvSpPr>
        <p:spPr>
          <a:xfrm>
            <a:off x="1032510" y="5318760"/>
            <a:ext cx="2116074"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개발자가 체감한 평균 속도</a:t>
            </a:r>
          </a:p>
        </p:txBody>
      </p:sp>
      <p:sp>
        <p:nvSpPr>
          <p:cNvPr id="16" name="TextBox 16"/>
          <p:cNvSpPr txBox="1"/>
          <p:nvPr/>
        </p:nvSpPr>
        <p:spPr>
          <a:xfrm>
            <a:off x="1036320" y="5694045"/>
            <a:ext cx="1403032" cy="182880"/>
          </a:xfrm>
          <a:prstGeom prst="rect">
            <a:avLst/>
          </a:prstGeom>
          <a:noFill/>
          <a:ln>
            <a:noFill/>
          </a:ln>
        </p:spPr>
        <p:txBody>
          <a:bodyPr wrap="none" lIns="0" tIns="0" rIns="0" bIns="0" anchor="t" anchorCtr="0">
            <a:spAutoFit/>
          </a:bodyPr>
          <a:lstStyle/>
          <a:p>
            <a:pPr algn="l"/>
            <a:r>
              <a:rPr lang="ko-KR" sz="900" dirty="0">
                <a:solidFill>
                  <a:srgbClr val="8B9AB3">
                    <a:alphaMod val="70000"/>
                  </a:srgbClr>
                </a:solidFill>
                <a:latin typeface="Pretendard 400"/>
                <a:ea typeface="Malgun Gothic"/>
                <a:cs typeface="Pretendard 400"/>
              </a:rPr>
              <a:t>출처: GitHub 사내 연구</a:t>
            </a:r>
          </a:p>
        </p:txBody>
      </p:sp>
      <p:sp>
        <p:nvSpPr>
          <p:cNvPr id="17" name="Rectangle 17"/>
          <p:cNvSpPr/>
          <p:nvPr/>
        </p:nvSpPr>
        <p:spPr>
          <a:xfrm>
            <a:off x="4381500" y="2571750"/>
            <a:ext cx="3429000" cy="3429000"/>
          </a:xfrm>
          <a:prstGeom prst="roundRect">
            <a:avLst>
              <a:gd name="adj" fmla="val 3333"/>
            </a:avLst>
          </a:prstGeom>
          <a:solidFill>
            <a:srgbClr val="13243B"/>
          </a:solidFill>
          <a:ln>
            <a:noFill/>
          </a:ln>
        </p:spPr>
      </p:sp>
      <p:sp>
        <p:nvSpPr>
          <p:cNvPr id="18" name="Rectangle 18"/>
          <p:cNvSpPr/>
          <p:nvPr/>
        </p:nvSpPr>
        <p:spPr>
          <a:xfrm>
            <a:off x="4381500" y="2571750"/>
            <a:ext cx="3429000" cy="38100"/>
          </a:xfrm>
          <a:prstGeom prst="roundRect">
            <a:avLst>
              <a:gd name="adj" fmla="val 50000"/>
            </a:avLst>
          </a:prstGeom>
          <a:solidFill>
            <a:srgbClr val="FFB627"/>
          </a:solidFill>
          <a:ln>
            <a:noFill/>
          </a:ln>
        </p:spPr>
      </p:sp>
      <p:sp>
        <p:nvSpPr>
          <p:cNvPr id="19" name="TextBox 19"/>
          <p:cNvSpPr txBox="1"/>
          <p:nvPr/>
        </p:nvSpPr>
        <p:spPr>
          <a:xfrm>
            <a:off x="4653915" y="2934652"/>
            <a:ext cx="486727" cy="213360"/>
          </a:xfrm>
          <a:prstGeom prst="rect">
            <a:avLst/>
          </a:prstGeom>
          <a:noFill/>
          <a:ln>
            <a:noFill/>
          </a:ln>
        </p:spPr>
        <p:txBody>
          <a:bodyPr wrap="none" lIns="0" tIns="0" rIns="0" bIns="0" anchor="t" anchorCtr="0">
            <a:spAutoFit/>
          </a:bodyPr>
          <a:lstStyle/>
          <a:p>
            <a:pPr algn="l"/>
            <a:r>
              <a:rPr lang="ko-KR" sz="1050" dirty="0">
                <a:solidFill>
                  <a:srgbClr val="FFB627"/>
                </a:solidFill>
                <a:latin typeface="Pretendard 700"/>
                <a:ea typeface="Malgun Gothic"/>
                <a:cs typeface="Pretendard 700"/>
              </a:rPr>
              <a:t>대체율</a:t>
            </a:r>
          </a:p>
        </p:txBody>
      </p:sp>
      <p:sp>
        <p:nvSpPr>
          <p:cNvPr id="20" name="TextBox 20"/>
          <p:cNvSpPr txBox="1"/>
          <p:nvPr/>
        </p:nvSpPr>
        <p:spPr>
          <a:xfrm>
            <a:off x="4552950" y="3219450"/>
            <a:ext cx="2160842" cy="1828800"/>
          </a:xfrm>
          <a:prstGeom prst="rect">
            <a:avLst/>
          </a:prstGeom>
          <a:noFill/>
          <a:ln>
            <a:noFill/>
          </a:ln>
        </p:spPr>
        <p:txBody>
          <a:bodyPr wrap="none" lIns="0" tIns="0" rIns="0" bIns="0" anchor="t" anchorCtr="0">
            <a:spAutoFit/>
          </a:bodyPr>
          <a:lstStyle/>
          <a:p>
            <a:pPr algn="l"/>
            <a:r>
              <a:rPr lang="en-US" sz="9000" b="1" dirty="0">
                <a:solidFill>
                  <a:srgbClr val="E8EEF7"/>
                </a:solidFill>
                <a:latin typeface="Arial Black"/>
                <a:ea typeface="Malgun Gothic"/>
                <a:cs typeface="Arial Black"/>
              </a:rPr>
              <a:t>41%</a:t>
            </a:r>
          </a:p>
        </p:txBody>
      </p:sp>
      <p:sp>
        <p:nvSpPr>
          <p:cNvPr id="21" name="Rectangle 21"/>
          <p:cNvSpPr/>
          <p:nvPr/>
        </p:nvSpPr>
        <p:spPr>
          <a:xfrm>
            <a:off x="4667250" y="4429125"/>
            <a:ext cx="571500" cy="19050"/>
          </a:xfrm>
          <a:prstGeom prst="rect">
            <a:avLst/>
          </a:prstGeom>
          <a:solidFill>
            <a:srgbClr val="FFB627"/>
          </a:solidFill>
          <a:ln>
            <a:noFill/>
          </a:ln>
        </p:spPr>
      </p:sp>
      <p:sp>
        <p:nvSpPr>
          <p:cNvPr id="22" name="TextBox 22"/>
          <p:cNvSpPr txBox="1"/>
          <p:nvPr/>
        </p:nvSpPr>
        <p:spPr>
          <a:xfrm>
            <a:off x="4646295" y="4679632"/>
            <a:ext cx="1909524" cy="335280"/>
          </a:xfrm>
          <a:prstGeom prst="rect">
            <a:avLst/>
          </a:prstGeom>
          <a:noFill/>
          <a:ln>
            <a:noFill/>
          </a:ln>
        </p:spPr>
        <p:txBody>
          <a:bodyPr wrap="none" lIns="0" tIns="0" rIns="0" bIns="0" anchor="t" anchorCtr="0">
            <a:spAutoFit/>
          </a:bodyPr>
          <a:lstStyle/>
          <a:p>
            <a:pPr algn="l"/>
            <a:r>
              <a:rPr lang="ko-KR" sz="1650" dirty="0">
                <a:solidFill>
                  <a:srgbClr val="E8EEF7"/>
                </a:solidFill>
                <a:latin typeface="Pretendard 700"/>
                <a:ea typeface="Malgun Gothic"/>
                <a:cs typeface="Pretendard 700"/>
              </a:rPr>
              <a:t>AI 생성 코드 비중</a:t>
            </a:r>
          </a:p>
        </p:txBody>
      </p:sp>
      <p:sp>
        <p:nvSpPr>
          <p:cNvPr id="23" name="TextBox 23"/>
          <p:cNvSpPr txBox="1"/>
          <p:nvPr/>
        </p:nvSpPr>
        <p:spPr>
          <a:xfrm>
            <a:off x="4652010" y="5090160"/>
            <a:ext cx="1940814"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일부 빅테크 기업의 신규</a:t>
            </a:r>
          </a:p>
        </p:txBody>
      </p:sp>
      <p:sp>
        <p:nvSpPr>
          <p:cNvPr id="24" name="TextBox 24"/>
          <p:cNvSpPr txBox="1"/>
          <p:nvPr/>
        </p:nvSpPr>
        <p:spPr>
          <a:xfrm>
            <a:off x="4652010" y="5318760"/>
            <a:ext cx="1967103"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커밋 중 AI가 작성한 비율</a:t>
            </a:r>
          </a:p>
        </p:txBody>
      </p:sp>
      <p:sp>
        <p:nvSpPr>
          <p:cNvPr id="25" name="TextBox 25"/>
          <p:cNvSpPr txBox="1"/>
          <p:nvPr/>
        </p:nvSpPr>
        <p:spPr>
          <a:xfrm>
            <a:off x="4655820" y="5694045"/>
            <a:ext cx="1803940" cy="182880"/>
          </a:xfrm>
          <a:prstGeom prst="rect">
            <a:avLst/>
          </a:prstGeom>
          <a:noFill/>
          <a:ln>
            <a:noFill/>
          </a:ln>
        </p:spPr>
        <p:txBody>
          <a:bodyPr wrap="none" lIns="0" tIns="0" rIns="0" bIns="0" anchor="t" anchorCtr="0">
            <a:spAutoFit/>
          </a:bodyPr>
          <a:lstStyle/>
          <a:p>
            <a:pPr algn="l"/>
            <a:r>
              <a:rPr lang="ko-KR" sz="900" dirty="0">
                <a:solidFill>
                  <a:srgbClr val="8B9AB3">
                    <a:alphaMod val="70000"/>
                  </a:srgbClr>
                </a:solidFill>
                <a:latin typeface="Pretendard 400"/>
                <a:ea typeface="Malgun Gothic"/>
                <a:cs typeface="Pretendard 400"/>
              </a:rPr>
              <a:t>출처: Google, 2024 공개 발표</a:t>
            </a:r>
          </a:p>
        </p:txBody>
      </p:sp>
      <p:sp>
        <p:nvSpPr>
          <p:cNvPr id="26" name="Rectangle 26"/>
          <p:cNvSpPr/>
          <p:nvPr/>
        </p:nvSpPr>
        <p:spPr>
          <a:xfrm>
            <a:off x="8001000" y="2571750"/>
            <a:ext cx="3429000" cy="3429000"/>
          </a:xfrm>
          <a:prstGeom prst="roundRect">
            <a:avLst>
              <a:gd name="adj" fmla="val 3333"/>
            </a:avLst>
          </a:prstGeom>
          <a:solidFill>
            <a:srgbClr val="13243B"/>
          </a:solidFill>
          <a:ln>
            <a:noFill/>
          </a:ln>
        </p:spPr>
      </p:sp>
      <p:sp>
        <p:nvSpPr>
          <p:cNvPr id="27" name="Rectangle 27"/>
          <p:cNvSpPr/>
          <p:nvPr/>
        </p:nvSpPr>
        <p:spPr>
          <a:xfrm>
            <a:off x="8001000" y="2571750"/>
            <a:ext cx="3429000" cy="38100"/>
          </a:xfrm>
          <a:prstGeom prst="roundRect">
            <a:avLst>
              <a:gd name="adj" fmla="val 50000"/>
            </a:avLst>
          </a:prstGeom>
          <a:solidFill>
            <a:srgbClr val="FF3D5A"/>
          </a:solidFill>
          <a:ln>
            <a:noFill/>
          </a:ln>
        </p:spPr>
      </p:sp>
      <p:sp>
        <p:nvSpPr>
          <p:cNvPr id="28" name="TextBox 28"/>
          <p:cNvSpPr txBox="1"/>
          <p:nvPr/>
        </p:nvSpPr>
        <p:spPr>
          <a:xfrm>
            <a:off x="8273415" y="2934652"/>
            <a:ext cx="686086" cy="213360"/>
          </a:xfrm>
          <a:prstGeom prst="rect">
            <a:avLst/>
          </a:prstGeom>
          <a:noFill/>
          <a:ln>
            <a:noFill/>
          </a:ln>
        </p:spPr>
        <p:txBody>
          <a:bodyPr wrap="none" lIns="0" tIns="0" rIns="0" bIns="0" anchor="t" anchorCtr="0">
            <a:spAutoFit/>
          </a:bodyPr>
          <a:lstStyle/>
          <a:p>
            <a:pPr algn="l"/>
            <a:r>
              <a:rPr lang="ko-KR" sz="1050" dirty="0">
                <a:solidFill>
                  <a:srgbClr val="FF3D5A"/>
                </a:solidFill>
                <a:latin typeface="Pretendard 700"/>
                <a:ea typeface="Malgun Gothic"/>
                <a:cs typeface="Pretendard 700"/>
              </a:rPr>
              <a:t>고용 신호</a:t>
            </a:r>
          </a:p>
        </p:txBody>
      </p:sp>
      <p:sp>
        <p:nvSpPr>
          <p:cNvPr id="29" name="TextBox 29"/>
          <p:cNvSpPr txBox="1"/>
          <p:nvPr/>
        </p:nvSpPr>
        <p:spPr>
          <a:xfrm>
            <a:off x="8172450" y="3219450"/>
            <a:ext cx="2367867" cy="1828800"/>
          </a:xfrm>
          <a:prstGeom prst="rect">
            <a:avLst/>
          </a:prstGeom>
          <a:noFill/>
          <a:ln>
            <a:noFill/>
          </a:ln>
        </p:spPr>
        <p:txBody>
          <a:bodyPr wrap="none" lIns="0" tIns="0" rIns="0" bIns="0" anchor="t" anchorCtr="0">
            <a:spAutoFit/>
          </a:bodyPr>
          <a:lstStyle/>
          <a:p>
            <a:pPr algn="l"/>
            <a:r>
              <a:rPr lang="ko-KR" sz="9000" b="1" dirty="0">
                <a:solidFill>
                  <a:srgbClr val="E8EEF7"/>
                </a:solidFill>
                <a:latin typeface="Arial Black"/>
                <a:ea typeface="Malgun Gothic"/>
                <a:cs typeface="Arial Black"/>
              </a:rPr>
              <a:t>2배</a:t>
            </a:r>
          </a:p>
        </p:txBody>
      </p:sp>
      <p:sp>
        <p:nvSpPr>
          <p:cNvPr id="30" name="Rectangle 30"/>
          <p:cNvSpPr/>
          <p:nvPr/>
        </p:nvSpPr>
        <p:spPr>
          <a:xfrm>
            <a:off x="8286750" y="4429125"/>
            <a:ext cx="571500" cy="19050"/>
          </a:xfrm>
          <a:prstGeom prst="rect">
            <a:avLst/>
          </a:prstGeom>
          <a:solidFill>
            <a:srgbClr val="FF3D5A"/>
          </a:solidFill>
          <a:ln>
            <a:noFill/>
          </a:ln>
        </p:spPr>
      </p:sp>
      <p:sp>
        <p:nvSpPr>
          <p:cNvPr id="31" name="TextBox 31"/>
          <p:cNvSpPr txBox="1"/>
          <p:nvPr/>
        </p:nvSpPr>
        <p:spPr>
          <a:xfrm>
            <a:off x="8265795" y="4679632"/>
            <a:ext cx="1632394" cy="335280"/>
          </a:xfrm>
          <a:prstGeom prst="rect">
            <a:avLst/>
          </a:prstGeom>
          <a:noFill/>
          <a:ln>
            <a:noFill/>
          </a:ln>
        </p:spPr>
        <p:txBody>
          <a:bodyPr wrap="none" lIns="0" tIns="0" rIns="0" bIns="0" anchor="t" anchorCtr="0">
            <a:spAutoFit/>
          </a:bodyPr>
          <a:lstStyle/>
          <a:p>
            <a:pPr algn="l"/>
            <a:r>
              <a:rPr lang="ko-KR" sz="1650" dirty="0">
                <a:solidFill>
                  <a:srgbClr val="E8EEF7"/>
                </a:solidFill>
                <a:latin typeface="Pretendard 700"/>
                <a:ea typeface="Malgun Gothic"/>
                <a:cs typeface="Pretendard 700"/>
              </a:rPr>
              <a:t>신규 채용 둔화</a:t>
            </a:r>
          </a:p>
        </p:txBody>
      </p:sp>
      <p:sp>
        <p:nvSpPr>
          <p:cNvPr id="32" name="TextBox 32"/>
          <p:cNvSpPr txBox="1"/>
          <p:nvPr/>
        </p:nvSpPr>
        <p:spPr>
          <a:xfrm>
            <a:off x="8271510" y="5090160"/>
            <a:ext cx="2116074"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주니어 개발자 채용 속도가</a:t>
            </a:r>
          </a:p>
        </p:txBody>
      </p:sp>
      <p:sp>
        <p:nvSpPr>
          <p:cNvPr id="33" name="TextBox 33"/>
          <p:cNvSpPr txBox="1"/>
          <p:nvPr/>
        </p:nvSpPr>
        <p:spPr>
          <a:xfrm>
            <a:off x="8271510" y="5318760"/>
            <a:ext cx="2203704"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2022년 정점 대비 절반 수준</a:t>
            </a:r>
          </a:p>
        </p:txBody>
      </p:sp>
      <p:sp>
        <p:nvSpPr>
          <p:cNvPr id="34" name="TextBox 34"/>
          <p:cNvSpPr txBox="1"/>
          <p:nvPr/>
        </p:nvSpPr>
        <p:spPr>
          <a:xfrm>
            <a:off x="8275320" y="5694045"/>
            <a:ext cx="1922240" cy="182880"/>
          </a:xfrm>
          <a:prstGeom prst="rect">
            <a:avLst/>
          </a:prstGeom>
          <a:noFill/>
          <a:ln>
            <a:noFill/>
          </a:ln>
        </p:spPr>
        <p:txBody>
          <a:bodyPr wrap="none" lIns="0" tIns="0" rIns="0" bIns="0" anchor="t" anchorCtr="0">
            <a:spAutoFit/>
          </a:bodyPr>
          <a:lstStyle/>
          <a:p>
            <a:pPr algn="l"/>
            <a:r>
              <a:rPr lang="ko-KR" sz="900" dirty="0">
                <a:solidFill>
                  <a:srgbClr val="8B9AB3">
                    <a:alphaMod val="70000"/>
                  </a:srgbClr>
                </a:solidFill>
                <a:latin typeface="Pretendard 400"/>
                <a:ea typeface="Malgun Gothic"/>
                <a:cs typeface="Pretendard 400"/>
              </a:rPr>
              <a:t>출처: Layoffs.fyi, BLS 데이터</a:t>
            </a:r>
          </a:p>
        </p:txBody>
      </p:sp>
      <p:sp>
        <p:nvSpPr>
          <p:cNvPr id="35" name="Rectangle 35"/>
          <p:cNvSpPr/>
          <p:nvPr/>
        </p:nvSpPr>
        <p:spPr>
          <a:xfrm>
            <a:off x="762000" y="6362700"/>
            <a:ext cx="10668000" cy="9525"/>
          </a:xfrm>
          <a:prstGeom prst="rect">
            <a:avLst/>
          </a:prstGeom>
          <a:solidFill>
            <a:srgbClr val="8B9AB3">
              <a:alpha val="20000"/>
            </a:srgbClr>
          </a:solidFill>
          <a:ln>
            <a:noFill/>
          </a:ln>
        </p:spPr>
      </p:sp>
      <p:sp>
        <p:nvSpPr>
          <p:cNvPr id="36" name="TextBox 36"/>
          <p:cNvSpPr txBox="1"/>
          <p:nvPr/>
        </p:nvSpPr>
        <p:spPr>
          <a:xfrm>
            <a:off x="750570" y="6494145"/>
            <a:ext cx="1376743" cy="182880"/>
          </a:xfrm>
          <a:prstGeom prst="rect">
            <a:avLst/>
          </a:prstGeom>
          <a:noFill/>
          <a:ln>
            <a:noFill/>
          </a:ln>
        </p:spPr>
        <p:txBody>
          <a:bodyPr wrap="none" lIns="0" tIns="0" rIns="0" bIns="0" anchor="t" anchorCtr="0">
            <a:spAutoFit/>
          </a:bodyPr>
          <a:lstStyle/>
          <a:p>
            <a:pPr algn="l"/>
            <a:r>
              <a:rPr lang="ko-KR" sz="900" dirty="0">
                <a:solidFill>
                  <a:srgbClr val="8B9AB3"/>
                </a:solidFill>
                <a:latin typeface="Pretendard 400"/>
                <a:ea typeface="Malgun Gothic"/>
                <a:cs typeface="Pretendard 400"/>
              </a:rPr>
              <a:t>개발자의 종말: AI 시대</a:t>
            </a:r>
          </a:p>
        </p:txBody>
      </p:sp>
      <p:sp>
        <p:nvSpPr>
          <p:cNvPr id="37" name="TextBox 37"/>
          <p:cNvSpPr txBox="1"/>
          <p:nvPr/>
        </p:nvSpPr>
        <p:spPr>
          <a:xfrm>
            <a:off x="11011090" y="6494145"/>
            <a:ext cx="430340" cy="182880"/>
          </a:xfrm>
          <a:prstGeom prst="rect">
            <a:avLst/>
          </a:prstGeom>
          <a:noFill/>
          <a:ln>
            <a:noFill/>
          </a:ln>
        </p:spPr>
        <p:txBody>
          <a:bodyPr wrap="none" lIns="0" tIns="0" rIns="0" bIns="0" anchor="t" anchorCtr="0">
            <a:spAutoFit/>
          </a:bodyPr>
          <a:lstStyle/>
          <a:p>
            <a:pPr algn="r"/>
            <a:r>
              <a:rPr lang="en-US" sz="900" dirty="0">
                <a:solidFill>
                  <a:srgbClr val="8B9AB3"/>
                </a:solidFill>
                <a:latin typeface="Pretendard 400"/>
                <a:ea typeface="Malgun Gothic"/>
                <a:cs typeface="Pretendard 400"/>
              </a:rPr>
              <a:t>04 / 10</a:t>
            </a:r>
          </a:p>
        </p:txBody>
      </p:sp>
    </p:spTree>
  </p:cSld>
  <p:clrMapOvr>
    <a:masterClrMapping/>
  </p:clrMapOvr>
  <p:transition xmlns:p14="http://schemas.microsoft.com/office/powerpoint/2010/main" p14:dur="5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1628"/>
              </a:gs>
              <a:gs pos="50000">
                <a:srgbClr val="13243B"/>
              </a:gs>
              <a:gs pos="100000">
                <a:srgbClr val="1A2F4F"/>
              </a:gs>
            </a:gsLst>
            <a:lin ang="2700000" scaled="1"/>
          </a:gradFill>
          <a:ln>
            <a:noFill/>
          </a:ln>
        </p:spPr>
      </p:sp>
      <p:sp>
        <p:nvSpPr>
          <p:cNvPr id="3" name="Rectangle 3"/>
          <p:cNvSpPr/>
          <p:nvPr/>
        </p:nvSpPr>
        <p:spPr>
          <a:xfrm>
            <a:off x="0" y="0"/>
            <a:ext cx="38100" cy="6858000"/>
          </a:xfrm>
          <a:prstGeom prst="rect">
            <a:avLst/>
          </a:prstGeom>
          <a:solidFill>
            <a:srgbClr val="00D9FF">
              <a:alpha val="60000"/>
            </a:srgbClr>
          </a:solidFill>
          <a:ln>
            <a:noFill/>
          </a:ln>
        </p:spPr>
      </p:sp>
      <p:sp>
        <p:nvSpPr>
          <p:cNvPr id="4" name="Rectangle 4"/>
          <p:cNvSpPr/>
          <p:nvPr/>
        </p:nvSpPr>
        <p:spPr>
          <a:xfrm>
            <a:off x="609600" y="685800"/>
            <a:ext cx="457200" cy="19050"/>
          </a:xfrm>
          <a:prstGeom prst="rect">
            <a:avLst/>
          </a:prstGeom>
          <a:solidFill>
            <a:srgbClr val="00D9FF"/>
          </a:solidFill>
          <a:ln>
            <a:noFill/>
          </a:ln>
        </p:spPr>
      </p:sp>
      <p:sp>
        <p:nvSpPr>
          <p:cNvPr id="5" name="TextBox 5"/>
          <p:cNvSpPr txBox="1"/>
          <p:nvPr/>
        </p:nvSpPr>
        <p:spPr>
          <a:xfrm>
            <a:off x="1169670" y="645795"/>
            <a:ext cx="1232154" cy="182880"/>
          </a:xfrm>
          <a:prstGeom prst="rect">
            <a:avLst/>
          </a:prstGeom>
          <a:noFill/>
          <a:ln>
            <a:noFill/>
          </a:ln>
        </p:spPr>
        <p:txBody>
          <a:bodyPr wrap="none" lIns="0" tIns="0" rIns="0" bIns="0" anchor="t" anchorCtr="0">
            <a:spAutoFit/>
          </a:bodyPr>
          <a:lstStyle/>
          <a:p>
            <a:pPr algn="l"/>
            <a:r>
              <a:rPr lang="en-US" sz="900" dirty="0">
                <a:solidFill>
                  <a:srgbClr val="00D9FF"/>
                </a:solidFill>
                <a:latin typeface="Pretendard 400"/>
                <a:ea typeface="Malgun Gothic"/>
                <a:cs typeface="Pretendard 400"/>
              </a:rPr>
              <a:t>PART 03 — THE SHIFT</a:t>
            </a:r>
          </a:p>
        </p:txBody>
      </p:sp>
      <p:sp>
        <p:nvSpPr>
          <p:cNvPr id="6" name="TextBox 6"/>
          <p:cNvSpPr txBox="1"/>
          <p:nvPr/>
        </p:nvSpPr>
        <p:spPr>
          <a:xfrm>
            <a:off x="596265" y="1124902"/>
            <a:ext cx="502063" cy="213360"/>
          </a:xfrm>
          <a:prstGeom prst="rect">
            <a:avLst/>
          </a:prstGeom>
          <a:noFill/>
          <a:ln>
            <a:noFill/>
          </a:ln>
        </p:spPr>
        <p:txBody>
          <a:bodyPr wrap="none" lIns="0" tIns="0" rIns="0" bIns="0" anchor="t" anchorCtr="0">
            <a:spAutoFit/>
          </a:bodyPr>
          <a:lstStyle/>
          <a:p>
            <a:pPr algn="l"/>
            <a:r>
              <a:rPr lang="en-US" sz="1050" dirty="0">
                <a:solidFill>
                  <a:srgbClr val="8B9AB3"/>
                </a:solidFill>
                <a:latin typeface="Arial Black"/>
                <a:ea typeface="Malgun Gothic"/>
                <a:cs typeface="Arial Black"/>
              </a:rPr>
              <a:t>05 / 10</a:t>
            </a:r>
          </a:p>
        </p:txBody>
      </p:sp>
      <p:sp>
        <p:nvSpPr>
          <p:cNvPr id="7" name="TextBox 7"/>
          <p:cNvSpPr txBox="1"/>
          <p:nvPr/>
        </p:nvSpPr>
        <p:spPr>
          <a:xfrm>
            <a:off x="567690" y="1739265"/>
            <a:ext cx="1047750" cy="670560"/>
          </a:xfrm>
          <a:prstGeom prst="rect">
            <a:avLst/>
          </a:prstGeom>
          <a:noFill/>
          <a:ln>
            <a:noFill/>
          </a:ln>
        </p:spPr>
        <p:txBody>
          <a:bodyPr wrap="none" lIns="0" tIns="0" rIns="0" bIns="0" anchor="t" anchorCtr="0">
            <a:spAutoFit/>
          </a:bodyPr>
          <a:lstStyle/>
          <a:p>
            <a:pPr algn="l"/>
            <a:r>
              <a:rPr lang="ko-KR" sz="3300" dirty="0">
                <a:solidFill>
                  <a:srgbClr val="E8EEF7"/>
                </a:solidFill>
                <a:latin typeface="Pretendard 900"/>
                <a:ea typeface="Malgun Gothic"/>
                <a:cs typeface="Pretendard 900"/>
              </a:rPr>
              <a:t>누가</a:t>
            </a:r>
          </a:p>
        </p:txBody>
      </p:sp>
      <p:sp>
        <p:nvSpPr>
          <p:cNvPr id="8" name="TextBox 8"/>
          <p:cNvSpPr txBox="1"/>
          <p:nvPr/>
        </p:nvSpPr>
        <p:spPr>
          <a:xfrm>
            <a:off x="567690" y="2215515"/>
            <a:ext cx="1674304" cy="670560"/>
          </a:xfrm>
          <a:prstGeom prst="rect">
            <a:avLst/>
          </a:prstGeom>
          <a:noFill/>
          <a:ln>
            <a:noFill/>
          </a:ln>
        </p:spPr>
        <p:txBody>
          <a:bodyPr wrap="none" lIns="0" tIns="0" rIns="0" bIns="0" anchor="t" anchorCtr="0">
            <a:spAutoFit/>
          </a:bodyPr>
          <a:lstStyle/>
          <a:p>
            <a:pPr algn="l"/>
            <a:r>
              <a:rPr lang="ko-KR" sz="3300" dirty="0">
                <a:solidFill>
                  <a:srgbClr val="E8EEF7"/>
                </a:solidFill>
                <a:latin typeface="Pretendard 900"/>
                <a:ea typeface="Malgun Gothic"/>
                <a:cs typeface="Pretendard 900"/>
              </a:rPr>
              <a:t>가장 큰</a:t>
            </a:r>
          </a:p>
        </p:txBody>
      </p:sp>
      <p:sp>
        <p:nvSpPr>
          <p:cNvPr id="9" name="TextBox 9"/>
          <p:cNvSpPr txBox="1"/>
          <p:nvPr/>
        </p:nvSpPr>
        <p:spPr>
          <a:xfrm>
            <a:off x="567690" y="2691765"/>
            <a:ext cx="1529715" cy="670560"/>
          </a:xfrm>
          <a:prstGeom prst="rect">
            <a:avLst/>
          </a:prstGeom>
          <a:noFill/>
          <a:ln>
            <a:noFill/>
          </a:ln>
        </p:spPr>
        <p:txBody>
          <a:bodyPr wrap="none" lIns="0" tIns="0" rIns="0" bIns="0" anchor="t" anchorCtr="0">
            <a:spAutoFit/>
          </a:bodyPr>
          <a:lstStyle/>
          <a:p>
            <a:pPr algn="l"/>
            <a:r>
              <a:rPr lang="ko-KR" sz="3300" dirty="0">
                <a:solidFill>
                  <a:srgbClr val="FF3D5A"/>
                </a:solidFill>
                <a:latin typeface="Pretendard 900"/>
                <a:ea typeface="Malgun Gothic"/>
                <a:cs typeface="Pretendard 900"/>
              </a:rPr>
              <a:t>영향을</a:t>
            </a:r>
          </a:p>
        </p:txBody>
      </p:sp>
      <p:sp>
        <p:nvSpPr>
          <p:cNvPr id="10" name="TextBox 10"/>
          <p:cNvSpPr txBox="1"/>
          <p:nvPr/>
        </p:nvSpPr>
        <p:spPr>
          <a:xfrm>
            <a:off x="567690" y="3168015"/>
            <a:ext cx="1529715" cy="670560"/>
          </a:xfrm>
          <a:prstGeom prst="rect">
            <a:avLst/>
          </a:prstGeom>
          <a:noFill/>
          <a:ln>
            <a:noFill/>
          </a:ln>
        </p:spPr>
        <p:txBody>
          <a:bodyPr wrap="none" lIns="0" tIns="0" rIns="0" bIns="0" anchor="t" anchorCtr="0">
            <a:spAutoFit/>
          </a:bodyPr>
          <a:lstStyle/>
          <a:p>
            <a:pPr algn="l"/>
            <a:r>
              <a:rPr lang="ko-KR" sz="3300" dirty="0">
                <a:solidFill>
                  <a:srgbClr val="FF3D5A"/>
                </a:solidFill>
                <a:latin typeface="Pretendard 900"/>
                <a:ea typeface="Malgun Gothic"/>
                <a:cs typeface="Pretendard 900"/>
              </a:rPr>
              <a:t>받는가</a:t>
            </a:r>
          </a:p>
        </p:txBody>
      </p:sp>
      <p:sp>
        <p:nvSpPr>
          <p:cNvPr id="11" name="Rectangle 11"/>
          <p:cNvSpPr/>
          <p:nvPr/>
        </p:nvSpPr>
        <p:spPr>
          <a:xfrm>
            <a:off x="609600" y="3905250"/>
            <a:ext cx="571500" cy="9525"/>
          </a:xfrm>
          <a:prstGeom prst="rect">
            <a:avLst/>
          </a:prstGeom>
          <a:solidFill>
            <a:srgbClr val="8B9AB3">
              <a:alpha val="40000"/>
            </a:srgbClr>
          </a:solidFill>
          <a:ln>
            <a:noFill/>
          </a:ln>
        </p:spPr>
      </p:sp>
      <p:sp>
        <p:nvSpPr>
          <p:cNvPr id="12" name="TextBox 12"/>
          <p:cNvSpPr txBox="1"/>
          <p:nvPr/>
        </p:nvSpPr>
        <p:spPr>
          <a:xfrm>
            <a:off x="592455" y="4140518"/>
            <a:ext cx="852535" cy="274320"/>
          </a:xfrm>
          <a:prstGeom prst="rect">
            <a:avLst/>
          </a:prstGeom>
          <a:noFill/>
          <a:ln>
            <a:noFill/>
          </a:ln>
        </p:spPr>
        <p:txBody>
          <a:bodyPr wrap="none" lIns="0" tIns="0" rIns="0" bIns="0" anchor="t" anchorCtr="0">
            <a:spAutoFit/>
          </a:bodyPr>
          <a:lstStyle/>
          <a:p>
            <a:pPr algn="l"/>
            <a:r>
              <a:rPr lang="ko-KR" sz="1350" dirty="0">
                <a:solidFill>
                  <a:srgbClr val="00D9FF"/>
                </a:solidFill>
                <a:latin typeface="Pretendard 700"/>
                <a:ea typeface="Malgun Gothic"/>
                <a:cs typeface="Pretendard 700"/>
              </a:rPr>
              <a:t>AI 영향도</a:t>
            </a:r>
          </a:p>
        </p:txBody>
      </p:sp>
      <p:sp>
        <p:nvSpPr>
          <p:cNvPr id="13" name="TextBox 13"/>
          <p:cNvSpPr txBox="1"/>
          <p:nvPr/>
        </p:nvSpPr>
        <p:spPr>
          <a:xfrm>
            <a:off x="594360" y="4423410"/>
            <a:ext cx="959358"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직무별 차이</a:t>
            </a:r>
          </a:p>
        </p:txBody>
      </p:sp>
      <p:sp>
        <p:nvSpPr>
          <p:cNvPr id="14" name="TextBox 14"/>
          <p:cNvSpPr txBox="1"/>
          <p:nvPr/>
        </p:nvSpPr>
        <p:spPr>
          <a:xfrm>
            <a:off x="595312" y="5022056"/>
            <a:ext cx="1605915" cy="228600"/>
          </a:xfrm>
          <a:prstGeom prst="rect">
            <a:avLst/>
          </a:prstGeom>
          <a:noFill/>
          <a:ln>
            <a:noFill/>
          </a:ln>
        </p:spPr>
        <p:txBody>
          <a:bodyPr wrap="none" lIns="0" tIns="0" rIns="0" bIns="0" anchor="t" anchorCtr="0">
            <a:spAutoFit/>
          </a:bodyPr>
          <a:lstStyle/>
          <a:p>
            <a:pPr algn="l"/>
            <a:r>
              <a:rPr lang="ko-KR" sz="1125" dirty="0">
                <a:solidFill>
                  <a:srgbClr val="E8EEF7">
                    <a:alphaMod val="90000"/>
                  </a:srgbClr>
                </a:solidFill>
                <a:latin typeface="Pretendard 400"/>
                <a:ea typeface="Malgun Gothic"/>
                <a:cs typeface="Pretendard 400"/>
              </a:rPr>
              <a:t>모든 개발자가 똑같이</a:t>
            </a:r>
          </a:p>
        </p:txBody>
      </p:sp>
      <p:sp>
        <p:nvSpPr>
          <p:cNvPr id="15" name="TextBox 15"/>
          <p:cNvSpPr txBox="1"/>
          <p:nvPr/>
        </p:nvSpPr>
        <p:spPr>
          <a:xfrm>
            <a:off x="595312" y="5231606"/>
            <a:ext cx="1860590" cy="228600"/>
          </a:xfrm>
          <a:prstGeom prst="rect">
            <a:avLst/>
          </a:prstGeom>
          <a:noFill/>
          <a:ln>
            <a:noFill/>
          </a:ln>
        </p:spPr>
        <p:txBody>
          <a:bodyPr wrap="none" lIns="0" tIns="0" rIns="0" bIns="0" anchor="t" anchorCtr="0">
            <a:spAutoFit/>
          </a:bodyPr>
          <a:lstStyle/>
          <a:p>
            <a:pPr algn="l"/>
            <a:r>
              <a:rPr lang="ko-KR" sz="1125" dirty="0">
                <a:solidFill>
                  <a:srgbClr val="E8EEF7">
                    <a:alphaMod val="90000"/>
                  </a:srgbClr>
                </a:solidFill>
                <a:latin typeface="Pretendard 400"/>
                <a:ea typeface="Malgun Gothic"/>
                <a:cs typeface="Pretendard 400"/>
              </a:rPr>
              <a:t>위협받는 것은 아닙니다.</a:t>
            </a:r>
          </a:p>
        </p:txBody>
      </p:sp>
      <p:sp>
        <p:nvSpPr>
          <p:cNvPr id="16" name="TextBox 16"/>
          <p:cNvSpPr txBox="1"/>
          <p:nvPr/>
        </p:nvSpPr>
        <p:spPr>
          <a:xfrm>
            <a:off x="595312" y="5669756"/>
            <a:ext cx="1770221" cy="228600"/>
          </a:xfrm>
          <a:prstGeom prst="rect">
            <a:avLst/>
          </a:prstGeom>
          <a:noFill/>
          <a:ln>
            <a:noFill/>
          </a:ln>
        </p:spPr>
        <p:txBody>
          <a:bodyPr wrap="none" lIns="0" tIns="0" rIns="0" bIns="0" anchor="t" anchorCtr="0">
            <a:spAutoFit/>
          </a:bodyPr>
          <a:lstStyle/>
          <a:p>
            <a:pPr algn="l"/>
            <a:r>
              <a:rPr lang="ko-KR" sz="1125" dirty="0">
                <a:solidFill>
                  <a:srgbClr val="FFB627"/>
                </a:solidFill>
                <a:latin typeface="Pretendard 700"/>
                <a:ea typeface="Malgun Gothic"/>
                <a:cs typeface="Pretendard 700"/>
              </a:rPr>
              <a:t>반복 가능한 코드일수록</a:t>
            </a:r>
          </a:p>
        </p:txBody>
      </p:sp>
      <p:sp>
        <p:nvSpPr>
          <p:cNvPr id="17" name="TextBox 17"/>
          <p:cNvSpPr txBox="1"/>
          <p:nvPr/>
        </p:nvSpPr>
        <p:spPr>
          <a:xfrm>
            <a:off x="595312" y="5879306"/>
            <a:ext cx="1696283" cy="228600"/>
          </a:xfrm>
          <a:prstGeom prst="rect">
            <a:avLst/>
          </a:prstGeom>
          <a:noFill/>
          <a:ln>
            <a:noFill/>
          </a:ln>
        </p:spPr>
        <p:txBody>
          <a:bodyPr wrap="none" lIns="0" tIns="0" rIns="0" bIns="0" anchor="t" anchorCtr="0">
            <a:spAutoFit/>
          </a:bodyPr>
          <a:lstStyle/>
          <a:p>
            <a:pPr algn="l"/>
            <a:r>
              <a:rPr lang="ko-KR" sz="1125" dirty="0">
                <a:solidFill>
                  <a:srgbClr val="FFB627"/>
                </a:solidFill>
                <a:latin typeface="Pretendard 700"/>
                <a:ea typeface="Malgun Gothic"/>
                <a:cs typeface="Pretendard 700"/>
              </a:rPr>
              <a:t>대체 위험이 높습니다.</a:t>
            </a:r>
          </a:p>
        </p:txBody>
      </p:sp>
      <p:sp>
        <p:nvSpPr>
          <p:cNvPr id="18" name="TextBox 18"/>
          <p:cNvSpPr txBox="1"/>
          <p:nvPr/>
        </p:nvSpPr>
        <p:spPr>
          <a:xfrm>
            <a:off x="598170" y="6456045"/>
            <a:ext cx="1738217" cy="182880"/>
          </a:xfrm>
          <a:prstGeom prst="rect">
            <a:avLst/>
          </a:prstGeom>
          <a:noFill/>
          <a:ln>
            <a:noFill/>
          </a:ln>
        </p:spPr>
        <p:txBody>
          <a:bodyPr wrap="none" lIns="0" tIns="0" rIns="0" bIns="0" anchor="t" anchorCtr="0">
            <a:spAutoFit/>
          </a:bodyPr>
          <a:lstStyle/>
          <a:p>
            <a:pPr algn="l"/>
            <a:r>
              <a:rPr lang="ko-KR" sz="900" dirty="0">
                <a:solidFill>
                  <a:srgbClr val="8B9AB3">
                    <a:alphaMod val="70000"/>
                  </a:srgbClr>
                </a:solidFill>
                <a:latin typeface="Pretendard 400"/>
                <a:ea typeface="Malgun Gothic"/>
                <a:cs typeface="Pretendard 400"/>
              </a:rPr>
              <a:t>자료: 산업 분석 종합 (2024)</a:t>
            </a:r>
          </a:p>
        </p:txBody>
      </p:sp>
      <p:sp>
        <p:nvSpPr>
          <p:cNvPr id="19" name="Rectangle 19"/>
          <p:cNvSpPr/>
          <p:nvPr/>
        </p:nvSpPr>
        <p:spPr>
          <a:xfrm>
            <a:off x="3657600" y="685800"/>
            <a:ext cx="9525" cy="5486400"/>
          </a:xfrm>
          <a:prstGeom prst="rect">
            <a:avLst/>
          </a:prstGeom>
          <a:solidFill>
            <a:srgbClr val="8B9AB3">
              <a:alpha val="15000"/>
            </a:srgbClr>
          </a:solidFill>
          <a:ln>
            <a:noFill/>
          </a:ln>
        </p:spPr>
      </p:sp>
      <p:sp>
        <p:nvSpPr>
          <p:cNvPr id="20" name="TextBox 20"/>
          <p:cNvSpPr txBox="1"/>
          <p:nvPr/>
        </p:nvSpPr>
        <p:spPr>
          <a:xfrm>
            <a:off x="4011930" y="725805"/>
            <a:ext cx="3304413" cy="426720"/>
          </a:xfrm>
          <a:prstGeom prst="rect">
            <a:avLst/>
          </a:prstGeom>
          <a:noFill/>
          <a:ln>
            <a:noFill/>
          </a:ln>
        </p:spPr>
        <p:txBody>
          <a:bodyPr wrap="none" lIns="0" tIns="0" rIns="0" bIns="0" anchor="t" anchorCtr="0">
            <a:spAutoFit/>
          </a:bodyPr>
          <a:lstStyle/>
          <a:p>
            <a:pPr algn="l"/>
            <a:r>
              <a:rPr lang="ko-KR" sz="2100" dirty="0">
                <a:solidFill>
                  <a:srgbClr val="E8EEF7"/>
                </a:solidFill>
                <a:latin typeface="Pretendard 900"/>
                <a:ea typeface="Malgun Gothic"/>
                <a:cs typeface="Pretendard 900"/>
              </a:rPr>
              <a:t>AI 영향도 — 직무별 차이</a:t>
            </a:r>
          </a:p>
        </p:txBody>
      </p:sp>
      <p:sp>
        <p:nvSpPr>
          <p:cNvPr id="21" name="TextBox 21"/>
          <p:cNvSpPr txBox="1"/>
          <p:nvPr/>
        </p:nvSpPr>
        <p:spPr>
          <a:xfrm>
            <a:off x="4025265" y="1105852"/>
            <a:ext cx="2480310"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0%(영향 없음) → 100%(완전 자동화)</a:t>
            </a:r>
          </a:p>
        </p:txBody>
      </p:sp>
      <p:sp>
        <p:nvSpPr>
          <p:cNvPr id="22" name="Line 22"/>
          <p:cNvSpPr/>
          <p:nvPr/>
        </p:nvSpPr>
        <p:spPr>
          <a:xfrm>
            <a:off x="4953000" y="1619250"/>
            <a:ext cx="9525" cy="4476750"/>
          </a:xfrm>
          <a:custGeom>
            <a:avLst/>
            <a:gdLst/>
            <a:ahLst/>
            <a:cxnLst/>
            <a:rect l="l" t="t" r="r" b="b"/>
            <a:pathLst>
              <a:path w="9525" h="4476750">
                <a:moveTo>
                  <a:pt x="0" y="0"/>
                </a:moveTo>
                <a:lnTo>
                  <a:pt x="0" y="4476750"/>
                </a:lnTo>
              </a:path>
            </a:pathLst>
          </a:custGeom>
          <a:noFill/>
          <a:ln w="9525">
            <a:solidFill>
              <a:srgbClr val="8B9AB3">
                <a:alpha val="30000"/>
              </a:srgbClr>
            </a:solidFill>
          </a:ln>
        </p:spPr>
      </p:sp>
      <p:sp>
        <p:nvSpPr>
          <p:cNvPr id="23" name="Line 23"/>
          <p:cNvSpPr/>
          <p:nvPr/>
        </p:nvSpPr>
        <p:spPr>
          <a:xfrm>
            <a:off x="6572250" y="1619250"/>
            <a:ext cx="9525" cy="4476750"/>
          </a:xfrm>
          <a:custGeom>
            <a:avLst/>
            <a:gdLst/>
            <a:ahLst/>
            <a:cxnLst/>
            <a:rect l="l" t="t" r="r" b="b"/>
            <a:pathLst>
              <a:path w="9525" h="4476750">
                <a:moveTo>
                  <a:pt x="0" y="0"/>
                </a:moveTo>
                <a:lnTo>
                  <a:pt x="0" y="4476750"/>
                </a:lnTo>
              </a:path>
            </a:pathLst>
          </a:custGeom>
          <a:noFill/>
          <a:ln w="9525">
            <a:solidFill>
              <a:srgbClr val="8B9AB3">
                <a:alpha val="10000"/>
              </a:srgbClr>
            </a:solidFill>
            <a:custDash>
              <a:ds d="200000" sp="400000"/>
            </a:custDash>
          </a:ln>
        </p:spPr>
      </p:sp>
      <p:sp>
        <p:nvSpPr>
          <p:cNvPr id="24" name="Line 24"/>
          <p:cNvSpPr/>
          <p:nvPr/>
        </p:nvSpPr>
        <p:spPr>
          <a:xfrm>
            <a:off x="8191500" y="1619250"/>
            <a:ext cx="9525" cy="4476750"/>
          </a:xfrm>
          <a:custGeom>
            <a:avLst/>
            <a:gdLst/>
            <a:ahLst/>
            <a:cxnLst/>
            <a:rect l="l" t="t" r="r" b="b"/>
            <a:pathLst>
              <a:path w="9525" h="4476750">
                <a:moveTo>
                  <a:pt x="0" y="0"/>
                </a:moveTo>
                <a:lnTo>
                  <a:pt x="0" y="4476750"/>
                </a:lnTo>
              </a:path>
            </a:pathLst>
          </a:custGeom>
          <a:noFill/>
          <a:ln w="9525">
            <a:solidFill>
              <a:srgbClr val="8B9AB3">
                <a:alpha val="10000"/>
              </a:srgbClr>
            </a:solidFill>
            <a:custDash>
              <a:ds d="200000" sp="400000"/>
            </a:custDash>
          </a:ln>
        </p:spPr>
      </p:sp>
      <p:sp>
        <p:nvSpPr>
          <p:cNvPr id="25" name="Line 25"/>
          <p:cNvSpPr/>
          <p:nvPr/>
        </p:nvSpPr>
        <p:spPr>
          <a:xfrm>
            <a:off x="9810750" y="1619250"/>
            <a:ext cx="9525" cy="4476750"/>
          </a:xfrm>
          <a:custGeom>
            <a:avLst/>
            <a:gdLst/>
            <a:ahLst/>
            <a:cxnLst/>
            <a:rect l="l" t="t" r="r" b="b"/>
            <a:pathLst>
              <a:path w="9525" h="4476750">
                <a:moveTo>
                  <a:pt x="0" y="0"/>
                </a:moveTo>
                <a:lnTo>
                  <a:pt x="0" y="4476750"/>
                </a:lnTo>
              </a:path>
            </a:pathLst>
          </a:custGeom>
          <a:noFill/>
          <a:ln w="9525">
            <a:solidFill>
              <a:srgbClr val="8B9AB3">
                <a:alpha val="10000"/>
              </a:srgbClr>
            </a:solidFill>
            <a:custDash>
              <a:ds d="200000" sp="400000"/>
            </a:custDash>
          </a:ln>
        </p:spPr>
      </p:sp>
      <p:sp>
        <p:nvSpPr>
          <p:cNvPr id="26" name="Line 26"/>
          <p:cNvSpPr/>
          <p:nvPr/>
        </p:nvSpPr>
        <p:spPr>
          <a:xfrm>
            <a:off x="11430000" y="1619250"/>
            <a:ext cx="9525" cy="4476750"/>
          </a:xfrm>
          <a:custGeom>
            <a:avLst/>
            <a:gdLst/>
            <a:ahLst/>
            <a:cxnLst/>
            <a:rect l="l" t="t" r="r" b="b"/>
            <a:pathLst>
              <a:path w="9525" h="4476750">
                <a:moveTo>
                  <a:pt x="0" y="0"/>
                </a:moveTo>
                <a:lnTo>
                  <a:pt x="0" y="4476750"/>
                </a:lnTo>
              </a:path>
            </a:pathLst>
          </a:custGeom>
          <a:noFill/>
          <a:ln w="9525">
            <a:solidFill>
              <a:srgbClr val="8B9AB3">
                <a:alpha val="10000"/>
              </a:srgbClr>
            </a:solidFill>
            <a:custDash>
              <a:ds d="200000" sp="400000"/>
            </a:custDash>
          </a:ln>
        </p:spPr>
      </p:sp>
      <p:sp>
        <p:nvSpPr>
          <p:cNvPr id="27" name="TextBox 27"/>
          <p:cNvSpPr txBox="1"/>
          <p:nvPr/>
        </p:nvSpPr>
        <p:spPr>
          <a:xfrm>
            <a:off x="4876252" y="6197441"/>
            <a:ext cx="153495" cy="167640"/>
          </a:xfrm>
          <a:prstGeom prst="rect">
            <a:avLst/>
          </a:prstGeom>
          <a:noFill/>
          <a:ln>
            <a:noFill/>
          </a:ln>
        </p:spPr>
        <p:txBody>
          <a:bodyPr wrap="none" lIns="0" tIns="0" rIns="0" bIns="0" anchor="t" anchorCtr="0">
            <a:spAutoFit/>
          </a:bodyPr>
          <a:lstStyle/>
          <a:p>
            <a:pPr algn="ctr"/>
            <a:r>
              <a:rPr lang="en-US" sz="825" dirty="0">
                <a:solidFill>
                  <a:srgbClr val="8B9AB3"/>
                </a:solidFill>
                <a:latin typeface="Pretendard 400"/>
                <a:ea typeface="Malgun Gothic"/>
                <a:cs typeface="Pretendard 400"/>
              </a:rPr>
              <a:t>0%</a:t>
            </a:r>
          </a:p>
        </p:txBody>
      </p:sp>
      <p:sp>
        <p:nvSpPr>
          <p:cNvPr id="28" name="TextBox 28"/>
          <p:cNvSpPr txBox="1"/>
          <p:nvPr/>
        </p:nvSpPr>
        <p:spPr>
          <a:xfrm>
            <a:off x="6462367" y="6197441"/>
            <a:ext cx="219766" cy="167640"/>
          </a:xfrm>
          <a:prstGeom prst="rect">
            <a:avLst/>
          </a:prstGeom>
          <a:noFill/>
          <a:ln>
            <a:noFill/>
          </a:ln>
        </p:spPr>
        <p:txBody>
          <a:bodyPr wrap="none" lIns="0" tIns="0" rIns="0" bIns="0" anchor="t" anchorCtr="0">
            <a:spAutoFit/>
          </a:bodyPr>
          <a:lstStyle/>
          <a:p>
            <a:pPr algn="ctr"/>
            <a:r>
              <a:rPr lang="en-US" sz="825" dirty="0">
                <a:solidFill>
                  <a:srgbClr val="8B9AB3"/>
                </a:solidFill>
                <a:latin typeface="Pretendard 400"/>
                <a:ea typeface="Malgun Gothic"/>
                <a:cs typeface="Pretendard 400"/>
              </a:rPr>
              <a:t>25%</a:t>
            </a:r>
          </a:p>
        </p:txBody>
      </p:sp>
      <p:sp>
        <p:nvSpPr>
          <p:cNvPr id="29" name="TextBox 29"/>
          <p:cNvSpPr txBox="1"/>
          <p:nvPr/>
        </p:nvSpPr>
        <p:spPr>
          <a:xfrm>
            <a:off x="8081617" y="6197441"/>
            <a:ext cx="219766" cy="167640"/>
          </a:xfrm>
          <a:prstGeom prst="rect">
            <a:avLst/>
          </a:prstGeom>
          <a:noFill/>
          <a:ln>
            <a:noFill/>
          </a:ln>
        </p:spPr>
        <p:txBody>
          <a:bodyPr wrap="none" lIns="0" tIns="0" rIns="0" bIns="0" anchor="t" anchorCtr="0">
            <a:spAutoFit/>
          </a:bodyPr>
          <a:lstStyle/>
          <a:p>
            <a:pPr algn="ctr"/>
            <a:r>
              <a:rPr lang="en-US" sz="825" dirty="0">
                <a:solidFill>
                  <a:srgbClr val="8B9AB3"/>
                </a:solidFill>
                <a:latin typeface="Pretendard 400"/>
                <a:ea typeface="Malgun Gothic"/>
                <a:cs typeface="Pretendard 400"/>
              </a:rPr>
              <a:t>50%</a:t>
            </a:r>
          </a:p>
        </p:txBody>
      </p:sp>
      <p:sp>
        <p:nvSpPr>
          <p:cNvPr id="30" name="TextBox 30"/>
          <p:cNvSpPr txBox="1"/>
          <p:nvPr/>
        </p:nvSpPr>
        <p:spPr>
          <a:xfrm>
            <a:off x="9700867" y="6197441"/>
            <a:ext cx="219766" cy="167640"/>
          </a:xfrm>
          <a:prstGeom prst="rect">
            <a:avLst/>
          </a:prstGeom>
          <a:noFill/>
          <a:ln>
            <a:noFill/>
          </a:ln>
        </p:spPr>
        <p:txBody>
          <a:bodyPr wrap="none" lIns="0" tIns="0" rIns="0" bIns="0" anchor="t" anchorCtr="0">
            <a:spAutoFit/>
          </a:bodyPr>
          <a:lstStyle/>
          <a:p>
            <a:pPr algn="ctr"/>
            <a:r>
              <a:rPr lang="en-US" sz="825" dirty="0">
                <a:solidFill>
                  <a:srgbClr val="8B9AB3"/>
                </a:solidFill>
                <a:latin typeface="Pretendard 400"/>
                <a:ea typeface="Malgun Gothic"/>
                <a:cs typeface="Pretendard 400"/>
              </a:rPr>
              <a:t>75%</a:t>
            </a:r>
          </a:p>
        </p:txBody>
      </p:sp>
      <p:sp>
        <p:nvSpPr>
          <p:cNvPr id="31" name="TextBox 31"/>
          <p:cNvSpPr txBox="1"/>
          <p:nvPr/>
        </p:nvSpPr>
        <p:spPr>
          <a:xfrm>
            <a:off x="11302044" y="6197441"/>
            <a:ext cx="255913" cy="167640"/>
          </a:xfrm>
          <a:prstGeom prst="rect">
            <a:avLst/>
          </a:prstGeom>
          <a:noFill/>
          <a:ln>
            <a:noFill/>
          </a:ln>
        </p:spPr>
        <p:txBody>
          <a:bodyPr wrap="none" lIns="0" tIns="0" rIns="0" bIns="0" anchor="t" anchorCtr="0">
            <a:spAutoFit/>
          </a:bodyPr>
          <a:lstStyle/>
          <a:p>
            <a:pPr algn="ctr"/>
            <a:r>
              <a:rPr lang="en-US" sz="825" dirty="0">
                <a:solidFill>
                  <a:srgbClr val="8B9AB3"/>
                </a:solidFill>
                <a:latin typeface="Pretendard 400"/>
                <a:ea typeface="Malgun Gothic"/>
                <a:cs typeface="Pretendard 400"/>
              </a:rPr>
              <a:t>100%</a:t>
            </a:r>
          </a:p>
        </p:txBody>
      </p:sp>
      <p:sp>
        <p:nvSpPr>
          <p:cNvPr id="32" name="TextBox 32"/>
          <p:cNvSpPr txBox="1"/>
          <p:nvPr/>
        </p:nvSpPr>
        <p:spPr>
          <a:xfrm>
            <a:off x="4025265" y="1791652"/>
            <a:ext cx="1376172" cy="213360"/>
          </a:xfrm>
          <a:prstGeom prst="rect">
            <a:avLst/>
          </a:prstGeom>
          <a:noFill/>
          <a:ln>
            <a:noFill/>
          </a:ln>
        </p:spPr>
        <p:txBody>
          <a:bodyPr wrap="none" lIns="0" tIns="0" rIns="0" bIns="0" anchor="t" anchorCtr="0">
            <a:spAutoFit/>
          </a:bodyPr>
          <a:lstStyle/>
          <a:p>
            <a:pPr algn="l"/>
            <a:r>
              <a:rPr lang="ko-KR" sz="1050" dirty="0">
                <a:solidFill>
                  <a:srgbClr val="E8EEF7"/>
                </a:solidFill>
                <a:latin typeface="Pretendard 700"/>
                <a:ea typeface="Malgun Gothic"/>
                <a:cs typeface="Pretendard 700"/>
              </a:rPr>
              <a:t>주니어 백엔드 CRUD</a:t>
            </a:r>
          </a:p>
        </p:txBody>
      </p:sp>
      <p:sp>
        <p:nvSpPr>
          <p:cNvPr id="33" name="TextBox 33"/>
          <p:cNvSpPr txBox="1"/>
          <p:nvPr/>
        </p:nvSpPr>
        <p:spPr>
          <a:xfrm>
            <a:off x="4028122" y="1987391"/>
            <a:ext cx="1177671" cy="167640"/>
          </a:xfrm>
          <a:prstGeom prst="rect">
            <a:avLst/>
          </a:prstGeom>
          <a:noFill/>
          <a:ln>
            <a:noFill/>
          </a:ln>
        </p:spPr>
        <p:txBody>
          <a:bodyPr wrap="none" lIns="0" tIns="0" rIns="0" bIns="0" anchor="t" anchorCtr="0">
            <a:spAutoFit/>
          </a:bodyPr>
          <a:lstStyle/>
          <a:p>
            <a:pPr algn="l"/>
            <a:r>
              <a:rPr lang="ko-KR" sz="825" dirty="0">
                <a:solidFill>
                  <a:srgbClr val="8B9AB3"/>
                </a:solidFill>
                <a:latin typeface="Pretendard 400"/>
                <a:ea typeface="Malgun Gothic"/>
                <a:cs typeface="Pretendard 400"/>
              </a:rPr>
              <a:t>정형화된 데이터 작업</a:t>
            </a:r>
          </a:p>
        </p:txBody>
      </p:sp>
      <p:sp>
        <p:nvSpPr>
          <p:cNvPr id="34" name="Rectangle 34"/>
          <p:cNvSpPr/>
          <p:nvPr/>
        </p:nvSpPr>
        <p:spPr>
          <a:xfrm>
            <a:off x="4953000" y="1857375"/>
            <a:ext cx="5695950" cy="304800"/>
          </a:xfrm>
          <a:prstGeom prst="roundRect">
            <a:avLst>
              <a:gd name="adj" fmla="val 6250"/>
            </a:avLst>
          </a:prstGeom>
          <a:gradFill>
            <a:gsLst>
              <a:gs pos="0">
                <a:srgbClr val="FF3D5A"/>
              </a:gs>
              <a:gs pos="100000">
                <a:srgbClr val="FFB627"/>
              </a:gs>
            </a:gsLst>
            <a:lin ang="0" scaled="1"/>
          </a:gradFill>
          <a:ln>
            <a:noFill/>
          </a:ln>
        </p:spPr>
      </p:sp>
      <p:sp>
        <p:nvSpPr>
          <p:cNvPr id="35" name="TextBox 35"/>
          <p:cNvSpPr txBox="1"/>
          <p:nvPr/>
        </p:nvSpPr>
        <p:spPr>
          <a:xfrm>
            <a:off x="10744200" y="1895475"/>
            <a:ext cx="399574" cy="304800"/>
          </a:xfrm>
          <a:prstGeom prst="rect">
            <a:avLst/>
          </a:prstGeom>
          <a:noFill/>
          <a:ln>
            <a:noFill/>
          </a:ln>
        </p:spPr>
        <p:txBody>
          <a:bodyPr wrap="none" lIns="0" tIns="0" rIns="0" bIns="0" anchor="t" anchorCtr="0">
            <a:spAutoFit/>
          </a:bodyPr>
          <a:lstStyle/>
          <a:p>
            <a:pPr algn="l"/>
            <a:r>
              <a:rPr lang="en-US" sz="1500" dirty="0">
                <a:solidFill>
                  <a:srgbClr val="FF3D5A"/>
                </a:solidFill>
                <a:latin typeface="Arial Black"/>
                <a:ea typeface="Malgun Gothic"/>
                <a:cs typeface="Arial Black"/>
              </a:rPr>
              <a:t>88%</a:t>
            </a:r>
          </a:p>
        </p:txBody>
      </p:sp>
      <p:sp>
        <p:nvSpPr>
          <p:cNvPr id="36" name="Rectangle 36"/>
          <p:cNvSpPr/>
          <p:nvPr/>
        </p:nvSpPr>
        <p:spPr>
          <a:xfrm>
            <a:off x="4038600" y="2209800"/>
            <a:ext cx="552450" cy="152400"/>
          </a:xfrm>
          <a:prstGeom prst="roundRect">
            <a:avLst>
              <a:gd name="adj" fmla="val 12500"/>
            </a:avLst>
          </a:prstGeom>
          <a:solidFill>
            <a:srgbClr val="FF3D5A"/>
          </a:solidFill>
          <a:ln>
            <a:noFill/>
          </a:ln>
        </p:spPr>
      </p:sp>
      <p:sp>
        <p:nvSpPr>
          <p:cNvPr id="37" name="TextBox 37"/>
          <p:cNvSpPr txBox="1"/>
          <p:nvPr/>
        </p:nvSpPr>
        <p:spPr>
          <a:xfrm>
            <a:off x="4091702" y="2243138"/>
            <a:ext cx="446246" cy="152400"/>
          </a:xfrm>
          <a:prstGeom prst="rect">
            <a:avLst/>
          </a:prstGeom>
          <a:noFill/>
          <a:ln>
            <a:noFill/>
          </a:ln>
        </p:spPr>
        <p:txBody>
          <a:bodyPr wrap="none" lIns="0" tIns="0" rIns="0" bIns="0" anchor="t" anchorCtr="0">
            <a:spAutoFit/>
          </a:bodyPr>
          <a:lstStyle/>
          <a:p>
            <a:pPr algn="ctr"/>
            <a:r>
              <a:rPr lang="en-US" sz="750" dirty="0">
                <a:solidFill>
                  <a:srgbClr val="0A1628"/>
                </a:solidFill>
                <a:latin typeface="Pretendard 700"/>
                <a:ea typeface="Malgun Gothic"/>
                <a:cs typeface="Pretendard 700"/>
              </a:rPr>
              <a:t>CRITICAL</a:t>
            </a:r>
          </a:p>
        </p:txBody>
      </p:sp>
      <p:sp>
        <p:nvSpPr>
          <p:cNvPr id="38" name="TextBox 38"/>
          <p:cNvSpPr txBox="1"/>
          <p:nvPr/>
        </p:nvSpPr>
        <p:spPr>
          <a:xfrm>
            <a:off x="4025265" y="2591752"/>
            <a:ext cx="1276493" cy="213360"/>
          </a:xfrm>
          <a:prstGeom prst="rect">
            <a:avLst/>
          </a:prstGeom>
          <a:noFill/>
          <a:ln>
            <a:noFill/>
          </a:ln>
        </p:spPr>
        <p:txBody>
          <a:bodyPr wrap="none" lIns="0" tIns="0" rIns="0" bIns="0" anchor="t" anchorCtr="0">
            <a:spAutoFit/>
          </a:bodyPr>
          <a:lstStyle/>
          <a:p>
            <a:pPr algn="l"/>
            <a:r>
              <a:rPr lang="ko-KR" sz="1050" dirty="0">
                <a:solidFill>
                  <a:srgbClr val="E8EEF7"/>
                </a:solidFill>
                <a:latin typeface="Pretendard 700"/>
                <a:ea typeface="Malgun Gothic"/>
                <a:cs typeface="Pretendard 700"/>
              </a:rPr>
              <a:t>보일러플레이트 UI</a:t>
            </a:r>
          </a:p>
        </p:txBody>
      </p:sp>
      <p:sp>
        <p:nvSpPr>
          <p:cNvPr id="39" name="TextBox 39"/>
          <p:cNvSpPr txBox="1"/>
          <p:nvPr/>
        </p:nvSpPr>
        <p:spPr>
          <a:xfrm>
            <a:off x="4028122" y="2787491"/>
            <a:ext cx="1002959" cy="167640"/>
          </a:xfrm>
          <a:prstGeom prst="rect">
            <a:avLst/>
          </a:prstGeom>
          <a:noFill/>
          <a:ln>
            <a:noFill/>
          </a:ln>
        </p:spPr>
        <p:txBody>
          <a:bodyPr wrap="none" lIns="0" tIns="0" rIns="0" bIns="0" anchor="t" anchorCtr="0">
            <a:spAutoFit/>
          </a:bodyPr>
          <a:lstStyle/>
          <a:p>
            <a:pPr algn="l"/>
            <a:r>
              <a:rPr lang="ko-KR" sz="825" dirty="0">
                <a:solidFill>
                  <a:srgbClr val="8B9AB3"/>
                </a:solidFill>
                <a:latin typeface="Pretendard 400"/>
                <a:ea typeface="Malgun Gothic"/>
                <a:cs typeface="Pretendard 400"/>
              </a:rPr>
              <a:t>반복 화면·폼 구현</a:t>
            </a:r>
          </a:p>
        </p:txBody>
      </p:sp>
      <p:sp>
        <p:nvSpPr>
          <p:cNvPr id="40" name="Rectangle 40"/>
          <p:cNvSpPr/>
          <p:nvPr/>
        </p:nvSpPr>
        <p:spPr>
          <a:xfrm>
            <a:off x="4953000" y="2657475"/>
            <a:ext cx="4924425" cy="304800"/>
          </a:xfrm>
          <a:prstGeom prst="roundRect">
            <a:avLst>
              <a:gd name="adj" fmla="val 6250"/>
            </a:avLst>
          </a:prstGeom>
          <a:gradFill>
            <a:gsLst>
              <a:gs pos="0">
                <a:srgbClr val="FF3D5A">
                  <a:alpha val="85000"/>
                </a:srgbClr>
              </a:gs>
              <a:gs pos="100000">
                <a:srgbClr val="FFB627">
                  <a:alpha val="70000"/>
                </a:srgbClr>
              </a:gs>
            </a:gsLst>
            <a:lin ang="0" scaled="1"/>
          </a:gradFill>
          <a:ln>
            <a:noFill/>
          </a:ln>
        </p:spPr>
      </p:sp>
      <p:sp>
        <p:nvSpPr>
          <p:cNvPr id="41" name="TextBox 41"/>
          <p:cNvSpPr txBox="1"/>
          <p:nvPr/>
        </p:nvSpPr>
        <p:spPr>
          <a:xfrm>
            <a:off x="9972675" y="2695575"/>
            <a:ext cx="399574" cy="304800"/>
          </a:xfrm>
          <a:prstGeom prst="rect">
            <a:avLst/>
          </a:prstGeom>
          <a:noFill/>
          <a:ln>
            <a:noFill/>
          </a:ln>
        </p:spPr>
        <p:txBody>
          <a:bodyPr wrap="none" lIns="0" tIns="0" rIns="0" bIns="0" anchor="t" anchorCtr="0">
            <a:spAutoFit/>
          </a:bodyPr>
          <a:lstStyle/>
          <a:p>
            <a:pPr algn="l"/>
            <a:r>
              <a:rPr lang="en-US" sz="1500" dirty="0">
                <a:solidFill>
                  <a:srgbClr val="FFB627"/>
                </a:solidFill>
                <a:latin typeface="Arial Black"/>
                <a:ea typeface="Malgun Gothic"/>
                <a:cs typeface="Arial Black"/>
              </a:rPr>
              <a:t>76%</a:t>
            </a:r>
          </a:p>
        </p:txBody>
      </p:sp>
      <p:sp>
        <p:nvSpPr>
          <p:cNvPr id="42" name="Rectangle 42"/>
          <p:cNvSpPr/>
          <p:nvPr/>
        </p:nvSpPr>
        <p:spPr>
          <a:xfrm>
            <a:off x="4038600" y="3009900"/>
            <a:ext cx="400050" cy="152400"/>
          </a:xfrm>
          <a:prstGeom prst="roundRect">
            <a:avLst>
              <a:gd name="adj" fmla="val 12500"/>
            </a:avLst>
          </a:prstGeom>
          <a:solidFill>
            <a:srgbClr val="FFB627"/>
          </a:solidFill>
          <a:ln>
            <a:noFill/>
          </a:ln>
        </p:spPr>
      </p:sp>
      <p:sp>
        <p:nvSpPr>
          <p:cNvPr id="43" name="TextBox 43"/>
          <p:cNvSpPr txBox="1"/>
          <p:nvPr/>
        </p:nvSpPr>
        <p:spPr>
          <a:xfrm>
            <a:off x="4122301" y="3043238"/>
            <a:ext cx="232648" cy="152400"/>
          </a:xfrm>
          <a:prstGeom prst="rect">
            <a:avLst/>
          </a:prstGeom>
          <a:noFill/>
          <a:ln>
            <a:noFill/>
          </a:ln>
        </p:spPr>
        <p:txBody>
          <a:bodyPr wrap="none" lIns="0" tIns="0" rIns="0" bIns="0" anchor="t" anchorCtr="0">
            <a:spAutoFit/>
          </a:bodyPr>
          <a:lstStyle/>
          <a:p>
            <a:pPr algn="ctr"/>
            <a:r>
              <a:rPr lang="en-US" sz="750" dirty="0">
                <a:solidFill>
                  <a:srgbClr val="0A1628"/>
                </a:solidFill>
                <a:latin typeface="Pretendard 700"/>
                <a:ea typeface="Malgun Gothic"/>
                <a:cs typeface="Pretendard 700"/>
              </a:rPr>
              <a:t>HIGH</a:t>
            </a:r>
          </a:p>
        </p:txBody>
      </p:sp>
      <p:sp>
        <p:nvSpPr>
          <p:cNvPr id="44" name="TextBox 44"/>
          <p:cNvSpPr txBox="1"/>
          <p:nvPr/>
        </p:nvSpPr>
        <p:spPr>
          <a:xfrm>
            <a:off x="4025265" y="3391852"/>
            <a:ext cx="1498854" cy="213360"/>
          </a:xfrm>
          <a:prstGeom prst="rect">
            <a:avLst/>
          </a:prstGeom>
          <a:noFill/>
          <a:ln>
            <a:noFill/>
          </a:ln>
        </p:spPr>
        <p:txBody>
          <a:bodyPr wrap="none" lIns="0" tIns="0" rIns="0" bIns="0" anchor="t" anchorCtr="0">
            <a:spAutoFit/>
          </a:bodyPr>
          <a:lstStyle/>
          <a:p>
            <a:pPr algn="l"/>
            <a:r>
              <a:rPr lang="ko-KR" sz="1050" dirty="0">
                <a:solidFill>
                  <a:srgbClr val="E8EEF7"/>
                </a:solidFill>
                <a:latin typeface="Pretendard 700"/>
                <a:ea typeface="Malgun Gothic"/>
                <a:cs typeface="Pretendard 700"/>
              </a:rPr>
              <a:t>시스템 아키텍처 설계</a:t>
            </a:r>
          </a:p>
        </p:txBody>
      </p:sp>
      <p:sp>
        <p:nvSpPr>
          <p:cNvPr id="45" name="TextBox 45"/>
          <p:cNvSpPr txBox="1"/>
          <p:nvPr/>
        </p:nvSpPr>
        <p:spPr>
          <a:xfrm>
            <a:off x="4028122" y="3587591"/>
            <a:ext cx="1021032" cy="167640"/>
          </a:xfrm>
          <a:prstGeom prst="rect">
            <a:avLst/>
          </a:prstGeom>
          <a:noFill/>
          <a:ln>
            <a:noFill/>
          </a:ln>
        </p:spPr>
        <p:txBody>
          <a:bodyPr wrap="none" lIns="0" tIns="0" rIns="0" bIns="0" anchor="t" anchorCtr="0">
            <a:spAutoFit/>
          </a:bodyPr>
          <a:lstStyle/>
          <a:p>
            <a:pPr algn="l"/>
            <a:r>
              <a:rPr lang="ko-KR" sz="825" dirty="0">
                <a:solidFill>
                  <a:srgbClr val="8B9AB3"/>
                </a:solidFill>
                <a:latin typeface="Pretendard 400"/>
                <a:ea typeface="Malgun Gothic"/>
                <a:cs typeface="Pretendard 400"/>
              </a:rPr>
              <a:t>트레이드오프 판단</a:t>
            </a:r>
          </a:p>
        </p:txBody>
      </p:sp>
      <p:sp>
        <p:nvSpPr>
          <p:cNvPr id="46" name="Rectangle 46"/>
          <p:cNvSpPr/>
          <p:nvPr/>
        </p:nvSpPr>
        <p:spPr>
          <a:xfrm>
            <a:off x="4953000" y="3457575"/>
            <a:ext cx="2914650" cy="304800"/>
          </a:xfrm>
          <a:prstGeom prst="roundRect">
            <a:avLst>
              <a:gd name="adj" fmla="val 6250"/>
            </a:avLst>
          </a:prstGeom>
          <a:solidFill>
            <a:srgbClr val="00D9FF">
              <a:alpha val="70000"/>
            </a:srgbClr>
          </a:solidFill>
          <a:ln>
            <a:noFill/>
          </a:ln>
        </p:spPr>
      </p:sp>
      <p:sp>
        <p:nvSpPr>
          <p:cNvPr id="47" name="TextBox 47"/>
          <p:cNvSpPr txBox="1"/>
          <p:nvPr/>
        </p:nvSpPr>
        <p:spPr>
          <a:xfrm>
            <a:off x="7962900" y="3495675"/>
            <a:ext cx="399574" cy="304800"/>
          </a:xfrm>
          <a:prstGeom prst="rect">
            <a:avLst/>
          </a:prstGeom>
          <a:noFill/>
          <a:ln>
            <a:noFill/>
          </a:ln>
        </p:spPr>
        <p:txBody>
          <a:bodyPr wrap="none" lIns="0" tIns="0" rIns="0" bIns="0" anchor="t" anchorCtr="0">
            <a:spAutoFit/>
          </a:bodyPr>
          <a:lstStyle/>
          <a:p>
            <a:pPr algn="l"/>
            <a:r>
              <a:rPr lang="en-US" sz="1500" dirty="0">
                <a:solidFill>
                  <a:srgbClr val="00D9FF"/>
                </a:solidFill>
                <a:latin typeface="Arial Black"/>
                <a:ea typeface="Malgun Gothic"/>
                <a:cs typeface="Arial Black"/>
              </a:rPr>
              <a:t>45%</a:t>
            </a:r>
          </a:p>
        </p:txBody>
      </p:sp>
      <p:sp>
        <p:nvSpPr>
          <p:cNvPr id="48" name="Rectangle 48"/>
          <p:cNvSpPr/>
          <p:nvPr/>
        </p:nvSpPr>
        <p:spPr>
          <a:xfrm>
            <a:off x="4038600" y="3810000"/>
            <a:ext cx="647700" cy="152400"/>
          </a:xfrm>
          <a:prstGeom prst="roundRect">
            <a:avLst>
              <a:gd name="adj" fmla="val 12500"/>
            </a:avLst>
          </a:prstGeom>
          <a:solidFill>
            <a:srgbClr val="00D9FF"/>
          </a:solidFill>
          <a:ln>
            <a:noFill/>
          </a:ln>
        </p:spPr>
      </p:sp>
      <p:sp>
        <p:nvSpPr>
          <p:cNvPr id="49" name="TextBox 49"/>
          <p:cNvSpPr txBox="1"/>
          <p:nvPr/>
        </p:nvSpPr>
        <p:spPr>
          <a:xfrm>
            <a:off x="4090035" y="3843338"/>
            <a:ext cx="544830" cy="152400"/>
          </a:xfrm>
          <a:prstGeom prst="rect">
            <a:avLst/>
          </a:prstGeom>
          <a:noFill/>
          <a:ln>
            <a:noFill/>
          </a:ln>
        </p:spPr>
        <p:txBody>
          <a:bodyPr wrap="none" lIns="0" tIns="0" rIns="0" bIns="0" anchor="t" anchorCtr="0">
            <a:spAutoFit/>
          </a:bodyPr>
          <a:lstStyle/>
          <a:p>
            <a:pPr algn="ctr"/>
            <a:r>
              <a:rPr lang="en-US" sz="750" dirty="0">
                <a:solidFill>
                  <a:srgbClr val="0A1628"/>
                </a:solidFill>
                <a:latin typeface="Pretendard 700"/>
                <a:ea typeface="Malgun Gothic"/>
                <a:cs typeface="Pretendard 700"/>
              </a:rPr>
              <a:t>MODERATE</a:t>
            </a:r>
          </a:p>
        </p:txBody>
      </p:sp>
      <p:sp>
        <p:nvSpPr>
          <p:cNvPr id="50" name="TextBox 50"/>
          <p:cNvSpPr txBox="1"/>
          <p:nvPr/>
        </p:nvSpPr>
        <p:spPr>
          <a:xfrm>
            <a:off x="4025265" y="4191952"/>
            <a:ext cx="1828562" cy="213360"/>
          </a:xfrm>
          <a:prstGeom prst="rect">
            <a:avLst/>
          </a:prstGeom>
          <a:noFill/>
          <a:ln>
            <a:noFill/>
          </a:ln>
        </p:spPr>
        <p:txBody>
          <a:bodyPr wrap="none" lIns="0" tIns="0" rIns="0" bIns="0" anchor="t" anchorCtr="0">
            <a:spAutoFit/>
          </a:bodyPr>
          <a:lstStyle/>
          <a:p>
            <a:pPr algn="l"/>
            <a:r>
              <a:rPr lang="ko-KR" sz="1050" dirty="0">
                <a:solidFill>
                  <a:srgbClr val="E8EEF7"/>
                </a:solidFill>
                <a:latin typeface="Pretendard 700"/>
                <a:ea typeface="Malgun Gothic"/>
                <a:cs typeface="Pretendard 700"/>
              </a:rPr>
              <a:t>도메인 전문 / 레거시 통합</a:t>
            </a:r>
          </a:p>
        </p:txBody>
      </p:sp>
      <p:sp>
        <p:nvSpPr>
          <p:cNvPr id="51" name="TextBox 51"/>
          <p:cNvSpPr txBox="1"/>
          <p:nvPr/>
        </p:nvSpPr>
        <p:spPr>
          <a:xfrm>
            <a:off x="4028122" y="4387691"/>
            <a:ext cx="1087303" cy="167640"/>
          </a:xfrm>
          <a:prstGeom prst="rect">
            <a:avLst/>
          </a:prstGeom>
          <a:noFill/>
          <a:ln>
            <a:noFill/>
          </a:ln>
        </p:spPr>
        <p:txBody>
          <a:bodyPr wrap="none" lIns="0" tIns="0" rIns="0" bIns="0" anchor="t" anchorCtr="0">
            <a:spAutoFit/>
          </a:bodyPr>
          <a:lstStyle/>
          <a:p>
            <a:pPr algn="l"/>
            <a:r>
              <a:rPr lang="ko-KR" sz="825" dirty="0">
                <a:solidFill>
                  <a:srgbClr val="8B9AB3"/>
                </a:solidFill>
                <a:latin typeface="Pretendard 400"/>
                <a:ea typeface="Malgun Gothic"/>
                <a:cs typeface="Pretendard 400"/>
              </a:rPr>
              <a:t>암묵지·맥락 의존성</a:t>
            </a:r>
          </a:p>
        </p:txBody>
      </p:sp>
      <p:sp>
        <p:nvSpPr>
          <p:cNvPr id="52" name="Rectangle 52"/>
          <p:cNvSpPr/>
          <p:nvPr/>
        </p:nvSpPr>
        <p:spPr>
          <a:xfrm>
            <a:off x="4953000" y="4257675"/>
            <a:ext cx="1428750" cy="304800"/>
          </a:xfrm>
          <a:prstGeom prst="roundRect">
            <a:avLst>
              <a:gd name="adj" fmla="val 6250"/>
            </a:avLst>
          </a:prstGeom>
          <a:solidFill>
            <a:srgbClr val="3DDC97">
              <a:alpha val="70000"/>
            </a:srgbClr>
          </a:solidFill>
          <a:ln>
            <a:noFill/>
          </a:ln>
        </p:spPr>
      </p:sp>
      <p:sp>
        <p:nvSpPr>
          <p:cNvPr id="53" name="TextBox 53"/>
          <p:cNvSpPr txBox="1"/>
          <p:nvPr/>
        </p:nvSpPr>
        <p:spPr>
          <a:xfrm>
            <a:off x="6477000" y="4295775"/>
            <a:ext cx="399574" cy="304800"/>
          </a:xfrm>
          <a:prstGeom prst="rect">
            <a:avLst/>
          </a:prstGeom>
          <a:noFill/>
          <a:ln>
            <a:noFill/>
          </a:ln>
        </p:spPr>
        <p:txBody>
          <a:bodyPr wrap="none" lIns="0" tIns="0" rIns="0" bIns="0" anchor="t" anchorCtr="0">
            <a:spAutoFit/>
          </a:bodyPr>
          <a:lstStyle/>
          <a:p>
            <a:pPr algn="l"/>
            <a:r>
              <a:rPr lang="en-US" sz="1500" dirty="0">
                <a:solidFill>
                  <a:srgbClr val="3DDC97"/>
                </a:solidFill>
                <a:latin typeface="Arial Black"/>
                <a:ea typeface="Malgun Gothic"/>
                <a:cs typeface="Arial Black"/>
              </a:rPr>
              <a:t>22%</a:t>
            </a:r>
          </a:p>
        </p:txBody>
      </p:sp>
      <p:sp>
        <p:nvSpPr>
          <p:cNvPr id="54" name="Rectangle 54"/>
          <p:cNvSpPr/>
          <p:nvPr/>
        </p:nvSpPr>
        <p:spPr>
          <a:xfrm>
            <a:off x="4038600" y="4610100"/>
            <a:ext cx="323850" cy="152400"/>
          </a:xfrm>
          <a:prstGeom prst="roundRect">
            <a:avLst>
              <a:gd name="adj" fmla="val 12500"/>
            </a:avLst>
          </a:prstGeom>
          <a:solidFill>
            <a:srgbClr val="3DDC97"/>
          </a:solidFill>
          <a:ln>
            <a:noFill/>
          </a:ln>
        </p:spPr>
      </p:sp>
      <p:sp>
        <p:nvSpPr>
          <p:cNvPr id="55" name="TextBox 55"/>
          <p:cNvSpPr txBox="1"/>
          <p:nvPr/>
        </p:nvSpPr>
        <p:spPr>
          <a:xfrm>
            <a:off x="4078724" y="4643438"/>
            <a:ext cx="243602" cy="152400"/>
          </a:xfrm>
          <a:prstGeom prst="rect">
            <a:avLst/>
          </a:prstGeom>
          <a:noFill/>
          <a:ln>
            <a:noFill/>
          </a:ln>
        </p:spPr>
        <p:txBody>
          <a:bodyPr wrap="none" lIns="0" tIns="0" rIns="0" bIns="0" anchor="t" anchorCtr="0">
            <a:spAutoFit/>
          </a:bodyPr>
          <a:lstStyle/>
          <a:p>
            <a:pPr algn="ctr"/>
            <a:r>
              <a:rPr lang="en-US" sz="750" dirty="0">
                <a:solidFill>
                  <a:srgbClr val="0A1628"/>
                </a:solidFill>
                <a:latin typeface="Pretendard 700"/>
                <a:ea typeface="Malgun Gothic"/>
                <a:cs typeface="Pretendard 700"/>
              </a:rPr>
              <a:t>LOW</a:t>
            </a:r>
          </a:p>
        </p:txBody>
      </p:sp>
      <p:sp>
        <p:nvSpPr>
          <p:cNvPr id="56" name="TextBox 56"/>
          <p:cNvSpPr txBox="1"/>
          <p:nvPr/>
        </p:nvSpPr>
        <p:spPr>
          <a:xfrm>
            <a:off x="4025265" y="4992052"/>
            <a:ext cx="1230487" cy="213360"/>
          </a:xfrm>
          <a:prstGeom prst="rect">
            <a:avLst/>
          </a:prstGeom>
          <a:noFill/>
          <a:ln>
            <a:noFill/>
          </a:ln>
        </p:spPr>
        <p:txBody>
          <a:bodyPr wrap="none" lIns="0" tIns="0" rIns="0" bIns="0" anchor="t" anchorCtr="0">
            <a:spAutoFit/>
          </a:bodyPr>
          <a:lstStyle/>
          <a:p>
            <a:pPr algn="l"/>
            <a:r>
              <a:rPr lang="ko-KR" sz="1050" dirty="0">
                <a:solidFill>
                  <a:srgbClr val="E8EEF7"/>
                </a:solidFill>
                <a:latin typeface="Pretendard 700"/>
                <a:ea typeface="Malgun Gothic"/>
                <a:cs typeface="Pretendard 700"/>
              </a:rPr>
              <a:t>보안·인프라 운영</a:t>
            </a:r>
          </a:p>
        </p:txBody>
      </p:sp>
      <p:sp>
        <p:nvSpPr>
          <p:cNvPr id="57" name="TextBox 57"/>
          <p:cNvSpPr txBox="1"/>
          <p:nvPr/>
        </p:nvSpPr>
        <p:spPr>
          <a:xfrm>
            <a:off x="4028122" y="5187791"/>
            <a:ext cx="1123450" cy="167640"/>
          </a:xfrm>
          <a:prstGeom prst="rect">
            <a:avLst/>
          </a:prstGeom>
          <a:noFill/>
          <a:ln>
            <a:noFill/>
          </a:ln>
        </p:spPr>
        <p:txBody>
          <a:bodyPr wrap="none" lIns="0" tIns="0" rIns="0" bIns="0" anchor="t" anchorCtr="0">
            <a:spAutoFit/>
          </a:bodyPr>
          <a:lstStyle/>
          <a:p>
            <a:pPr algn="l"/>
            <a:r>
              <a:rPr lang="ko-KR" sz="825" dirty="0">
                <a:solidFill>
                  <a:srgbClr val="8B9AB3"/>
                </a:solidFill>
                <a:latin typeface="Pretendard 400"/>
                <a:ea typeface="Malgun Gothic"/>
                <a:cs typeface="Pretendard 400"/>
              </a:rPr>
              <a:t>책임·신뢰 기반 영역</a:t>
            </a:r>
          </a:p>
        </p:txBody>
      </p:sp>
      <p:sp>
        <p:nvSpPr>
          <p:cNvPr id="58" name="Rectangle 58"/>
          <p:cNvSpPr/>
          <p:nvPr/>
        </p:nvSpPr>
        <p:spPr>
          <a:xfrm>
            <a:off x="4953000" y="5057775"/>
            <a:ext cx="1162050" cy="304800"/>
          </a:xfrm>
          <a:prstGeom prst="roundRect">
            <a:avLst>
              <a:gd name="adj" fmla="val 6250"/>
            </a:avLst>
          </a:prstGeom>
          <a:solidFill>
            <a:srgbClr val="3DDC97">
              <a:alpha val="70000"/>
            </a:srgbClr>
          </a:solidFill>
          <a:ln>
            <a:noFill/>
          </a:ln>
        </p:spPr>
      </p:sp>
      <p:sp>
        <p:nvSpPr>
          <p:cNvPr id="59" name="TextBox 59"/>
          <p:cNvSpPr txBox="1"/>
          <p:nvPr/>
        </p:nvSpPr>
        <p:spPr>
          <a:xfrm>
            <a:off x="6210300" y="5095875"/>
            <a:ext cx="344805" cy="304800"/>
          </a:xfrm>
          <a:prstGeom prst="rect">
            <a:avLst/>
          </a:prstGeom>
          <a:noFill/>
          <a:ln>
            <a:noFill/>
          </a:ln>
        </p:spPr>
        <p:txBody>
          <a:bodyPr wrap="none" lIns="0" tIns="0" rIns="0" bIns="0" anchor="t" anchorCtr="0">
            <a:spAutoFit/>
          </a:bodyPr>
          <a:lstStyle/>
          <a:p>
            <a:pPr algn="l"/>
            <a:r>
              <a:rPr lang="en-US" sz="1500" dirty="0">
                <a:solidFill>
                  <a:srgbClr val="3DDC97"/>
                </a:solidFill>
                <a:latin typeface="Arial Black"/>
                <a:ea typeface="Malgun Gothic"/>
                <a:cs typeface="Arial Black"/>
              </a:rPr>
              <a:t>18%</a:t>
            </a:r>
          </a:p>
        </p:txBody>
      </p:sp>
      <p:sp>
        <p:nvSpPr>
          <p:cNvPr id="60" name="Rectangle 60"/>
          <p:cNvSpPr/>
          <p:nvPr/>
        </p:nvSpPr>
        <p:spPr>
          <a:xfrm>
            <a:off x="4038600" y="5410200"/>
            <a:ext cx="323850" cy="152400"/>
          </a:xfrm>
          <a:prstGeom prst="roundRect">
            <a:avLst>
              <a:gd name="adj" fmla="val 12500"/>
            </a:avLst>
          </a:prstGeom>
          <a:solidFill>
            <a:srgbClr val="3DDC97"/>
          </a:solidFill>
          <a:ln>
            <a:noFill/>
          </a:ln>
        </p:spPr>
      </p:sp>
      <p:sp>
        <p:nvSpPr>
          <p:cNvPr id="61" name="TextBox 61"/>
          <p:cNvSpPr txBox="1"/>
          <p:nvPr/>
        </p:nvSpPr>
        <p:spPr>
          <a:xfrm>
            <a:off x="4078724" y="5443538"/>
            <a:ext cx="243602" cy="152400"/>
          </a:xfrm>
          <a:prstGeom prst="rect">
            <a:avLst/>
          </a:prstGeom>
          <a:noFill/>
          <a:ln>
            <a:noFill/>
          </a:ln>
        </p:spPr>
        <p:txBody>
          <a:bodyPr wrap="none" lIns="0" tIns="0" rIns="0" bIns="0" anchor="t" anchorCtr="0">
            <a:spAutoFit/>
          </a:bodyPr>
          <a:lstStyle/>
          <a:p>
            <a:pPr algn="ctr"/>
            <a:r>
              <a:rPr lang="en-US" sz="750" dirty="0">
                <a:solidFill>
                  <a:srgbClr val="0A1628"/>
                </a:solidFill>
                <a:latin typeface="Pretendard 700"/>
                <a:ea typeface="Malgun Gothic"/>
                <a:cs typeface="Pretendard 700"/>
              </a:rPr>
              <a:t>LOW</a:t>
            </a:r>
          </a:p>
        </p:txBody>
      </p:sp>
      <p:sp>
        <p:nvSpPr>
          <p:cNvPr id="62" name="Rectangle 62"/>
          <p:cNvSpPr/>
          <p:nvPr/>
        </p:nvSpPr>
        <p:spPr>
          <a:xfrm>
            <a:off x="4038600" y="6457950"/>
            <a:ext cx="57150" cy="209550"/>
          </a:xfrm>
          <a:prstGeom prst="rect">
            <a:avLst/>
          </a:prstGeom>
          <a:solidFill>
            <a:srgbClr val="FFB627"/>
          </a:solidFill>
          <a:ln>
            <a:noFill/>
          </a:ln>
        </p:spPr>
      </p:sp>
      <p:sp>
        <p:nvSpPr>
          <p:cNvPr id="63" name="TextBox 63"/>
          <p:cNvSpPr txBox="1"/>
          <p:nvPr/>
        </p:nvSpPr>
        <p:spPr>
          <a:xfrm>
            <a:off x="4197668" y="6505099"/>
            <a:ext cx="637080" cy="198120"/>
          </a:xfrm>
          <a:prstGeom prst="rect">
            <a:avLst/>
          </a:prstGeom>
          <a:noFill/>
          <a:ln>
            <a:noFill/>
          </a:ln>
        </p:spPr>
        <p:txBody>
          <a:bodyPr wrap="none" lIns="0" tIns="0" rIns="0" bIns="0" anchor="t" anchorCtr="0">
            <a:spAutoFit/>
          </a:bodyPr>
          <a:lstStyle/>
          <a:p>
            <a:pPr algn="l"/>
            <a:r>
              <a:rPr lang="ko-KR" sz="975" dirty="0">
                <a:solidFill>
                  <a:srgbClr val="FFB627"/>
                </a:solidFill>
                <a:latin typeface="Pretendard 700"/>
                <a:ea typeface="Malgun Gothic"/>
                <a:cs typeface="Pretendard 700"/>
              </a:rPr>
              <a:t>핵심 통찰</a:t>
            </a:r>
          </a:p>
        </p:txBody>
      </p:sp>
      <p:sp>
        <p:nvSpPr>
          <p:cNvPr id="64" name="TextBox 64"/>
          <p:cNvSpPr txBox="1"/>
          <p:nvPr/>
        </p:nvSpPr>
        <p:spPr>
          <a:xfrm>
            <a:off x="4940618" y="6505099"/>
            <a:ext cx="3769852" cy="198120"/>
          </a:xfrm>
          <a:prstGeom prst="rect">
            <a:avLst/>
          </a:prstGeom>
          <a:noFill/>
          <a:ln>
            <a:noFill/>
          </a:ln>
        </p:spPr>
        <p:txBody>
          <a:bodyPr wrap="none" lIns="0" tIns="0" rIns="0" bIns="0" anchor="t" anchorCtr="0">
            <a:spAutoFit/>
          </a:bodyPr>
          <a:lstStyle/>
          <a:p>
            <a:pPr algn="l"/>
            <a:r>
              <a:rPr lang="ko-KR" sz="975" dirty="0">
                <a:solidFill>
                  <a:srgbClr val="E8EEF7"/>
                </a:solidFill>
                <a:latin typeface="Pretendard 400"/>
                <a:ea typeface="Malgun Gothic"/>
                <a:cs typeface="Pretendard 400"/>
              </a:rPr>
              <a:t>패턴화된 작업 ↑ — 대체 위험 ↑ / 맥락·책임 ↑ — 안전 영역 ↑</a:t>
            </a:r>
          </a:p>
        </p:txBody>
      </p:sp>
    </p:spTree>
  </p:cSld>
  <p:clrMapOvr>
    <a:masterClrMapping/>
  </p:clrMapOvr>
  <p:transition xmlns:p14="http://schemas.microsoft.com/office/powerpoint/2010/main" p14:dur="5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1628"/>
          </a:solidFill>
          <a:ln>
            <a:noFill/>
          </a:ln>
        </p:spPr>
      </p:sp>
      <p:sp>
        <p:nvSpPr>
          <p:cNvPr id="3" name="Rectangle 3"/>
          <p:cNvSpPr/>
          <p:nvPr/>
        </p:nvSpPr>
        <p:spPr>
          <a:xfrm>
            <a:off x="0" y="0"/>
            <a:ext cx="12192000" cy="6858000"/>
          </a:xfrm>
          <a:prstGeom prst="rect">
            <a:avLst/>
          </a:prstGeom>
          <a:solidFill>
            <a:srgbClr val="13243B">
              <a:alpha val="50000"/>
            </a:srgbClr>
          </a:solidFill>
          <a:ln>
            <a:noFill/>
          </a:ln>
        </p:spPr>
      </p:sp>
      <p:sp>
        <p:nvSpPr>
          <p:cNvPr id="4" name="Rectangle 4"/>
          <p:cNvSpPr/>
          <p:nvPr/>
        </p:nvSpPr>
        <p:spPr>
          <a:xfrm>
            <a:off x="0" y="0"/>
            <a:ext cx="12192000" cy="2095500"/>
          </a:xfrm>
          <a:prstGeom prst="rect">
            <a:avLst/>
          </a:prstGeom>
          <a:solidFill>
            <a:srgbClr val="0A1628"/>
          </a:solidFill>
          <a:ln>
            <a:noFill/>
          </a:ln>
        </p:spPr>
      </p:sp>
      <p:sp>
        <p:nvSpPr>
          <p:cNvPr id="5" name="TextBox 5"/>
          <p:cNvSpPr txBox="1"/>
          <p:nvPr/>
        </p:nvSpPr>
        <p:spPr>
          <a:xfrm>
            <a:off x="748665" y="553402"/>
            <a:ext cx="1797891" cy="213360"/>
          </a:xfrm>
          <a:prstGeom prst="rect">
            <a:avLst/>
          </a:prstGeom>
          <a:noFill/>
          <a:ln>
            <a:noFill/>
          </a:ln>
        </p:spPr>
        <p:txBody>
          <a:bodyPr wrap="none" lIns="0" tIns="0" rIns="0" bIns="0" anchor="t" anchorCtr="0">
            <a:spAutoFit/>
          </a:bodyPr>
          <a:lstStyle/>
          <a:p>
            <a:pPr algn="l"/>
            <a:r>
              <a:rPr lang="ko-KR" sz="1050" dirty="0">
                <a:solidFill>
                  <a:srgbClr val="00D9FF"/>
                </a:solidFill>
                <a:latin typeface="Pretendard 700"/>
                <a:ea typeface="Malgun Gothic"/>
                <a:cs typeface="Pretendard 700"/>
              </a:rPr>
              <a:t>06 / 워크플로우의 재구성</a:t>
            </a:r>
          </a:p>
        </p:txBody>
      </p:sp>
      <p:sp>
        <p:nvSpPr>
          <p:cNvPr id="6" name="Line 6"/>
          <p:cNvSpPr/>
          <p:nvPr/>
        </p:nvSpPr>
        <p:spPr>
          <a:xfrm>
            <a:off x="762000" y="809625"/>
            <a:ext cx="952500" cy="9525"/>
          </a:xfrm>
          <a:custGeom>
            <a:avLst/>
            <a:gdLst/>
            <a:ahLst/>
            <a:cxnLst/>
            <a:rect l="l" t="t" r="r" b="b"/>
            <a:pathLst>
              <a:path w="952500" h="9525">
                <a:moveTo>
                  <a:pt x="0" y="0"/>
                </a:moveTo>
                <a:lnTo>
                  <a:pt x="952500" y="0"/>
                </a:lnTo>
              </a:path>
            </a:pathLst>
          </a:custGeom>
          <a:noFill/>
          <a:ln w="19050">
            <a:solidFill>
              <a:srgbClr val="00D9FF"/>
            </a:solidFill>
          </a:ln>
        </p:spPr>
      </p:sp>
      <p:sp>
        <p:nvSpPr>
          <p:cNvPr id="7" name="TextBox 7"/>
          <p:cNvSpPr txBox="1"/>
          <p:nvPr/>
        </p:nvSpPr>
        <p:spPr>
          <a:xfrm>
            <a:off x="723900" y="1009650"/>
            <a:ext cx="4745784" cy="609600"/>
          </a:xfrm>
          <a:prstGeom prst="rect">
            <a:avLst/>
          </a:prstGeom>
          <a:noFill/>
          <a:ln>
            <a:noFill/>
          </a:ln>
        </p:spPr>
        <p:txBody>
          <a:bodyPr wrap="none" lIns="0" tIns="0" rIns="0" bIns="0" anchor="t" anchorCtr="0">
            <a:spAutoFit/>
          </a:bodyPr>
          <a:lstStyle/>
          <a:p>
            <a:pPr algn="l"/>
            <a:r>
              <a:rPr lang="ko-KR" sz="3000" b="1" dirty="0">
                <a:solidFill>
                  <a:srgbClr val="E8EEF7"/>
                </a:solidFill>
                <a:latin typeface="Pretendard 900"/>
                <a:ea typeface="Malgun Gothic"/>
                <a:cs typeface="Pretendard 900"/>
              </a:rPr>
              <a:t>코드를 짜는 사람에서,</a:t>
            </a:r>
          </a:p>
        </p:txBody>
      </p:sp>
      <p:sp>
        <p:nvSpPr>
          <p:cNvPr id="8" name="TextBox 8"/>
          <p:cNvSpPr txBox="1"/>
          <p:nvPr/>
        </p:nvSpPr>
        <p:spPr>
          <a:xfrm>
            <a:off x="723900" y="1485900"/>
            <a:ext cx="4883801" cy="609600"/>
          </a:xfrm>
          <a:prstGeom prst="rect">
            <a:avLst/>
          </a:prstGeom>
          <a:noFill/>
          <a:ln>
            <a:noFill/>
          </a:ln>
        </p:spPr>
        <p:txBody>
          <a:bodyPr wrap="none" lIns="0" tIns="0" rIns="0" bIns="0" anchor="t" anchorCtr="0">
            <a:spAutoFit/>
          </a:bodyPr>
          <a:lstStyle/>
          <a:p>
            <a:pPr algn="l"/>
            <a:r>
              <a:rPr lang="ko-KR" sz="3000" b="1" dirty="0">
                <a:solidFill>
                  <a:srgbClr val="00D9FF"/>
                </a:solidFill>
                <a:latin typeface="Pretendard 900"/>
                <a:ea typeface="Malgun Gothic"/>
                <a:cs typeface="Pretendard 900"/>
              </a:rPr>
              <a:t>AI를 지휘하는 사람으로</a:t>
            </a:r>
          </a:p>
        </p:txBody>
      </p:sp>
      <p:sp>
        <p:nvSpPr>
          <p:cNvPr id="9" name="TextBox 9"/>
          <p:cNvSpPr txBox="1"/>
          <p:nvPr/>
        </p:nvSpPr>
        <p:spPr>
          <a:xfrm>
            <a:off x="8559165" y="1220152"/>
            <a:ext cx="1537192"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5단계 워크플로우에서</a:t>
            </a:r>
          </a:p>
        </p:txBody>
      </p:sp>
      <p:sp>
        <p:nvSpPr>
          <p:cNvPr id="10" name="TextBox 10"/>
          <p:cNvSpPr txBox="1"/>
          <p:nvPr/>
        </p:nvSpPr>
        <p:spPr>
          <a:xfrm>
            <a:off x="8559165" y="1429702"/>
            <a:ext cx="1498854"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사람의 역할은 어떻게</a:t>
            </a:r>
          </a:p>
        </p:txBody>
      </p:sp>
      <p:sp>
        <p:nvSpPr>
          <p:cNvPr id="11" name="TextBox 11"/>
          <p:cNvSpPr txBox="1"/>
          <p:nvPr/>
        </p:nvSpPr>
        <p:spPr>
          <a:xfrm>
            <a:off x="8559165" y="1639252"/>
            <a:ext cx="946785"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재정의되는가</a:t>
            </a:r>
          </a:p>
        </p:txBody>
      </p:sp>
      <p:sp>
        <p:nvSpPr>
          <p:cNvPr id="12" name="Rectangle 12"/>
          <p:cNvSpPr/>
          <p:nvPr/>
        </p:nvSpPr>
        <p:spPr>
          <a:xfrm>
            <a:off x="762000" y="2286000"/>
            <a:ext cx="10668000" cy="9525"/>
          </a:xfrm>
          <a:prstGeom prst="rect">
            <a:avLst/>
          </a:prstGeom>
          <a:solidFill>
            <a:srgbClr val="1A2F4F"/>
          </a:solidFill>
          <a:ln>
            <a:noFill/>
          </a:ln>
        </p:spPr>
      </p:sp>
      <p:sp>
        <p:nvSpPr>
          <p:cNvPr id="13" name="Line 13"/>
          <p:cNvSpPr/>
          <p:nvPr/>
        </p:nvSpPr>
        <p:spPr>
          <a:xfrm>
            <a:off x="1524000" y="3619500"/>
            <a:ext cx="9144000" cy="9525"/>
          </a:xfrm>
          <a:custGeom>
            <a:avLst/>
            <a:gdLst/>
            <a:ahLst/>
            <a:cxnLst/>
            <a:rect l="l" t="t" r="r" b="b"/>
            <a:pathLst>
              <a:path w="9144000" h="9525">
                <a:moveTo>
                  <a:pt x="0" y="0"/>
                </a:moveTo>
                <a:lnTo>
                  <a:pt x="9144000" y="0"/>
                </a:lnTo>
              </a:path>
            </a:pathLst>
          </a:custGeom>
          <a:noFill/>
          <a:ln w="19050">
            <a:solidFill>
              <a:srgbClr val="1A2F4F"/>
            </a:solidFill>
          </a:ln>
        </p:spPr>
      </p:sp>
      <p:sp>
        <p:nvSpPr>
          <p:cNvPr id="14" name="Ellipse 14"/>
          <p:cNvSpPr/>
          <p:nvPr/>
        </p:nvSpPr>
        <p:spPr>
          <a:xfrm>
            <a:off x="1104900" y="3200400"/>
            <a:ext cx="838200" cy="838200"/>
          </a:xfrm>
          <a:prstGeom prst="ellipse">
            <a:avLst/>
          </a:prstGeom>
          <a:solidFill>
            <a:srgbClr val="13243B"/>
          </a:solidFill>
          <a:ln w="19050">
            <a:solidFill>
              <a:srgbClr val="00D9FF"/>
            </a:solidFill>
          </a:ln>
        </p:spPr>
      </p:sp>
      <p:sp>
        <p:nvSpPr>
          <p:cNvPr id="15" name="TextBox 15"/>
          <p:cNvSpPr txBox="1"/>
          <p:nvPr/>
        </p:nvSpPr>
        <p:spPr>
          <a:xfrm>
            <a:off x="1395507" y="3517582"/>
            <a:ext cx="256987" cy="335280"/>
          </a:xfrm>
          <a:prstGeom prst="rect">
            <a:avLst/>
          </a:prstGeom>
          <a:noFill/>
          <a:ln>
            <a:noFill/>
          </a:ln>
        </p:spPr>
        <p:txBody>
          <a:bodyPr wrap="none" lIns="0" tIns="0" rIns="0" bIns="0" anchor="t" anchorCtr="0">
            <a:spAutoFit/>
          </a:bodyPr>
          <a:lstStyle/>
          <a:p>
            <a:pPr algn="ctr"/>
            <a:r>
              <a:rPr lang="en-US" sz="1650" b="1" dirty="0">
                <a:solidFill>
                  <a:srgbClr val="00D9FF"/>
                </a:solidFill>
                <a:latin typeface="Pretendard 900"/>
                <a:ea typeface="Malgun Gothic"/>
                <a:cs typeface="Pretendard 900"/>
              </a:rPr>
              <a:t>01</a:t>
            </a:r>
          </a:p>
        </p:txBody>
      </p:sp>
      <p:sp>
        <p:nvSpPr>
          <p:cNvPr id="16" name="TextBox 16"/>
          <p:cNvSpPr txBox="1"/>
          <p:nvPr/>
        </p:nvSpPr>
        <p:spPr>
          <a:xfrm>
            <a:off x="1092803" y="2807018"/>
            <a:ext cx="862393" cy="274320"/>
          </a:xfrm>
          <a:prstGeom prst="rect">
            <a:avLst/>
          </a:prstGeom>
          <a:noFill/>
          <a:ln>
            <a:noFill/>
          </a:ln>
        </p:spPr>
        <p:txBody>
          <a:bodyPr wrap="none" lIns="0" tIns="0" rIns="0" bIns="0" anchor="t" anchorCtr="0">
            <a:spAutoFit/>
          </a:bodyPr>
          <a:lstStyle/>
          <a:p>
            <a:pPr algn="ctr"/>
            <a:r>
              <a:rPr lang="ko-KR" sz="1350" b="1" dirty="0">
                <a:solidFill>
                  <a:srgbClr val="E8EEF7"/>
                </a:solidFill>
                <a:latin typeface="Pretendard 700"/>
                <a:ea typeface="Malgun Gothic"/>
                <a:cs typeface="Pretendard 700"/>
              </a:rPr>
              <a:t>요구사항</a:t>
            </a:r>
          </a:p>
        </p:txBody>
      </p:sp>
      <p:sp>
        <p:nvSpPr>
          <p:cNvPr id="17" name="TextBox 17"/>
          <p:cNvSpPr txBox="1"/>
          <p:nvPr/>
        </p:nvSpPr>
        <p:spPr>
          <a:xfrm>
            <a:off x="1082088" y="3065145"/>
            <a:ext cx="883825" cy="182880"/>
          </a:xfrm>
          <a:prstGeom prst="rect">
            <a:avLst/>
          </a:prstGeom>
          <a:noFill/>
          <a:ln>
            <a:noFill/>
          </a:ln>
        </p:spPr>
        <p:txBody>
          <a:bodyPr wrap="none" lIns="0" tIns="0" rIns="0" bIns="0" anchor="t" anchorCtr="0">
            <a:spAutoFit/>
          </a:bodyPr>
          <a:lstStyle/>
          <a:p>
            <a:pPr algn="ctr"/>
            <a:r>
              <a:rPr lang="en-US" sz="900" dirty="0">
                <a:solidFill>
                  <a:srgbClr val="8B9AB3"/>
                </a:solidFill>
                <a:latin typeface="Pretendard 400"/>
                <a:ea typeface="Malgun Gothic"/>
                <a:cs typeface="Pretendard 400"/>
              </a:rPr>
              <a:t>Requirements</a:t>
            </a:r>
          </a:p>
        </p:txBody>
      </p:sp>
      <p:sp>
        <p:nvSpPr>
          <p:cNvPr id="18" name="Rectangle 18"/>
          <p:cNvSpPr/>
          <p:nvPr/>
        </p:nvSpPr>
        <p:spPr>
          <a:xfrm>
            <a:off x="571500" y="4381500"/>
            <a:ext cx="1905000" cy="1524000"/>
          </a:xfrm>
          <a:prstGeom prst="roundRect">
            <a:avLst>
              <a:gd name="adj" fmla="val 5000"/>
            </a:avLst>
          </a:prstGeom>
          <a:solidFill>
            <a:srgbClr val="13243B"/>
          </a:solidFill>
          <a:ln w="9525">
            <a:solidFill>
              <a:srgbClr val="1A2F4F"/>
            </a:solidFill>
          </a:ln>
        </p:spPr>
      </p:sp>
      <p:sp>
        <p:nvSpPr>
          <p:cNvPr id="19" name="Rectangle 19"/>
          <p:cNvSpPr/>
          <p:nvPr/>
        </p:nvSpPr>
        <p:spPr>
          <a:xfrm>
            <a:off x="571500" y="4381500"/>
            <a:ext cx="1905000" cy="28575"/>
          </a:xfrm>
          <a:prstGeom prst="rect">
            <a:avLst/>
          </a:prstGeom>
          <a:solidFill>
            <a:srgbClr val="00D9FF"/>
          </a:solidFill>
          <a:ln>
            <a:noFill/>
          </a:ln>
        </p:spPr>
      </p:sp>
      <p:sp>
        <p:nvSpPr>
          <p:cNvPr id="20" name="TextBox 20"/>
          <p:cNvSpPr txBox="1"/>
          <p:nvPr/>
        </p:nvSpPr>
        <p:spPr>
          <a:xfrm>
            <a:off x="749618" y="4561999"/>
            <a:ext cx="817214" cy="198120"/>
          </a:xfrm>
          <a:prstGeom prst="rect">
            <a:avLst/>
          </a:prstGeom>
          <a:noFill/>
          <a:ln>
            <a:noFill/>
          </a:ln>
        </p:spPr>
        <p:txBody>
          <a:bodyPr wrap="none" lIns="0" tIns="0" rIns="0" bIns="0" anchor="t" anchorCtr="0">
            <a:spAutoFit/>
          </a:bodyPr>
          <a:lstStyle/>
          <a:p>
            <a:pPr algn="l"/>
            <a:r>
              <a:rPr lang="ko-KR" sz="975" b="1" dirty="0">
                <a:solidFill>
                  <a:srgbClr val="00D9FF"/>
                </a:solidFill>
                <a:latin typeface="Pretendard 700"/>
                <a:ea typeface="Malgun Gothic"/>
                <a:cs typeface="Pretendard 700"/>
              </a:rPr>
              <a:t>사람의 역할</a:t>
            </a:r>
          </a:p>
        </p:txBody>
      </p:sp>
      <p:sp>
        <p:nvSpPr>
          <p:cNvPr id="21" name="TextBox 21"/>
          <p:cNvSpPr txBox="1"/>
          <p:nvPr/>
        </p:nvSpPr>
        <p:spPr>
          <a:xfrm>
            <a:off x="746760" y="4804410"/>
            <a:ext cx="821779" cy="243840"/>
          </a:xfrm>
          <a:prstGeom prst="rect">
            <a:avLst/>
          </a:prstGeom>
          <a:noFill/>
          <a:ln>
            <a:noFill/>
          </a:ln>
        </p:spPr>
        <p:txBody>
          <a:bodyPr wrap="none" lIns="0" tIns="0" rIns="0" bIns="0" anchor="t" anchorCtr="0">
            <a:spAutoFit/>
          </a:bodyPr>
          <a:lstStyle/>
          <a:p>
            <a:pPr algn="l"/>
            <a:r>
              <a:rPr lang="ko-KR" sz="1200" b="1" dirty="0">
                <a:solidFill>
                  <a:srgbClr val="E8EEF7"/>
                </a:solidFill>
                <a:latin typeface="Pretendard 700"/>
                <a:ea typeface="Malgun Gothic"/>
                <a:cs typeface="Pretendard 700"/>
              </a:rPr>
              <a:t>문제 정의</a:t>
            </a:r>
          </a:p>
        </p:txBody>
      </p:sp>
      <p:sp>
        <p:nvSpPr>
          <p:cNvPr id="22" name="TextBox 22"/>
          <p:cNvSpPr txBox="1"/>
          <p:nvPr/>
        </p:nvSpPr>
        <p:spPr>
          <a:xfrm>
            <a:off x="749618" y="5114449"/>
            <a:ext cx="1064276"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비즈니스 맥락을</a:t>
            </a:r>
          </a:p>
        </p:txBody>
      </p:sp>
      <p:sp>
        <p:nvSpPr>
          <p:cNvPr id="23" name="TextBox 23"/>
          <p:cNvSpPr txBox="1"/>
          <p:nvPr/>
        </p:nvSpPr>
        <p:spPr>
          <a:xfrm>
            <a:off x="749618" y="5304949"/>
            <a:ext cx="921877"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이해하고 진짜</a:t>
            </a:r>
          </a:p>
        </p:txBody>
      </p:sp>
      <p:sp>
        <p:nvSpPr>
          <p:cNvPr id="24" name="TextBox 24"/>
          <p:cNvSpPr txBox="1"/>
          <p:nvPr/>
        </p:nvSpPr>
        <p:spPr>
          <a:xfrm>
            <a:off x="749618" y="5495449"/>
            <a:ext cx="1106995"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풀어야 할 문제를</a:t>
            </a:r>
          </a:p>
        </p:txBody>
      </p:sp>
      <p:sp>
        <p:nvSpPr>
          <p:cNvPr id="25" name="TextBox 25"/>
          <p:cNvSpPr txBox="1"/>
          <p:nvPr/>
        </p:nvSpPr>
        <p:spPr>
          <a:xfrm>
            <a:off x="749618" y="5685949"/>
            <a:ext cx="672679"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정의한다.</a:t>
            </a:r>
          </a:p>
        </p:txBody>
      </p:sp>
      <p:sp>
        <p:nvSpPr>
          <p:cNvPr id="26" name="Polygon 26"/>
          <p:cNvSpPr/>
          <p:nvPr/>
        </p:nvSpPr>
        <p:spPr>
          <a:xfrm>
            <a:off x="2571750" y="3581400"/>
            <a:ext cx="114300" cy="76200"/>
          </a:xfrm>
          <a:custGeom>
            <a:avLst/>
            <a:gdLst/>
            <a:ahLst/>
            <a:cxnLst/>
            <a:rect l="l" t="t" r="r" b="b"/>
            <a:pathLst>
              <a:path w="114300" h="76200">
                <a:moveTo>
                  <a:pt x="0" y="0"/>
                </a:moveTo>
                <a:lnTo>
                  <a:pt x="114300" y="38100"/>
                </a:lnTo>
                <a:lnTo>
                  <a:pt x="0" y="76200"/>
                </a:lnTo>
                <a:close/>
              </a:path>
            </a:pathLst>
          </a:custGeom>
          <a:solidFill>
            <a:srgbClr val="1A2F4F"/>
          </a:solidFill>
          <a:ln>
            <a:noFill/>
          </a:ln>
        </p:spPr>
      </p:sp>
      <p:sp>
        <p:nvSpPr>
          <p:cNvPr id="27" name="Ellipse 27"/>
          <p:cNvSpPr/>
          <p:nvPr/>
        </p:nvSpPr>
        <p:spPr>
          <a:xfrm>
            <a:off x="3390900" y="3200400"/>
            <a:ext cx="838200" cy="838200"/>
          </a:xfrm>
          <a:prstGeom prst="ellipse">
            <a:avLst/>
          </a:prstGeom>
          <a:solidFill>
            <a:srgbClr val="13243B"/>
          </a:solidFill>
          <a:ln w="19050">
            <a:solidFill>
              <a:srgbClr val="00D9FF"/>
            </a:solidFill>
          </a:ln>
        </p:spPr>
      </p:sp>
      <p:sp>
        <p:nvSpPr>
          <p:cNvPr id="28" name="TextBox 28"/>
          <p:cNvSpPr txBox="1"/>
          <p:nvPr/>
        </p:nvSpPr>
        <p:spPr>
          <a:xfrm>
            <a:off x="3649878" y="3517582"/>
            <a:ext cx="320245" cy="335280"/>
          </a:xfrm>
          <a:prstGeom prst="rect">
            <a:avLst/>
          </a:prstGeom>
          <a:noFill/>
          <a:ln>
            <a:noFill/>
          </a:ln>
        </p:spPr>
        <p:txBody>
          <a:bodyPr wrap="none" lIns="0" tIns="0" rIns="0" bIns="0" anchor="t" anchorCtr="0">
            <a:spAutoFit/>
          </a:bodyPr>
          <a:lstStyle/>
          <a:p>
            <a:pPr algn="ctr"/>
            <a:r>
              <a:rPr lang="en-US" sz="1650" b="1" dirty="0">
                <a:solidFill>
                  <a:srgbClr val="00D9FF"/>
                </a:solidFill>
                <a:latin typeface="Pretendard 900"/>
                <a:ea typeface="Malgun Gothic"/>
                <a:cs typeface="Pretendard 900"/>
              </a:rPr>
              <a:t>02</a:t>
            </a:r>
          </a:p>
        </p:txBody>
      </p:sp>
      <p:sp>
        <p:nvSpPr>
          <p:cNvPr id="29" name="TextBox 29"/>
          <p:cNvSpPr txBox="1"/>
          <p:nvPr/>
        </p:nvSpPr>
        <p:spPr>
          <a:xfrm>
            <a:off x="3259763" y="2807018"/>
            <a:ext cx="1100473" cy="274320"/>
          </a:xfrm>
          <a:prstGeom prst="rect">
            <a:avLst/>
          </a:prstGeom>
          <a:noFill/>
          <a:ln>
            <a:noFill/>
          </a:ln>
        </p:spPr>
        <p:txBody>
          <a:bodyPr wrap="none" lIns="0" tIns="0" rIns="0" bIns="0" anchor="t" anchorCtr="0">
            <a:spAutoFit/>
          </a:bodyPr>
          <a:lstStyle/>
          <a:p>
            <a:pPr algn="ctr"/>
            <a:r>
              <a:rPr lang="ko-KR" sz="1350" b="1" dirty="0">
                <a:solidFill>
                  <a:srgbClr val="E8EEF7"/>
                </a:solidFill>
                <a:latin typeface="Pretendard 700"/>
                <a:ea typeface="Malgun Gothic"/>
                <a:cs typeface="Pretendard 700"/>
              </a:rPr>
              <a:t>AI 프롬프팅</a:t>
            </a:r>
          </a:p>
        </p:txBody>
      </p:sp>
      <p:sp>
        <p:nvSpPr>
          <p:cNvPr id="30" name="TextBox 30"/>
          <p:cNvSpPr txBox="1"/>
          <p:nvPr/>
        </p:nvSpPr>
        <p:spPr>
          <a:xfrm>
            <a:off x="3476530" y="3065145"/>
            <a:ext cx="666941" cy="182880"/>
          </a:xfrm>
          <a:prstGeom prst="rect">
            <a:avLst/>
          </a:prstGeom>
          <a:noFill/>
          <a:ln>
            <a:noFill/>
          </a:ln>
        </p:spPr>
        <p:txBody>
          <a:bodyPr wrap="none" lIns="0" tIns="0" rIns="0" bIns="0" anchor="t" anchorCtr="0">
            <a:spAutoFit/>
          </a:bodyPr>
          <a:lstStyle/>
          <a:p>
            <a:pPr algn="ctr"/>
            <a:r>
              <a:rPr lang="en-US" sz="900" dirty="0">
                <a:solidFill>
                  <a:srgbClr val="8B9AB3"/>
                </a:solidFill>
                <a:latin typeface="Pretendard 400"/>
                <a:ea typeface="Malgun Gothic"/>
                <a:cs typeface="Pretendard 400"/>
              </a:rPr>
              <a:t>Prompting</a:t>
            </a:r>
          </a:p>
        </p:txBody>
      </p:sp>
      <p:sp>
        <p:nvSpPr>
          <p:cNvPr id="31" name="Rectangle 31"/>
          <p:cNvSpPr/>
          <p:nvPr/>
        </p:nvSpPr>
        <p:spPr>
          <a:xfrm>
            <a:off x="2857500" y="4381500"/>
            <a:ext cx="1905000" cy="1524000"/>
          </a:xfrm>
          <a:prstGeom prst="roundRect">
            <a:avLst>
              <a:gd name="adj" fmla="val 5000"/>
            </a:avLst>
          </a:prstGeom>
          <a:solidFill>
            <a:srgbClr val="13243B"/>
          </a:solidFill>
          <a:ln w="9525">
            <a:solidFill>
              <a:srgbClr val="1A2F4F"/>
            </a:solidFill>
          </a:ln>
        </p:spPr>
      </p:sp>
      <p:sp>
        <p:nvSpPr>
          <p:cNvPr id="32" name="Rectangle 32"/>
          <p:cNvSpPr/>
          <p:nvPr/>
        </p:nvSpPr>
        <p:spPr>
          <a:xfrm>
            <a:off x="2857500" y="4381500"/>
            <a:ext cx="1905000" cy="28575"/>
          </a:xfrm>
          <a:prstGeom prst="rect">
            <a:avLst/>
          </a:prstGeom>
          <a:solidFill>
            <a:srgbClr val="00D9FF"/>
          </a:solidFill>
          <a:ln>
            <a:noFill/>
          </a:ln>
        </p:spPr>
      </p:sp>
      <p:sp>
        <p:nvSpPr>
          <p:cNvPr id="33" name="TextBox 33"/>
          <p:cNvSpPr txBox="1"/>
          <p:nvPr/>
        </p:nvSpPr>
        <p:spPr>
          <a:xfrm>
            <a:off x="3035618" y="4561999"/>
            <a:ext cx="817214" cy="198120"/>
          </a:xfrm>
          <a:prstGeom prst="rect">
            <a:avLst/>
          </a:prstGeom>
          <a:noFill/>
          <a:ln>
            <a:noFill/>
          </a:ln>
        </p:spPr>
        <p:txBody>
          <a:bodyPr wrap="none" lIns="0" tIns="0" rIns="0" bIns="0" anchor="t" anchorCtr="0">
            <a:spAutoFit/>
          </a:bodyPr>
          <a:lstStyle/>
          <a:p>
            <a:pPr algn="l"/>
            <a:r>
              <a:rPr lang="ko-KR" sz="975" b="1" dirty="0">
                <a:solidFill>
                  <a:srgbClr val="00D9FF"/>
                </a:solidFill>
                <a:latin typeface="Pretendard 700"/>
                <a:ea typeface="Malgun Gothic"/>
                <a:cs typeface="Pretendard 700"/>
              </a:rPr>
              <a:t>사람의 역할</a:t>
            </a:r>
          </a:p>
        </p:txBody>
      </p:sp>
      <p:sp>
        <p:nvSpPr>
          <p:cNvPr id="34" name="TextBox 34"/>
          <p:cNvSpPr txBox="1"/>
          <p:nvPr/>
        </p:nvSpPr>
        <p:spPr>
          <a:xfrm>
            <a:off x="3032760" y="4804410"/>
            <a:ext cx="821779" cy="243840"/>
          </a:xfrm>
          <a:prstGeom prst="rect">
            <a:avLst/>
          </a:prstGeom>
          <a:noFill/>
          <a:ln>
            <a:noFill/>
          </a:ln>
        </p:spPr>
        <p:txBody>
          <a:bodyPr wrap="none" lIns="0" tIns="0" rIns="0" bIns="0" anchor="t" anchorCtr="0">
            <a:spAutoFit/>
          </a:bodyPr>
          <a:lstStyle/>
          <a:p>
            <a:pPr algn="l"/>
            <a:r>
              <a:rPr lang="ko-KR" sz="1200" b="1" dirty="0">
                <a:solidFill>
                  <a:srgbClr val="E8EEF7"/>
                </a:solidFill>
                <a:latin typeface="Pretendard 700"/>
                <a:ea typeface="Malgun Gothic"/>
                <a:cs typeface="Pretendard 700"/>
              </a:rPr>
              <a:t>의도 설계</a:t>
            </a:r>
          </a:p>
        </p:txBody>
      </p:sp>
      <p:sp>
        <p:nvSpPr>
          <p:cNvPr id="35" name="TextBox 35"/>
          <p:cNvSpPr txBox="1"/>
          <p:nvPr/>
        </p:nvSpPr>
        <p:spPr>
          <a:xfrm>
            <a:off x="3035618" y="5114449"/>
            <a:ext cx="1042916"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제약 조건, 품질</a:t>
            </a:r>
          </a:p>
        </p:txBody>
      </p:sp>
      <p:sp>
        <p:nvSpPr>
          <p:cNvPr id="36" name="TextBox 36"/>
          <p:cNvSpPr txBox="1"/>
          <p:nvPr/>
        </p:nvSpPr>
        <p:spPr>
          <a:xfrm>
            <a:off x="3035618" y="5304949"/>
            <a:ext cx="1142595"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기준, 아키텍처를</a:t>
            </a:r>
          </a:p>
        </p:txBody>
      </p:sp>
      <p:sp>
        <p:nvSpPr>
          <p:cNvPr id="37" name="TextBox 37"/>
          <p:cNvSpPr txBox="1"/>
          <p:nvPr/>
        </p:nvSpPr>
        <p:spPr>
          <a:xfrm>
            <a:off x="3035618" y="5495449"/>
            <a:ext cx="1228034"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명시해 AI가 생성할</a:t>
            </a:r>
          </a:p>
        </p:txBody>
      </p:sp>
      <p:sp>
        <p:nvSpPr>
          <p:cNvPr id="38" name="TextBox 38"/>
          <p:cNvSpPr txBox="1"/>
          <p:nvPr/>
        </p:nvSpPr>
        <p:spPr>
          <a:xfrm>
            <a:off x="3035618" y="5685949"/>
            <a:ext cx="1142595"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방향을 지휘한다.</a:t>
            </a:r>
          </a:p>
        </p:txBody>
      </p:sp>
      <p:sp>
        <p:nvSpPr>
          <p:cNvPr id="39" name="Polygon 39"/>
          <p:cNvSpPr/>
          <p:nvPr/>
        </p:nvSpPr>
        <p:spPr>
          <a:xfrm>
            <a:off x="4857750" y="3581400"/>
            <a:ext cx="114300" cy="76200"/>
          </a:xfrm>
          <a:custGeom>
            <a:avLst/>
            <a:gdLst/>
            <a:ahLst/>
            <a:cxnLst/>
            <a:rect l="l" t="t" r="r" b="b"/>
            <a:pathLst>
              <a:path w="114300" h="76200">
                <a:moveTo>
                  <a:pt x="0" y="0"/>
                </a:moveTo>
                <a:lnTo>
                  <a:pt x="114300" y="38100"/>
                </a:lnTo>
                <a:lnTo>
                  <a:pt x="0" y="76200"/>
                </a:lnTo>
                <a:close/>
              </a:path>
            </a:pathLst>
          </a:custGeom>
          <a:solidFill>
            <a:srgbClr val="1A2F4F"/>
          </a:solidFill>
          <a:ln>
            <a:noFill/>
          </a:ln>
        </p:spPr>
      </p:sp>
      <p:sp>
        <p:nvSpPr>
          <p:cNvPr id="40" name="Ellipse 40"/>
          <p:cNvSpPr/>
          <p:nvPr/>
        </p:nvSpPr>
        <p:spPr>
          <a:xfrm>
            <a:off x="5638800" y="3162300"/>
            <a:ext cx="914400" cy="914400"/>
          </a:xfrm>
          <a:prstGeom prst="ellipse">
            <a:avLst/>
          </a:prstGeom>
          <a:solidFill>
            <a:srgbClr val="13243B"/>
          </a:solidFill>
          <a:ln w="28575">
            <a:solidFill>
              <a:srgbClr val="FFB627"/>
            </a:solidFill>
          </a:ln>
        </p:spPr>
      </p:sp>
      <p:sp>
        <p:nvSpPr>
          <p:cNvPr id="41" name="TextBox 41"/>
          <p:cNvSpPr txBox="1"/>
          <p:nvPr/>
        </p:nvSpPr>
        <p:spPr>
          <a:xfrm>
            <a:off x="5935878" y="3517582"/>
            <a:ext cx="320245" cy="335280"/>
          </a:xfrm>
          <a:prstGeom prst="rect">
            <a:avLst/>
          </a:prstGeom>
          <a:noFill/>
          <a:ln>
            <a:noFill/>
          </a:ln>
        </p:spPr>
        <p:txBody>
          <a:bodyPr wrap="none" lIns="0" tIns="0" rIns="0" bIns="0" anchor="t" anchorCtr="0">
            <a:spAutoFit/>
          </a:bodyPr>
          <a:lstStyle/>
          <a:p>
            <a:pPr algn="ctr"/>
            <a:r>
              <a:rPr lang="en-US" sz="1650" b="1" dirty="0">
                <a:solidFill>
                  <a:srgbClr val="FFB627"/>
                </a:solidFill>
                <a:latin typeface="Pretendard 900"/>
                <a:ea typeface="Malgun Gothic"/>
                <a:cs typeface="Pretendard 900"/>
              </a:rPr>
              <a:t>03</a:t>
            </a:r>
          </a:p>
        </p:txBody>
      </p:sp>
      <p:sp>
        <p:nvSpPr>
          <p:cNvPr id="42" name="TextBox 42"/>
          <p:cNvSpPr txBox="1"/>
          <p:nvPr/>
        </p:nvSpPr>
        <p:spPr>
          <a:xfrm>
            <a:off x="5633749" y="2807018"/>
            <a:ext cx="924501" cy="274320"/>
          </a:xfrm>
          <a:prstGeom prst="rect">
            <a:avLst/>
          </a:prstGeom>
          <a:noFill/>
          <a:ln>
            <a:noFill/>
          </a:ln>
        </p:spPr>
        <p:txBody>
          <a:bodyPr wrap="none" lIns="0" tIns="0" rIns="0" bIns="0" anchor="t" anchorCtr="0">
            <a:spAutoFit/>
          </a:bodyPr>
          <a:lstStyle/>
          <a:p>
            <a:pPr algn="ctr"/>
            <a:r>
              <a:rPr lang="ko-KR" sz="1350" b="1" dirty="0">
                <a:solidFill>
                  <a:srgbClr val="FFB627"/>
                </a:solidFill>
                <a:latin typeface="Pretendard 700"/>
                <a:ea typeface="Malgun Gothic"/>
                <a:cs typeface="Pretendard 700"/>
              </a:rPr>
              <a:t>코드 검증</a:t>
            </a:r>
          </a:p>
        </p:txBody>
      </p:sp>
      <p:sp>
        <p:nvSpPr>
          <p:cNvPr id="43" name="TextBox 43"/>
          <p:cNvSpPr txBox="1"/>
          <p:nvPr/>
        </p:nvSpPr>
        <p:spPr>
          <a:xfrm>
            <a:off x="5341906" y="3065145"/>
            <a:ext cx="1508188" cy="182880"/>
          </a:xfrm>
          <a:prstGeom prst="rect">
            <a:avLst/>
          </a:prstGeom>
          <a:noFill/>
          <a:ln>
            <a:noFill/>
          </a:ln>
        </p:spPr>
        <p:txBody>
          <a:bodyPr wrap="none" lIns="0" tIns="0" rIns="0" bIns="0" anchor="t" anchorCtr="0">
            <a:spAutoFit/>
          </a:bodyPr>
          <a:lstStyle/>
          <a:p>
            <a:pPr algn="ctr"/>
            <a:r>
              <a:rPr lang="ko-KR" sz="900" dirty="0">
                <a:solidFill>
                  <a:srgbClr val="8B9AB3"/>
                </a:solidFill>
                <a:latin typeface="Pretendard 400"/>
                <a:ea typeface="Malgun Gothic"/>
                <a:cs typeface="Pretendard 400"/>
              </a:rPr>
              <a:t>Verification — 핵심 단계</a:t>
            </a:r>
          </a:p>
        </p:txBody>
      </p:sp>
      <p:sp>
        <p:nvSpPr>
          <p:cNvPr id="44" name="Rectangle 44"/>
          <p:cNvSpPr/>
          <p:nvPr/>
        </p:nvSpPr>
        <p:spPr>
          <a:xfrm>
            <a:off x="5143500" y="4381500"/>
            <a:ext cx="1905000" cy="1524000"/>
          </a:xfrm>
          <a:prstGeom prst="roundRect">
            <a:avLst>
              <a:gd name="adj" fmla="val 5000"/>
            </a:avLst>
          </a:prstGeom>
          <a:solidFill>
            <a:srgbClr val="13243B"/>
          </a:solidFill>
          <a:ln w="14288">
            <a:solidFill>
              <a:srgbClr val="FFB627"/>
            </a:solidFill>
          </a:ln>
        </p:spPr>
      </p:sp>
      <p:sp>
        <p:nvSpPr>
          <p:cNvPr id="45" name="Rectangle 45"/>
          <p:cNvSpPr/>
          <p:nvPr/>
        </p:nvSpPr>
        <p:spPr>
          <a:xfrm>
            <a:off x="5143500" y="4381500"/>
            <a:ext cx="1905000" cy="28575"/>
          </a:xfrm>
          <a:prstGeom prst="rect">
            <a:avLst/>
          </a:prstGeom>
          <a:solidFill>
            <a:srgbClr val="FFB627"/>
          </a:solidFill>
          <a:ln>
            <a:noFill/>
          </a:ln>
        </p:spPr>
      </p:sp>
      <p:sp>
        <p:nvSpPr>
          <p:cNvPr id="46" name="TextBox 46"/>
          <p:cNvSpPr txBox="1"/>
          <p:nvPr/>
        </p:nvSpPr>
        <p:spPr>
          <a:xfrm>
            <a:off x="5321618" y="4561999"/>
            <a:ext cx="817214" cy="198120"/>
          </a:xfrm>
          <a:prstGeom prst="rect">
            <a:avLst/>
          </a:prstGeom>
          <a:noFill/>
          <a:ln>
            <a:noFill/>
          </a:ln>
        </p:spPr>
        <p:txBody>
          <a:bodyPr wrap="none" lIns="0" tIns="0" rIns="0" bIns="0" anchor="t" anchorCtr="0">
            <a:spAutoFit/>
          </a:bodyPr>
          <a:lstStyle/>
          <a:p>
            <a:pPr algn="l"/>
            <a:r>
              <a:rPr lang="ko-KR" sz="975" b="1" dirty="0">
                <a:solidFill>
                  <a:srgbClr val="FFB627"/>
                </a:solidFill>
                <a:latin typeface="Pretendard 700"/>
                <a:ea typeface="Malgun Gothic"/>
                <a:cs typeface="Pretendard 700"/>
              </a:rPr>
              <a:t>사람의 역할</a:t>
            </a:r>
          </a:p>
        </p:txBody>
      </p:sp>
      <p:sp>
        <p:nvSpPr>
          <p:cNvPr id="47" name="TextBox 47"/>
          <p:cNvSpPr txBox="1"/>
          <p:nvPr/>
        </p:nvSpPr>
        <p:spPr>
          <a:xfrm>
            <a:off x="5318760" y="4804410"/>
            <a:ext cx="1005802" cy="243840"/>
          </a:xfrm>
          <a:prstGeom prst="rect">
            <a:avLst/>
          </a:prstGeom>
          <a:noFill/>
          <a:ln>
            <a:noFill/>
          </a:ln>
        </p:spPr>
        <p:txBody>
          <a:bodyPr wrap="none" lIns="0" tIns="0" rIns="0" bIns="0" anchor="t" anchorCtr="0">
            <a:spAutoFit/>
          </a:bodyPr>
          <a:lstStyle/>
          <a:p>
            <a:pPr algn="l"/>
            <a:r>
              <a:rPr lang="ko-KR" sz="1200" b="1" dirty="0">
                <a:solidFill>
                  <a:srgbClr val="E8EEF7"/>
                </a:solidFill>
                <a:latin typeface="Pretendard 700"/>
                <a:ea typeface="Malgun Gothic"/>
                <a:cs typeface="Pretendard 700"/>
              </a:rPr>
              <a:t>비판적 판단</a:t>
            </a:r>
          </a:p>
        </p:txBody>
      </p:sp>
      <p:sp>
        <p:nvSpPr>
          <p:cNvPr id="48" name="TextBox 48"/>
          <p:cNvSpPr txBox="1"/>
          <p:nvPr/>
        </p:nvSpPr>
        <p:spPr>
          <a:xfrm>
            <a:off x="5321618" y="5114449"/>
            <a:ext cx="1228034"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AI가 생성한 코드의</a:t>
            </a:r>
          </a:p>
        </p:txBody>
      </p:sp>
      <p:sp>
        <p:nvSpPr>
          <p:cNvPr id="49" name="TextBox 49"/>
          <p:cNvSpPr txBox="1"/>
          <p:nvPr/>
        </p:nvSpPr>
        <p:spPr>
          <a:xfrm>
            <a:off x="5321618" y="5304949"/>
            <a:ext cx="1733550"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논리, 보안, 엣지 케이스를</a:t>
            </a:r>
          </a:p>
        </p:txBody>
      </p:sp>
      <p:sp>
        <p:nvSpPr>
          <p:cNvPr id="50" name="TextBox 50"/>
          <p:cNvSpPr txBox="1"/>
          <p:nvPr/>
        </p:nvSpPr>
        <p:spPr>
          <a:xfrm>
            <a:off x="5321618" y="5495449"/>
            <a:ext cx="1000196"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검증한다. 가장</a:t>
            </a:r>
          </a:p>
        </p:txBody>
      </p:sp>
      <p:sp>
        <p:nvSpPr>
          <p:cNvPr id="51" name="TextBox 51"/>
          <p:cNvSpPr txBox="1"/>
          <p:nvPr/>
        </p:nvSpPr>
        <p:spPr>
          <a:xfrm>
            <a:off x="5321618" y="5685949"/>
            <a:ext cx="1327714"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대체 불가능한 역량.</a:t>
            </a:r>
          </a:p>
        </p:txBody>
      </p:sp>
      <p:sp>
        <p:nvSpPr>
          <p:cNvPr id="52" name="Polygon 52"/>
          <p:cNvSpPr/>
          <p:nvPr/>
        </p:nvSpPr>
        <p:spPr>
          <a:xfrm>
            <a:off x="7143750" y="3581400"/>
            <a:ext cx="114300" cy="76200"/>
          </a:xfrm>
          <a:custGeom>
            <a:avLst/>
            <a:gdLst/>
            <a:ahLst/>
            <a:cxnLst/>
            <a:rect l="l" t="t" r="r" b="b"/>
            <a:pathLst>
              <a:path w="114300" h="76200">
                <a:moveTo>
                  <a:pt x="0" y="0"/>
                </a:moveTo>
                <a:lnTo>
                  <a:pt x="114300" y="38100"/>
                </a:lnTo>
                <a:lnTo>
                  <a:pt x="0" y="76200"/>
                </a:lnTo>
                <a:close/>
              </a:path>
            </a:pathLst>
          </a:custGeom>
          <a:solidFill>
            <a:srgbClr val="1A2F4F"/>
          </a:solidFill>
          <a:ln>
            <a:noFill/>
          </a:ln>
        </p:spPr>
      </p:sp>
      <p:sp>
        <p:nvSpPr>
          <p:cNvPr id="53" name="Ellipse 53"/>
          <p:cNvSpPr/>
          <p:nvPr/>
        </p:nvSpPr>
        <p:spPr>
          <a:xfrm>
            <a:off x="7962900" y="3200400"/>
            <a:ext cx="838200" cy="838200"/>
          </a:xfrm>
          <a:prstGeom prst="ellipse">
            <a:avLst/>
          </a:prstGeom>
          <a:solidFill>
            <a:srgbClr val="13243B"/>
          </a:solidFill>
          <a:ln w="19050">
            <a:solidFill>
              <a:srgbClr val="00D9FF"/>
            </a:solidFill>
          </a:ln>
        </p:spPr>
      </p:sp>
      <p:sp>
        <p:nvSpPr>
          <p:cNvPr id="54" name="TextBox 54"/>
          <p:cNvSpPr txBox="1"/>
          <p:nvPr/>
        </p:nvSpPr>
        <p:spPr>
          <a:xfrm>
            <a:off x="8221878" y="3517582"/>
            <a:ext cx="320245" cy="335280"/>
          </a:xfrm>
          <a:prstGeom prst="rect">
            <a:avLst/>
          </a:prstGeom>
          <a:noFill/>
          <a:ln>
            <a:noFill/>
          </a:ln>
        </p:spPr>
        <p:txBody>
          <a:bodyPr wrap="none" lIns="0" tIns="0" rIns="0" bIns="0" anchor="t" anchorCtr="0">
            <a:spAutoFit/>
          </a:bodyPr>
          <a:lstStyle/>
          <a:p>
            <a:pPr algn="ctr"/>
            <a:r>
              <a:rPr lang="en-US" sz="1650" b="1" dirty="0">
                <a:solidFill>
                  <a:srgbClr val="00D9FF"/>
                </a:solidFill>
                <a:latin typeface="Pretendard 900"/>
                <a:ea typeface="Malgun Gothic"/>
                <a:cs typeface="Pretendard 900"/>
              </a:rPr>
              <a:t>04</a:t>
            </a:r>
          </a:p>
        </p:txBody>
      </p:sp>
      <p:sp>
        <p:nvSpPr>
          <p:cNvPr id="55" name="TextBox 55"/>
          <p:cNvSpPr txBox="1"/>
          <p:nvPr/>
        </p:nvSpPr>
        <p:spPr>
          <a:xfrm>
            <a:off x="8157829" y="2807018"/>
            <a:ext cx="448342" cy="274320"/>
          </a:xfrm>
          <a:prstGeom prst="rect">
            <a:avLst/>
          </a:prstGeom>
          <a:noFill/>
          <a:ln>
            <a:noFill/>
          </a:ln>
        </p:spPr>
        <p:txBody>
          <a:bodyPr wrap="none" lIns="0" tIns="0" rIns="0" bIns="0" anchor="t" anchorCtr="0">
            <a:spAutoFit/>
          </a:bodyPr>
          <a:lstStyle/>
          <a:p>
            <a:pPr algn="ctr"/>
            <a:r>
              <a:rPr lang="ko-KR" sz="1350" b="1" dirty="0">
                <a:solidFill>
                  <a:srgbClr val="E8EEF7"/>
                </a:solidFill>
                <a:latin typeface="Pretendard 700"/>
                <a:ea typeface="Malgun Gothic"/>
                <a:cs typeface="Pretendard 700"/>
              </a:rPr>
              <a:t>통합</a:t>
            </a:r>
          </a:p>
        </p:txBody>
      </p:sp>
      <p:sp>
        <p:nvSpPr>
          <p:cNvPr id="56" name="TextBox 56"/>
          <p:cNvSpPr txBox="1"/>
          <p:nvPr/>
        </p:nvSpPr>
        <p:spPr>
          <a:xfrm>
            <a:off x="8005810" y="3065145"/>
            <a:ext cx="752380" cy="182880"/>
          </a:xfrm>
          <a:prstGeom prst="rect">
            <a:avLst/>
          </a:prstGeom>
          <a:noFill/>
          <a:ln>
            <a:noFill/>
          </a:ln>
        </p:spPr>
        <p:txBody>
          <a:bodyPr wrap="none" lIns="0" tIns="0" rIns="0" bIns="0" anchor="t" anchorCtr="0">
            <a:spAutoFit/>
          </a:bodyPr>
          <a:lstStyle/>
          <a:p>
            <a:pPr algn="ctr"/>
            <a:r>
              <a:rPr lang="en-US" sz="900" dirty="0">
                <a:solidFill>
                  <a:srgbClr val="8B9AB3"/>
                </a:solidFill>
                <a:latin typeface="Pretendard 400"/>
                <a:ea typeface="Malgun Gothic"/>
                <a:cs typeface="Pretendard 400"/>
              </a:rPr>
              <a:t>Integration</a:t>
            </a:r>
          </a:p>
        </p:txBody>
      </p:sp>
      <p:sp>
        <p:nvSpPr>
          <p:cNvPr id="57" name="Rectangle 57"/>
          <p:cNvSpPr/>
          <p:nvPr/>
        </p:nvSpPr>
        <p:spPr>
          <a:xfrm>
            <a:off x="7429500" y="4381500"/>
            <a:ext cx="1905000" cy="1524000"/>
          </a:xfrm>
          <a:prstGeom prst="roundRect">
            <a:avLst>
              <a:gd name="adj" fmla="val 5000"/>
            </a:avLst>
          </a:prstGeom>
          <a:solidFill>
            <a:srgbClr val="13243B"/>
          </a:solidFill>
          <a:ln w="9525">
            <a:solidFill>
              <a:srgbClr val="1A2F4F"/>
            </a:solidFill>
          </a:ln>
        </p:spPr>
      </p:sp>
      <p:sp>
        <p:nvSpPr>
          <p:cNvPr id="58" name="Rectangle 58"/>
          <p:cNvSpPr/>
          <p:nvPr/>
        </p:nvSpPr>
        <p:spPr>
          <a:xfrm>
            <a:off x="7429500" y="4381500"/>
            <a:ext cx="1905000" cy="28575"/>
          </a:xfrm>
          <a:prstGeom prst="rect">
            <a:avLst/>
          </a:prstGeom>
          <a:solidFill>
            <a:srgbClr val="00D9FF"/>
          </a:solidFill>
          <a:ln>
            <a:noFill/>
          </a:ln>
        </p:spPr>
      </p:sp>
      <p:sp>
        <p:nvSpPr>
          <p:cNvPr id="59" name="TextBox 59"/>
          <p:cNvSpPr txBox="1"/>
          <p:nvPr/>
        </p:nvSpPr>
        <p:spPr>
          <a:xfrm>
            <a:off x="7607618" y="4561999"/>
            <a:ext cx="817214" cy="198120"/>
          </a:xfrm>
          <a:prstGeom prst="rect">
            <a:avLst/>
          </a:prstGeom>
          <a:noFill/>
          <a:ln>
            <a:noFill/>
          </a:ln>
        </p:spPr>
        <p:txBody>
          <a:bodyPr wrap="none" lIns="0" tIns="0" rIns="0" bIns="0" anchor="t" anchorCtr="0">
            <a:spAutoFit/>
          </a:bodyPr>
          <a:lstStyle/>
          <a:p>
            <a:pPr algn="l"/>
            <a:r>
              <a:rPr lang="ko-KR" sz="975" b="1" dirty="0">
                <a:solidFill>
                  <a:srgbClr val="00D9FF"/>
                </a:solidFill>
                <a:latin typeface="Pretendard 700"/>
                <a:ea typeface="Malgun Gothic"/>
                <a:cs typeface="Pretendard 700"/>
              </a:rPr>
              <a:t>사람의 역할</a:t>
            </a:r>
          </a:p>
        </p:txBody>
      </p:sp>
      <p:sp>
        <p:nvSpPr>
          <p:cNvPr id="60" name="TextBox 60"/>
          <p:cNvSpPr txBox="1"/>
          <p:nvPr/>
        </p:nvSpPr>
        <p:spPr>
          <a:xfrm>
            <a:off x="7604760" y="4804410"/>
            <a:ext cx="1005802" cy="243840"/>
          </a:xfrm>
          <a:prstGeom prst="rect">
            <a:avLst/>
          </a:prstGeom>
          <a:noFill/>
          <a:ln>
            <a:noFill/>
          </a:ln>
        </p:spPr>
        <p:txBody>
          <a:bodyPr wrap="none" lIns="0" tIns="0" rIns="0" bIns="0" anchor="t" anchorCtr="0">
            <a:spAutoFit/>
          </a:bodyPr>
          <a:lstStyle/>
          <a:p>
            <a:pPr algn="l"/>
            <a:r>
              <a:rPr lang="ko-KR" sz="1200" b="1" dirty="0">
                <a:solidFill>
                  <a:srgbClr val="E8EEF7"/>
                </a:solidFill>
                <a:latin typeface="Pretendard 700"/>
                <a:ea typeface="Malgun Gothic"/>
                <a:cs typeface="Pretendard 700"/>
              </a:rPr>
              <a:t>시스템 사고</a:t>
            </a:r>
          </a:p>
        </p:txBody>
      </p:sp>
      <p:sp>
        <p:nvSpPr>
          <p:cNvPr id="61" name="TextBox 61"/>
          <p:cNvSpPr txBox="1"/>
          <p:nvPr/>
        </p:nvSpPr>
        <p:spPr>
          <a:xfrm>
            <a:off x="7607618" y="5114449"/>
            <a:ext cx="1249394"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파편적 코드를 전체</a:t>
            </a:r>
          </a:p>
        </p:txBody>
      </p:sp>
      <p:sp>
        <p:nvSpPr>
          <p:cNvPr id="62" name="TextBox 62"/>
          <p:cNvSpPr txBox="1"/>
          <p:nvPr/>
        </p:nvSpPr>
        <p:spPr>
          <a:xfrm>
            <a:off x="7607618" y="5304949"/>
            <a:ext cx="1349073"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아키텍처에 녹여내고</a:t>
            </a:r>
          </a:p>
        </p:txBody>
      </p:sp>
      <p:sp>
        <p:nvSpPr>
          <p:cNvPr id="63" name="TextBox 63"/>
          <p:cNvSpPr txBox="1"/>
          <p:nvPr/>
        </p:nvSpPr>
        <p:spPr>
          <a:xfrm>
            <a:off x="7607618" y="5495449"/>
            <a:ext cx="1249394"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시스템 간 일관성을</a:t>
            </a:r>
          </a:p>
        </p:txBody>
      </p:sp>
      <p:sp>
        <p:nvSpPr>
          <p:cNvPr id="64" name="TextBox 64"/>
          <p:cNvSpPr txBox="1"/>
          <p:nvPr/>
        </p:nvSpPr>
        <p:spPr>
          <a:xfrm>
            <a:off x="7607618" y="5685949"/>
            <a:ext cx="672679"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유지한다.</a:t>
            </a:r>
          </a:p>
        </p:txBody>
      </p:sp>
      <p:sp>
        <p:nvSpPr>
          <p:cNvPr id="65" name="Polygon 65"/>
          <p:cNvSpPr/>
          <p:nvPr/>
        </p:nvSpPr>
        <p:spPr>
          <a:xfrm>
            <a:off x="9429750" y="3581400"/>
            <a:ext cx="114300" cy="76200"/>
          </a:xfrm>
          <a:custGeom>
            <a:avLst/>
            <a:gdLst/>
            <a:ahLst/>
            <a:cxnLst/>
            <a:rect l="l" t="t" r="r" b="b"/>
            <a:pathLst>
              <a:path w="114300" h="76200">
                <a:moveTo>
                  <a:pt x="0" y="0"/>
                </a:moveTo>
                <a:lnTo>
                  <a:pt x="114300" y="38100"/>
                </a:lnTo>
                <a:lnTo>
                  <a:pt x="0" y="76200"/>
                </a:lnTo>
                <a:close/>
              </a:path>
            </a:pathLst>
          </a:custGeom>
          <a:solidFill>
            <a:srgbClr val="1A2F4F"/>
          </a:solidFill>
          <a:ln>
            <a:noFill/>
          </a:ln>
        </p:spPr>
      </p:sp>
      <p:sp>
        <p:nvSpPr>
          <p:cNvPr id="66" name="Ellipse 66"/>
          <p:cNvSpPr/>
          <p:nvPr/>
        </p:nvSpPr>
        <p:spPr>
          <a:xfrm>
            <a:off x="10248900" y="3200400"/>
            <a:ext cx="838200" cy="838200"/>
          </a:xfrm>
          <a:prstGeom prst="ellipse">
            <a:avLst/>
          </a:prstGeom>
          <a:solidFill>
            <a:srgbClr val="13243B"/>
          </a:solidFill>
          <a:ln w="19050">
            <a:solidFill>
              <a:srgbClr val="3DDC97"/>
            </a:solidFill>
          </a:ln>
        </p:spPr>
      </p:sp>
      <p:sp>
        <p:nvSpPr>
          <p:cNvPr id="67" name="TextBox 67"/>
          <p:cNvSpPr txBox="1"/>
          <p:nvPr/>
        </p:nvSpPr>
        <p:spPr>
          <a:xfrm>
            <a:off x="10507878" y="3517582"/>
            <a:ext cx="320245" cy="335280"/>
          </a:xfrm>
          <a:prstGeom prst="rect">
            <a:avLst/>
          </a:prstGeom>
          <a:noFill/>
          <a:ln>
            <a:noFill/>
          </a:ln>
        </p:spPr>
        <p:txBody>
          <a:bodyPr wrap="none" lIns="0" tIns="0" rIns="0" bIns="0" anchor="t" anchorCtr="0">
            <a:spAutoFit/>
          </a:bodyPr>
          <a:lstStyle/>
          <a:p>
            <a:pPr algn="ctr"/>
            <a:r>
              <a:rPr lang="en-US" sz="1650" b="1" dirty="0">
                <a:solidFill>
                  <a:srgbClr val="3DDC97"/>
                </a:solidFill>
                <a:latin typeface="Pretendard 900"/>
                <a:ea typeface="Malgun Gothic"/>
                <a:cs typeface="Pretendard 900"/>
              </a:rPr>
              <a:t>05</a:t>
            </a:r>
          </a:p>
        </p:txBody>
      </p:sp>
      <p:sp>
        <p:nvSpPr>
          <p:cNvPr id="68" name="TextBox 68"/>
          <p:cNvSpPr txBox="1"/>
          <p:nvPr/>
        </p:nvSpPr>
        <p:spPr>
          <a:xfrm>
            <a:off x="10443829" y="2807018"/>
            <a:ext cx="448342" cy="274320"/>
          </a:xfrm>
          <a:prstGeom prst="rect">
            <a:avLst/>
          </a:prstGeom>
          <a:noFill/>
          <a:ln>
            <a:noFill/>
          </a:ln>
        </p:spPr>
        <p:txBody>
          <a:bodyPr wrap="none" lIns="0" tIns="0" rIns="0" bIns="0" anchor="t" anchorCtr="0">
            <a:spAutoFit/>
          </a:bodyPr>
          <a:lstStyle/>
          <a:p>
            <a:pPr algn="ctr"/>
            <a:r>
              <a:rPr lang="ko-KR" sz="1350" b="1" dirty="0">
                <a:solidFill>
                  <a:srgbClr val="E8EEF7"/>
                </a:solidFill>
                <a:latin typeface="Pretendard 700"/>
                <a:ea typeface="Malgun Gothic"/>
                <a:cs typeface="Pretendard 700"/>
              </a:rPr>
              <a:t>배포</a:t>
            </a:r>
          </a:p>
        </p:txBody>
      </p:sp>
      <p:sp>
        <p:nvSpPr>
          <p:cNvPr id="69" name="TextBox 69"/>
          <p:cNvSpPr txBox="1"/>
          <p:nvPr/>
        </p:nvSpPr>
        <p:spPr>
          <a:xfrm>
            <a:off x="10298382" y="3065145"/>
            <a:ext cx="739235" cy="182880"/>
          </a:xfrm>
          <a:prstGeom prst="rect">
            <a:avLst/>
          </a:prstGeom>
          <a:noFill/>
          <a:ln>
            <a:noFill/>
          </a:ln>
        </p:spPr>
        <p:txBody>
          <a:bodyPr wrap="none" lIns="0" tIns="0" rIns="0" bIns="0" anchor="t" anchorCtr="0">
            <a:spAutoFit/>
          </a:bodyPr>
          <a:lstStyle/>
          <a:p>
            <a:pPr algn="ctr"/>
            <a:r>
              <a:rPr lang="en-US" sz="900" dirty="0">
                <a:solidFill>
                  <a:srgbClr val="8B9AB3"/>
                </a:solidFill>
                <a:latin typeface="Pretendard 400"/>
                <a:ea typeface="Malgun Gothic"/>
                <a:cs typeface="Pretendard 400"/>
              </a:rPr>
              <a:t>Deployment</a:t>
            </a:r>
          </a:p>
        </p:txBody>
      </p:sp>
      <p:sp>
        <p:nvSpPr>
          <p:cNvPr id="70" name="Rectangle 70"/>
          <p:cNvSpPr/>
          <p:nvPr/>
        </p:nvSpPr>
        <p:spPr>
          <a:xfrm>
            <a:off x="9715500" y="4381500"/>
            <a:ext cx="1905000" cy="1524000"/>
          </a:xfrm>
          <a:prstGeom prst="roundRect">
            <a:avLst>
              <a:gd name="adj" fmla="val 5000"/>
            </a:avLst>
          </a:prstGeom>
          <a:solidFill>
            <a:srgbClr val="13243B"/>
          </a:solidFill>
          <a:ln w="9525">
            <a:solidFill>
              <a:srgbClr val="1A2F4F"/>
            </a:solidFill>
          </a:ln>
        </p:spPr>
      </p:sp>
      <p:sp>
        <p:nvSpPr>
          <p:cNvPr id="71" name="Rectangle 71"/>
          <p:cNvSpPr/>
          <p:nvPr/>
        </p:nvSpPr>
        <p:spPr>
          <a:xfrm>
            <a:off x="9715500" y="4381500"/>
            <a:ext cx="1905000" cy="28575"/>
          </a:xfrm>
          <a:prstGeom prst="rect">
            <a:avLst/>
          </a:prstGeom>
          <a:solidFill>
            <a:srgbClr val="3DDC97"/>
          </a:solidFill>
          <a:ln>
            <a:noFill/>
          </a:ln>
        </p:spPr>
      </p:sp>
      <p:sp>
        <p:nvSpPr>
          <p:cNvPr id="72" name="TextBox 72"/>
          <p:cNvSpPr txBox="1"/>
          <p:nvPr/>
        </p:nvSpPr>
        <p:spPr>
          <a:xfrm>
            <a:off x="9893618" y="4561999"/>
            <a:ext cx="817214" cy="198120"/>
          </a:xfrm>
          <a:prstGeom prst="rect">
            <a:avLst/>
          </a:prstGeom>
          <a:noFill/>
          <a:ln>
            <a:noFill/>
          </a:ln>
        </p:spPr>
        <p:txBody>
          <a:bodyPr wrap="none" lIns="0" tIns="0" rIns="0" bIns="0" anchor="t" anchorCtr="0">
            <a:spAutoFit/>
          </a:bodyPr>
          <a:lstStyle/>
          <a:p>
            <a:pPr algn="l"/>
            <a:r>
              <a:rPr lang="ko-KR" sz="975" b="1" dirty="0">
                <a:solidFill>
                  <a:srgbClr val="3DDC97"/>
                </a:solidFill>
                <a:latin typeface="Pretendard 700"/>
                <a:ea typeface="Malgun Gothic"/>
                <a:cs typeface="Pretendard 700"/>
              </a:rPr>
              <a:t>사람의 역할</a:t>
            </a:r>
          </a:p>
        </p:txBody>
      </p:sp>
      <p:sp>
        <p:nvSpPr>
          <p:cNvPr id="73" name="TextBox 73"/>
          <p:cNvSpPr txBox="1"/>
          <p:nvPr/>
        </p:nvSpPr>
        <p:spPr>
          <a:xfrm>
            <a:off x="9890760" y="4804410"/>
            <a:ext cx="1005802" cy="243840"/>
          </a:xfrm>
          <a:prstGeom prst="rect">
            <a:avLst/>
          </a:prstGeom>
          <a:noFill/>
          <a:ln>
            <a:noFill/>
          </a:ln>
        </p:spPr>
        <p:txBody>
          <a:bodyPr wrap="none" lIns="0" tIns="0" rIns="0" bIns="0" anchor="t" anchorCtr="0">
            <a:spAutoFit/>
          </a:bodyPr>
          <a:lstStyle/>
          <a:p>
            <a:pPr algn="l"/>
            <a:r>
              <a:rPr lang="ko-KR" sz="1200" b="1" dirty="0">
                <a:solidFill>
                  <a:srgbClr val="E8EEF7"/>
                </a:solidFill>
                <a:latin typeface="Pretendard 700"/>
                <a:ea typeface="Malgun Gothic"/>
                <a:cs typeface="Pretendard 700"/>
              </a:rPr>
              <a:t>책임의 주체</a:t>
            </a:r>
          </a:p>
        </p:txBody>
      </p:sp>
      <p:sp>
        <p:nvSpPr>
          <p:cNvPr id="74" name="TextBox 74"/>
          <p:cNvSpPr txBox="1"/>
          <p:nvPr/>
        </p:nvSpPr>
        <p:spPr>
          <a:xfrm>
            <a:off x="9893618" y="5114449"/>
            <a:ext cx="1106995"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최종 출시 결정과</a:t>
            </a:r>
          </a:p>
        </p:txBody>
      </p:sp>
      <p:sp>
        <p:nvSpPr>
          <p:cNvPr id="75" name="TextBox 75"/>
          <p:cNvSpPr txBox="1"/>
          <p:nvPr/>
        </p:nvSpPr>
        <p:spPr>
          <a:xfrm>
            <a:off x="9893618" y="5304949"/>
            <a:ext cx="1185315"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운영 책임을 진다.</a:t>
            </a:r>
          </a:p>
        </p:txBody>
      </p:sp>
      <p:sp>
        <p:nvSpPr>
          <p:cNvPr id="76" name="TextBox 76"/>
          <p:cNvSpPr txBox="1"/>
          <p:nvPr/>
        </p:nvSpPr>
        <p:spPr>
          <a:xfrm>
            <a:off x="9893618" y="5495449"/>
            <a:ext cx="1370433"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AI는 결과를 책임지지</a:t>
            </a:r>
          </a:p>
        </p:txBody>
      </p:sp>
      <p:sp>
        <p:nvSpPr>
          <p:cNvPr id="77" name="TextBox 77"/>
          <p:cNvSpPr txBox="1"/>
          <p:nvPr/>
        </p:nvSpPr>
        <p:spPr>
          <a:xfrm>
            <a:off x="9893618" y="5685949"/>
            <a:ext cx="530281"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400"/>
                <a:ea typeface="Malgun Gothic"/>
                <a:cs typeface="Pretendard 400"/>
              </a:rPr>
              <a:t>않는다.</a:t>
            </a:r>
          </a:p>
        </p:txBody>
      </p:sp>
      <p:sp>
        <p:nvSpPr>
          <p:cNvPr id="78" name="TextBox 78"/>
          <p:cNvSpPr txBox="1"/>
          <p:nvPr/>
        </p:nvSpPr>
        <p:spPr>
          <a:xfrm>
            <a:off x="4079355" y="6419374"/>
            <a:ext cx="4033290" cy="198120"/>
          </a:xfrm>
          <a:prstGeom prst="rect">
            <a:avLst/>
          </a:prstGeom>
          <a:noFill/>
          <a:ln>
            <a:noFill/>
          </a:ln>
        </p:spPr>
        <p:txBody>
          <a:bodyPr wrap="none" lIns="0" tIns="0" rIns="0" bIns="0" anchor="t" anchorCtr="0">
            <a:spAutoFit/>
          </a:bodyPr>
          <a:lstStyle/>
          <a:p>
            <a:pPr algn="ctr"/>
            <a:r>
              <a:rPr lang="ko-KR" sz="975" dirty="0">
                <a:solidFill>
                  <a:srgbClr val="8B9AB3"/>
                </a:solidFill>
                <a:latin typeface="Pretendard 400"/>
                <a:ea typeface="Malgun Gothic"/>
                <a:cs typeface="Pretendard 400"/>
              </a:rPr>
              <a:t>코드 작성은 자동화되지만, 판단·통합·책임은 사람에게 남는다</a:t>
            </a:r>
          </a:p>
        </p:txBody>
      </p:sp>
      <p:sp>
        <p:nvSpPr>
          <p:cNvPr id="79" name="TextBox 79"/>
          <p:cNvSpPr txBox="1"/>
          <p:nvPr/>
        </p:nvSpPr>
        <p:spPr>
          <a:xfrm>
            <a:off x="11011090" y="6427470"/>
            <a:ext cx="430340" cy="182880"/>
          </a:xfrm>
          <a:prstGeom prst="rect">
            <a:avLst/>
          </a:prstGeom>
          <a:noFill/>
          <a:ln>
            <a:noFill/>
          </a:ln>
        </p:spPr>
        <p:txBody>
          <a:bodyPr wrap="none" lIns="0" tIns="0" rIns="0" bIns="0" anchor="t" anchorCtr="0">
            <a:spAutoFit/>
          </a:bodyPr>
          <a:lstStyle/>
          <a:p>
            <a:pPr algn="r"/>
            <a:r>
              <a:rPr lang="en-US" sz="900" dirty="0">
                <a:solidFill>
                  <a:srgbClr val="8B9AB3"/>
                </a:solidFill>
                <a:latin typeface="Pretendard 400"/>
                <a:ea typeface="Malgun Gothic"/>
                <a:cs typeface="Pretendard 400"/>
              </a:rPr>
              <a:t>06 / 10</a:t>
            </a:r>
          </a:p>
        </p:txBody>
      </p:sp>
    </p:spTree>
  </p:cSld>
  <p:clrMapOvr>
    <a:masterClrMapping/>
  </p:clrMapOvr>
  <p:transition xmlns:p14="http://schemas.microsoft.com/office/powerpoint/2010/main" p14:dur="5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1628"/>
              </a:gs>
              <a:gs pos="55000">
                <a:srgbClr val="13243B"/>
              </a:gs>
              <a:gs pos="100000">
                <a:srgbClr val="1A2F4F"/>
              </a:gs>
            </a:gsLst>
            <a:lin ang="2700000" scaled="1"/>
          </a:gradFill>
          <a:ln>
            <a:noFill/>
          </a:ln>
        </p:spPr>
      </p:sp>
      <p:grpSp>
        <p:nvGrpSpPr>
          <p:cNvPr id="6" name="Group 6"/>
          <p:cNvGrpSpPr/>
          <p:nvPr/>
        </p:nvGrpSpPr>
        <p:grpSpPr>
          <a:xfrm>
            <a:off x="0" y="1714500"/>
            <a:ext cx="12192000" cy="3438525"/>
            <a:chOff x="0" y="1714500"/>
            <a:chExt cx="12192000" cy="3438525"/>
          </a:xfrm>
        </p:grpSpPr>
        <p:sp>
          <p:nvSpPr>
            <p:cNvPr id="3" name="Line 3"/>
            <p:cNvSpPr/>
            <p:nvPr/>
          </p:nvSpPr>
          <p:spPr>
            <a:xfrm>
              <a:off x="0" y="1714500"/>
              <a:ext cx="12192000" cy="9525"/>
            </a:xfrm>
            <a:custGeom>
              <a:avLst/>
              <a:gdLst/>
              <a:ahLst/>
              <a:cxnLst/>
              <a:rect l="l" t="t" r="r" b="b"/>
              <a:pathLst>
                <a:path w="12192000" h="9525">
                  <a:moveTo>
                    <a:pt x="0" y="0"/>
                  </a:moveTo>
                  <a:lnTo>
                    <a:pt x="12192000" y="0"/>
                  </a:lnTo>
                </a:path>
              </a:pathLst>
            </a:custGeom>
            <a:noFill/>
            <a:ln w="9525">
              <a:solidFill>
                <a:srgbClr val="00D9FF">
                  <a:alpha val="4000"/>
                </a:srgbClr>
              </a:solidFill>
            </a:ln>
          </p:spPr>
        </p:sp>
        <p:sp>
          <p:nvSpPr>
            <p:cNvPr id="4" name="Line 4"/>
            <p:cNvSpPr/>
            <p:nvPr/>
          </p:nvSpPr>
          <p:spPr>
            <a:xfrm>
              <a:off x="0" y="3429000"/>
              <a:ext cx="12192000" cy="9525"/>
            </a:xfrm>
            <a:custGeom>
              <a:avLst/>
              <a:gdLst/>
              <a:ahLst/>
              <a:cxnLst/>
              <a:rect l="l" t="t" r="r" b="b"/>
              <a:pathLst>
                <a:path w="12192000" h="9525">
                  <a:moveTo>
                    <a:pt x="0" y="0"/>
                  </a:moveTo>
                  <a:lnTo>
                    <a:pt x="12192000" y="0"/>
                  </a:lnTo>
                </a:path>
              </a:pathLst>
            </a:custGeom>
            <a:noFill/>
            <a:ln w="9525">
              <a:solidFill>
                <a:srgbClr val="00D9FF">
                  <a:alpha val="4000"/>
                </a:srgbClr>
              </a:solidFill>
            </a:ln>
          </p:spPr>
        </p:sp>
        <p:sp>
          <p:nvSpPr>
            <p:cNvPr id="5" name="Line 5"/>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00D9FF">
                  <a:alpha val="4000"/>
                </a:srgbClr>
              </a:solidFill>
            </a:ln>
          </p:spPr>
        </p:sp>
      </p:grpSp>
      <p:grpSp>
        <p:nvGrpSpPr>
          <p:cNvPr id="9" name="Group 9"/>
          <p:cNvGrpSpPr/>
          <p:nvPr/>
        </p:nvGrpSpPr>
        <p:grpSpPr>
          <a:xfrm>
            <a:off x="685800" y="533400"/>
            <a:ext cx="1553575" cy="261938"/>
            <a:chOff x="685800" y="533400"/>
            <a:chExt cx="1553575" cy="261938"/>
          </a:xfrm>
        </p:grpSpPr>
        <p:sp>
          <p:nvSpPr>
            <p:cNvPr id="7" name="Rectangle 7"/>
            <p:cNvSpPr/>
            <p:nvPr/>
          </p:nvSpPr>
          <p:spPr>
            <a:xfrm>
              <a:off x="685800" y="533400"/>
              <a:ext cx="38100" cy="209550"/>
            </a:xfrm>
            <a:prstGeom prst="rect">
              <a:avLst/>
            </a:prstGeom>
            <a:solidFill>
              <a:srgbClr val="FFB627"/>
            </a:solidFill>
            <a:ln>
              <a:noFill/>
            </a:ln>
          </p:spPr>
        </p:sp>
        <p:sp>
          <p:nvSpPr>
            <p:cNvPr id="8" name="TextBox 8"/>
            <p:cNvSpPr txBox="1"/>
            <p:nvPr/>
          </p:nvSpPr>
          <p:spPr>
            <a:xfrm>
              <a:off x="824865" y="581978"/>
              <a:ext cx="1414510" cy="213360"/>
            </a:xfrm>
            <a:prstGeom prst="rect">
              <a:avLst/>
            </a:prstGeom>
            <a:noFill/>
            <a:ln>
              <a:noFill/>
            </a:ln>
          </p:spPr>
          <p:txBody>
            <a:bodyPr wrap="none" lIns="0" tIns="0" rIns="0" bIns="0" anchor="t" anchorCtr="0">
              <a:spAutoFit/>
            </a:bodyPr>
            <a:lstStyle/>
            <a:p>
              <a:pPr algn="l"/>
              <a:r>
                <a:rPr lang="ko-KR" sz="1050" dirty="0">
                  <a:solidFill>
                    <a:srgbClr val="FFB627"/>
                  </a:solidFill>
                  <a:latin typeface="Pretendard 700"/>
                  <a:ea typeface="Malgun Gothic"/>
                  <a:cs typeface="Pretendard 700"/>
                </a:rPr>
                <a:t>PART 04 — 행동 촉구</a:t>
              </a:r>
            </a:p>
          </p:txBody>
        </p:sp>
      </p:grpSp>
      <p:sp>
        <p:nvSpPr>
          <p:cNvPr id="10" name="TextBox 10"/>
          <p:cNvSpPr txBox="1"/>
          <p:nvPr/>
        </p:nvSpPr>
        <p:spPr>
          <a:xfrm>
            <a:off x="11087290" y="598170"/>
            <a:ext cx="430340" cy="182880"/>
          </a:xfrm>
          <a:prstGeom prst="rect">
            <a:avLst/>
          </a:prstGeom>
          <a:noFill/>
          <a:ln>
            <a:noFill/>
          </a:ln>
        </p:spPr>
        <p:txBody>
          <a:bodyPr wrap="none" lIns="0" tIns="0" rIns="0" bIns="0" anchor="t" anchorCtr="0">
            <a:spAutoFit/>
          </a:bodyPr>
          <a:lstStyle/>
          <a:p>
            <a:pPr algn="r"/>
            <a:r>
              <a:rPr lang="en-US" sz="900" dirty="0">
                <a:solidFill>
                  <a:srgbClr val="8B9AB3"/>
                </a:solidFill>
                <a:latin typeface="Pretendard 400"/>
                <a:ea typeface="Malgun Gothic"/>
                <a:cs typeface="Pretendard 400"/>
              </a:rPr>
              <a:t>07 / 10</a:t>
            </a:r>
          </a:p>
        </p:txBody>
      </p:sp>
      <p:grpSp>
        <p:nvGrpSpPr>
          <p:cNvPr id="19" name="Group 19"/>
          <p:cNvGrpSpPr/>
          <p:nvPr/>
        </p:nvGrpSpPr>
        <p:grpSpPr>
          <a:xfrm>
            <a:off x="632460" y="1470660"/>
            <a:ext cx="4357611" cy="3658552"/>
            <a:chOff x="632460" y="1470660"/>
            <a:chExt cx="4357611" cy="3658552"/>
          </a:xfrm>
        </p:grpSpPr>
        <p:sp>
          <p:nvSpPr>
            <p:cNvPr id="11" name="TextBox 11"/>
            <p:cNvSpPr txBox="1"/>
            <p:nvPr/>
          </p:nvSpPr>
          <p:spPr>
            <a:xfrm>
              <a:off x="670560" y="1470660"/>
              <a:ext cx="1362456" cy="243840"/>
            </a:xfrm>
            <a:prstGeom prst="rect">
              <a:avLst/>
            </a:prstGeom>
            <a:noFill/>
            <a:ln>
              <a:noFill/>
            </a:ln>
          </p:spPr>
          <p:txBody>
            <a:bodyPr wrap="none" lIns="0" tIns="0" rIns="0" bIns="0" anchor="t" anchorCtr="0">
              <a:spAutoFit/>
            </a:bodyPr>
            <a:lstStyle/>
            <a:p>
              <a:pPr algn="l"/>
              <a:r>
                <a:rPr lang="ko-KR" sz="1200" dirty="0">
                  <a:solidFill>
                    <a:srgbClr val="00D9FF"/>
                  </a:solidFill>
                  <a:latin typeface="Pretendard 700"/>
                  <a:ea typeface="Malgun Gothic"/>
                  <a:cs typeface="Pretendard 700"/>
                </a:rPr>
                <a:t>사라지지 않는 것</a:t>
              </a:r>
            </a:p>
          </p:txBody>
        </p:sp>
        <p:sp>
          <p:nvSpPr>
            <p:cNvPr id="12" name="TextBox 12"/>
            <p:cNvSpPr txBox="1"/>
            <p:nvPr/>
          </p:nvSpPr>
          <p:spPr>
            <a:xfrm>
              <a:off x="632460" y="1699260"/>
              <a:ext cx="1298229" cy="853440"/>
            </a:xfrm>
            <a:prstGeom prst="rect">
              <a:avLst/>
            </a:prstGeom>
            <a:noFill/>
            <a:ln>
              <a:noFill/>
            </a:ln>
          </p:spPr>
          <p:txBody>
            <a:bodyPr wrap="none" lIns="0" tIns="0" rIns="0" bIns="0" anchor="t" anchorCtr="0">
              <a:spAutoFit/>
            </a:bodyPr>
            <a:lstStyle/>
            <a:p>
              <a:pPr algn="l"/>
              <a:r>
                <a:rPr lang="ko-KR" sz="4200" b="1" dirty="0">
                  <a:solidFill>
                    <a:srgbClr val="E8EEF7"/>
                  </a:solidFill>
                  <a:latin typeface="Pretendard 900"/>
                  <a:ea typeface="Malgun Gothic"/>
                  <a:cs typeface="Pretendard 900"/>
                </a:rPr>
                <a:t>AI가</a:t>
              </a:r>
            </a:p>
          </p:txBody>
        </p:sp>
        <p:sp>
          <p:nvSpPr>
            <p:cNvPr id="13" name="TextBox 13"/>
            <p:cNvSpPr txBox="1"/>
            <p:nvPr/>
          </p:nvSpPr>
          <p:spPr>
            <a:xfrm>
              <a:off x="632460" y="2270760"/>
              <a:ext cx="4357611" cy="853440"/>
            </a:xfrm>
            <a:prstGeom prst="rect">
              <a:avLst/>
            </a:prstGeom>
            <a:noFill/>
            <a:ln>
              <a:noFill/>
            </a:ln>
          </p:spPr>
          <p:txBody>
            <a:bodyPr wrap="none" lIns="0" tIns="0" rIns="0" bIns="0" anchor="t" anchorCtr="0">
              <a:spAutoFit/>
            </a:bodyPr>
            <a:lstStyle/>
            <a:p>
              <a:pPr algn="l"/>
              <a:r>
                <a:rPr lang="ko-KR" sz="4200" b="1" dirty="0">
                  <a:solidFill>
                    <a:srgbClr val="E8EEF7"/>
                  </a:solidFill>
                  <a:latin typeface="Pretendard 900"/>
                  <a:ea typeface="Malgun Gothic"/>
                  <a:cs typeface="Pretendard 900"/>
                </a:rPr>
                <a:t>대체할 수 없는</a:t>
              </a:r>
            </a:p>
          </p:txBody>
        </p:sp>
        <p:sp>
          <p:nvSpPr>
            <p:cNvPr id="14" name="TextBox 14"/>
            <p:cNvSpPr txBox="1"/>
            <p:nvPr/>
          </p:nvSpPr>
          <p:spPr>
            <a:xfrm>
              <a:off x="632460" y="2842260"/>
              <a:ext cx="1749085" cy="853440"/>
            </a:xfrm>
            <a:prstGeom prst="rect">
              <a:avLst/>
            </a:prstGeom>
            <a:noFill/>
            <a:ln>
              <a:noFill/>
            </a:ln>
          </p:spPr>
          <p:txBody>
            <a:bodyPr wrap="none" lIns="0" tIns="0" rIns="0" bIns="0" anchor="t" anchorCtr="0">
              <a:spAutoFit/>
            </a:bodyPr>
            <a:lstStyle/>
            <a:p>
              <a:pPr algn="l"/>
              <a:r>
                <a:rPr lang="ko-KR" sz="4200" b="1" dirty="0">
                  <a:solidFill>
                    <a:srgbClr val="FFB627"/>
                  </a:solidFill>
                  <a:latin typeface="Pretendard 900"/>
                  <a:ea typeface="Malgun Gothic"/>
                  <a:cs typeface="Pretendard 900"/>
                </a:rPr>
                <a:t>5가지</a:t>
              </a:r>
            </a:p>
          </p:txBody>
        </p:sp>
        <p:sp>
          <p:nvSpPr>
            <p:cNvPr id="15" name="Rectangle 15"/>
            <p:cNvSpPr/>
            <p:nvPr/>
          </p:nvSpPr>
          <p:spPr>
            <a:xfrm>
              <a:off x="685800" y="3562350"/>
              <a:ext cx="609600" cy="38100"/>
            </a:xfrm>
            <a:prstGeom prst="rect">
              <a:avLst/>
            </a:prstGeom>
            <a:gradFill>
              <a:gsLst>
                <a:gs pos="0">
                  <a:srgbClr val="00D9FF"/>
                </a:gs>
                <a:gs pos="100000">
                  <a:srgbClr val="FFB627"/>
                </a:gs>
              </a:gsLst>
              <a:lin ang="5400000" scaled="1"/>
            </a:gradFill>
            <a:ln>
              <a:noFill/>
            </a:ln>
          </p:spPr>
        </p:sp>
        <p:sp>
          <p:nvSpPr>
            <p:cNvPr id="16" name="TextBox 16"/>
            <p:cNvSpPr txBox="1"/>
            <p:nvPr/>
          </p:nvSpPr>
          <p:spPr>
            <a:xfrm>
              <a:off x="669608" y="3862864"/>
              <a:ext cx="2462474" cy="259080"/>
            </a:xfrm>
            <a:prstGeom prst="rect">
              <a:avLst/>
            </a:prstGeom>
            <a:noFill/>
            <a:ln>
              <a:noFill/>
            </a:ln>
          </p:spPr>
          <p:txBody>
            <a:bodyPr wrap="none" lIns="0" tIns="0" rIns="0" bIns="0" anchor="t" anchorCtr="0">
              <a:spAutoFit/>
            </a:bodyPr>
            <a:lstStyle/>
            <a:p>
              <a:pPr algn="l"/>
              <a:r>
                <a:rPr lang="ko-KR" sz="1275" dirty="0">
                  <a:solidFill>
                    <a:srgbClr val="8B9AB3"/>
                  </a:solidFill>
                  <a:latin typeface="Pretendard 400"/>
                  <a:ea typeface="Malgun Gothic"/>
                  <a:cs typeface="Pretendard 400"/>
                </a:rPr>
                <a:t>기계가 흉내 낼 수 없는 영역.</a:t>
              </a:r>
            </a:p>
          </p:txBody>
        </p:sp>
        <p:sp>
          <p:nvSpPr>
            <p:cNvPr id="17" name="TextBox 17"/>
            <p:cNvSpPr txBox="1"/>
            <p:nvPr/>
          </p:nvSpPr>
          <p:spPr>
            <a:xfrm>
              <a:off x="669608" y="4110514"/>
              <a:ext cx="2965252" cy="259080"/>
            </a:xfrm>
            <a:prstGeom prst="rect">
              <a:avLst/>
            </a:prstGeom>
            <a:noFill/>
            <a:ln>
              <a:noFill/>
            </a:ln>
          </p:spPr>
          <p:txBody>
            <a:bodyPr wrap="none" lIns="0" tIns="0" rIns="0" bIns="0" anchor="t" anchorCtr="0">
              <a:spAutoFit/>
            </a:bodyPr>
            <a:lstStyle/>
            <a:p>
              <a:pPr algn="l"/>
              <a:r>
                <a:rPr lang="ko-KR" sz="1275" dirty="0">
                  <a:solidFill>
                    <a:srgbClr val="8B9AB3"/>
                  </a:solidFill>
                  <a:latin typeface="Pretendard 400"/>
                  <a:ea typeface="Malgun Gothic"/>
                  <a:cs typeface="Pretendard 400"/>
                </a:rPr>
                <a:t>바로 당신이 집중해야 할 곳입니다.</a:t>
              </a:r>
            </a:p>
          </p:txBody>
        </p:sp>
        <p:sp>
          <p:nvSpPr>
            <p:cNvPr id="18" name="TextBox 18"/>
            <p:cNvSpPr txBox="1"/>
            <p:nvPr/>
          </p:nvSpPr>
          <p:spPr>
            <a:xfrm>
              <a:off x="1053465" y="4915852"/>
              <a:ext cx="1192149" cy="213360"/>
            </a:xfrm>
            <a:prstGeom prst="rect">
              <a:avLst/>
            </a:prstGeom>
            <a:noFill/>
            <a:ln>
              <a:noFill/>
            </a:ln>
          </p:spPr>
          <p:txBody>
            <a:bodyPr wrap="none" lIns="0" tIns="0" rIns="0" bIns="0" anchor="t" anchorCtr="0">
              <a:spAutoFit/>
            </a:bodyPr>
            <a:lstStyle/>
            <a:p>
              <a:pPr algn="l"/>
              <a:r>
                <a:rPr lang="ko-KR" sz="1050" dirty="0">
                  <a:solidFill>
                    <a:srgbClr val="3DDC97"/>
                  </a:solidFill>
                  <a:latin typeface="Pretendard 700"/>
                  <a:ea typeface="Malgun Gothic"/>
                  <a:cs typeface="Pretendard 700"/>
                </a:rPr>
                <a:t>인간 고유의 강점</a:t>
              </a:r>
            </a:p>
          </p:txBody>
        </p:sp>
      </p:grpSp>
      <p:sp>
        <p:nvSpPr>
          <p:cNvPr id="20" name="Line 20"/>
          <p:cNvSpPr/>
          <p:nvPr/>
        </p:nvSpPr>
        <p:spPr>
          <a:xfrm>
            <a:off x="4171950" y="1524000"/>
            <a:ext cx="9525" cy="4572000"/>
          </a:xfrm>
          <a:custGeom>
            <a:avLst/>
            <a:gdLst/>
            <a:ahLst/>
            <a:cxnLst/>
            <a:rect l="l" t="t" r="r" b="b"/>
            <a:pathLst>
              <a:path w="9525" h="4572000">
                <a:moveTo>
                  <a:pt x="0" y="0"/>
                </a:moveTo>
                <a:lnTo>
                  <a:pt x="0" y="4572000"/>
                </a:lnTo>
              </a:path>
            </a:pathLst>
          </a:custGeom>
          <a:noFill/>
          <a:ln w="9525">
            <a:solidFill>
              <a:srgbClr val="E8EEF7">
                <a:alpha val="8000"/>
              </a:srgbClr>
            </a:solidFill>
          </a:ln>
        </p:spPr>
      </p:sp>
      <p:grpSp>
        <p:nvGrpSpPr>
          <p:cNvPr id="46" name="Group 46"/>
          <p:cNvGrpSpPr/>
          <p:nvPr/>
        </p:nvGrpSpPr>
        <p:grpSpPr>
          <a:xfrm>
            <a:off x="4568190" y="1586865"/>
            <a:ext cx="5803392" cy="4175760"/>
            <a:chOff x="4568190" y="1586865"/>
            <a:chExt cx="5803392" cy="4175760"/>
          </a:xfrm>
        </p:grpSpPr>
        <p:grpSp>
          <p:nvGrpSpPr>
            <p:cNvPr id="25" name="Group 25"/>
            <p:cNvGrpSpPr/>
            <p:nvPr/>
          </p:nvGrpSpPr>
          <p:grpSpPr>
            <a:xfrm>
              <a:off x="4568190" y="1586865"/>
              <a:ext cx="5312664" cy="670560"/>
              <a:chOff x="4568190" y="1586865"/>
              <a:chExt cx="5312664" cy="670560"/>
            </a:xfrm>
          </p:grpSpPr>
          <p:sp>
            <p:nvSpPr>
              <p:cNvPr id="21" name="TextBox 21"/>
              <p:cNvSpPr txBox="1"/>
              <p:nvPr/>
            </p:nvSpPr>
            <p:spPr>
              <a:xfrm>
                <a:off x="4568190" y="1586865"/>
                <a:ext cx="513974" cy="670560"/>
              </a:xfrm>
              <a:prstGeom prst="rect">
                <a:avLst/>
              </a:prstGeom>
              <a:noFill/>
              <a:ln>
                <a:noFill/>
              </a:ln>
            </p:spPr>
            <p:txBody>
              <a:bodyPr wrap="none" lIns="0" tIns="0" rIns="0" bIns="0" anchor="t" anchorCtr="0">
                <a:spAutoFit/>
              </a:bodyPr>
              <a:lstStyle/>
              <a:p>
                <a:pPr algn="l"/>
                <a:r>
                  <a:rPr lang="en-US" sz="3300" b="1" dirty="0">
                    <a:gradFill>
                      <a:gsLst>
                        <a:gs pos="0">
                          <a:srgbClr val="00D9FF"/>
                        </a:gs>
                        <a:gs pos="100000">
                          <a:srgbClr val="3DDC97"/>
                        </a:gs>
                      </a:gsLst>
                      <a:lin ang="5400000" scaled="1"/>
                    </a:gradFill>
                    <a:latin typeface="Arial Black"/>
                    <a:ea typeface="Microsoft YaHei"/>
                    <a:cs typeface="Arial Black"/>
                  </a:rPr>
                  <a:t>01</a:t>
                </a:r>
              </a:p>
            </p:txBody>
          </p:sp>
          <p:sp>
            <p:nvSpPr>
              <p:cNvPr id="22" name="Line 22"/>
              <p:cNvSpPr/>
              <p:nvPr/>
            </p:nvSpPr>
            <p:spPr>
              <a:xfrm>
                <a:off x="5410200" y="1809750"/>
                <a:ext cx="190500" cy="9525"/>
              </a:xfrm>
              <a:custGeom>
                <a:avLst/>
                <a:gdLst/>
                <a:ahLst/>
                <a:cxnLst/>
                <a:rect l="l" t="t" r="r" b="b"/>
                <a:pathLst>
                  <a:path w="190500" h="9525">
                    <a:moveTo>
                      <a:pt x="0" y="0"/>
                    </a:moveTo>
                    <a:lnTo>
                      <a:pt x="190500" y="0"/>
                    </a:lnTo>
                  </a:path>
                </a:pathLst>
              </a:custGeom>
              <a:noFill/>
              <a:ln w="19050">
                <a:solidFill>
                  <a:srgbClr val="00D9FF"/>
                </a:solidFill>
              </a:ln>
            </p:spPr>
          </p:sp>
          <p:sp>
            <p:nvSpPr>
              <p:cNvPr id="23" name="TextBox 23"/>
              <p:cNvSpPr txBox="1"/>
              <p:nvPr/>
            </p:nvSpPr>
            <p:spPr>
              <a:xfrm>
                <a:off x="6227445" y="1688782"/>
                <a:ext cx="2217982"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900"/>
                    <a:ea typeface="Malgun Gothic"/>
                    <a:cs typeface="Pretendard 900"/>
                  </a:rPr>
                  <a:t>비즈니스 문제 정의</a:t>
                </a:r>
              </a:p>
            </p:txBody>
          </p:sp>
          <p:sp>
            <p:nvSpPr>
              <p:cNvPr id="24" name="TextBox 24"/>
              <p:cNvSpPr txBox="1"/>
              <p:nvPr/>
            </p:nvSpPr>
            <p:spPr>
              <a:xfrm>
                <a:off x="6235065" y="2020252"/>
                <a:ext cx="3645789"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"무엇을 풀어야 하는가"는 여전히 사람의 질문입니다</a:t>
                </a:r>
              </a:p>
            </p:txBody>
          </p:sp>
        </p:grpSp>
        <p:grpSp>
          <p:nvGrpSpPr>
            <p:cNvPr id="30" name="Group 30"/>
            <p:cNvGrpSpPr/>
            <p:nvPr/>
          </p:nvGrpSpPr>
          <p:grpSpPr>
            <a:xfrm>
              <a:off x="4568190" y="2463165"/>
              <a:ext cx="5803392" cy="670560"/>
              <a:chOff x="4568190" y="2463165"/>
              <a:chExt cx="5803392" cy="670560"/>
            </a:xfrm>
          </p:grpSpPr>
          <p:sp>
            <p:nvSpPr>
              <p:cNvPr id="26" name="TextBox 26"/>
              <p:cNvSpPr txBox="1"/>
              <p:nvPr/>
            </p:nvSpPr>
            <p:spPr>
              <a:xfrm>
                <a:off x="4568190" y="2463165"/>
                <a:ext cx="640490" cy="670560"/>
              </a:xfrm>
              <a:prstGeom prst="rect">
                <a:avLst/>
              </a:prstGeom>
              <a:noFill/>
              <a:ln>
                <a:noFill/>
              </a:ln>
            </p:spPr>
            <p:txBody>
              <a:bodyPr wrap="none" lIns="0" tIns="0" rIns="0" bIns="0" anchor="t" anchorCtr="0">
                <a:spAutoFit/>
              </a:bodyPr>
              <a:lstStyle/>
              <a:p>
                <a:pPr algn="l"/>
                <a:r>
                  <a:rPr lang="en-US" sz="3300" b="1" dirty="0">
                    <a:gradFill>
                      <a:gsLst>
                        <a:gs pos="0">
                          <a:srgbClr val="00D9FF"/>
                        </a:gs>
                        <a:gs pos="100000">
                          <a:srgbClr val="3DDC97"/>
                        </a:gs>
                      </a:gsLst>
                      <a:lin ang="5400000" scaled="1"/>
                    </a:gradFill>
                    <a:latin typeface="Arial Black"/>
                    <a:ea typeface="Microsoft YaHei"/>
                    <a:cs typeface="Arial Black"/>
                  </a:rPr>
                  <a:t>02</a:t>
                </a:r>
              </a:p>
            </p:txBody>
          </p:sp>
          <p:sp>
            <p:nvSpPr>
              <p:cNvPr id="27" name="Line 27"/>
              <p:cNvSpPr/>
              <p:nvPr/>
            </p:nvSpPr>
            <p:spPr>
              <a:xfrm>
                <a:off x="5410200" y="2686050"/>
                <a:ext cx="190500" cy="9525"/>
              </a:xfrm>
              <a:custGeom>
                <a:avLst/>
                <a:gdLst/>
                <a:ahLst/>
                <a:cxnLst/>
                <a:rect l="l" t="t" r="r" b="b"/>
                <a:pathLst>
                  <a:path w="190500" h="9525">
                    <a:moveTo>
                      <a:pt x="0" y="0"/>
                    </a:moveTo>
                    <a:lnTo>
                      <a:pt x="190500" y="0"/>
                    </a:lnTo>
                  </a:path>
                </a:pathLst>
              </a:custGeom>
              <a:noFill/>
              <a:ln w="19050">
                <a:solidFill>
                  <a:srgbClr val="00D9FF"/>
                </a:solidFill>
              </a:ln>
            </p:spPr>
          </p:sp>
          <p:sp>
            <p:nvSpPr>
              <p:cNvPr id="28" name="TextBox 28"/>
              <p:cNvSpPr txBox="1"/>
              <p:nvPr/>
            </p:nvSpPr>
            <p:spPr>
              <a:xfrm>
                <a:off x="6227445" y="2565082"/>
                <a:ext cx="2977077"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900"/>
                    <a:ea typeface="Malgun Gothic"/>
                    <a:cs typeface="Pretendard 900"/>
                  </a:rPr>
                  <a:t>시스템 트레이드오프 판단</a:t>
                </a:r>
              </a:p>
            </p:txBody>
          </p:sp>
          <p:sp>
            <p:nvSpPr>
              <p:cNvPr id="29" name="TextBox 29"/>
              <p:cNvSpPr txBox="1"/>
              <p:nvPr/>
            </p:nvSpPr>
            <p:spPr>
              <a:xfrm>
                <a:off x="6235065" y="2896552"/>
                <a:ext cx="4136517"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속도와 안정성, 비용과 품질 사이의 선택은 AI가 못 내립니다</a:t>
                </a:r>
              </a:p>
            </p:txBody>
          </p:sp>
        </p:grpSp>
        <p:grpSp>
          <p:nvGrpSpPr>
            <p:cNvPr id="35" name="Group 35"/>
            <p:cNvGrpSpPr/>
            <p:nvPr/>
          </p:nvGrpSpPr>
          <p:grpSpPr>
            <a:xfrm>
              <a:off x="4568190" y="3339465"/>
              <a:ext cx="5104440" cy="670560"/>
              <a:chOff x="4568190" y="3339465"/>
              <a:chExt cx="5104440" cy="670560"/>
            </a:xfrm>
          </p:grpSpPr>
          <p:sp>
            <p:nvSpPr>
              <p:cNvPr id="31" name="TextBox 31"/>
              <p:cNvSpPr txBox="1"/>
              <p:nvPr/>
            </p:nvSpPr>
            <p:spPr>
              <a:xfrm>
                <a:off x="4568190" y="3339465"/>
                <a:ext cx="640490" cy="670560"/>
              </a:xfrm>
              <a:prstGeom prst="rect">
                <a:avLst/>
              </a:prstGeom>
              <a:noFill/>
              <a:ln>
                <a:noFill/>
              </a:ln>
            </p:spPr>
            <p:txBody>
              <a:bodyPr wrap="none" lIns="0" tIns="0" rIns="0" bIns="0" anchor="t" anchorCtr="0">
                <a:spAutoFit/>
              </a:bodyPr>
              <a:lstStyle/>
              <a:p>
                <a:pPr algn="l"/>
                <a:r>
                  <a:rPr lang="en-US" sz="3300" b="1" dirty="0">
                    <a:gradFill>
                      <a:gsLst>
                        <a:gs pos="0">
                          <a:srgbClr val="00D9FF"/>
                        </a:gs>
                        <a:gs pos="100000">
                          <a:srgbClr val="3DDC97"/>
                        </a:gs>
                      </a:gsLst>
                      <a:lin ang="5400000" scaled="1"/>
                    </a:gradFill>
                    <a:latin typeface="Arial Black"/>
                    <a:ea typeface="Microsoft YaHei"/>
                    <a:cs typeface="Arial Black"/>
                  </a:rPr>
                  <a:t>03</a:t>
                </a:r>
              </a:p>
            </p:txBody>
          </p:sp>
          <p:sp>
            <p:nvSpPr>
              <p:cNvPr id="32" name="Line 32"/>
              <p:cNvSpPr/>
              <p:nvPr/>
            </p:nvSpPr>
            <p:spPr>
              <a:xfrm>
                <a:off x="5410200" y="3562350"/>
                <a:ext cx="190500" cy="9525"/>
              </a:xfrm>
              <a:custGeom>
                <a:avLst/>
                <a:gdLst/>
                <a:ahLst/>
                <a:cxnLst/>
                <a:rect l="l" t="t" r="r" b="b"/>
                <a:pathLst>
                  <a:path w="190500" h="9525">
                    <a:moveTo>
                      <a:pt x="0" y="0"/>
                    </a:moveTo>
                    <a:lnTo>
                      <a:pt x="190500" y="0"/>
                    </a:lnTo>
                  </a:path>
                </a:pathLst>
              </a:custGeom>
              <a:noFill/>
              <a:ln w="19050">
                <a:solidFill>
                  <a:srgbClr val="00D9FF"/>
                </a:solidFill>
              </a:ln>
            </p:spPr>
          </p:sp>
          <p:sp>
            <p:nvSpPr>
              <p:cNvPr id="33" name="TextBox 33"/>
              <p:cNvSpPr txBox="1"/>
              <p:nvPr/>
            </p:nvSpPr>
            <p:spPr>
              <a:xfrm>
                <a:off x="6227445" y="3441382"/>
                <a:ext cx="3445185"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900"/>
                    <a:ea typeface="Malgun Gothic"/>
                    <a:cs typeface="Pretendard 900"/>
                  </a:rPr>
                  <a:t>코드 품질·보안에 대한 책임감</a:t>
                </a:r>
              </a:p>
            </p:txBody>
          </p:sp>
          <p:sp>
            <p:nvSpPr>
              <p:cNvPr id="34" name="TextBox 34"/>
              <p:cNvSpPr txBox="1"/>
              <p:nvPr/>
            </p:nvSpPr>
            <p:spPr>
              <a:xfrm>
                <a:off x="6235065" y="3772852"/>
                <a:ext cx="3063050"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장애가 났을 때 책임지는 건 결국 사람입니다</a:t>
                </a:r>
              </a:p>
            </p:txBody>
          </p:sp>
        </p:grpSp>
        <p:grpSp>
          <p:nvGrpSpPr>
            <p:cNvPr id="40" name="Group 40"/>
            <p:cNvGrpSpPr/>
            <p:nvPr/>
          </p:nvGrpSpPr>
          <p:grpSpPr>
            <a:xfrm>
              <a:off x="4568190" y="4215765"/>
              <a:ext cx="5650039" cy="670560"/>
              <a:chOff x="4568190" y="4215765"/>
              <a:chExt cx="5650039" cy="670560"/>
            </a:xfrm>
          </p:grpSpPr>
          <p:sp>
            <p:nvSpPr>
              <p:cNvPr id="36" name="TextBox 36"/>
              <p:cNvSpPr txBox="1"/>
              <p:nvPr/>
            </p:nvSpPr>
            <p:spPr>
              <a:xfrm>
                <a:off x="4568190" y="4215765"/>
                <a:ext cx="640490" cy="670560"/>
              </a:xfrm>
              <a:prstGeom prst="rect">
                <a:avLst/>
              </a:prstGeom>
              <a:noFill/>
              <a:ln>
                <a:noFill/>
              </a:ln>
            </p:spPr>
            <p:txBody>
              <a:bodyPr wrap="none" lIns="0" tIns="0" rIns="0" bIns="0" anchor="t" anchorCtr="0">
                <a:spAutoFit/>
              </a:bodyPr>
              <a:lstStyle/>
              <a:p>
                <a:pPr algn="l"/>
                <a:r>
                  <a:rPr lang="en-US" sz="3300" b="1" dirty="0">
                    <a:gradFill>
                      <a:gsLst>
                        <a:gs pos="0">
                          <a:srgbClr val="00D9FF"/>
                        </a:gs>
                        <a:gs pos="100000">
                          <a:srgbClr val="3DDC97"/>
                        </a:gs>
                      </a:gsLst>
                      <a:lin ang="5400000" scaled="1"/>
                    </a:gradFill>
                    <a:latin typeface="Arial Black"/>
                    <a:ea typeface="Microsoft YaHei"/>
                    <a:cs typeface="Arial Black"/>
                  </a:rPr>
                  <a:t>04</a:t>
                </a:r>
              </a:p>
            </p:txBody>
          </p:sp>
          <p:sp>
            <p:nvSpPr>
              <p:cNvPr id="37" name="Line 37"/>
              <p:cNvSpPr/>
              <p:nvPr/>
            </p:nvSpPr>
            <p:spPr>
              <a:xfrm>
                <a:off x="5410200" y="4438650"/>
                <a:ext cx="190500" cy="9525"/>
              </a:xfrm>
              <a:custGeom>
                <a:avLst/>
                <a:gdLst/>
                <a:ahLst/>
                <a:cxnLst/>
                <a:rect l="l" t="t" r="r" b="b"/>
                <a:pathLst>
                  <a:path w="190500" h="9525">
                    <a:moveTo>
                      <a:pt x="0" y="0"/>
                    </a:moveTo>
                    <a:lnTo>
                      <a:pt x="190500" y="0"/>
                    </a:lnTo>
                  </a:path>
                </a:pathLst>
              </a:custGeom>
              <a:noFill/>
              <a:ln w="19050">
                <a:solidFill>
                  <a:srgbClr val="00D9FF"/>
                </a:solidFill>
              </a:ln>
            </p:spPr>
          </p:sp>
          <p:sp>
            <p:nvSpPr>
              <p:cNvPr id="38" name="TextBox 38"/>
              <p:cNvSpPr txBox="1"/>
              <p:nvPr/>
            </p:nvSpPr>
            <p:spPr>
              <a:xfrm>
                <a:off x="6227445" y="4317682"/>
                <a:ext cx="2977077"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900"/>
                    <a:ea typeface="Malgun Gothic"/>
                    <a:cs typeface="Pretendard 900"/>
                  </a:rPr>
                  <a:t>팀 커뮤니케이션과 멘토링</a:t>
                </a:r>
              </a:p>
            </p:txBody>
          </p:sp>
          <p:sp>
            <p:nvSpPr>
              <p:cNvPr id="39" name="TextBox 39"/>
              <p:cNvSpPr txBox="1"/>
              <p:nvPr/>
            </p:nvSpPr>
            <p:spPr>
              <a:xfrm>
                <a:off x="6235065" y="4649152"/>
                <a:ext cx="3983164"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신뢰는 코드가 아니라 사람과 사람 사이에서 만들어집니다</a:t>
                </a:r>
              </a:p>
            </p:txBody>
          </p:sp>
        </p:grpSp>
        <p:grpSp>
          <p:nvGrpSpPr>
            <p:cNvPr id="45" name="Group 45"/>
            <p:cNvGrpSpPr/>
            <p:nvPr/>
          </p:nvGrpSpPr>
          <p:grpSpPr>
            <a:xfrm>
              <a:off x="4568190" y="5092065"/>
              <a:ext cx="5711380" cy="670560"/>
              <a:chOff x="4568190" y="5092065"/>
              <a:chExt cx="5711380" cy="670560"/>
            </a:xfrm>
          </p:grpSpPr>
          <p:sp>
            <p:nvSpPr>
              <p:cNvPr id="41" name="TextBox 41"/>
              <p:cNvSpPr txBox="1"/>
              <p:nvPr/>
            </p:nvSpPr>
            <p:spPr>
              <a:xfrm>
                <a:off x="4568190" y="5092065"/>
                <a:ext cx="640490" cy="670560"/>
              </a:xfrm>
              <a:prstGeom prst="rect">
                <a:avLst/>
              </a:prstGeom>
              <a:noFill/>
              <a:ln>
                <a:noFill/>
              </a:ln>
            </p:spPr>
            <p:txBody>
              <a:bodyPr wrap="none" lIns="0" tIns="0" rIns="0" bIns="0" anchor="t" anchorCtr="0">
                <a:spAutoFit/>
              </a:bodyPr>
              <a:lstStyle/>
              <a:p>
                <a:pPr algn="l"/>
                <a:r>
                  <a:rPr lang="en-US" sz="3300" b="1" dirty="0">
                    <a:gradFill>
                      <a:gsLst>
                        <a:gs pos="0">
                          <a:srgbClr val="00D9FF"/>
                        </a:gs>
                        <a:gs pos="100000">
                          <a:srgbClr val="3DDC97"/>
                        </a:gs>
                      </a:gsLst>
                      <a:lin ang="5400000" scaled="1"/>
                    </a:gradFill>
                    <a:latin typeface="Arial Black"/>
                    <a:ea typeface="Microsoft YaHei"/>
                    <a:cs typeface="Arial Black"/>
                  </a:rPr>
                  <a:t>05</a:t>
                </a:r>
              </a:p>
            </p:txBody>
          </p:sp>
          <p:sp>
            <p:nvSpPr>
              <p:cNvPr id="42" name="Line 42"/>
              <p:cNvSpPr/>
              <p:nvPr/>
            </p:nvSpPr>
            <p:spPr>
              <a:xfrm>
                <a:off x="5410200" y="5314950"/>
                <a:ext cx="190500" cy="9525"/>
              </a:xfrm>
              <a:custGeom>
                <a:avLst/>
                <a:gdLst/>
                <a:ahLst/>
                <a:cxnLst/>
                <a:rect l="l" t="t" r="r" b="b"/>
                <a:pathLst>
                  <a:path w="190500" h="9525">
                    <a:moveTo>
                      <a:pt x="0" y="0"/>
                    </a:moveTo>
                    <a:lnTo>
                      <a:pt x="190500" y="0"/>
                    </a:lnTo>
                  </a:path>
                </a:pathLst>
              </a:custGeom>
              <a:noFill/>
              <a:ln w="19050">
                <a:solidFill>
                  <a:srgbClr val="00D9FF"/>
                </a:solidFill>
              </a:ln>
            </p:spPr>
          </p:sp>
          <p:sp>
            <p:nvSpPr>
              <p:cNvPr id="43" name="TextBox 43"/>
              <p:cNvSpPr txBox="1"/>
              <p:nvPr/>
            </p:nvSpPr>
            <p:spPr>
              <a:xfrm>
                <a:off x="6227445" y="5193982"/>
                <a:ext cx="3306018"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900"/>
                    <a:ea typeface="Malgun Gothic"/>
                    <a:cs typeface="Pretendard 900"/>
                  </a:rPr>
                  <a:t>도메인 깊이와 컨텍스트 이해</a:t>
                </a:r>
              </a:p>
            </p:txBody>
          </p:sp>
          <p:sp>
            <p:nvSpPr>
              <p:cNvPr id="44" name="TextBox 44"/>
              <p:cNvSpPr txBox="1"/>
              <p:nvPr/>
            </p:nvSpPr>
            <p:spPr>
              <a:xfrm>
                <a:off x="6235065" y="5525452"/>
                <a:ext cx="4044505"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"왜 이 사업이 이렇게 굴러가는가"를 아는 사람이 이깁니다</a:t>
                </a:r>
              </a:p>
            </p:txBody>
          </p:sp>
        </p:grpSp>
      </p:grpSp>
      <p:grpSp>
        <p:nvGrpSpPr>
          <p:cNvPr id="49" name="Group 49"/>
          <p:cNvGrpSpPr/>
          <p:nvPr/>
        </p:nvGrpSpPr>
        <p:grpSpPr>
          <a:xfrm>
            <a:off x="685800" y="6381750"/>
            <a:ext cx="4475893" cy="190500"/>
            <a:chOff x="685800" y="6381750"/>
            <a:chExt cx="4475893" cy="190500"/>
          </a:xfrm>
        </p:grpSpPr>
        <p:sp>
          <p:nvSpPr>
            <p:cNvPr id="47" name="Rectangle 47"/>
            <p:cNvSpPr/>
            <p:nvPr/>
          </p:nvSpPr>
          <p:spPr>
            <a:xfrm>
              <a:off x="685800" y="6381750"/>
              <a:ext cx="28575" cy="133350"/>
            </a:xfrm>
            <a:prstGeom prst="rect">
              <a:avLst/>
            </a:prstGeom>
            <a:solidFill>
              <a:srgbClr val="00D9FF"/>
            </a:solidFill>
            <a:ln>
              <a:noFill/>
            </a:ln>
          </p:spPr>
        </p:sp>
        <p:sp>
          <p:nvSpPr>
            <p:cNvPr id="48" name="TextBox 48"/>
            <p:cNvSpPr txBox="1"/>
            <p:nvPr/>
          </p:nvSpPr>
          <p:spPr>
            <a:xfrm>
              <a:off x="807720" y="6389370"/>
              <a:ext cx="4353973" cy="182880"/>
            </a:xfrm>
            <a:prstGeom prst="rect">
              <a:avLst/>
            </a:prstGeom>
            <a:noFill/>
            <a:ln>
              <a:noFill/>
            </a:ln>
          </p:spPr>
          <p:txBody>
            <a:bodyPr wrap="none" lIns="0" tIns="0" rIns="0" bIns="0" anchor="t" anchorCtr="0">
              <a:spAutoFit/>
            </a:bodyPr>
            <a:lstStyle/>
            <a:p>
              <a:pPr algn="l"/>
              <a:r>
                <a:rPr lang="ko-KR" sz="900" dirty="0">
                  <a:solidFill>
                    <a:srgbClr val="8B9AB3"/>
                  </a:solidFill>
                  <a:latin typeface="Pretendard 400"/>
                  <a:ea typeface="Malgun Gothic"/>
                  <a:cs typeface="Pretendard 400"/>
                </a:rPr>
                <a:t>AI는 답을 빠르게 내지만, 옳은 질문을 던지는 건 여전히 우리의 몫입니다.</a:t>
              </a:r>
            </a:p>
          </p:txBody>
        </p:sp>
      </p:grpSp>
      <p:sp>
        <p:nvSpPr>
          <p:cNvPr id="50" name="TextBox 50"/>
          <p:cNvSpPr txBox="1"/>
          <p:nvPr/>
        </p:nvSpPr>
        <p:spPr>
          <a:xfrm>
            <a:off x="10140886" y="6389370"/>
            <a:ext cx="1376743" cy="182880"/>
          </a:xfrm>
          <a:prstGeom prst="rect">
            <a:avLst/>
          </a:prstGeom>
          <a:noFill/>
          <a:ln>
            <a:noFill/>
          </a:ln>
        </p:spPr>
        <p:txBody>
          <a:bodyPr wrap="none" lIns="0" tIns="0" rIns="0" bIns="0" anchor="t" anchorCtr="0">
            <a:spAutoFit/>
          </a:bodyPr>
          <a:lstStyle/>
          <a:p>
            <a:pPr algn="r"/>
            <a:r>
              <a:rPr lang="ko-KR" sz="900" dirty="0">
                <a:solidFill>
                  <a:srgbClr val="8B9AB3"/>
                </a:solidFill>
                <a:latin typeface="Pretendard 400"/>
                <a:ea typeface="Malgun Gothic"/>
                <a:cs typeface="Pretendard 400"/>
              </a:rPr>
              <a:t>개발자의 종말: AI 시대</a:t>
            </a:r>
          </a:p>
        </p:txBody>
      </p:sp>
    </p:spTree>
  </p:cSld>
  <p:clrMapOvr>
    <a:masterClrMapping/>
  </p:clrMapOvr>
  <p:transition xmlns:p14="http://schemas.microsoft.com/office/powerpoint/2010/main" p14:dur="5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1628"/>
              </a:gs>
              <a:gs pos="50000">
                <a:srgbClr val="13243B"/>
              </a:gs>
              <a:gs pos="100000">
                <a:srgbClr val="1A2F4F"/>
              </a:gs>
            </a:gsLst>
            <a:lin ang="2700000" scaled="1"/>
          </a:gradFill>
          <a:ln>
            <a:noFill/>
          </a:ln>
        </p:spPr>
      </p:sp>
      <p:grpSp>
        <p:nvGrpSpPr>
          <p:cNvPr id="6" name="Group 6"/>
          <p:cNvGrpSpPr/>
          <p:nvPr/>
        </p:nvGrpSpPr>
        <p:grpSpPr>
          <a:xfrm>
            <a:off x="571500" y="323850"/>
            <a:ext cx="5705475" cy="809625"/>
            <a:chOff x="571500" y="323850"/>
            <a:chExt cx="5705475" cy="809625"/>
          </a:xfrm>
        </p:grpSpPr>
        <p:sp>
          <p:nvSpPr>
            <p:cNvPr id="3" name="TextBox 3"/>
            <p:cNvSpPr txBox="1"/>
            <p:nvPr/>
          </p:nvSpPr>
          <p:spPr>
            <a:xfrm>
              <a:off x="571500" y="323850"/>
              <a:ext cx="4883801" cy="609600"/>
            </a:xfrm>
            <a:prstGeom prst="rect">
              <a:avLst/>
            </a:prstGeom>
            <a:noFill/>
            <a:ln>
              <a:noFill/>
            </a:ln>
          </p:spPr>
          <p:txBody>
            <a:bodyPr wrap="none" lIns="0" tIns="0" rIns="0" bIns="0" anchor="t" anchorCtr="0">
              <a:spAutoFit/>
            </a:bodyPr>
            <a:lstStyle/>
            <a:p>
              <a:pPr algn="l"/>
              <a:r>
                <a:rPr lang="ko-KR" sz="3000" b="1" dirty="0">
                  <a:solidFill>
                    <a:srgbClr val="E8EEF7"/>
                  </a:solidFill>
                  <a:latin typeface="Pretendard 900"/>
                  <a:ea typeface="Malgun Gothic"/>
                  <a:cs typeface="Pretendard 900"/>
                </a:rPr>
                <a:t>스킬 × 임팩트 매트릭스</a:t>
              </a:r>
            </a:p>
          </p:txBody>
        </p:sp>
        <p:sp>
          <p:nvSpPr>
            <p:cNvPr id="4" name="TextBox 4"/>
            <p:cNvSpPr txBox="1"/>
            <p:nvPr/>
          </p:nvSpPr>
          <p:spPr>
            <a:xfrm>
              <a:off x="594360" y="803910"/>
              <a:ext cx="5682615"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어디로 움직일 것인가 — 당신의 시간을 어디에 투자할지 결정하는 좌표계</a:t>
              </a:r>
            </a:p>
          </p:txBody>
        </p:sp>
        <p:sp>
          <p:nvSpPr>
            <p:cNvPr id="5" name="Line 5"/>
            <p:cNvSpPr/>
            <p:nvPr/>
          </p:nvSpPr>
          <p:spPr>
            <a:xfrm>
              <a:off x="609600" y="1123950"/>
              <a:ext cx="1104900" cy="9525"/>
            </a:xfrm>
            <a:custGeom>
              <a:avLst/>
              <a:gdLst/>
              <a:ahLst/>
              <a:cxnLst/>
              <a:rect l="l" t="t" r="r" b="b"/>
              <a:pathLst>
                <a:path w="1104900" h="9525">
                  <a:moveTo>
                    <a:pt x="0" y="0"/>
                  </a:moveTo>
                  <a:lnTo>
                    <a:pt x="1104900" y="0"/>
                  </a:lnTo>
                </a:path>
              </a:pathLst>
            </a:custGeom>
            <a:noFill/>
            <a:ln w="28575">
              <a:solidFill>
                <a:srgbClr val="00D9FF"/>
              </a:solidFill>
            </a:ln>
          </p:spPr>
        </p:sp>
      </p:grpSp>
      <p:sp>
        <p:nvSpPr>
          <p:cNvPr id="7" name="TextBox 7"/>
          <p:cNvSpPr txBox="1"/>
          <p:nvPr/>
        </p:nvSpPr>
        <p:spPr>
          <a:xfrm>
            <a:off x="11093672" y="534352"/>
            <a:ext cx="502063" cy="213360"/>
          </a:xfrm>
          <a:prstGeom prst="rect">
            <a:avLst/>
          </a:prstGeom>
          <a:noFill/>
          <a:ln>
            <a:noFill/>
          </a:ln>
        </p:spPr>
        <p:txBody>
          <a:bodyPr wrap="none" lIns="0" tIns="0" rIns="0" bIns="0" anchor="t" anchorCtr="0">
            <a:spAutoFit/>
          </a:bodyPr>
          <a:lstStyle/>
          <a:p>
            <a:pPr algn="r"/>
            <a:r>
              <a:rPr lang="en-US" sz="1050" dirty="0">
                <a:solidFill>
                  <a:srgbClr val="8B9AB3"/>
                </a:solidFill>
                <a:latin typeface="Pretendard 700"/>
                <a:ea typeface="Malgun Gothic"/>
                <a:cs typeface="Pretendard 700"/>
              </a:rPr>
              <a:t>07 / 10</a:t>
            </a:r>
          </a:p>
        </p:txBody>
      </p:sp>
      <p:grpSp>
        <p:nvGrpSpPr>
          <p:cNvPr id="78" name="Group 78"/>
          <p:cNvGrpSpPr/>
          <p:nvPr/>
        </p:nvGrpSpPr>
        <p:grpSpPr>
          <a:xfrm>
            <a:off x="-8239" y="1418749"/>
            <a:ext cx="10498121" cy="5205889"/>
            <a:chOff x="-8239" y="1418749"/>
            <a:chExt cx="10498121" cy="5205889"/>
          </a:xfrm>
        </p:grpSpPr>
        <p:sp>
          <p:nvSpPr>
            <p:cNvPr id="8" name="TextBox 8"/>
            <p:cNvSpPr txBox="1"/>
            <p:nvPr/>
          </p:nvSpPr>
          <p:spPr>
            <a:xfrm>
              <a:off x="1178242" y="1418749"/>
              <a:ext cx="430601" cy="198120"/>
            </a:xfrm>
            <a:prstGeom prst="rect">
              <a:avLst/>
            </a:prstGeom>
            <a:noFill/>
            <a:ln>
              <a:noFill/>
            </a:ln>
          </p:spPr>
          <p:txBody>
            <a:bodyPr wrap="none" lIns="0" tIns="0" rIns="0" bIns="0" anchor="t" anchorCtr="0">
              <a:spAutoFit/>
            </a:bodyPr>
            <a:lstStyle/>
            <a:p>
              <a:pPr algn="l"/>
              <a:r>
                <a:rPr lang="ko-KR" sz="975" dirty="0">
                  <a:solidFill>
                    <a:srgbClr val="00D9FF"/>
                  </a:solidFill>
                  <a:latin typeface="Pretendard 700"/>
                  <a:ea typeface="Malgun Gothic"/>
                  <a:cs typeface="Pretendard 700"/>
                </a:rPr>
                <a:t>▲ 높음</a:t>
              </a:r>
            </a:p>
          </p:txBody>
        </p:sp>
        <p:sp>
          <p:nvSpPr>
            <p:cNvPr id="9" name="TextBox 9"/>
            <p:cNvSpPr txBox="1"/>
            <p:nvPr/>
          </p:nvSpPr>
          <p:spPr>
            <a:xfrm rot="-5400000">
              <a:off x="-8239" y="3655695"/>
              <a:ext cx="1146143" cy="213360"/>
            </a:xfrm>
            <a:prstGeom prst="rect">
              <a:avLst/>
            </a:prstGeom>
            <a:noFill/>
            <a:ln>
              <a:noFill/>
            </a:ln>
          </p:spPr>
          <p:txBody>
            <a:bodyPr wrap="none" lIns="0" tIns="0" rIns="0" bIns="0" anchor="t" anchorCtr="0">
              <a:spAutoFit/>
            </a:bodyPr>
            <a:lstStyle/>
            <a:p>
              <a:pPr algn="ctr"/>
              <a:r>
                <a:rPr lang="ko-KR" sz="1050" dirty="0">
                  <a:solidFill>
                    <a:srgbClr val="E8EEF7"/>
                  </a:solidFill>
                  <a:latin typeface="Pretendard 700"/>
                  <a:ea typeface="Malgun Gothic"/>
                  <a:cs typeface="Pretendard 700"/>
                </a:rPr>
                <a:t>비즈니스 임팩트</a:t>
              </a:r>
            </a:p>
          </p:txBody>
        </p:sp>
        <p:sp>
          <p:nvSpPr>
            <p:cNvPr id="10" name="TextBox 10"/>
            <p:cNvSpPr txBox="1"/>
            <p:nvPr/>
          </p:nvSpPr>
          <p:spPr>
            <a:xfrm>
              <a:off x="1178242" y="5943124"/>
              <a:ext cx="430601"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700"/>
                  <a:ea typeface="Malgun Gothic"/>
                  <a:cs typeface="Pretendard 700"/>
                </a:rPr>
                <a:t>▼ 낮음</a:t>
              </a:r>
            </a:p>
          </p:txBody>
        </p:sp>
        <p:sp>
          <p:nvSpPr>
            <p:cNvPr id="11" name="Line 11"/>
            <p:cNvSpPr/>
            <p:nvPr/>
          </p:nvSpPr>
          <p:spPr>
            <a:xfrm>
              <a:off x="2286000" y="1428750"/>
              <a:ext cx="9525" cy="4667250"/>
            </a:xfrm>
            <a:custGeom>
              <a:avLst/>
              <a:gdLst/>
              <a:ahLst/>
              <a:cxnLst/>
              <a:rect l="l" t="t" r="r" b="b"/>
              <a:pathLst>
                <a:path w="9525" h="4667250">
                  <a:moveTo>
                    <a:pt x="0" y="0"/>
                  </a:moveTo>
                  <a:lnTo>
                    <a:pt x="0" y="4667250"/>
                  </a:lnTo>
                </a:path>
              </a:pathLst>
            </a:custGeom>
            <a:noFill/>
            <a:ln w="14288">
              <a:solidFill>
                <a:srgbClr val="8B9AB3">
                  <a:alpha val="40000"/>
                </a:srgbClr>
              </a:solidFill>
            </a:ln>
          </p:spPr>
        </p:sp>
        <p:sp>
          <p:nvSpPr>
            <p:cNvPr id="12" name="Line 12"/>
            <p:cNvSpPr/>
            <p:nvPr/>
          </p:nvSpPr>
          <p:spPr>
            <a:xfrm>
              <a:off x="2286000" y="6096000"/>
              <a:ext cx="8191500" cy="9525"/>
            </a:xfrm>
            <a:custGeom>
              <a:avLst/>
              <a:gdLst/>
              <a:ahLst/>
              <a:cxnLst/>
              <a:rect l="l" t="t" r="r" b="b"/>
              <a:pathLst>
                <a:path w="8191500" h="9525">
                  <a:moveTo>
                    <a:pt x="0" y="0"/>
                  </a:moveTo>
                  <a:lnTo>
                    <a:pt x="8191500" y="0"/>
                  </a:lnTo>
                </a:path>
              </a:pathLst>
            </a:custGeom>
            <a:noFill/>
            <a:ln w="14288">
              <a:solidFill>
                <a:srgbClr val="8B9AB3">
                  <a:alpha val="40000"/>
                </a:srgbClr>
              </a:solidFill>
            </a:ln>
          </p:spPr>
        </p:sp>
        <p:sp>
          <p:nvSpPr>
            <p:cNvPr id="13" name="Line 13"/>
            <p:cNvSpPr/>
            <p:nvPr/>
          </p:nvSpPr>
          <p:spPr>
            <a:xfrm>
              <a:off x="6381750" y="1428750"/>
              <a:ext cx="9525" cy="4667250"/>
            </a:xfrm>
            <a:custGeom>
              <a:avLst/>
              <a:gdLst/>
              <a:ahLst/>
              <a:cxnLst/>
              <a:rect l="l" t="t" r="r" b="b"/>
              <a:pathLst>
                <a:path w="9525" h="4667250">
                  <a:moveTo>
                    <a:pt x="0" y="0"/>
                  </a:moveTo>
                  <a:lnTo>
                    <a:pt x="0" y="4667250"/>
                  </a:lnTo>
                </a:path>
              </a:pathLst>
            </a:custGeom>
            <a:noFill/>
            <a:ln w="9525">
              <a:solidFill>
                <a:srgbClr val="8B9AB3">
                  <a:alpha val="30000"/>
                </a:srgbClr>
              </a:solidFill>
              <a:prstDash val="dash"/>
            </a:ln>
          </p:spPr>
        </p:sp>
        <p:sp>
          <p:nvSpPr>
            <p:cNvPr id="14" name="Line 14"/>
            <p:cNvSpPr/>
            <p:nvPr/>
          </p:nvSpPr>
          <p:spPr>
            <a:xfrm>
              <a:off x="2286000" y="3762375"/>
              <a:ext cx="8191500" cy="9525"/>
            </a:xfrm>
            <a:custGeom>
              <a:avLst/>
              <a:gdLst/>
              <a:ahLst/>
              <a:cxnLst/>
              <a:rect l="l" t="t" r="r" b="b"/>
              <a:pathLst>
                <a:path w="8191500" h="9525">
                  <a:moveTo>
                    <a:pt x="0" y="0"/>
                  </a:moveTo>
                  <a:lnTo>
                    <a:pt x="8191500" y="0"/>
                  </a:lnTo>
                </a:path>
              </a:pathLst>
            </a:custGeom>
            <a:noFill/>
            <a:ln w="9525">
              <a:solidFill>
                <a:srgbClr val="8B9AB3">
                  <a:alpha val="30000"/>
                </a:srgbClr>
              </a:solidFill>
              <a:prstDash val="dash"/>
            </a:ln>
          </p:spPr>
        </p:sp>
        <p:sp>
          <p:nvSpPr>
            <p:cNvPr id="15" name="TextBox 15"/>
            <p:cNvSpPr txBox="1"/>
            <p:nvPr/>
          </p:nvSpPr>
          <p:spPr>
            <a:xfrm>
              <a:off x="2273618" y="6257449"/>
              <a:ext cx="430601" cy="198120"/>
            </a:xfrm>
            <a:prstGeom prst="rect">
              <a:avLst/>
            </a:prstGeom>
            <a:noFill/>
            <a:ln>
              <a:noFill/>
            </a:ln>
          </p:spPr>
          <p:txBody>
            <a:bodyPr wrap="none" lIns="0" tIns="0" rIns="0" bIns="0" anchor="t" anchorCtr="0">
              <a:spAutoFit/>
            </a:bodyPr>
            <a:lstStyle/>
            <a:p>
              <a:pPr algn="l"/>
              <a:r>
                <a:rPr lang="ko-KR" sz="975" dirty="0">
                  <a:solidFill>
                    <a:srgbClr val="8B9AB3"/>
                  </a:solidFill>
                  <a:latin typeface="Pretendard 700"/>
                  <a:ea typeface="Malgun Gothic"/>
                  <a:cs typeface="Pretendard 700"/>
                </a:rPr>
                <a:t>◀ 낮음</a:t>
              </a:r>
            </a:p>
          </p:txBody>
        </p:sp>
        <p:sp>
          <p:nvSpPr>
            <p:cNvPr id="16" name="TextBox 16"/>
            <p:cNvSpPr txBox="1"/>
            <p:nvPr/>
          </p:nvSpPr>
          <p:spPr>
            <a:xfrm>
              <a:off x="5873853" y="6411278"/>
              <a:ext cx="1015794" cy="213360"/>
            </a:xfrm>
            <a:prstGeom prst="rect">
              <a:avLst/>
            </a:prstGeom>
            <a:noFill/>
            <a:ln>
              <a:noFill/>
            </a:ln>
          </p:spPr>
          <p:txBody>
            <a:bodyPr wrap="none" lIns="0" tIns="0" rIns="0" bIns="0" anchor="t" anchorCtr="0">
              <a:spAutoFit/>
            </a:bodyPr>
            <a:lstStyle/>
            <a:p>
              <a:pPr algn="ctr"/>
              <a:r>
                <a:rPr lang="ko-KR" sz="1050" dirty="0">
                  <a:solidFill>
                    <a:srgbClr val="E8EEF7"/>
                  </a:solidFill>
                  <a:latin typeface="Pretendard 700"/>
                  <a:ea typeface="Malgun Gothic"/>
                  <a:cs typeface="Pretendard 700"/>
                </a:rPr>
                <a:t>AI 대체 가능성</a:t>
              </a:r>
            </a:p>
          </p:txBody>
        </p:sp>
        <p:sp>
          <p:nvSpPr>
            <p:cNvPr id="17" name="TextBox 17"/>
            <p:cNvSpPr txBox="1"/>
            <p:nvPr/>
          </p:nvSpPr>
          <p:spPr>
            <a:xfrm>
              <a:off x="10059281" y="6257449"/>
              <a:ext cx="430601" cy="198120"/>
            </a:xfrm>
            <a:prstGeom prst="rect">
              <a:avLst/>
            </a:prstGeom>
            <a:noFill/>
            <a:ln>
              <a:noFill/>
            </a:ln>
          </p:spPr>
          <p:txBody>
            <a:bodyPr wrap="none" lIns="0" tIns="0" rIns="0" bIns="0" anchor="t" anchorCtr="0">
              <a:spAutoFit/>
            </a:bodyPr>
            <a:lstStyle/>
            <a:p>
              <a:pPr algn="r"/>
              <a:r>
                <a:rPr lang="ko-KR" sz="975" dirty="0">
                  <a:solidFill>
                    <a:srgbClr val="00D9FF"/>
                  </a:solidFill>
                  <a:latin typeface="Pretendard 700"/>
                  <a:ea typeface="Malgun Gothic"/>
                  <a:cs typeface="Pretendard 700"/>
                </a:rPr>
                <a:t>높음 ▶</a:t>
              </a:r>
            </a:p>
          </p:txBody>
        </p:sp>
        <p:grpSp>
          <p:nvGrpSpPr>
            <p:cNvPr id="32" name="Group 32"/>
            <p:cNvGrpSpPr/>
            <p:nvPr/>
          </p:nvGrpSpPr>
          <p:grpSpPr>
            <a:xfrm>
              <a:off x="2381250" y="1524000"/>
              <a:ext cx="3905250" cy="2143125"/>
              <a:chOff x="2381250" y="1524000"/>
              <a:chExt cx="3905250" cy="2143125"/>
            </a:xfrm>
          </p:grpSpPr>
          <p:sp>
            <p:nvSpPr>
              <p:cNvPr id="18" name="Rectangle 18"/>
              <p:cNvSpPr/>
              <p:nvPr/>
            </p:nvSpPr>
            <p:spPr>
              <a:xfrm>
                <a:off x="2381250" y="1524000"/>
                <a:ext cx="3905250" cy="2143125"/>
              </a:xfrm>
              <a:prstGeom prst="roundRect">
                <a:avLst>
                  <a:gd name="adj" fmla="val 6222"/>
                </a:avLst>
              </a:prstGeom>
              <a:gradFill>
                <a:gsLst>
                  <a:gs pos="0">
                    <a:srgbClr val="3DDC97">
                      <a:alpha val="18000"/>
                    </a:srgbClr>
                  </a:gs>
                  <a:gs pos="100000">
                    <a:srgbClr val="3DDC97">
                      <a:alpha val="4000"/>
                    </a:srgbClr>
                  </a:gs>
                </a:gsLst>
                <a:lin ang="2700000" scaled="1"/>
              </a:gradFill>
              <a:ln w="14288">
                <a:solidFill>
                  <a:srgbClr val="3DDC97"/>
                </a:solidFill>
              </a:ln>
            </p:spPr>
          </p:sp>
          <p:grpSp>
            <p:nvGrpSpPr>
              <p:cNvPr id="21" name="Group 21"/>
              <p:cNvGrpSpPr/>
              <p:nvPr/>
            </p:nvGrpSpPr>
            <p:grpSpPr>
              <a:xfrm>
                <a:off x="2969895" y="1742599"/>
                <a:ext cx="1078135" cy="433863"/>
                <a:chOff x="2969895" y="1742599"/>
                <a:chExt cx="1078135" cy="433863"/>
              </a:xfrm>
            </p:grpSpPr>
            <p:sp>
              <p:nvSpPr>
                <p:cNvPr id="19" name="TextBox 19"/>
                <p:cNvSpPr txBox="1"/>
                <p:nvPr/>
              </p:nvSpPr>
              <p:spPr>
                <a:xfrm>
                  <a:off x="2978468" y="1742599"/>
                  <a:ext cx="722519" cy="198120"/>
                </a:xfrm>
                <a:prstGeom prst="rect">
                  <a:avLst/>
                </a:prstGeom>
                <a:noFill/>
                <a:ln>
                  <a:noFill/>
                </a:ln>
              </p:spPr>
              <p:txBody>
                <a:bodyPr wrap="none" lIns="0" tIns="0" rIns="0" bIns="0" anchor="t" anchorCtr="0">
                  <a:spAutoFit/>
                </a:bodyPr>
                <a:lstStyle/>
                <a:p>
                  <a:pPr algn="l"/>
                  <a:r>
                    <a:rPr lang="en-US" sz="975" dirty="0">
                      <a:solidFill>
                        <a:srgbClr val="3DDC97"/>
                      </a:solidFill>
                      <a:latin typeface="Pretendard 900"/>
                      <a:ea typeface="Malgun Gothic"/>
                      <a:cs typeface="Pretendard 900"/>
                    </a:rPr>
                    <a:t>SAFE ZONE</a:t>
                  </a:r>
                </a:p>
              </p:txBody>
            </p:sp>
            <p:sp>
              <p:nvSpPr>
                <p:cNvPr id="20" name="TextBox 20"/>
                <p:cNvSpPr txBox="1"/>
                <p:nvPr/>
              </p:nvSpPr>
              <p:spPr>
                <a:xfrm>
                  <a:off x="2969895" y="1841182"/>
                  <a:ext cx="1078135" cy="335280"/>
                </a:xfrm>
                <a:prstGeom prst="rect">
                  <a:avLst/>
                </a:prstGeom>
                <a:noFill/>
                <a:ln>
                  <a:noFill/>
                </a:ln>
              </p:spPr>
              <p:txBody>
                <a:bodyPr wrap="none" lIns="0" tIns="0" rIns="0" bIns="0" anchor="t" anchorCtr="0">
                  <a:spAutoFit/>
                </a:bodyPr>
                <a:lstStyle/>
                <a:p>
                  <a:pPr algn="l"/>
                  <a:r>
                    <a:rPr lang="ko-KR" sz="1650" dirty="0">
                      <a:solidFill>
                        <a:srgbClr val="E8EEF7"/>
                      </a:solidFill>
                      <a:latin typeface="Pretendard 900"/>
                      <a:ea typeface="Malgun Gothic"/>
                      <a:cs typeface="Pretendard 900"/>
                    </a:rPr>
                    <a:t>안전 지대</a:t>
                  </a:r>
                </a:p>
              </p:txBody>
            </p:sp>
          </p:grpSp>
          <p:sp>
            <p:nvSpPr>
              <p:cNvPr id="22" name="TextBox 22"/>
              <p:cNvSpPr txBox="1"/>
              <p:nvPr/>
            </p:nvSpPr>
            <p:spPr>
              <a:xfrm>
                <a:off x="2558415" y="2248852"/>
                <a:ext cx="2265616"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대체 불가, 임팩트 큼 — 사수하라</a:t>
                </a:r>
              </a:p>
            </p:txBody>
          </p:sp>
          <p:grpSp>
            <p:nvGrpSpPr>
              <p:cNvPr id="25" name="Group 25"/>
              <p:cNvGrpSpPr/>
              <p:nvPr/>
            </p:nvGrpSpPr>
            <p:grpSpPr>
              <a:xfrm>
                <a:off x="2600325" y="2566035"/>
                <a:ext cx="1859661" cy="243840"/>
                <a:chOff x="2600325" y="2566035"/>
                <a:chExt cx="1859661" cy="243840"/>
              </a:xfrm>
            </p:grpSpPr>
            <p:sp>
              <p:nvSpPr>
                <p:cNvPr id="23" name="Ellipse 23"/>
                <p:cNvSpPr/>
                <p:nvPr/>
              </p:nvSpPr>
              <p:spPr>
                <a:xfrm>
                  <a:off x="2600325" y="2619375"/>
                  <a:ext cx="57150" cy="57150"/>
                </a:xfrm>
                <a:prstGeom prst="ellipse">
                  <a:avLst/>
                </a:prstGeom>
                <a:solidFill>
                  <a:srgbClr val="3DDC97"/>
                </a:solidFill>
                <a:ln>
                  <a:noFill/>
                </a:ln>
              </p:spPr>
            </p:sp>
            <p:sp>
              <p:nvSpPr>
                <p:cNvPr id="24" name="TextBox 24"/>
                <p:cNvSpPr txBox="1"/>
                <p:nvPr/>
              </p:nvSpPr>
              <p:spPr>
                <a:xfrm>
                  <a:off x="2747010" y="2566035"/>
                  <a:ext cx="1712976"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시스템 아키텍처 설계</a:t>
                  </a:r>
                </a:p>
              </p:txBody>
            </p:sp>
          </p:grpSp>
          <p:grpSp>
            <p:nvGrpSpPr>
              <p:cNvPr id="28" name="Group 28"/>
              <p:cNvGrpSpPr/>
              <p:nvPr/>
            </p:nvGrpSpPr>
            <p:grpSpPr>
              <a:xfrm>
                <a:off x="2600325" y="2851785"/>
                <a:ext cx="2586990" cy="243840"/>
                <a:chOff x="2600325" y="2851785"/>
                <a:chExt cx="2586990" cy="243840"/>
              </a:xfrm>
            </p:grpSpPr>
            <p:sp>
              <p:nvSpPr>
                <p:cNvPr id="26" name="Ellipse 26"/>
                <p:cNvSpPr/>
                <p:nvPr/>
              </p:nvSpPr>
              <p:spPr>
                <a:xfrm>
                  <a:off x="2600325" y="2905125"/>
                  <a:ext cx="57150" cy="57150"/>
                </a:xfrm>
                <a:prstGeom prst="ellipse">
                  <a:avLst/>
                </a:prstGeom>
                <a:solidFill>
                  <a:srgbClr val="3DDC97"/>
                </a:solidFill>
                <a:ln>
                  <a:noFill/>
                </a:ln>
              </p:spPr>
            </p:sp>
            <p:sp>
              <p:nvSpPr>
                <p:cNvPr id="27" name="TextBox 27"/>
                <p:cNvSpPr txBox="1"/>
                <p:nvPr/>
              </p:nvSpPr>
              <p:spPr>
                <a:xfrm>
                  <a:off x="2747010" y="2851785"/>
                  <a:ext cx="2440305"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도메인 전문성 · 비즈니스 통찰</a:t>
                  </a:r>
                </a:p>
              </p:txBody>
            </p:sp>
          </p:grpSp>
          <p:grpSp>
            <p:nvGrpSpPr>
              <p:cNvPr id="31" name="Group 31"/>
              <p:cNvGrpSpPr/>
              <p:nvPr/>
            </p:nvGrpSpPr>
            <p:grpSpPr>
              <a:xfrm>
                <a:off x="2600325" y="3137535"/>
                <a:ext cx="2534412" cy="243840"/>
                <a:chOff x="2600325" y="3137535"/>
                <a:chExt cx="2534412" cy="243840"/>
              </a:xfrm>
            </p:grpSpPr>
            <p:sp>
              <p:nvSpPr>
                <p:cNvPr id="29" name="Ellipse 29"/>
                <p:cNvSpPr/>
                <p:nvPr/>
              </p:nvSpPr>
              <p:spPr>
                <a:xfrm>
                  <a:off x="2600325" y="3190875"/>
                  <a:ext cx="57150" cy="57150"/>
                </a:xfrm>
                <a:prstGeom prst="ellipse">
                  <a:avLst/>
                </a:prstGeom>
                <a:solidFill>
                  <a:srgbClr val="3DDC97"/>
                </a:solidFill>
                <a:ln>
                  <a:noFill/>
                </a:ln>
              </p:spPr>
            </p:sp>
            <p:sp>
              <p:nvSpPr>
                <p:cNvPr id="30" name="TextBox 30"/>
                <p:cNvSpPr txBox="1"/>
                <p:nvPr/>
              </p:nvSpPr>
              <p:spPr>
                <a:xfrm>
                  <a:off x="2747010" y="3137535"/>
                  <a:ext cx="2387727"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기술 의사결정 · 트레이드오프</a:t>
                  </a:r>
                </a:p>
              </p:txBody>
            </p:sp>
          </p:grpSp>
        </p:grpSp>
        <p:grpSp>
          <p:nvGrpSpPr>
            <p:cNvPr id="47" name="Group 47"/>
            <p:cNvGrpSpPr/>
            <p:nvPr/>
          </p:nvGrpSpPr>
          <p:grpSpPr>
            <a:xfrm>
              <a:off x="6477000" y="1524000"/>
              <a:ext cx="3905250" cy="2143125"/>
              <a:chOff x="6477000" y="1524000"/>
              <a:chExt cx="3905250" cy="2143125"/>
            </a:xfrm>
          </p:grpSpPr>
          <p:sp>
            <p:nvSpPr>
              <p:cNvPr id="33" name="Rectangle 33"/>
              <p:cNvSpPr/>
              <p:nvPr/>
            </p:nvSpPr>
            <p:spPr>
              <a:xfrm>
                <a:off x="6477000" y="1524000"/>
                <a:ext cx="3905250" cy="2143125"/>
              </a:xfrm>
              <a:prstGeom prst="roundRect">
                <a:avLst>
                  <a:gd name="adj" fmla="val 6222"/>
                </a:avLst>
              </a:prstGeom>
              <a:gradFill>
                <a:gsLst>
                  <a:gs pos="0">
                    <a:srgbClr val="00D9FF">
                      <a:alpha val="22000"/>
                    </a:srgbClr>
                  </a:gs>
                  <a:gs pos="100000">
                    <a:srgbClr val="00D9FF">
                      <a:alpha val="5000"/>
                    </a:srgbClr>
                  </a:gs>
                </a:gsLst>
                <a:lin ang="2700000" scaled="1"/>
              </a:gradFill>
              <a:ln w="14288">
                <a:solidFill>
                  <a:srgbClr val="00D9FF"/>
                </a:solidFill>
              </a:ln>
            </p:spPr>
          </p:sp>
          <p:grpSp>
            <p:nvGrpSpPr>
              <p:cNvPr id="36" name="Group 36"/>
              <p:cNvGrpSpPr/>
              <p:nvPr/>
            </p:nvGrpSpPr>
            <p:grpSpPr>
              <a:xfrm>
                <a:off x="7065645" y="1742599"/>
                <a:ext cx="1078135" cy="433863"/>
                <a:chOff x="7065645" y="1742599"/>
                <a:chExt cx="1078135" cy="433863"/>
              </a:xfrm>
            </p:grpSpPr>
            <p:sp>
              <p:nvSpPr>
                <p:cNvPr id="34" name="TextBox 34"/>
                <p:cNvSpPr txBox="1"/>
                <p:nvPr/>
              </p:nvSpPr>
              <p:spPr>
                <a:xfrm>
                  <a:off x="7074218" y="1742599"/>
                  <a:ext cx="1035796" cy="198120"/>
                </a:xfrm>
                <a:prstGeom prst="rect">
                  <a:avLst/>
                </a:prstGeom>
                <a:noFill/>
                <a:ln>
                  <a:noFill/>
                </a:ln>
              </p:spPr>
              <p:txBody>
                <a:bodyPr wrap="none" lIns="0" tIns="0" rIns="0" bIns="0" anchor="t" anchorCtr="0">
                  <a:spAutoFit/>
                </a:bodyPr>
                <a:lstStyle/>
                <a:p>
                  <a:pPr algn="l"/>
                  <a:r>
                    <a:rPr lang="en-US" sz="975" dirty="0">
                      <a:solidFill>
                        <a:srgbClr val="00D9FF"/>
                      </a:solidFill>
                      <a:latin typeface="Pretendard 900"/>
                      <a:ea typeface="Malgun Gothic"/>
                      <a:cs typeface="Pretendard 900"/>
                    </a:rPr>
                    <a:t>LEVERAGE ZONE</a:t>
                  </a:r>
                </a:p>
              </p:txBody>
            </p:sp>
            <p:sp>
              <p:nvSpPr>
                <p:cNvPr id="35" name="TextBox 35"/>
                <p:cNvSpPr txBox="1"/>
                <p:nvPr/>
              </p:nvSpPr>
              <p:spPr>
                <a:xfrm>
                  <a:off x="7065645" y="1841182"/>
                  <a:ext cx="1078135" cy="335280"/>
                </a:xfrm>
                <a:prstGeom prst="rect">
                  <a:avLst/>
                </a:prstGeom>
                <a:noFill/>
                <a:ln>
                  <a:noFill/>
                </a:ln>
              </p:spPr>
              <p:txBody>
                <a:bodyPr wrap="none" lIns="0" tIns="0" rIns="0" bIns="0" anchor="t" anchorCtr="0">
                  <a:spAutoFit/>
                </a:bodyPr>
                <a:lstStyle/>
                <a:p>
                  <a:pPr algn="l"/>
                  <a:r>
                    <a:rPr lang="ko-KR" sz="1650" dirty="0">
                      <a:solidFill>
                        <a:srgbClr val="E8EEF7"/>
                      </a:solidFill>
                      <a:latin typeface="Pretendard 900"/>
                      <a:ea typeface="Malgun Gothic"/>
                      <a:cs typeface="Pretendard 900"/>
                    </a:rPr>
                    <a:t>활용 지대</a:t>
                  </a:r>
                </a:p>
              </p:txBody>
            </p:sp>
          </p:grpSp>
          <p:sp>
            <p:nvSpPr>
              <p:cNvPr id="37" name="TextBox 37"/>
              <p:cNvSpPr txBox="1"/>
              <p:nvPr/>
            </p:nvSpPr>
            <p:spPr>
              <a:xfrm>
                <a:off x="6654165" y="2248852"/>
                <a:ext cx="2817685"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AI와 함께 임팩트 증폭 — 여기서 승부하라</a:t>
                </a:r>
              </a:p>
            </p:txBody>
          </p:sp>
          <p:grpSp>
            <p:nvGrpSpPr>
              <p:cNvPr id="40" name="Group 40"/>
              <p:cNvGrpSpPr/>
              <p:nvPr/>
            </p:nvGrpSpPr>
            <p:grpSpPr>
              <a:xfrm>
                <a:off x="6696075" y="2566035"/>
                <a:ext cx="2911221" cy="243840"/>
                <a:chOff x="6696075" y="2566035"/>
                <a:chExt cx="2911221" cy="243840"/>
              </a:xfrm>
            </p:grpSpPr>
            <p:sp>
              <p:nvSpPr>
                <p:cNvPr id="38" name="Ellipse 38"/>
                <p:cNvSpPr/>
                <p:nvPr/>
              </p:nvSpPr>
              <p:spPr>
                <a:xfrm>
                  <a:off x="6696075" y="2619375"/>
                  <a:ext cx="57150" cy="57150"/>
                </a:xfrm>
                <a:prstGeom prst="ellipse">
                  <a:avLst/>
                </a:prstGeom>
                <a:solidFill>
                  <a:srgbClr val="00D9FF"/>
                </a:solidFill>
                <a:ln>
                  <a:noFill/>
                </a:ln>
              </p:spPr>
            </p:sp>
            <p:sp>
              <p:nvSpPr>
                <p:cNvPr id="39" name="TextBox 39"/>
                <p:cNvSpPr txBox="1"/>
                <p:nvPr/>
              </p:nvSpPr>
              <p:spPr>
                <a:xfrm>
                  <a:off x="6842760" y="2566035"/>
                  <a:ext cx="2764536"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AI 오케스트레이션 · 에이전트 설계</a:t>
                  </a:r>
                </a:p>
              </p:txBody>
            </p:sp>
          </p:grpSp>
          <p:grpSp>
            <p:nvGrpSpPr>
              <p:cNvPr id="43" name="Group 43"/>
              <p:cNvGrpSpPr/>
              <p:nvPr/>
            </p:nvGrpSpPr>
            <p:grpSpPr>
              <a:xfrm>
                <a:off x="6696075" y="2851785"/>
                <a:ext cx="3112770" cy="243840"/>
                <a:chOff x="6696075" y="2851785"/>
                <a:chExt cx="3112770" cy="243840"/>
              </a:xfrm>
            </p:grpSpPr>
            <p:sp>
              <p:nvSpPr>
                <p:cNvPr id="41" name="Ellipse 41"/>
                <p:cNvSpPr/>
                <p:nvPr/>
              </p:nvSpPr>
              <p:spPr>
                <a:xfrm>
                  <a:off x="6696075" y="2905125"/>
                  <a:ext cx="57150" cy="57150"/>
                </a:xfrm>
                <a:prstGeom prst="ellipse">
                  <a:avLst/>
                </a:prstGeom>
                <a:solidFill>
                  <a:srgbClr val="00D9FF"/>
                </a:solidFill>
                <a:ln>
                  <a:noFill/>
                </a:ln>
              </p:spPr>
            </p:sp>
            <p:sp>
              <p:nvSpPr>
                <p:cNvPr id="42" name="TextBox 42"/>
                <p:cNvSpPr txBox="1"/>
                <p:nvPr/>
              </p:nvSpPr>
              <p:spPr>
                <a:xfrm>
                  <a:off x="6842760" y="2851785"/>
                  <a:ext cx="2966085"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프롬프트 엔지니어링 · 컨텍스트 설계</a:t>
                  </a:r>
                </a:p>
              </p:txBody>
            </p:sp>
          </p:grpSp>
          <p:grpSp>
            <p:nvGrpSpPr>
              <p:cNvPr id="46" name="Group 46"/>
              <p:cNvGrpSpPr/>
              <p:nvPr/>
            </p:nvGrpSpPr>
            <p:grpSpPr>
              <a:xfrm>
                <a:off x="6696075" y="3137535"/>
                <a:ext cx="2236470" cy="243840"/>
                <a:chOff x="6696075" y="3137535"/>
                <a:chExt cx="2236470" cy="243840"/>
              </a:xfrm>
            </p:grpSpPr>
            <p:sp>
              <p:nvSpPr>
                <p:cNvPr id="44" name="Ellipse 44"/>
                <p:cNvSpPr/>
                <p:nvPr/>
              </p:nvSpPr>
              <p:spPr>
                <a:xfrm>
                  <a:off x="6696075" y="3190875"/>
                  <a:ext cx="57150" cy="57150"/>
                </a:xfrm>
                <a:prstGeom prst="ellipse">
                  <a:avLst/>
                </a:prstGeom>
                <a:solidFill>
                  <a:srgbClr val="00D9FF"/>
                </a:solidFill>
                <a:ln>
                  <a:noFill/>
                </a:ln>
              </p:spPr>
            </p:sp>
            <p:sp>
              <p:nvSpPr>
                <p:cNvPr id="45" name="TextBox 45"/>
                <p:cNvSpPr txBox="1"/>
                <p:nvPr/>
              </p:nvSpPr>
              <p:spPr>
                <a:xfrm>
                  <a:off x="6842760" y="3137535"/>
                  <a:ext cx="2089785"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평가 · 검증 · AI 품질 관리</a:t>
                  </a:r>
                </a:p>
              </p:txBody>
            </p:sp>
          </p:grpSp>
        </p:grpSp>
        <p:grpSp>
          <p:nvGrpSpPr>
            <p:cNvPr id="62" name="Group 62"/>
            <p:cNvGrpSpPr/>
            <p:nvPr/>
          </p:nvGrpSpPr>
          <p:grpSpPr>
            <a:xfrm>
              <a:off x="2381250" y="3857625"/>
              <a:ext cx="3905250" cy="2143125"/>
              <a:chOff x="2381250" y="3857625"/>
              <a:chExt cx="3905250" cy="2143125"/>
            </a:xfrm>
          </p:grpSpPr>
          <p:sp>
            <p:nvSpPr>
              <p:cNvPr id="48" name="Rectangle 48"/>
              <p:cNvSpPr/>
              <p:nvPr/>
            </p:nvSpPr>
            <p:spPr>
              <a:xfrm>
                <a:off x="2381250" y="3857625"/>
                <a:ext cx="3905250" cy="2143125"/>
              </a:xfrm>
              <a:prstGeom prst="roundRect">
                <a:avLst>
                  <a:gd name="adj" fmla="val 6222"/>
                </a:avLst>
              </a:prstGeom>
              <a:gradFill>
                <a:gsLst>
                  <a:gs pos="0">
                    <a:srgbClr val="FFB627">
                      <a:alpha val="18000"/>
                    </a:srgbClr>
                  </a:gs>
                  <a:gs pos="100000">
                    <a:srgbClr val="FFB627">
                      <a:alpha val="4000"/>
                    </a:srgbClr>
                  </a:gs>
                </a:gsLst>
                <a:lin ang="2700000" scaled="1"/>
              </a:gradFill>
              <a:ln w="14288">
                <a:solidFill>
                  <a:srgbClr val="FFB627"/>
                </a:solidFill>
              </a:ln>
            </p:spPr>
          </p:sp>
          <p:grpSp>
            <p:nvGrpSpPr>
              <p:cNvPr id="51" name="Group 51"/>
              <p:cNvGrpSpPr/>
              <p:nvPr/>
            </p:nvGrpSpPr>
            <p:grpSpPr>
              <a:xfrm>
                <a:off x="2969895" y="4076224"/>
                <a:ext cx="1319117" cy="433864"/>
                <a:chOff x="2969895" y="4076224"/>
                <a:chExt cx="1319117" cy="433864"/>
              </a:xfrm>
            </p:grpSpPr>
            <p:sp>
              <p:nvSpPr>
                <p:cNvPr id="49" name="TextBox 49"/>
                <p:cNvSpPr txBox="1"/>
                <p:nvPr/>
              </p:nvSpPr>
              <p:spPr>
                <a:xfrm>
                  <a:off x="2978468" y="4076224"/>
                  <a:ext cx="921877" cy="198120"/>
                </a:xfrm>
                <a:prstGeom prst="rect">
                  <a:avLst/>
                </a:prstGeom>
                <a:noFill/>
                <a:ln>
                  <a:noFill/>
                </a:ln>
              </p:spPr>
              <p:txBody>
                <a:bodyPr wrap="none" lIns="0" tIns="0" rIns="0" bIns="0" anchor="t" anchorCtr="0">
                  <a:spAutoFit/>
                </a:bodyPr>
                <a:lstStyle/>
                <a:p>
                  <a:pPr algn="l"/>
                  <a:r>
                    <a:rPr lang="en-US" sz="975" dirty="0">
                      <a:solidFill>
                        <a:srgbClr val="FFB627"/>
                      </a:solidFill>
                      <a:latin typeface="Pretendard 900"/>
                      <a:ea typeface="Malgun Gothic"/>
                      <a:cs typeface="Pretendard 900"/>
                    </a:rPr>
                    <a:t>RESKILL ZONE</a:t>
                  </a:r>
                </a:p>
              </p:txBody>
            </p:sp>
            <p:sp>
              <p:nvSpPr>
                <p:cNvPr id="50" name="TextBox 50"/>
                <p:cNvSpPr txBox="1"/>
                <p:nvPr/>
              </p:nvSpPr>
              <p:spPr>
                <a:xfrm>
                  <a:off x="2969895" y="4174808"/>
                  <a:ext cx="1319117" cy="335280"/>
                </a:xfrm>
                <a:prstGeom prst="rect">
                  <a:avLst/>
                </a:prstGeom>
                <a:noFill/>
                <a:ln>
                  <a:noFill/>
                </a:ln>
              </p:spPr>
              <p:txBody>
                <a:bodyPr wrap="none" lIns="0" tIns="0" rIns="0" bIns="0" anchor="t" anchorCtr="0">
                  <a:spAutoFit/>
                </a:bodyPr>
                <a:lstStyle/>
                <a:p>
                  <a:pPr algn="l"/>
                  <a:r>
                    <a:rPr lang="ko-KR" sz="1650" dirty="0">
                      <a:solidFill>
                        <a:srgbClr val="E8EEF7"/>
                      </a:solidFill>
                      <a:latin typeface="Pretendard 900"/>
                      <a:ea typeface="Malgun Gothic"/>
                      <a:cs typeface="Pretendard 900"/>
                    </a:rPr>
                    <a:t>재교육 필요</a:t>
                  </a:r>
                </a:p>
              </p:txBody>
            </p:sp>
          </p:grpSp>
          <p:sp>
            <p:nvSpPr>
              <p:cNvPr id="52" name="TextBox 52"/>
              <p:cNvSpPr txBox="1"/>
              <p:nvPr/>
            </p:nvSpPr>
            <p:spPr>
              <a:xfrm>
                <a:off x="2558415" y="4582478"/>
                <a:ext cx="3040047"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대체는 어렵지만 가치 하락 — 방향 전환 시급</a:t>
                </a:r>
              </a:p>
            </p:txBody>
          </p:sp>
          <p:grpSp>
            <p:nvGrpSpPr>
              <p:cNvPr id="55" name="Group 55"/>
              <p:cNvGrpSpPr/>
              <p:nvPr/>
            </p:nvGrpSpPr>
            <p:grpSpPr>
              <a:xfrm>
                <a:off x="2600325" y="4899660"/>
                <a:ext cx="2446782" cy="243840"/>
                <a:chOff x="2600325" y="4899660"/>
                <a:chExt cx="2446782" cy="243840"/>
              </a:xfrm>
            </p:grpSpPr>
            <p:sp>
              <p:nvSpPr>
                <p:cNvPr id="53" name="Ellipse 53"/>
                <p:cNvSpPr/>
                <p:nvPr/>
              </p:nvSpPr>
              <p:spPr>
                <a:xfrm>
                  <a:off x="2600325" y="4953000"/>
                  <a:ext cx="57150" cy="57150"/>
                </a:xfrm>
                <a:prstGeom prst="ellipse">
                  <a:avLst/>
                </a:prstGeom>
                <a:solidFill>
                  <a:srgbClr val="FFB627"/>
                </a:solidFill>
                <a:ln>
                  <a:noFill/>
                </a:ln>
              </p:spPr>
            </p:sp>
            <p:sp>
              <p:nvSpPr>
                <p:cNvPr id="54" name="TextBox 54"/>
                <p:cNvSpPr txBox="1"/>
                <p:nvPr/>
              </p:nvSpPr>
              <p:spPr>
                <a:xfrm>
                  <a:off x="2747010" y="4899660"/>
                  <a:ext cx="2300097"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단순 CRUD · 게시판형 백엔드</a:t>
                  </a:r>
                </a:p>
              </p:txBody>
            </p:sp>
          </p:grpSp>
          <p:grpSp>
            <p:nvGrpSpPr>
              <p:cNvPr id="58" name="Group 58"/>
              <p:cNvGrpSpPr/>
              <p:nvPr/>
            </p:nvGrpSpPr>
            <p:grpSpPr>
              <a:xfrm>
                <a:off x="2600325" y="5185410"/>
                <a:ext cx="2613279" cy="243840"/>
                <a:chOff x="2600325" y="5185410"/>
                <a:chExt cx="2613279" cy="243840"/>
              </a:xfrm>
            </p:grpSpPr>
            <p:sp>
              <p:nvSpPr>
                <p:cNvPr id="56" name="Ellipse 56"/>
                <p:cNvSpPr/>
                <p:nvPr/>
              </p:nvSpPr>
              <p:spPr>
                <a:xfrm>
                  <a:off x="2600325" y="5238750"/>
                  <a:ext cx="57150" cy="57150"/>
                </a:xfrm>
                <a:prstGeom prst="ellipse">
                  <a:avLst/>
                </a:prstGeom>
                <a:solidFill>
                  <a:srgbClr val="FFB627"/>
                </a:solidFill>
                <a:ln>
                  <a:noFill/>
                </a:ln>
              </p:spPr>
            </p:sp>
            <p:sp>
              <p:nvSpPr>
                <p:cNvPr id="57" name="TextBox 57"/>
                <p:cNvSpPr txBox="1"/>
                <p:nvPr/>
              </p:nvSpPr>
              <p:spPr>
                <a:xfrm>
                  <a:off x="2747010" y="5185410"/>
                  <a:ext cx="2466594"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정형 UI 컴포넌트 · 반복 마크업</a:t>
                  </a:r>
                </a:p>
              </p:txBody>
            </p:sp>
          </p:grpSp>
          <p:grpSp>
            <p:nvGrpSpPr>
              <p:cNvPr id="61" name="Group 61"/>
              <p:cNvGrpSpPr/>
              <p:nvPr/>
            </p:nvGrpSpPr>
            <p:grpSpPr>
              <a:xfrm>
                <a:off x="2600325" y="5471160"/>
                <a:ext cx="2210181" cy="243840"/>
                <a:chOff x="2600325" y="5471160"/>
                <a:chExt cx="2210181" cy="243840"/>
              </a:xfrm>
            </p:grpSpPr>
            <p:sp>
              <p:nvSpPr>
                <p:cNvPr id="59" name="Ellipse 59"/>
                <p:cNvSpPr/>
                <p:nvPr/>
              </p:nvSpPr>
              <p:spPr>
                <a:xfrm>
                  <a:off x="2600325" y="5524500"/>
                  <a:ext cx="57150" cy="57150"/>
                </a:xfrm>
                <a:prstGeom prst="ellipse">
                  <a:avLst/>
                </a:prstGeom>
                <a:solidFill>
                  <a:srgbClr val="FFB627"/>
                </a:solidFill>
                <a:ln>
                  <a:noFill/>
                </a:ln>
              </p:spPr>
            </p:sp>
            <p:sp>
              <p:nvSpPr>
                <p:cNvPr id="60" name="TextBox 60"/>
                <p:cNvSpPr txBox="1"/>
                <p:nvPr/>
              </p:nvSpPr>
              <p:spPr>
                <a:xfrm>
                  <a:off x="2747010" y="5471160"/>
                  <a:ext cx="2063496"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표준 보일러플레이트 작성</a:t>
                  </a:r>
                </a:p>
              </p:txBody>
            </p:sp>
          </p:grpSp>
        </p:grpSp>
        <p:grpSp>
          <p:nvGrpSpPr>
            <p:cNvPr id="77" name="Group 77"/>
            <p:cNvGrpSpPr/>
            <p:nvPr/>
          </p:nvGrpSpPr>
          <p:grpSpPr>
            <a:xfrm>
              <a:off x="6477000" y="3857625"/>
              <a:ext cx="3905250" cy="2143125"/>
              <a:chOff x="6477000" y="3857625"/>
              <a:chExt cx="3905250" cy="2143125"/>
            </a:xfrm>
          </p:grpSpPr>
          <p:sp>
            <p:nvSpPr>
              <p:cNvPr id="63" name="Rectangle 63"/>
              <p:cNvSpPr/>
              <p:nvPr/>
            </p:nvSpPr>
            <p:spPr>
              <a:xfrm>
                <a:off x="6477000" y="3857625"/>
                <a:ext cx="3905250" cy="2143125"/>
              </a:xfrm>
              <a:prstGeom prst="roundRect">
                <a:avLst>
                  <a:gd name="adj" fmla="val 6222"/>
                </a:avLst>
              </a:prstGeom>
              <a:gradFill>
                <a:gsLst>
                  <a:gs pos="0">
                    <a:srgbClr val="FF3D5A">
                      <a:alpha val="20000"/>
                    </a:srgbClr>
                  </a:gs>
                  <a:gs pos="100000">
                    <a:srgbClr val="FF3D5A">
                      <a:alpha val="5000"/>
                    </a:srgbClr>
                  </a:gs>
                </a:gsLst>
                <a:lin ang="2700000" scaled="1"/>
              </a:gradFill>
              <a:ln w="14288">
                <a:solidFill>
                  <a:srgbClr val="FF3D5A"/>
                </a:solidFill>
              </a:ln>
            </p:spPr>
          </p:sp>
          <p:grpSp>
            <p:nvGrpSpPr>
              <p:cNvPr id="66" name="Group 66"/>
              <p:cNvGrpSpPr/>
              <p:nvPr/>
            </p:nvGrpSpPr>
            <p:grpSpPr>
              <a:xfrm>
                <a:off x="7065645" y="4076224"/>
                <a:ext cx="1078135" cy="433864"/>
                <a:chOff x="7065645" y="4076224"/>
                <a:chExt cx="1078135" cy="433864"/>
              </a:xfrm>
            </p:grpSpPr>
            <p:sp>
              <p:nvSpPr>
                <p:cNvPr id="64" name="TextBox 64"/>
                <p:cNvSpPr txBox="1"/>
                <p:nvPr/>
              </p:nvSpPr>
              <p:spPr>
                <a:xfrm>
                  <a:off x="7074218" y="4076224"/>
                  <a:ext cx="793718" cy="198120"/>
                </a:xfrm>
                <a:prstGeom prst="rect">
                  <a:avLst/>
                </a:prstGeom>
                <a:noFill/>
                <a:ln>
                  <a:noFill/>
                </a:ln>
              </p:spPr>
              <p:txBody>
                <a:bodyPr wrap="none" lIns="0" tIns="0" rIns="0" bIns="0" anchor="t" anchorCtr="0">
                  <a:spAutoFit/>
                </a:bodyPr>
                <a:lstStyle/>
                <a:p>
                  <a:pPr algn="l"/>
                  <a:r>
                    <a:rPr lang="en-US" sz="975" dirty="0">
                      <a:solidFill>
                        <a:srgbClr val="FF3D5A"/>
                      </a:solidFill>
                      <a:latin typeface="Pretendard 900"/>
                      <a:ea typeface="Malgun Gothic"/>
                      <a:cs typeface="Pretendard 900"/>
                    </a:rPr>
                    <a:t>AVOID ZONE</a:t>
                  </a:r>
                </a:p>
              </p:txBody>
            </p:sp>
            <p:sp>
              <p:nvSpPr>
                <p:cNvPr id="65" name="TextBox 65"/>
                <p:cNvSpPr txBox="1"/>
                <p:nvPr/>
              </p:nvSpPr>
              <p:spPr>
                <a:xfrm>
                  <a:off x="7065645" y="4174808"/>
                  <a:ext cx="1078135" cy="335280"/>
                </a:xfrm>
                <a:prstGeom prst="rect">
                  <a:avLst/>
                </a:prstGeom>
                <a:noFill/>
                <a:ln>
                  <a:noFill/>
                </a:ln>
              </p:spPr>
              <p:txBody>
                <a:bodyPr wrap="none" lIns="0" tIns="0" rIns="0" bIns="0" anchor="t" anchorCtr="0">
                  <a:spAutoFit/>
                </a:bodyPr>
                <a:lstStyle/>
                <a:p>
                  <a:pPr algn="l"/>
                  <a:r>
                    <a:rPr lang="ko-KR" sz="1650" dirty="0">
                      <a:solidFill>
                        <a:srgbClr val="E8EEF7"/>
                      </a:solidFill>
                      <a:latin typeface="Pretendard 900"/>
                      <a:ea typeface="Malgun Gothic"/>
                      <a:cs typeface="Pretendard 900"/>
                    </a:rPr>
                    <a:t>회피 지대</a:t>
                  </a:r>
                </a:p>
              </p:txBody>
            </p:sp>
          </p:grpSp>
          <p:sp>
            <p:nvSpPr>
              <p:cNvPr id="67" name="TextBox 67"/>
              <p:cNvSpPr txBox="1"/>
              <p:nvPr/>
            </p:nvSpPr>
            <p:spPr>
              <a:xfrm>
                <a:off x="6654165" y="4582478"/>
                <a:ext cx="2641330" cy="213360"/>
              </a:xfrm>
              <a:prstGeom prst="rect">
                <a:avLst/>
              </a:prstGeom>
              <a:noFill/>
              <a:ln>
                <a:noFill/>
              </a:ln>
            </p:spPr>
            <p:txBody>
              <a:bodyPr wrap="none" lIns="0" tIns="0" rIns="0" bIns="0" anchor="t" anchorCtr="0">
                <a:spAutoFit/>
              </a:bodyPr>
              <a:lstStyle/>
              <a:p>
                <a:pPr algn="l"/>
                <a:r>
                  <a:rPr lang="ko-KR" sz="1050" dirty="0">
                    <a:solidFill>
                      <a:srgbClr val="8B9AB3"/>
                    </a:solidFill>
                    <a:latin typeface="Pretendard 400"/>
                    <a:ea typeface="Malgun Gothic"/>
                    <a:cs typeface="Pretendard 400"/>
                  </a:rPr>
                  <a:t>완전 자동화 임박 — 머무르면 사라진다</a:t>
                </a:r>
              </a:p>
            </p:txBody>
          </p:sp>
          <p:grpSp>
            <p:nvGrpSpPr>
              <p:cNvPr id="70" name="Group 70"/>
              <p:cNvGrpSpPr/>
              <p:nvPr/>
            </p:nvGrpSpPr>
            <p:grpSpPr>
              <a:xfrm>
                <a:off x="6696075" y="4899660"/>
                <a:ext cx="2341626" cy="243840"/>
                <a:chOff x="6696075" y="4899660"/>
                <a:chExt cx="2341626" cy="243840"/>
              </a:xfrm>
            </p:grpSpPr>
            <p:sp>
              <p:nvSpPr>
                <p:cNvPr id="68" name="Ellipse 68"/>
                <p:cNvSpPr/>
                <p:nvPr/>
              </p:nvSpPr>
              <p:spPr>
                <a:xfrm>
                  <a:off x="6696075" y="4953000"/>
                  <a:ext cx="57150" cy="57150"/>
                </a:xfrm>
                <a:prstGeom prst="ellipse">
                  <a:avLst/>
                </a:prstGeom>
                <a:solidFill>
                  <a:srgbClr val="FF3D5A"/>
                </a:solidFill>
                <a:ln>
                  <a:noFill/>
                </a:ln>
              </p:spPr>
            </p:sp>
            <p:sp>
              <p:nvSpPr>
                <p:cNvPr id="69" name="TextBox 69"/>
                <p:cNvSpPr txBox="1"/>
                <p:nvPr/>
              </p:nvSpPr>
              <p:spPr>
                <a:xfrm>
                  <a:off x="6842760" y="4899660"/>
                  <a:ext cx="2194941"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수동 회귀 테스트 · 단순 QA</a:t>
                  </a:r>
                </a:p>
              </p:txBody>
            </p:sp>
          </p:grpSp>
          <p:grpSp>
            <p:nvGrpSpPr>
              <p:cNvPr id="73" name="Group 73"/>
              <p:cNvGrpSpPr/>
              <p:nvPr/>
            </p:nvGrpSpPr>
            <p:grpSpPr>
              <a:xfrm>
                <a:off x="6696075" y="5185410"/>
                <a:ext cx="3165348" cy="243840"/>
                <a:chOff x="6696075" y="5185410"/>
                <a:chExt cx="3165348" cy="243840"/>
              </a:xfrm>
            </p:grpSpPr>
            <p:sp>
              <p:nvSpPr>
                <p:cNvPr id="71" name="Ellipse 71"/>
                <p:cNvSpPr/>
                <p:nvPr/>
              </p:nvSpPr>
              <p:spPr>
                <a:xfrm>
                  <a:off x="6696075" y="5238750"/>
                  <a:ext cx="57150" cy="57150"/>
                </a:xfrm>
                <a:prstGeom prst="ellipse">
                  <a:avLst/>
                </a:prstGeom>
                <a:solidFill>
                  <a:srgbClr val="FF3D5A"/>
                </a:solidFill>
                <a:ln>
                  <a:noFill/>
                </a:ln>
              </p:spPr>
            </p:sp>
            <p:sp>
              <p:nvSpPr>
                <p:cNvPr id="72" name="TextBox 72"/>
                <p:cNvSpPr txBox="1"/>
                <p:nvPr/>
              </p:nvSpPr>
              <p:spPr>
                <a:xfrm>
                  <a:off x="6842760" y="5185410"/>
                  <a:ext cx="3018663"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반복 코드 변환 · 마이그레이션 노가다</a:t>
                  </a:r>
                </a:p>
              </p:txBody>
            </p:sp>
          </p:grpSp>
          <p:grpSp>
            <p:nvGrpSpPr>
              <p:cNvPr id="76" name="Group 76"/>
              <p:cNvGrpSpPr/>
              <p:nvPr/>
            </p:nvGrpSpPr>
            <p:grpSpPr>
              <a:xfrm>
                <a:off x="6696075" y="5471160"/>
                <a:ext cx="2639568" cy="243840"/>
                <a:chOff x="6696075" y="5471160"/>
                <a:chExt cx="2639568" cy="243840"/>
              </a:xfrm>
            </p:grpSpPr>
            <p:sp>
              <p:nvSpPr>
                <p:cNvPr id="74" name="Ellipse 74"/>
                <p:cNvSpPr/>
                <p:nvPr/>
              </p:nvSpPr>
              <p:spPr>
                <a:xfrm>
                  <a:off x="6696075" y="5524500"/>
                  <a:ext cx="57150" cy="57150"/>
                </a:xfrm>
                <a:prstGeom prst="ellipse">
                  <a:avLst/>
                </a:prstGeom>
                <a:solidFill>
                  <a:srgbClr val="FF3D5A"/>
                </a:solidFill>
                <a:ln>
                  <a:noFill/>
                </a:ln>
              </p:spPr>
            </p:sp>
            <p:sp>
              <p:nvSpPr>
                <p:cNvPr id="75" name="TextBox 75"/>
                <p:cNvSpPr txBox="1"/>
                <p:nvPr/>
              </p:nvSpPr>
              <p:spPr>
                <a:xfrm>
                  <a:off x="6842760" y="5471160"/>
                  <a:ext cx="2492883"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템플릿 기반 문서 · 정형 보고서</a:t>
                  </a:r>
                </a:p>
              </p:txBody>
            </p:sp>
          </p:grpSp>
        </p:grpSp>
      </p:grpSp>
      <p:grpSp>
        <p:nvGrpSpPr>
          <p:cNvPr id="81" name="Group 81"/>
          <p:cNvGrpSpPr/>
          <p:nvPr/>
        </p:nvGrpSpPr>
        <p:grpSpPr>
          <a:xfrm>
            <a:off x="609600" y="6665595"/>
            <a:ext cx="5296757" cy="182880"/>
            <a:chOff x="609600" y="6665595"/>
            <a:chExt cx="5296757" cy="182880"/>
          </a:xfrm>
        </p:grpSpPr>
        <p:sp>
          <p:nvSpPr>
            <p:cNvPr id="79" name="Rectangle 79"/>
            <p:cNvSpPr/>
            <p:nvPr/>
          </p:nvSpPr>
          <p:spPr>
            <a:xfrm>
              <a:off x="609600" y="6667500"/>
              <a:ext cx="57150" cy="114300"/>
            </a:xfrm>
            <a:prstGeom prst="rect">
              <a:avLst/>
            </a:prstGeom>
            <a:solidFill>
              <a:srgbClr val="00D9FF"/>
            </a:solidFill>
            <a:ln>
              <a:noFill/>
            </a:ln>
          </p:spPr>
        </p:sp>
        <p:sp>
          <p:nvSpPr>
            <p:cNvPr id="80" name="TextBox 80"/>
            <p:cNvSpPr txBox="1"/>
            <p:nvPr/>
          </p:nvSpPr>
          <p:spPr>
            <a:xfrm>
              <a:off x="750570" y="6665595"/>
              <a:ext cx="5155787" cy="182880"/>
            </a:xfrm>
            <a:prstGeom prst="rect">
              <a:avLst/>
            </a:prstGeom>
            <a:noFill/>
            <a:ln>
              <a:noFill/>
            </a:ln>
          </p:spPr>
          <p:txBody>
            <a:bodyPr wrap="none" lIns="0" tIns="0" rIns="0" bIns="0" anchor="t" anchorCtr="0">
              <a:spAutoFit/>
            </a:bodyPr>
            <a:lstStyle/>
            <a:p>
              <a:pPr algn="l"/>
              <a:r>
                <a:rPr lang="ko-KR" sz="900" dirty="0">
                  <a:solidFill>
                    <a:srgbClr val="8B9AB3"/>
                  </a:solidFill>
                  <a:latin typeface="Pretendard 400"/>
                  <a:ea typeface="Malgun Gothic"/>
                  <a:cs typeface="Pretendard 400"/>
                </a:rPr>
                <a:t>행동 원칙 — 좌상에서 사수하고, 우상으로 확장하라. 좌하는 재설계, 우하는 즉시 이탈.</a:t>
              </a:r>
            </a:p>
          </p:txBody>
        </p:sp>
      </p:grpSp>
    </p:spTree>
  </p:cSld>
  <p:clrMapOvr>
    <a:masterClrMapping/>
  </p:clrMapOvr>
  <p:transition xmlns:p14="http://schemas.microsoft.com/office/powerpoint/2010/main" p14:dur="5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1628"/>
          </a:solidFill>
          <a:ln>
            <a:noFill/>
          </a:ln>
        </p:spPr>
      </p:sp>
      <p:sp>
        <p:nvSpPr>
          <p:cNvPr id="3" name="Rectangle 3"/>
          <p:cNvSpPr/>
          <p:nvPr/>
        </p:nvSpPr>
        <p:spPr>
          <a:xfrm>
            <a:off x="0" y="0"/>
            <a:ext cx="12192000" cy="38100"/>
          </a:xfrm>
          <a:prstGeom prst="rect">
            <a:avLst/>
          </a:prstGeom>
          <a:solidFill>
            <a:srgbClr val="00D9FF">
              <a:alpha val="60000"/>
            </a:srgbClr>
          </a:solidFill>
          <a:ln>
            <a:noFill/>
          </a:ln>
        </p:spPr>
      </p:sp>
      <p:sp>
        <p:nvSpPr>
          <p:cNvPr id="4" name="TextBox 4"/>
          <p:cNvSpPr txBox="1"/>
          <p:nvPr/>
        </p:nvSpPr>
        <p:spPr>
          <a:xfrm>
            <a:off x="746760" y="632460"/>
            <a:ext cx="1905762" cy="243840"/>
          </a:xfrm>
          <a:prstGeom prst="rect">
            <a:avLst/>
          </a:prstGeom>
          <a:noFill/>
          <a:ln>
            <a:noFill/>
          </a:ln>
        </p:spPr>
        <p:txBody>
          <a:bodyPr wrap="none" lIns="0" tIns="0" rIns="0" bIns="0" anchor="t" anchorCtr="0">
            <a:spAutoFit/>
          </a:bodyPr>
          <a:lstStyle/>
          <a:p>
            <a:pPr algn="l"/>
            <a:r>
              <a:rPr lang="en-US" sz="1200" dirty="0">
                <a:solidFill>
                  <a:srgbClr val="8B9AB3"/>
                </a:solidFill>
                <a:latin typeface="Pretendard 400"/>
                <a:ea typeface="Malgun Gothic"/>
                <a:cs typeface="Pretendard 400"/>
              </a:rPr>
              <a:t>PART 05 — THE HORIZON</a:t>
            </a:r>
          </a:p>
        </p:txBody>
      </p:sp>
      <p:sp>
        <p:nvSpPr>
          <p:cNvPr id="5" name="TextBox 5"/>
          <p:cNvSpPr txBox="1"/>
          <p:nvPr/>
        </p:nvSpPr>
        <p:spPr>
          <a:xfrm>
            <a:off x="708660" y="832485"/>
            <a:ext cx="4711856" cy="853440"/>
          </a:xfrm>
          <a:prstGeom prst="rect">
            <a:avLst/>
          </a:prstGeom>
          <a:noFill/>
          <a:ln>
            <a:noFill/>
          </a:ln>
        </p:spPr>
        <p:txBody>
          <a:bodyPr wrap="none" lIns="0" tIns="0" rIns="0" bIns="0" anchor="t" anchorCtr="0">
            <a:spAutoFit/>
          </a:bodyPr>
          <a:lstStyle/>
          <a:p>
            <a:pPr algn="l"/>
            <a:r>
              <a:rPr lang="ko-KR" sz="4200" b="1" dirty="0">
                <a:solidFill>
                  <a:srgbClr val="E8EEF7"/>
                </a:solidFill>
                <a:latin typeface="Pretendard 900"/>
                <a:ea typeface="Malgun Gothic"/>
                <a:cs typeface="Pretendard 900"/>
              </a:rPr>
              <a:t>5가지 행동 강령</a:t>
            </a:r>
          </a:p>
        </p:txBody>
      </p:sp>
      <p:sp>
        <p:nvSpPr>
          <p:cNvPr id="6" name="TextBox 6"/>
          <p:cNvSpPr txBox="1"/>
          <p:nvPr/>
        </p:nvSpPr>
        <p:spPr>
          <a:xfrm>
            <a:off x="742950" y="1504950"/>
            <a:ext cx="4561999" cy="304800"/>
          </a:xfrm>
          <a:prstGeom prst="rect">
            <a:avLst/>
          </a:prstGeom>
          <a:noFill/>
          <a:ln>
            <a:noFill/>
          </a:ln>
        </p:spPr>
        <p:txBody>
          <a:bodyPr wrap="none" lIns="0" tIns="0" rIns="0" bIns="0" anchor="t" anchorCtr="0">
            <a:spAutoFit/>
          </a:bodyPr>
          <a:lstStyle/>
          <a:p>
            <a:pPr algn="l"/>
            <a:r>
              <a:rPr lang="ko-KR" sz="1500" dirty="0">
                <a:solidFill>
                  <a:srgbClr val="8B9AB3"/>
                </a:solidFill>
                <a:latin typeface="Pretendard 400"/>
                <a:ea typeface="Malgun Gothic"/>
                <a:cs typeface="Pretendard 400"/>
              </a:rPr>
              <a:t>지금 당장, 월요일 아침부터 시작할 수 있는 것</a:t>
            </a:r>
          </a:p>
        </p:txBody>
      </p:sp>
      <p:sp>
        <p:nvSpPr>
          <p:cNvPr id="7" name="Rectangle 7"/>
          <p:cNvSpPr/>
          <p:nvPr/>
        </p:nvSpPr>
        <p:spPr>
          <a:xfrm>
            <a:off x="762000" y="1857375"/>
            <a:ext cx="762000" cy="28575"/>
          </a:xfrm>
          <a:prstGeom prst="rect">
            <a:avLst/>
          </a:prstGeom>
          <a:solidFill>
            <a:srgbClr val="00D9FF"/>
          </a:solidFill>
          <a:ln>
            <a:noFill/>
          </a:ln>
        </p:spPr>
      </p:sp>
      <p:sp>
        <p:nvSpPr>
          <p:cNvPr id="8" name="Rectangle 8"/>
          <p:cNvSpPr/>
          <p:nvPr/>
        </p:nvSpPr>
        <p:spPr>
          <a:xfrm>
            <a:off x="762000" y="2286000"/>
            <a:ext cx="3524250" cy="1905000"/>
          </a:xfrm>
          <a:prstGeom prst="roundRect">
            <a:avLst>
              <a:gd name="adj" fmla="val 6000"/>
            </a:avLst>
          </a:prstGeom>
          <a:solidFill>
            <a:srgbClr val="13243B"/>
          </a:solidFill>
          <a:ln>
            <a:noFill/>
          </a:ln>
        </p:spPr>
      </p:sp>
      <p:sp>
        <p:nvSpPr>
          <p:cNvPr id="9" name="Rectangle 9"/>
          <p:cNvSpPr/>
          <p:nvPr/>
        </p:nvSpPr>
        <p:spPr>
          <a:xfrm>
            <a:off x="762000" y="2286000"/>
            <a:ext cx="38100" cy="1905000"/>
          </a:xfrm>
          <a:prstGeom prst="rect">
            <a:avLst/>
          </a:prstGeom>
          <a:solidFill>
            <a:srgbClr val="00D9FF"/>
          </a:solidFill>
          <a:ln>
            <a:noFill/>
          </a:ln>
        </p:spPr>
      </p:sp>
      <p:sp>
        <p:nvSpPr>
          <p:cNvPr id="10" name="TextBox 10"/>
          <p:cNvSpPr txBox="1"/>
          <p:nvPr/>
        </p:nvSpPr>
        <p:spPr>
          <a:xfrm>
            <a:off x="986790" y="2329815"/>
            <a:ext cx="513974" cy="670560"/>
          </a:xfrm>
          <a:prstGeom prst="rect">
            <a:avLst/>
          </a:prstGeom>
          <a:noFill/>
          <a:ln>
            <a:noFill/>
          </a:ln>
        </p:spPr>
        <p:txBody>
          <a:bodyPr wrap="none" lIns="0" tIns="0" rIns="0" bIns="0" anchor="t" anchorCtr="0">
            <a:spAutoFit/>
          </a:bodyPr>
          <a:lstStyle/>
          <a:p>
            <a:pPr algn="l"/>
            <a:r>
              <a:rPr lang="en-US" sz="3300" b="1" dirty="0">
                <a:solidFill>
                  <a:srgbClr val="00D9FF">
                    <a:alphaMod val="40000"/>
                  </a:srgbClr>
                </a:solidFill>
                <a:latin typeface="Arial Black"/>
                <a:ea typeface="Malgun Gothic"/>
                <a:cs typeface="Arial Black"/>
              </a:rPr>
              <a:t>01</a:t>
            </a:r>
          </a:p>
        </p:txBody>
      </p:sp>
      <p:sp>
        <p:nvSpPr>
          <p:cNvPr id="11" name="TextBox 11"/>
          <p:cNvSpPr txBox="1"/>
          <p:nvPr/>
        </p:nvSpPr>
        <p:spPr>
          <a:xfrm>
            <a:off x="1693545" y="2507932"/>
            <a:ext cx="1926996"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700"/>
                <a:ea typeface="Malgun Gothic"/>
                <a:cs typeface="Pretendard 700"/>
              </a:rPr>
              <a:t>AI를 도구가 아닌</a:t>
            </a:r>
          </a:p>
        </p:txBody>
      </p:sp>
      <p:sp>
        <p:nvSpPr>
          <p:cNvPr id="12" name="TextBox 12"/>
          <p:cNvSpPr txBox="1"/>
          <p:nvPr/>
        </p:nvSpPr>
        <p:spPr>
          <a:xfrm>
            <a:off x="1693545" y="2774632"/>
            <a:ext cx="801005"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700"/>
                <a:ea typeface="Malgun Gothic"/>
                <a:cs typeface="Pretendard 700"/>
              </a:rPr>
              <a:t>동료로</a:t>
            </a:r>
          </a:p>
        </p:txBody>
      </p:sp>
      <p:sp>
        <p:nvSpPr>
          <p:cNvPr id="13" name="Line 13"/>
          <p:cNvSpPr/>
          <p:nvPr/>
        </p:nvSpPr>
        <p:spPr>
          <a:xfrm>
            <a:off x="1028700" y="3219450"/>
            <a:ext cx="323850" cy="9525"/>
          </a:xfrm>
          <a:custGeom>
            <a:avLst/>
            <a:gdLst/>
            <a:ahLst/>
            <a:cxnLst/>
            <a:rect l="l" t="t" r="r" b="b"/>
            <a:pathLst>
              <a:path w="323850" h="9525">
                <a:moveTo>
                  <a:pt x="0" y="0"/>
                </a:moveTo>
                <a:lnTo>
                  <a:pt x="323850" y="0"/>
                </a:lnTo>
              </a:path>
            </a:pathLst>
          </a:custGeom>
          <a:noFill/>
          <a:ln w="19050">
            <a:solidFill>
              <a:srgbClr val="00D9FF"/>
            </a:solidFill>
          </a:ln>
        </p:spPr>
      </p:sp>
      <p:sp>
        <p:nvSpPr>
          <p:cNvPr id="14" name="TextBox 14"/>
          <p:cNvSpPr txBox="1"/>
          <p:nvPr/>
        </p:nvSpPr>
        <p:spPr>
          <a:xfrm>
            <a:off x="1013460" y="3413760"/>
            <a:ext cx="2159889"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매일 페어 프로그래밍하라.</a:t>
            </a:r>
          </a:p>
        </p:txBody>
      </p:sp>
      <p:sp>
        <p:nvSpPr>
          <p:cNvPr id="15" name="TextBox 15"/>
          <p:cNvSpPr txBox="1"/>
          <p:nvPr/>
        </p:nvSpPr>
        <p:spPr>
          <a:xfrm>
            <a:off x="1013460" y="3632835"/>
            <a:ext cx="1730502"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묻고, 반박하고, 함께</a:t>
            </a:r>
          </a:p>
        </p:txBody>
      </p:sp>
      <p:sp>
        <p:nvSpPr>
          <p:cNvPr id="16" name="TextBox 16"/>
          <p:cNvSpPr txBox="1"/>
          <p:nvPr/>
        </p:nvSpPr>
        <p:spPr>
          <a:xfrm>
            <a:off x="1013460" y="3851910"/>
            <a:ext cx="827913"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설계하라.</a:t>
            </a:r>
          </a:p>
        </p:txBody>
      </p:sp>
      <p:sp>
        <p:nvSpPr>
          <p:cNvPr id="17" name="Rectangle 17"/>
          <p:cNvSpPr/>
          <p:nvPr/>
        </p:nvSpPr>
        <p:spPr>
          <a:xfrm>
            <a:off x="4476750" y="2286000"/>
            <a:ext cx="3524250" cy="1905000"/>
          </a:xfrm>
          <a:prstGeom prst="roundRect">
            <a:avLst>
              <a:gd name="adj" fmla="val 6000"/>
            </a:avLst>
          </a:prstGeom>
          <a:solidFill>
            <a:srgbClr val="13243B"/>
          </a:solidFill>
          <a:ln>
            <a:noFill/>
          </a:ln>
        </p:spPr>
      </p:sp>
      <p:sp>
        <p:nvSpPr>
          <p:cNvPr id="18" name="Rectangle 18"/>
          <p:cNvSpPr/>
          <p:nvPr/>
        </p:nvSpPr>
        <p:spPr>
          <a:xfrm>
            <a:off x="4476750" y="2286000"/>
            <a:ext cx="38100" cy="1905000"/>
          </a:xfrm>
          <a:prstGeom prst="rect">
            <a:avLst/>
          </a:prstGeom>
          <a:solidFill>
            <a:srgbClr val="00D9FF"/>
          </a:solidFill>
          <a:ln>
            <a:noFill/>
          </a:ln>
        </p:spPr>
      </p:sp>
      <p:sp>
        <p:nvSpPr>
          <p:cNvPr id="19" name="TextBox 19"/>
          <p:cNvSpPr txBox="1"/>
          <p:nvPr/>
        </p:nvSpPr>
        <p:spPr>
          <a:xfrm>
            <a:off x="4701540" y="2329815"/>
            <a:ext cx="640490" cy="670560"/>
          </a:xfrm>
          <a:prstGeom prst="rect">
            <a:avLst/>
          </a:prstGeom>
          <a:noFill/>
          <a:ln>
            <a:noFill/>
          </a:ln>
        </p:spPr>
        <p:txBody>
          <a:bodyPr wrap="none" lIns="0" tIns="0" rIns="0" bIns="0" anchor="t" anchorCtr="0">
            <a:spAutoFit/>
          </a:bodyPr>
          <a:lstStyle/>
          <a:p>
            <a:pPr algn="l"/>
            <a:r>
              <a:rPr lang="en-US" sz="3300" b="1" dirty="0">
                <a:solidFill>
                  <a:srgbClr val="00D9FF">
                    <a:alphaMod val="40000"/>
                  </a:srgbClr>
                </a:solidFill>
                <a:latin typeface="Arial Black"/>
                <a:ea typeface="Malgun Gothic"/>
                <a:cs typeface="Arial Black"/>
              </a:rPr>
              <a:t>02</a:t>
            </a:r>
          </a:p>
        </p:txBody>
      </p:sp>
      <p:sp>
        <p:nvSpPr>
          <p:cNvPr id="20" name="TextBox 20"/>
          <p:cNvSpPr txBox="1"/>
          <p:nvPr/>
        </p:nvSpPr>
        <p:spPr>
          <a:xfrm>
            <a:off x="5408295" y="2507932"/>
            <a:ext cx="1382978"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700"/>
                <a:ea typeface="Malgun Gothic"/>
                <a:cs typeface="Pretendard 700"/>
              </a:rPr>
              <a:t>검증 능력을</a:t>
            </a:r>
          </a:p>
        </p:txBody>
      </p:sp>
      <p:sp>
        <p:nvSpPr>
          <p:cNvPr id="21" name="TextBox 21"/>
          <p:cNvSpPr txBox="1"/>
          <p:nvPr/>
        </p:nvSpPr>
        <p:spPr>
          <a:xfrm>
            <a:off x="5408295" y="2774632"/>
            <a:ext cx="801005"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700"/>
                <a:ea typeface="Malgun Gothic"/>
                <a:cs typeface="Pretendard 700"/>
              </a:rPr>
              <a:t>키워라</a:t>
            </a:r>
          </a:p>
        </p:txBody>
      </p:sp>
      <p:sp>
        <p:nvSpPr>
          <p:cNvPr id="22" name="Line 22"/>
          <p:cNvSpPr/>
          <p:nvPr/>
        </p:nvSpPr>
        <p:spPr>
          <a:xfrm>
            <a:off x="4743450" y="3219450"/>
            <a:ext cx="323850" cy="9525"/>
          </a:xfrm>
          <a:custGeom>
            <a:avLst/>
            <a:gdLst/>
            <a:ahLst/>
            <a:cxnLst/>
            <a:rect l="l" t="t" r="r" b="b"/>
            <a:pathLst>
              <a:path w="323850" h="9525">
                <a:moveTo>
                  <a:pt x="0" y="0"/>
                </a:moveTo>
                <a:lnTo>
                  <a:pt x="323850" y="0"/>
                </a:lnTo>
              </a:path>
            </a:pathLst>
          </a:custGeom>
          <a:noFill/>
          <a:ln w="19050">
            <a:solidFill>
              <a:srgbClr val="00D9FF"/>
            </a:solidFill>
          </a:ln>
        </p:spPr>
      </p:sp>
      <p:sp>
        <p:nvSpPr>
          <p:cNvPr id="23" name="TextBox 23"/>
          <p:cNvSpPr txBox="1"/>
          <p:nvPr/>
        </p:nvSpPr>
        <p:spPr>
          <a:xfrm>
            <a:off x="4728210" y="3413760"/>
            <a:ext cx="1537716"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생성된 코드를 읽고</a:t>
            </a:r>
          </a:p>
        </p:txBody>
      </p:sp>
      <p:sp>
        <p:nvSpPr>
          <p:cNvPr id="24" name="TextBox 24"/>
          <p:cNvSpPr txBox="1"/>
          <p:nvPr/>
        </p:nvSpPr>
        <p:spPr>
          <a:xfrm>
            <a:off x="4728210" y="3632835"/>
            <a:ext cx="1362456"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비판하는 힘이 곧</a:t>
            </a:r>
          </a:p>
        </p:txBody>
      </p:sp>
      <p:sp>
        <p:nvSpPr>
          <p:cNvPr id="25" name="TextBox 25"/>
          <p:cNvSpPr txBox="1"/>
          <p:nvPr/>
        </p:nvSpPr>
        <p:spPr>
          <a:xfrm>
            <a:off x="4728210" y="3851910"/>
            <a:ext cx="1458849"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당신의 새 무기다.</a:t>
            </a:r>
          </a:p>
        </p:txBody>
      </p:sp>
      <p:sp>
        <p:nvSpPr>
          <p:cNvPr id="26" name="Rectangle 26"/>
          <p:cNvSpPr/>
          <p:nvPr/>
        </p:nvSpPr>
        <p:spPr>
          <a:xfrm>
            <a:off x="8191500" y="2286000"/>
            <a:ext cx="3238500" cy="1905000"/>
          </a:xfrm>
          <a:prstGeom prst="roundRect">
            <a:avLst>
              <a:gd name="adj" fmla="val 6000"/>
            </a:avLst>
          </a:prstGeom>
          <a:solidFill>
            <a:srgbClr val="13243B"/>
          </a:solidFill>
          <a:ln>
            <a:noFill/>
          </a:ln>
        </p:spPr>
      </p:sp>
      <p:sp>
        <p:nvSpPr>
          <p:cNvPr id="27" name="Rectangle 27"/>
          <p:cNvSpPr/>
          <p:nvPr/>
        </p:nvSpPr>
        <p:spPr>
          <a:xfrm>
            <a:off x="8191500" y="2286000"/>
            <a:ext cx="38100" cy="1905000"/>
          </a:xfrm>
          <a:prstGeom prst="rect">
            <a:avLst/>
          </a:prstGeom>
          <a:solidFill>
            <a:srgbClr val="00D9FF"/>
          </a:solidFill>
          <a:ln>
            <a:noFill/>
          </a:ln>
        </p:spPr>
      </p:sp>
      <p:sp>
        <p:nvSpPr>
          <p:cNvPr id="28" name="TextBox 28"/>
          <p:cNvSpPr txBox="1"/>
          <p:nvPr/>
        </p:nvSpPr>
        <p:spPr>
          <a:xfrm>
            <a:off x="8416290" y="2329815"/>
            <a:ext cx="640490" cy="670560"/>
          </a:xfrm>
          <a:prstGeom prst="rect">
            <a:avLst/>
          </a:prstGeom>
          <a:noFill/>
          <a:ln>
            <a:noFill/>
          </a:ln>
        </p:spPr>
        <p:txBody>
          <a:bodyPr wrap="none" lIns="0" tIns="0" rIns="0" bIns="0" anchor="t" anchorCtr="0">
            <a:spAutoFit/>
          </a:bodyPr>
          <a:lstStyle/>
          <a:p>
            <a:pPr algn="l"/>
            <a:r>
              <a:rPr lang="en-US" sz="3300" b="1" dirty="0">
                <a:solidFill>
                  <a:srgbClr val="00D9FF">
                    <a:alphaMod val="40000"/>
                  </a:srgbClr>
                </a:solidFill>
                <a:latin typeface="Arial Black"/>
                <a:ea typeface="Malgun Gothic"/>
                <a:cs typeface="Arial Black"/>
              </a:rPr>
              <a:t>03</a:t>
            </a:r>
          </a:p>
        </p:txBody>
      </p:sp>
      <p:sp>
        <p:nvSpPr>
          <p:cNvPr id="29" name="TextBox 29"/>
          <p:cNvSpPr txBox="1"/>
          <p:nvPr/>
        </p:nvSpPr>
        <p:spPr>
          <a:xfrm>
            <a:off x="9123045" y="2507932"/>
            <a:ext cx="1711919"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700"/>
                <a:ea typeface="Malgun Gothic"/>
                <a:cs typeface="Pretendard 700"/>
              </a:rPr>
              <a:t>추상화 한 단계</a:t>
            </a:r>
          </a:p>
        </p:txBody>
      </p:sp>
      <p:sp>
        <p:nvSpPr>
          <p:cNvPr id="30" name="TextBox 30"/>
          <p:cNvSpPr txBox="1"/>
          <p:nvPr/>
        </p:nvSpPr>
        <p:spPr>
          <a:xfrm>
            <a:off x="9123045" y="2774632"/>
            <a:ext cx="547973"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700"/>
                <a:ea typeface="Malgun Gothic"/>
                <a:cs typeface="Pretendard 700"/>
              </a:rPr>
              <a:t>위로</a:t>
            </a:r>
          </a:p>
        </p:txBody>
      </p:sp>
      <p:sp>
        <p:nvSpPr>
          <p:cNvPr id="31" name="Line 31"/>
          <p:cNvSpPr/>
          <p:nvPr/>
        </p:nvSpPr>
        <p:spPr>
          <a:xfrm>
            <a:off x="8458200" y="3219450"/>
            <a:ext cx="323850" cy="9525"/>
          </a:xfrm>
          <a:custGeom>
            <a:avLst/>
            <a:gdLst/>
            <a:ahLst/>
            <a:cxnLst/>
            <a:rect l="l" t="t" r="r" b="b"/>
            <a:pathLst>
              <a:path w="323850" h="9525">
                <a:moveTo>
                  <a:pt x="0" y="0"/>
                </a:moveTo>
                <a:lnTo>
                  <a:pt x="323850" y="0"/>
                </a:lnTo>
              </a:path>
            </a:pathLst>
          </a:custGeom>
          <a:noFill/>
          <a:ln w="19050">
            <a:solidFill>
              <a:srgbClr val="00D9FF"/>
            </a:solidFill>
          </a:ln>
        </p:spPr>
      </p:sp>
      <p:sp>
        <p:nvSpPr>
          <p:cNvPr id="32" name="TextBox 32"/>
          <p:cNvSpPr txBox="1"/>
          <p:nvPr/>
        </p:nvSpPr>
        <p:spPr>
          <a:xfrm>
            <a:off x="8442960" y="3413760"/>
            <a:ext cx="1406271"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코드보다 시스템,</a:t>
            </a:r>
          </a:p>
        </p:txBody>
      </p:sp>
      <p:sp>
        <p:nvSpPr>
          <p:cNvPr id="33" name="TextBox 33"/>
          <p:cNvSpPr txBox="1"/>
          <p:nvPr/>
        </p:nvSpPr>
        <p:spPr>
          <a:xfrm>
            <a:off x="8442960" y="3632835"/>
            <a:ext cx="1485138"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시스템보다 문제를</a:t>
            </a:r>
          </a:p>
        </p:txBody>
      </p:sp>
      <p:sp>
        <p:nvSpPr>
          <p:cNvPr id="34" name="TextBox 34"/>
          <p:cNvSpPr txBox="1"/>
          <p:nvPr/>
        </p:nvSpPr>
        <p:spPr>
          <a:xfrm>
            <a:off x="8442960" y="3851910"/>
            <a:ext cx="880491" cy="243840"/>
          </a:xfrm>
          <a:prstGeom prst="rect">
            <a:avLst/>
          </a:prstGeom>
          <a:noFill/>
          <a:ln>
            <a:noFill/>
          </a:ln>
        </p:spPr>
        <p:txBody>
          <a:bodyPr wrap="none" lIns="0" tIns="0" rIns="0" bIns="0" anchor="t" anchorCtr="0">
            <a:spAutoFit/>
          </a:bodyPr>
          <a:lstStyle/>
          <a:p>
            <a:pPr algn="l"/>
            <a:r>
              <a:rPr lang="ko-KR" sz="1200" dirty="0">
                <a:solidFill>
                  <a:srgbClr val="8B9AB3"/>
                </a:solidFill>
                <a:latin typeface="Pretendard 400"/>
                <a:ea typeface="Malgun Gothic"/>
                <a:cs typeface="Pretendard 400"/>
              </a:rPr>
              <a:t>먼저 보라.</a:t>
            </a:r>
          </a:p>
        </p:txBody>
      </p:sp>
      <p:sp>
        <p:nvSpPr>
          <p:cNvPr id="35" name="Rectangle 35"/>
          <p:cNvSpPr/>
          <p:nvPr/>
        </p:nvSpPr>
        <p:spPr>
          <a:xfrm>
            <a:off x="762000" y="4429125"/>
            <a:ext cx="5381625" cy="1857375"/>
          </a:xfrm>
          <a:prstGeom prst="roundRect">
            <a:avLst>
              <a:gd name="adj" fmla="val 6154"/>
            </a:avLst>
          </a:prstGeom>
          <a:solidFill>
            <a:srgbClr val="13243B"/>
          </a:solidFill>
          <a:ln>
            <a:noFill/>
          </a:ln>
        </p:spPr>
      </p:sp>
      <p:sp>
        <p:nvSpPr>
          <p:cNvPr id="36" name="Rectangle 36"/>
          <p:cNvSpPr/>
          <p:nvPr/>
        </p:nvSpPr>
        <p:spPr>
          <a:xfrm>
            <a:off x="762000" y="4429125"/>
            <a:ext cx="38100" cy="1857375"/>
          </a:xfrm>
          <a:prstGeom prst="rect">
            <a:avLst/>
          </a:prstGeom>
          <a:solidFill>
            <a:srgbClr val="FFB627"/>
          </a:solidFill>
          <a:ln>
            <a:noFill/>
          </a:ln>
        </p:spPr>
      </p:sp>
      <p:sp>
        <p:nvSpPr>
          <p:cNvPr id="37" name="TextBox 37"/>
          <p:cNvSpPr txBox="1"/>
          <p:nvPr/>
        </p:nvSpPr>
        <p:spPr>
          <a:xfrm>
            <a:off x="986790" y="4472940"/>
            <a:ext cx="640490" cy="670560"/>
          </a:xfrm>
          <a:prstGeom prst="rect">
            <a:avLst/>
          </a:prstGeom>
          <a:noFill/>
          <a:ln>
            <a:noFill/>
          </a:ln>
        </p:spPr>
        <p:txBody>
          <a:bodyPr wrap="none" lIns="0" tIns="0" rIns="0" bIns="0" anchor="t" anchorCtr="0">
            <a:spAutoFit/>
          </a:bodyPr>
          <a:lstStyle/>
          <a:p>
            <a:pPr algn="l"/>
            <a:r>
              <a:rPr lang="en-US" sz="3300" b="1" dirty="0">
                <a:solidFill>
                  <a:srgbClr val="FFB627">
                    <a:alphaMod val="40000"/>
                  </a:srgbClr>
                </a:solidFill>
                <a:latin typeface="Arial Black"/>
                <a:ea typeface="Malgun Gothic"/>
                <a:cs typeface="Arial Black"/>
              </a:rPr>
              <a:t>04</a:t>
            </a:r>
          </a:p>
        </p:txBody>
      </p:sp>
      <p:sp>
        <p:nvSpPr>
          <p:cNvPr id="38" name="TextBox 38"/>
          <p:cNvSpPr txBox="1"/>
          <p:nvPr/>
        </p:nvSpPr>
        <p:spPr>
          <a:xfrm>
            <a:off x="1693545" y="4651058"/>
            <a:ext cx="1889041"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700"/>
                <a:ea typeface="Malgun Gothic"/>
                <a:cs typeface="Pretendard 700"/>
              </a:rPr>
              <a:t>도메인을 가져라</a:t>
            </a:r>
          </a:p>
        </p:txBody>
      </p:sp>
      <p:sp>
        <p:nvSpPr>
          <p:cNvPr id="39" name="Line 39"/>
          <p:cNvSpPr/>
          <p:nvPr/>
        </p:nvSpPr>
        <p:spPr>
          <a:xfrm>
            <a:off x="1028700" y="5095875"/>
            <a:ext cx="323850" cy="9525"/>
          </a:xfrm>
          <a:custGeom>
            <a:avLst/>
            <a:gdLst/>
            <a:ahLst/>
            <a:cxnLst/>
            <a:rect l="l" t="t" r="r" b="b"/>
            <a:pathLst>
              <a:path w="323850" h="9525">
                <a:moveTo>
                  <a:pt x="0" y="0"/>
                </a:moveTo>
                <a:lnTo>
                  <a:pt x="323850" y="0"/>
                </a:lnTo>
              </a:path>
            </a:pathLst>
          </a:custGeom>
          <a:noFill/>
          <a:ln w="19050">
            <a:solidFill>
              <a:srgbClr val="FFB627"/>
            </a:solidFill>
          </a:ln>
        </p:spPr>
      </p:sp>
      <p:sp>
        <p:nvSpPr>
          <p:cNvPr id="40" name="TextBox 40"/>
          <p:cNvSpPr txBox="1"/>
          <p:nvPr/>
        </p:nvSpPr>
        <p:spPr>
          <a:xfrm>
            <a:off x="1012508" y="5272564"/>
            <a:ext cx="3952184" cy="259080"/>
          </a:xfrm>
          <a:prstGeom prst="rect">
            <a:avLst/>
          </a:prstGeom>
          <a:noFill/>
          <a:ln>
            <a:noFill/>
          </a:ln>
        </p:spPr>
        <p:txBody>
          <a:bodyPr wrap="none" lIns="0" tIns="0" rIns="0" bIns="0" anchor="t" anchorCtr="0">
            <a:spAutoFit/>
          </a:bodyPr>
          <a:lstStyle/>
          <a:p>
            <a:pPr algn="l"/>
            <a:r>
              <a:rPr lang="ko-KR" sz="1275" dirty="0">
                <a:solidFill>
                  <a:srgbClr val="E8EEF7"/>
                </a:solidFill>
                <a:latin typeface="Pretendard 400"/>
                <a:ea typeface="Malgun Gothic"/>
                <a:cs typeface="Pretendard 400"/>
              </a:rPr>
              <a:t>기술이 아닌 산업의 깊이가 당신을 차별화한다.</a:t>
            </a:r>
          </a:p>
        </p:txBody>
      </p:sp>
      <p:sp>
        <p:nvSpPr>
          <p:cNvPr id="41" name="TextBox 41"/>
          <p:cNvSpPr txBox="1"/>
          <p:nvPr/>
        </p:nvSpPr>
        <p:spPr>
          <a:xfrm>
            <a:off x="1012508" y="5529739"/>
            <a:ext cx="3998738" cy="259080"/>
          </a:xfrm>
          <a:prstGeom prst="rect">
            <a:avLst/>
          </a:prstGeom>
          <a:noFill/>
          <a:ln>
            <a:noFill/>
          </a:ln>
        </p:spPr>
        <p:txBody>
          <a:bodyPr wrap="none" lIns="0" tIns="0" rIns="0" bIns="0" anchor="t" anchorCtr="0">
            <a:spAutoFit/>
          </a:bodyPr>
          <a:lstStyle/>
          <a:p>
            <a:pPr algn="l"/>
            <a:r>
              <a:rPr lang="ko-KR" sz="1275" dirty="0">
                <a:solidFill>
                  <a:srgbClr val="8B9AB3"/>
                </a:solidFill>
                <a:latin typeface="Pretendard 400"/>
                <a:ea typeface="Malgun Gothic"/>
                <a:cs typeface="Pretendard 400"/>
              </a:rPr>
              <a:t>의료, 금융, 제조, 법률 — 어느 우물이든 끝까지</a:t>
            </a:r>
          </a:p>
        </p:txBody>
      </p:sp>
      <p:sp>
        <p:nvSpPr>
          <p:cNvPr id="42" name="TextBox 42"/>
          <p:cNvSpPr txBox="1"/>
          <p:nvPr/>
        </p:nvSpPr>
        <p:spPr>
          <a:xfrm>
            <a:off x="1012508" y="5767864"/>
            <a:ext cx="2108668" cy="259080"/>
          </a:xfrm>
          <a:prstGeom prst="rect">
            <a:avLst/>
          </a:prstGeom>
          <a:noFill/>
          <a:ln>
            <a:noFill/>
          </a:ln>
        </p:spPr>
        <p:txBody>
          <a:bodyPr wrap="none" lIns="0" tIns="0" rIns="0" bIns="0" anchor="t" anchorCtr="0">
            <a:spAutoFit/>
          </a:bodyPr>
          <a:lstStyle/>
          <a:p>
            <a:pPr algn="l"/>
            <a:r>
              <a:rPr lang="ko-KR" sz="1275" dirty="0">
                <a:solidFill>
                  <a:srgbClr val="8B9AB3"/>
                </a:solidFill>
                <a:latin typeface="Pretendard 400"/>
                <a:ea typeface="Malgun Gothic"/>
                <a:cs typeface="Pretendard 400"/>
              </a:rPr>
              <a:t>파는 자만이 살아남는다.</a:t>
            </a:r>
          </a:p>
        </p:txBody>
      </p:sp>
      <p:sp>
        <p:nvSpPr>
          <p:cNvPr id="43" name="Rectangle 43"/>
          <p:cNvSpPr/>
          <p:nvPr/>
        </p:nvSpPr>
        <p:spPr>
          <a:xfrm>
            <a:off x="6334125" y="4429125"/>
            <a:ext cx="5095875" cy="1857375"/>
          </a:xfrm>
          <a:prstGeom prst="roundRect">
            <a:avLst>
              <a:gd name="adj" fmla="val 6154"/>
            </a:avLst>
          </a:prstGeom>
          <a:solidFill>
            <a:srgbClr val="13243B"/>
          </a:solidFill>
          <a:ln>
            <a:noFill/>
          </a:ln>
        </p:spPr>
      </p:sp>
      <p:sp>
        <p:nvSpPr>
          <p:cNvPr id="44" name="Rectangle 44"/>
          <p:cNvSpPr/>
          <p:nvPr/>
        </p:nvSpPr>
        <p:spPr>
          <a:xfrm>
            <a:off x="6334125" y="4429125"/>
            <a:ext cx="38100" cy="1857375"/>
          </a:xfrm>
          <a:prstGeom prst="rect">
            <a:avLst/>
          </a:prstGeom>
          <a:solidFill>
            <a:srgbClr val="3DDC97"/>
          </a:solidFill>
          <a:ln>
            <a:noFill/>
          </a:ln>
        </p:spPr>
      </p:sp>
      <p:sp>
        <p:nvSpPr>
          <p:cNvPr id="45" name="TextBox 45"/>
          <p:cNvSpPr txBox="1"/>
          <p:nvPr/>
        </p:nvSpPr>
        <p:spPr>
          <a:xfrm>
            <a:off x="6558915" y="4472940"/>
            <a:ext cx="640490" cy="670560"/>
          </a:xfrm>
          <a:prstGeom prst="rect">
            <a:avLst/>
          </a:prstGeom>
          <a:noFill/>
          <a:ln>
            <a:noFill/>
          </a:ln>
        </p:spPr>
        <p:txBody>
          <a:bodyPr wrap="none" lIns="0" tIns="0" rIns="0" bIns="0" anchor="t" anchorCtr="0">
            <a:spAutoFit/>
          </a:bodyPr>
          <a:lstStyle/>
          <a:p>
            <a:pPr algn="l"/>
            <a:r>
              <a:rPr lang="en-US" sz="3300" b="1" dirty="0">
                <a:solidFill>
                  <a:srgbClr val="3DDC97">
                    <a:alphaMod val="40000"/>
                  </a:srgbClr>
                </a:solidFill>
                <a:latin typeface="Arial Black"/>
                <a:ea typeface="Malgun Gothic"/>
                <a:cs typeface="Arial Black"/>
              </a:rPr>
              <a:t>05</a:t>
            </a:r>
          </a:p>
        </p:txBody>
      </p:sp>
      <p:sp>
        <p:nvSpPr>
          <p:cNvPr id="46" name="TextBox 46"/>
          <p:cNvSpPr txBox="1"/>
          <p:nvPr/>
        </p:nvSpPr>
        <p:spPr>
          <a:xfrm>
            <a:off x="7265670" y="4651058"/>
            <a:ext cx="2724045" cy="335280"/>
          </a:xfrm>
          <a:prstGeom prst="rect">
            <a:avLst/>
          </a:prstGeom>
          <a:noFill/>
          <a:ln>
            <a:noFill/>
          </a:ln>
        </p:spPr>
        <p:txBody>
          <a:bodyPr wrap="none" lIns="0" tIns="0" rIns="0" bIns="0" anchor="t" anchorCtr="0">
            <a:spAutoFit/>
          </a:bodyPr>
          <a:lstStyle/>
          <a:p>
            <a:pPr algn="l"/>
            <a:r>
              <a:rPr lang="ko-KR" sz="1650" b="1" dirty="0">
                <a:solidFill>
                  <a:srgbClr val="E8EEF7"/>
                </a:solidFill>
                <a:latin typeface="Pretendard 700"/>
                <a:ea typeface="Malgun Gothic"/>
                <a:cs typeface="Pretendard 700"/>
              </a:rPr>
              <a:t>커뮤니케이션이 곧 코딩</a:t>
            </a:r>
          </a:p>
        </p:txBody>
      </p:sp>
      <p:sp>
        <p:nvSpPr>
          <p:cNvPr id="47" name="Line 47"/>
          <p:cNvSpPr/>
          <p:nvPr/>
        </p:nvSpPr>
        <p:spPr>
          <a:xfrm>
            <a:off x="6600825" y="5095875"/>
            <a:ext cx="323850" cy="9525"/>
          </a:xfrm>
          <a:custGeom>
            <a:avLst/>
            <a:gdLst/>
            <a:ahLst/>
            <a:cxnLst/>
            <a:rect l="l" t="t" r="r" b="b"/>
            <a:pathLst>
              <a:path w="323850" h="9525">
                <a:moveTo>
                  <a:pt x="0" y="0"/>
                </a:moveTo>
                <a:lnTo>
                  <a:pt x="323850" y="0"/>
                </a:lnTo>
              </a:path>
            </a:pathLst>
          </a:custGeom>
          <a:noFill/>
          <a:ln w="19050">
            <a:solidFill>
              <a:srgbClr val="3DDC97"/>
            </a:solidFill>
          </a:ln>
        </p:spPr>
      </p:sp>
      <p:sp>
        <p:nvSpPr>
          <p:cNvPr id="48" name="TextBox 48"/>
          <p:cNvSpPr txBox="1"/>
          <p:nvPr/>
        </p:nvSpPr>
        <p:spPr>
          <a:xfrm>
            <a:off x="6584632" y="5272564"/>
            <a:ext cx="3551825" cy="259080"/>
          </a:xfrm>
          <a:prstGeom prst="rect">
            <a:avLst/>
          </a:prstGeom>
          <a:noFill/>
          <a:ln>
            <a:noFill/>
          </a:ln>
        </p:spPr>
        <p:txBody>
          <a:bodyPr wrap="none" lIns="0" tIns="0" rIns="0" bIns="0" anchor="t" anchorCtr="0">
            <a:spAutoFit/>
          </a:bodyPr>
          <a:lstStyle/>
          <a:p>
            <a:pPr algn="l"/>
            <a:r>
              <a:rPr lang="ko-KR" sz="1275" dirty="0">
                <a:solidFill>
                  <a:srgbClr val="E8EEF7"/>
                </a:solidFill>
                <a:latin typeface="Pretendard 400"/>
                <a:ea typeface="Malgun Gothic"/>
                <a:cs typeface="Pretendard 400"/>
              </a:rPr>
              <a:t>사람과 AI 모두에게 명료하게 말하는 능력.</a:t>
            </a:r>
          </a:p>
        </p:txBody>
      </p:sp>
      <p:sp>
        <p:nvSpPr>
          <p:cNvPr id="49" name="TextBox 49"/>
          <p:cNvSpPr txBox="1"/>
          <p:nvPr/>
        </p:nvSpPr>
        <p:spPr>
          <a:xfrm>
            <a:off x="6584632" y="5529739"/>
            <a:ext cx="3281815" cy="259080"/>
          </a:xfrm>
          <a:prstGeom prst="rect">
            <a:avLst/>
          </a:prstGeom>
          <a:noFill/>
          <a:ln>
            <a:noFill/>
          </a:ln>
        </p:spPr>
        <p:txBody>
          <a:bodyPr wrap="none" lIns="0" tIns="0" rIns="0" bIns="0" anchor="t" anchorCtr="0">
            <a:spAutoFit/>
          </a:bodyPr>
          <a:lstStyle/>
          <a:p>
            <a:pPr algn="l"/>
            <a:r>
              <a:rPr lang="ko-KR" sz="1275" dirty="0">
                <a:solidFill>
                  <a:srgbClr val="8B9AB3"/>
                </a:solidFill>
                <a:latin typeface="Pretendard 400"/>
                <a:ea typeface="Malgun Gothic"/>
                <a:cs typeface="Pretendard 400"/>
              </a:rPr>
              <a:t>프롬프트는 새로운 함수 시그니처이며,</a:t>
            </a:r>
          </a:p>
        </p:txBody>
      </p:sp>
      <p:sp>
        <p:nvSpPr>
          <p:cNvPr id="50" name="TextBox 50"/>
          <p:cNvSpPr txBox="1"/>
          <p:nvPr/>
        </p:nvSpPr>
        <p:spPr>
          <a:xfrm>
            <a:off x="6584632" y="5767864"/>
            <a:ext cx="2294882" cy="259080"/>
          </a:xfrm>
          <a:prstGeom prst="rect">
            <a:avLst/>
          </a:prstGeom>
          <a:noFill/>
          <a:ln>
            <a:noFill/>
          </a:ln>
        </p:spPr>
        <p:txBody>
          <a:bodyPr wrap="none" lIns="0" tIns="0" rIns="0" bIns="0" anchor="t" anchorCtr="0">
            <a:spAutoFit/>
          </a:bodyPr>
          <a:lstStyle/>
          <a:p>
            <a:pPr algn="l"/>
            <a:r>
              <a:rPr lang="ko-KR" sz="1275" dirty="0">
                <a:solidFill>
                  <a:srgbClr val="8B9AB3"/>
                </a:solidFill>
                <a:latin typeface="Pretendard 400"/>
                <a:ea typeface="Malgun Gothic"/>
                <a:cs typeface="Pretendard 400"/>
              </a:rPr>
              <a:t>문서는 새로운 컴파일러다.</a:t>
            </a:r>
          </a:p>
        </p:txBody>
      </p:sp>
      <p:sp>
        <p:nvSpPr>
          <p:cNvPr id="51" name="TextBox 51"/>
          <p:cNvSpPr txBox="1"/>
          <p:nvPr/>
        </p:nvSpPr>
        <p:spPr>
          <a:xfrm>
            <a:off x="750570" y="6522720"/>
            <a:ext cx="1376743" cy="182880"/>
          </a:xfrm>
          <a:prstGeom prst="rect">
            <a:avLst/>
          </a:prstGeom>
          <a:noFill/>
          <a:ln>
            <a:noFill/>
          </a:ln>
        </p:spPr>
        <p:txBody>
          <a:bodyPr wrap="none" lIns="0" tIns="0" rIns="0" bIns="0" anchor="t" anchorCtr="0">
            <a:spAutoFit/>
          </a:bodyPr>
          <a:lstStyle/>
          <a:p>
            <a:pPr algn="l"/>
            <a:r>
              <a:rPr lang="ko-KR" sz="900" dirty="0">
                <a:solidFill>
                  <a:srgbClr val="8B9AB3"/>
                </a:solidFill>
                <a:latin typeface="Pretendard 400"/>
                <a:ea typeface="Malgun Gothic"/>
                <a:cs typeface="Pretendard 400"/>
              </a:rPr>
              <a:t>개발자의 종말: AI 시대</a:t>
            </a:r>
          </a:p>
        </p:txBody>
      </p:sp>
      <p:sp>
        <p:nvSpPr>
          <p:cNvPr id="52" name="TextBox 52"/>
          <p:cNvSpPr txBox="1"/>
          <p:nvPr/>
        </p:nvSpPr>
        <p:spPr>
          <a:xfrm>
            <a:off x="11011090" y="6522720"/>
            <a:ext cx="430340" cy="182880"/>
          </a:xfrm>
          <a:prstGeom prst="rect">
            <a:avLst/>
          </a:prstGeom>
          <a:noFill/>
          <a:ln>
            <a:noFill/>
          </a:ln>
        </p:spPr>
        <p:txBody>
          <a:bodyPr wrap="none" lIns="0" tIns="0" rIns="0" bIns="0" anchor="t" anchorCtr="0">
            <a:spAutoFit/>
          </a:bodyPr>
          <a:lstStyle/>
          <a:p>
            <a:pPr algn="r"/>
            <a:r>
              <a:rPr lang="en-US" sz="900" dirty="0">
                <a:solidFill>
                  <a:srgbClr val="8B9AB3"/>
                </a:solidFill>
                <a:latin typeface="Pretendard 400"/>
                <a:ea typeface="Malgun Gothic"/>
                <a:cs typeface="Pretendard 400"/>
              </a:rPr>
              <a:t>09 / 10</a:t>
            </a:r>
          </a:p>
        </p:txBody>
      </p:sp>
    </p:spTree>
  </p:cSld>
  <p:clrMapOvr>
    <a:masterClrMapping/>
  </p:clrMapOvr>
  <p:transition xmlns:p14="http://schemas.microsoft.com/office/powerpoint/2010/main" p14:dur="5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1628"/>
              </a:gs>
              <a:gs pos="50000">
                <a:srgbClr val="13243B"/>
              </a:gs>
              <a:gs pos="100000">
                <a:srgbClr val="1A2F4F"/>
              </a:gs>
            </a:gsLst>
            <a:lin ang="2700000" scaled="1"/>
          </a:gradFill>
          <a:ln>
            <a:noFill/>
          </a:ln>
        </p:spPr>
      </p:sp>
      <p:sp>
        <p:nvSpPr>
          <p:cNvPr id="3" name="Rectangle 3"/>
          <p:cNvSpPr/>
          <p:nvPr/>
        </p:nvSpPr>
        <p:spPr>
          <a:xfrm>
            <a:off x="0" y="4000500"/>
            <a:ext cx="12192000" cy="2857500"/>
          </a:xfrm>
          <a:prstGeom prst="rect">
            <a:avLst/>
          </a:prstGeom>
          <a:gradFill>
            <a:gsLst>
              <a:gs pos="0">
                <a:srgbClr val="00D9FF">
                  <a:alpha val="0"/>
                </a:srgbClr>
              </a:gs>
              <a:gs pos="60000">
                <a:srgbClr val="00D9FF">
                  <a:alpha val="15000"/>
                </a:srgbClr>
              </a:gs>
              <a:gs pos="100000">
                <a:srgbClr val="FFB627">
                  <a:alpha val="35000"/>
                </a:srgbClr>
              </a:gs>
            </a:gsLst>
            <a:lin ang="5400000" scaled="1"/>
          </a:gradFill>
          <a:ln>
            <a:noFill/>
          </a:ln>
        </p:spPr>
      </p:sp>
      <p:sp>
        <p:nvSpPr>
          <p:cNvPr id="4" name="Line 4"/>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00D9FF">
                <a:alpha val="25000"/>
              </a:srgbClr>
            </a:solidFill>
          </a:ln>
        </p:spPr>
      </p:sp>
      <p:sp>
        <p:nvSpPr>
          <p:cNvPr id="5" name="Ellipse 5"/>
          <p:cNvSpPr/>
          <p:nvPr/>
        </p:nvSpPr>
        <p:spPr>
          <a:xfrm>
            <a:off x="1128712" y="1033462"/>
            <a:ext cx="28575" cy="28575"/>
          </a:xfrm>
          <a:prstGeom prst="ellipse">
            <a:avLst/>
          </a:prstGeom>
          <a:solidFill>
            <a:srgbClr val="E8EEF7">
              <a:alpha val="70000"/>
            </a:srgbClr>
          </a:solidFill>
          <a:ln>
            <a:noFill/>
          </a:ln>
        </p:spPr>
      </p:sp>
      <p:sp>
        <p:nvSpPr>
          <p:cNvPr id="6" name="Ellipse 6"/>
          <p:cNvSpPr/>
          <p:nvPr/>
        </p:nvSpPr>
        <p:spPr>
          <a:xfrm>
            <a:off x="2657475" y="752475"/>
            <a:ext cx="19050" cy="19050"/>
          </a:xfrm>
          <a:prstGeom prst="ellipse">
            <a:avLst/>
          </a:prstGeom>
          <a:solidFill>
            <a:srgbClr val="E8EEF7">
              <a:alpha val="50000"/>
            </a:srgbClr>
          </a:solidFill>
          <a:ln>
            <a:noFill/>
          </a:ln>
        </p:spPr>
      </p:sp>
      <p:sp>
        <p:nvSpPr>
          <p:cNvPr id="7" name="Ellipse 7"/>
          <p:cNvSpPr/>
          <p:nvPr/>
        </p:nvSpPr>
        <p:spPr>
          <a:xfrm>
            <a:off x="3989070" y="1322070"/>
            <a:ext cx="22860" cy="22860"/>
          </a:xfrm>
          <a:prstGeom prst="ellipse">
            <a:avLst/>
          </a:prstGeom>
          <a:solidFill>
            <a:srgbClr val="E8EEF7">
              <a:alpha val="60000"/>
            </a:srgbClr>
          </a:solidFill>
          <a:ln>
            <a:noFill/>
          </a:ln>
        </p:spPr>
      </p:sp>
      <p:sp>
        <p:nvSpPr>
          <p:cNvPr id="8" name="Ellipse 8"/>
          <p:cNvSpPr/>
          <p:nvPr/>
        </p:nvSpPr>
        <p:spPr>
          <a:xfrm>
            <a:off x="5705475" y="657225"/>
            <a:ext cx="19050" cy="19050"/>
          </a:xfrm>
          <a:prstGeom prst="ellipse">
            <a:avLst/>
          </a:prstGeom>
          <a:solidFill>
            <a:srgbClr val="E8EEF7">
              <a:alpha val="40000"/>
            </a:srgbClr>
          </a:solidFill>
          <a:ln>
            <a:noFill/>
          </a:ln>
        </p:spPr>
      </p:sp>
      <p:sp>
        <p:nvSpPr>
          <p:cNvPr id="9" name="Ellipse 9"/>
          <p:cNvSpPr/>
          <p:nvPr/>
        </p:nvSpPr>
        <p:spPr>
          <a:xfrm>
            <a:off x="7415212" y="1128712"/>
            <a:ext cx="28575" cy="28575"/>
          </a:xfrm>
          <a:prstGeom prst="ellipse">
            <a:avLst/>
          </a:prstGeom>
          <a:solidFill>
            <a:srgbClr val="E8EEF7">
              <a:alpha val="70000"/>
            </a:srgbClr>
          </a:solidFill>
          <a:ln>
            <a:noFill/>
          </a:ln>
        </p:spPr>
      </p:sp>
      <p:sp>
        <p:nvSpPr>
          <p:cNvPr id="10" name="Ellipse 10"/>
          <p:cNvSpPr/>
          <p:nvPr/>
        </p:nvSpPr>
        <p:spPr>
          <a:xfrm>
            <a:off x="8943975" y="847725"/>
            <a:ext cx="19050" cy="19050"/>
          </a:xfrm>
          <a:prstGeom prst="ellipse">
            <a:avLst/>
          </a:prstGeom>
          <a:solidFill>
            <a:srgbClr val="E8EEF7">
              <a:alpha val="50000"/>
            </a:srgbClr>
          </a:solidFill>
          <a:ln>
            <a:noFill/>
          </a:ln>
        </p:spPr>
      </p:sp>
      <p:sp>
        <p:nvSpPr>
          <p:cNvPr id="11" name="Ellipse 11"/>
          <p:cNvSpPr/>
          <p:nvPr/>
        </p:nvSpPr>
        <p:spPr>
          <a:xfrm>
            <a:off x="10466070" y="1417320"/>
            <a:ext cx="22860" cy="22860"/>
          </a:xfrm>
          <a:prstGeom prst="ellipse">
            <a:avLst/>
          </a:prstGeom>
          <a:solidFill>
            <a:srgbClr val="E8EEF7">
              <a:alpha val="60000"/>
            </a:srgbClr>
          </a:solidFill>
          <a:ln>
            <a:noFill/>
          </a:ln>
        </p:spPr>
      </p:sp>
      <p:sp>
        <p:nvSpPr>
          <p:cNvPr id="12" name="Ellipse 12"/>
          <p:cNvSpPr/>
          <p:nvPr/>
        </p:nvSpPr>
        <p:spPr>
          <a:xfrm>
            <a:off x="11229975" y="561975"/>
            <a:ext cx="19050" cy="19050"/>
          </a:xfrm>
          <a:prstGeom prst="ellipse">
            <a:avLst/>
          </a:prstGeom>
          <a:solidFill>
            <a:srgbClr val="E8EEF7">
              <a:alpha val="40000"/>
            </a:srgbClr>
          </a:solidFill>
          <a:ln>
            <a:noFill/>
          </a:ln>
        </p:spPr>
      </p:sp>
      <p:sp>
        <p:nvSpPr>
          <p:cNvPr id="13" name="Ellipse 13"/>
          <p:cNvSpPr/>
          <p:nvPr/>
        </p:nvSpPr>
        <p:spPr>
          <a:xfrm>
            <a:off x="1895475" y="1895475"/>
            <a:ext cx="19050" cy="19050"/>
          </a:xfrm>
          <a:prstGeom prst="ellipse">
            <a:avLst/>
          </a:prstGeom>
          <a:solidFill>
            <a:srgbClr val="00D9FF">
              <a:alpha val="50000"/>
            </a:srgbClr>
          </a:solidFill>
          <a:ln>
            <a:noFill/>
          </a:ln>
        </p:spPr>
      </p:sp>
      <p:sp>
        <p:nvSpPr>
          <p:cNvPr id="14" name="Ellipse 14"/>
          <p:cNvSpPr/>
          <p:nvPr/>
        </p:nvSpPr>
        <p:spPr>
          <a:xfrm>
            <a:off x="9989820" y="2084070"/>
            <a:ext cx="22860" cy="22860"/>
          </a:xfrm>
          <a:prstGeom prst="ellipse">
            <a:avLst/>
          </a:prstGeom>
          <a:solidFill>
            <a:srgbClr val="00D9FF">
              <a:alpha val="60000"/>
            </a:srgbClr>
          </a:solidFill>
          <a:ln>
            <a:noFill/>
          </a:ln>
        </p:spPr>
      </p:sp>
      <p:sp>
        <p:nvSpPr>
          <p:cNvPr id="15" name="Ellipse 15"/>
          <p:cNvSpPr/>
          <p:nvPr/>
        </p:nvSpPr>
        <p:spPr>
          <a:xfrm>
            <a:off x="3324225" y="2466975"/>
            <a:ext cx="19050" cy="19050"/>
          </a:xfrm>
          <a:prstGeom prst="ellipse">
            <a:avLst/>
          </a:prstGeom>
          <a:solidFill>
            <a:srgbClr val="00D9FF">
              <a:alpha val="40000"/>
            </a:srgbClr>
          </a:solidFill>
          <a:ln>
            <a:noFill/>
          </a:ln>
        </p:spPr>
      </p:sp>
      <p:sp>
        <p:nvSpPr>
          <p:cNvPr id="16" name="Ellipse 16"/>
          <p:cNvSpPr/>
          <p:nvPr/>
        </p:nvSpPr>
        <p:spPr>
          <a:xfrm>
            <a:off x="8181975" y="2657475"/>
            <a:ext cx="19050" cy="19050"/>
          </a:xfrm>
          <a:prstGeom prst="ellipse">
            <a:avLst/>
          </a:prstGeom>
          <a:solidFill>
            <a:srgbClr val="00D9FF">
              <a:alpha val="50000"/>
            </a:srgbClr>
          </a:solidFill>
          <a:ln>
            <a:noFill/>
          </a:ln>
        </p:spPr>
      </p:sp>
      <p:sp>
        <p:nvSpPr>
          <p:cNvPr id="17" name="TextBox 17"/>
          <p:cNvSpPr txBox="1"/>
          <p:nvPr/>
        </p:nvSpPr>
        <p:spPr>
          <a:xfrm>
            <a:off x="748665" y="648652"/>
            <a:ext cx="463725" cy="213360"/>
          </a:xfrm>
          <a:prstGeom prst="rect">
            <a:avLst/>
          </a:prstGeom>
          <a:noFill/>
          <a:ln>
            <a:noFill/>
          </a:ln>
        </p:spPr>
        <p:txBody>
          <a:bodyPr wrap="none" lIns="0" tIns="0" rIns="0" bIns="0" anchor="t" anchorCtr="0">
            <a:spAutoFit/>
          </a:bodyPr>
          <a:lstStyle/>
          <a:p>
            <a:pPr algn="l"/>
            <a:r>
              <a:rPr lang="en-US" sz="1050" dirty="0">
                <a:solidFill>
                  <a:srgbClr val="8B9AB3"/>
                </a:solidFill>
                <a:latin typeface="Pretendard 400"/>
                <a:ea typeface="Malgun Gothic"/>
                <a:cs typeface="Pretendard 400"/>
              </a:rPr>
              <a:t>10 / 10</a:t>
            </a:r>
          </a:p>
        </p:txBody>
      </p:sp>
      <p:sp>
        <p:nvSpPr>
          <p:cNvPr id="18" name="Line 18"/>
          <p:cNvSpPr/>
          <p:nvPr/>
        </p:nvSpPr>
        <p:spPr>
          <a:xfrm>
            <a:off x="10287000" y="762000"/>
            <a:ext cx="1143000" cy="9525"/>
          </a:xfrm>
          <a:custGeom>
            <a:avLst/>
            <a:gdLst/>
            <a:ahLst/>
            <a:cxnLst/>
            <a:rect l="l" t="t" r="r" b="b"/>
            <a:pathLst>
              <a:path w="1143000" h="9525">
                <a:moveTo>
                  <a:pt x="0" y="0"/>
                </a:moveTo>
                <a:lnTo>
                  <a:pt x="1143000" y="0"/>
                </a:lnTo>
              </a:path>
            </a:pathLst>
          </a:custGeom>
          <a:noFill/>
          <a:ln w="9525">
            <a:solidFill>
              <a:srgbClr val="00D9FF">
                <a:alpha val="60000"/>
              </a:srgbClr>
            </a:solidFill>
          </a:ln>
        </p:spPr>
      </p:sp>
      <p:sp>
        <p:nvSpPr>
          <p:cNvPr id="19" name="TextBox 19"/>
          <p:cNvSpPr txBox="1"/>
          <p:nvPr/>
        </p:nvSpPr>
        <p:spPr>
          <a:xfrm>
            <a:off x="10876502" y="694849"/>
            <a:ext cx="565880" cy="198120"/>
          </a:xfrm>
          <a:prstGeom prst="rect">
            <a:avLst/>
          </a:prstGeom>
          <a:noFill/>
          <a:ln>
            <a:noFill/>
          </a:ln>
        </p:spPr>
        <p:txBody>
          <a:bodyPr wrap="none" lIns="0" tIns="0" rIns="0" bIns="0" anchor="t" anchorCtr="0">
            <a:spAutoFit/>
          </a:bodyPr>
          <a:lstStyle/>
          <a:p>
            <a:pPr algn="r"/>
            <a:r>
              <a:rPr lang="en-US" sz="975" dirty="0">
                <a:solidFill>
                  <a:srgbClr val="00D9FF"/>
                </a:solidFill>
                <a:latin typeface="Pretendard 700"/>
                <a:ea typeface="Malgun Gothic"/>
                <a:cs typeface="Pretendard 700"/>
              </a:rPr>
              <a:t>CLOSING</a:t>
            </a:r>
          </a:p>
        </p:txBody>
      </p:sp>
      <p:sp>
        <p:nvSpPr>
          <p:cNvPr id="20" name="TextBox 20"/>
          <p:cNvSpPr txBox="1"/>
          <p:nvPr/>
        </p:nvSpPr>
        <p:spPr>
          <a:xfrm>
            <a:off x="1931327" y="2434590"/>
            <a:ext cx="8329346" cy="975360"/>
          </a:xfrm>
          <a:prstGeom prst="rect">
            <a:avLst/>
          </a:prstGeom>
          <a:noFill/>
          <a:ln>
            <a:noFill/>
          </a:ln>
        </p:spPr>
        <p:txBody>
          <a:bodyPr wrap="none" lIns="0" tIns="0" rIns="0" bIns="0" anchor="t" anchorCtr="0">
            <a:spAutoFit/>
          </a:bodyPr>
          <a:lstStyle/>
          <a:p>
            <a:pPr algn="ctr"/>
            <a:r>
              <a:rPr lang="ko-KR" sz="4800" b="1" dirty="0">
                <a:solidFill>
                  <a:srgbClr val="E8EEF7"/>
                </a:solidFill>
                <a:latin typeface="Pretendard 900"/>
                <a:ea typeface="Malgun Gothic"/>
                <a:cs typeface="Pretendard 900"/>
              </a:rPr>
              <a:t>개발자의 종말이 아니다.</a:t>
            </a:r>
          </a:p>
        </p:txBody>
      </p:sp>
      <p:sp>
        <p:nvSpPr>
          <p:cNvPr id="21" name="TextBox 21"/>
          <p:cNvSpPr txBox="1"/>
          <p:nvPr/>
        </p:nvSpPr>
        <p:spPr>
          <a:xfrm>
            <a:off x="2777833" y="3244215"/>
            <a:ext cx="6636334" cy="975360"/>
          </a:xfrm>
          <a:prstGeom prst="rect">
            <a:avLst/>
          </a:prstGeom>
          <a:noFill/>
          <a:ln>
            <a:noFill/>
          </a:ln>
        </p:spPr>
        <p:txBody>
          <a:bodyPr wrap="none" lIns="0" tIns="0" rIns="0" bIns="0" anchor="t" anchorCtr="0">
            <a:spAutoFit/>
          </a:bodyPr>
          <a:lstStyle/>
          <a:p>
            <a:pPr algn="ctr"/>
            <a:r>
              <a:rPr lang="ko-KR" sz="4800" b="1" dirty="0">
                <a:solidFill>
                  <a:srgbClr val="FFB627"/>
                </a:solidFill>
                <a:latin typeface="Pretendard 900"/>
                <a:ea typeface="Malgun Gothic"/>
                <a:cs typeface="Pretendard 900"/>
              </a:rPr>
              <a:t>개발자의 재정의다.</a:t>
            </a:r>
          </a:p>
        </p:txBody>
      </p:sp>
      <p:sp>
        <p:nvSpPr>
          <p:cNvPr id="22" name="Rectangle 22"/>
          <p:cNvSpPr/>
          <p:nvPr/>
        </p:nvSpPr>
        <p:spPr>
          <a:xfrm>
            <a:off x="5619750" y="4095750"/>
            <a:ext cx="952500" cy="28575"/>
          </a:xfrm>
          <a:prstGeom prst="rect">
            <a:avLst/>
          </a:prstGeom>
          <a:gradFill>
            <a:gsLst>
              <a:gs pos="0">
                <a:srgbClr val="00D9FF"/>
              </a:gs>
              <a:gs pos="100000">
                <a:srgbClr val="FFB627"/>
              </a:gs>
            </a:gsLst>
            <a:lin ang="0" scaled="1"/>
          </a:gradFill>
          <a:ln>
            <a:noFill/>
          </a:ln>
        </p:spPr>
      </p:sp>
      <p:sp>
        <p:nvSpPr>
          <p:cNvPr id="23" name="TextBox 23"/>
          <p:cNvSpPr txBox="1"/>
          <p:nvPr/>
        </p:nvSpPr>
        <p:spPr>
          <a:xfrm>
            <a:off x="4352020" y="4489132"/>
            <a:ext cx="3487960" cy="335280"/>
          </a:xfrm>
          <a:prstGeom prst="rect">
            <a:avLst/>
          </a:prstGeom>
          <a:noFill/>
          <a:ln>
            <a:noFill/>
          </a:ln>
        </p:spPr>
        <p:txBody>
          <a:bodyPr wrap="none" lIns="0" tIns="0" rIns="0" bIns="0" anchor="t" anchorCtr="0">
            <a:spAutoFit/>
          </a:bodyPr>
          <a:lstStyle/>
          <a:p>
            <a:pPr algn="ctr"/>
            <a:r>
              <a:rPr lang="ko-KR" sz="1650" dirty="0">
                <a:solidFill>
                  <a:srgbClr val="E8EEF7"/>
                </a:solidFill>
                <a:latin typeface="Pretendard 700"/>
                <a:ea typeface="Malgun Gothic"/>
                <a:cs typeface="Pretendard 700"/>
              </a:rPr>
              <a:t>AI는 우리를 대체하지 않습니다.</a:t>
            </a:r>
          </a:p>
        </p:txBody>
      </p:sp>
      <p:sp>
        <p:nvSpPr>
          <p:cNvPr id="24" name="TextBox 24"/>
          <p:cNvSpPr txBox="1"/>
          <p:nvPr/>
        </p:nvSpPr>
        <p:spPr>
          <a:xfrm>
            <a:off x="3787616" y="4829175"/>
            <a:ext cx="4616768" cy="304800"/>
          </a:xfrm>
          <a:prstGeom prst="rect">
            <a:avLst/>
          </a:prstGeom>
          <a:noFill/>
          <a:ln>
            <a:noFill/>
          </a:ln>
        </p:spPr>
        <p:txBody>
          <a:bodyPr wrap="none" lIns="0" tIns="0" rIns="0" bIns="0" anchor="t" anchorCtr="0">
            <a:spAutoFit/>
          </a:bodyPr>
          <a:lstStyle/>
          <a:p>
            <a:pPr algn="ctr"/>
            <a:r>
              <a:rPr lang="ko-KR" sz="1500" dirty="0">
                <a:solidFill>
                  <a:srgbClr val="8B9AB3"/>
                </a:solidFill>
                <a:latin typeface="Pretendard 400"/>
                <a:ea typeface="Malgun Gothic"/>
                <a:cs typeface="Pretendard 400"/>
              </a:rPr>
              <a:t>AI를 다루지 못하는 개발자가 대체될 뿐입니다.</a:t>
            </a:r>
          </a:p>
        </p:txBody>
      </p:sp>
      <p:sp>
        <p:nvSpPr>
          <p:cNvPr id="25" name="Line 25"/>
          <p:cNvSpPr/>
          <p:nvPr/>
        </p:nvSpPr>
        <p:spPr>
          <a:xfrm>
            <a:off x="762000" y="6096000"/>
            <a:ext cx="10668000" cy="9525"/>
          </a:xfrm>
          <a:custGeom>
            <a:avLst/>
            <a:gdLst/>
            <a:ahLst/>
            <a:cxnLst/>
            <a:rect l="l" t="t" r="r" b="b"/>
            <a:pathLst>
              <a:path w="10668000" h="9525">
                <a:moveTo>
                  <a:pt x="0" y="0"/>
                </a:moveTo>
                <a:lnTo>
                  <a:pt x="10668000" y="0"/>
                </a:lnTo>
              </a:path>
            </a:pathLst>
          </a:custGeom>
          <a:noFill/>
          <a:ln w="9525">
            <a:solidFill>
              <a:srgbClr val="8B9AB3">
                <a:alpha val="25000"/>
              </a:srgbClr>
            </a:solidFill>
          </a:ln>
        </p:spPr>
      </p:sp>
      <p:sp>
        <p:nvSpPr>
          <p:cNvPr id="26" name="TextBox 26"/>
          <p:cNvSpPr txBox="1"/>
          <p:nvPr/>
        </p:nvSpPr>
        <p:spPr>
          <a:xfrm>
            <a:off x="3890010" y="6309360"/>
            <a:ext cx="459867" cy="243840"/>
          </a:xfrm>
          <a:prstGeom prst="rect">
            <a:avLst/>
          </a:prstGeom>
          <a:noFill/>
          <a:ln>
            <a:noFill/>
          </a:ln>
        </p:spPr>
        <p:txBody>
          <a:bodyPr wrap="none" lIns="0" tIns="0" rIns="0" bIns="0" anchor="t" anchorCtr="0">
            <a:spAutoFit/>
          </a:bodyPr>
          <a:lstStyle/>
          <a:p>
            <a:pPr algn="l"/>
            <a:r>
              <a:rPr lang="en-US" sz="1200" dirty="0">
                <a:solidFill>
                  <a:srgbClr val="E8EEF7"/>
                </a:solidFill>
                <a:latin typeface="Pretendard 700"/>
                <a:ea typeface="Malgun Gothic"/>
                <a:cs typeface="Pretendard 700"/>
              </a:rPr>
              <a:t>Q &amp; A</a:t>
            </a:r>
          </a:p>
        </p:txBody>
      </p:sp>
      <p:sp>
        <p:nvSpPr>
          <p:cNvPr id="27" name="Ellipse 27"/>
          <p:cNvSpPr/>
          <p:nvPr/>
        </p:nvSpPr>
        <p:spPr>
          <a:xfrm>
            <a:off x="6076950" y="6362700"/>
            <a:ext cx="38100" cy="38100"/>
          </a:xfrm>
          <a:prstGeom prst="ellipse">
            <a:avLst/>
          </a:prstGeom>
          <a:solidFill>
            <a:srgbClr val="8B9AB3"/>
          </a:solidFill>
          <a:ln>
            <a:noFill/>
          </a:ln>
        </p:spPr>
      </p:sp>
      <p:sp>
        <p:nvSpPr>
          <p:cNvPr id="28" name="TextBox 28"/>
          <p:cNvSpPr txBox="1"/>
          <p:nvPr/>
        </p:nvSpPr>
        <p:spPr>
          <a:xfrm>
            <a:off x="6938010" y="6309360"/>
            <a:ext cx="1309878" cy="243840"/>
          </a:xfrm>
          <a:prstGeom prst="rect">
            <a:avLst/>
          </a:prstGeom>
          <a:noFill/>
          <a:ln>
            <a:noFill/>
          </a:ln>
        </p:spPr>
        <p:txBody>
          <a:bodyPr wrap="none" lIns="0" tIns="0" rIns="0" bIns="0" anchor="t" anchorCtr="0">
            <a:spAutoFit/>
          </a:bodyPr>
          <a:lstStyle/>
          <a:p>
            <a:pPr algn="l"/>
            <a:r>
              <a:rPr lang="ko-KR" sz="1200" dirty="0">
                <a:solidFill>
                  <a:srgbClr val="E8EEF7"/>
                </a:solidFill>
                <a:latin typeface="Pretendard 700"/>
                <a:ea typeface="Malgun Gothic"/>
                <a:cs typeface="Pretendard 700"/>
              </a:rPr>
              <a:t>함께 진화합시다</a:t>
            </a:r>
          </a:p>
        </p:txBody>
      </p:sp>
    </p:spTree>
  </p:cSld>
  <p:clrMapOvr>
    <a:masterClrMapping/>
  </p:clrMapOvr>
  <p:transition xmlns:p14="http://schemas.microsoft.com/office/powerpoint/2010/main"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